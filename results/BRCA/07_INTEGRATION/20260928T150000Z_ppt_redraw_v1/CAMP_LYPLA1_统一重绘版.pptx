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来源：2026-09-28｜公开汇总冻结重绘｜LYPLA1：BRCA · COAD · PDAC · PRAD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来源：来源：六癌主线整合报告；各队列原方法保留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来源：图源01｜BRCA45对；COAD33对；PDAC11对；PRAD43对；GBM74/6非配对；ccRCC17/12对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https://github.com/Asukasssss/-/blob/4b2a02b5cdeb999ec94f4558f93ce2f86a743a54/results/BRCA/07_INTEGRATION/20260922T140000Z_report_v1/figure_data/02_metabolites.tsv</a:t>
            </a:r>
          </a:p>
          <a:p>
            <a:r>
              <a:t>https://github.com/Asukasssss/-/blob/e18818697125f457fbd1c28db7c4dbb90f3de72f/results/COAD/07_INTEGRATION/20260922T150804Z_source_report_v2/figure_data/02_metabolites.tsv</a:t>
            </a:r>
          </a:p>
          <a:p>
            <a:r>
              <a:t>https://github.com/Asukasssss/-/blob/9239959a17175222778301fdea6a094f9509242e/results/PDAC/01_CAMP/20260922T121000Z_sop_v3_discovery_complete/metabolite_paired.tsv</a:t>
            </a:r>
          </a:p>
          <a:p>
            <a:r>
              <a:t>https://github.com/Asukasssss/-/blob/8fe4d512390c5005da36be4920e20ae2517d214a/results/PRAD/07_INTEGRATION/20260922T142000Z_discovery_v1/metabolite_all361_integrated.tsv</a:t>
            </a:r>
          </a:p>
          <a:p>
            <a:r>
              <a:t>https://github.com/Asukasssss/-/blob/2174aa965e29cc0fbb10925bc2c217198960829e/results/GBM/07_INTEGRATION/20260925T145000Z_integration_v1/all_metabolites_current_view.tsv</a:t>
            </a:r>
          </a:p>
          <a:p>
            <a:r>
              <a:t>https://github.com/Asukasssss/-/blob/02593f745fc966c975ab1a25e3e7ce74f770efc6/results/ccRCC/07_INTEGRATION/20260925T163000Z_integration_v1/figures/02_metabolite_discovery_source.tsv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来源：图源02｜固定14个讨论分子；不是全分子显著性排名；ccRCC两队列分开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https://github.com/Asukasssss/-/blob/4b2a02b5cdeb999ec94f4558f93ce2f86a743a54/results/BRCA/07_INTEGRATION/20260922T140000Z_report_v1/figure_data/02_metabolites.tsv</a:t>
            </a:r>
          </a:p>
          <a:p>
            <a:r>
              <a:t>https://github.com/Asukasssss/-/blob/e18818697125f457fbd1c28db7c4dbb90f3de72f/results/COAD/07_INTEGRATION/20260922T150804Z_source_report_v2/figure_data/02_metabolites.tsv</a:t>
            </a:r>
          </a:p>
          <a:p>
            <a:r>
              <a:t>https://github.com/Asukasssss/-/blob/9239959a17175222778301fdea6a094f9509242e/results/PDAC/01_CAMP/20260922T121000Z_sop_v3_discovery_complete/metabolite_paired.tsv</a:t>
            </a:r>
          </a:p>
          <a:p>
            <a:r>
              <a:t>https://github.com/Asukasssss/-/blob/8fe4d512390c5005da36be4920e20ae2517d214a/results/PRAD/07_INTEGRATION/20260922T142000Z_discovery_v1/metabolite_all361_integrated.tsv</a:t>
            </a:r>
          </a:p>
          <a:p>
            <a:r>
              <a:t>https://github.com/Asukasssss/-/blob/2174aa965e29cc0fbb10925bc2c217198960829e/results/GBM/07_INTEGRATION/20260925T145000Z_integration_v1/all_metabolites_current_view.tsv</a:t>
            </a:r>
          </a:p>
          <a:p>
            <a:r>
              <a:t>https://github.com/Asukasssss/-/blob/02593f745fc966c975ab1a25e3e7ce74f770efc6/results/ccRCC/07_INTEGRATION/20260925T163000Z_integration_v1/figures/02_metabolite_discovery_source.tsv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四癌都有统计线索采用不同证据类型的并列概括，不是四癌RNA均显著，也不是同一关系四癌复现。</a:t>
            </a:r>
          </a:p>
          <a:p/>
          <a:p>
            <a:r>
              <a:t>来源：图源03｜固定讨论面板，不是全转录组排名；PDAC的LYPLA1 RNA P=0.0777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https://github.com/Asukasssss/-/blob/4b2a02b5cdeb999ec94f4558f93ce2f86a743a54/results/BRCA/07_INTEGRATION/20260921T154000Z_mapping262_integration_v1/genes156_all_history_comparison.tsv</a:t>
            </a:r>
          </a:p>
          <a:p>
            <a:r>
              <a:t>https://github.com/Asukasssss/-/blob/e18818697125f457fbd1c28db7c4dbb90f3de72f/results/COAD/07_INTEGRATION/20260922T151000Z_source_contract_integration_v2/candidate_genes.tsv</a:t>
            </a:r>
          </a:p>
          <a:p>
            <a:r>
              <a:t>https://github.com/Asukasssss/-/blob/9239959a17175222778301fdea6a094f9509242e/results/PDAC/07_INTEGRATION/20260922T131900Z_author_identity_v4/candidate_genes_integrated.tsv</a:t>
            </a:r>
          </a:p>
          <a:p>
            <a:r>
              <a:t>https://github.com/Asukasssss/-/blob/8fe4d512390c5005da36be4920e20ae2517d214a/results/PRAD/07_INTEGRATION/20260922T142000Z_discovery_v1/candidate_genes_integrated.tsv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来源：图源04｜各队列配对RNA原结果；P值不是效应大小，也不代表患者逐人显著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https://github.com/Asukasssss/-/blob/4b2a02b5cdeb999ec94f4558f93ce2f86a743a54/results/BRCA/07_INTEGRATION/20260921T154000Z_mapping262_integration_v1/genes156_all_history_comparison.tsv</a:t>
            </a:r>
          </a:p>
          <a:p>
            <a:r>
              <a:t>https://github.com/Asukasssss/-/blob/e18818697125f457fbd1c28db7c4dbb90f3de72f/results/COAD/07_INTEGRATION/20260922T151000Z_source_contract_integration_v2/candidate_genes.tsv</a:t>
            </a:r>
          </a:p>
          <a:p>
            <a:r>
              <a:t>https://github.com/Asukasssss/-/blob/9239959a17175222778301fdea6a094f9509242e/results/PDAC/07_INTEGRATION/20260922T131900Z_author_identity_v4/candidate_genes_integrated.tsv</a:t>
            </a:r>
          </a:p>
          <a:p>
            <a:r>
              <a:t>https://github.com/Asukasssss/-/blob/8fe4d512390c5005da36be4920e20ae2517d214a/results/PRAD/07_INTEGRATION/20260922T142000Z_discovery_v1/candidate_genes_integrated.tsv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来源：图源05｜实心：P&lt;0.05；空心：未显著；横线：原95%区间；未覆盖不等于阴性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https://github.com/Asukasssss/-/blob/4b2a02b5cdeb999ec94f4558f93ce2f86a743a54/results/BRCA/07_INTEGRATION/20260921T154000Z_mapping262_integration_v1/relations262_comparison.tsv</a:t>
            </a:r>
          </a:p>
          <a:p>
            <a:r>
              <a:t>https://github.com/Asukasssss/-/blob/e18818697125f457fbd1c28db7c4dbb90f3de72f/results/COAD/07_INTEGRATION/20260922T151000Z_source_contract_integration_v2/candidate_relations.tsv</a:t>
            </a:r>
          </a:p>
          <a:p>
            <a:r>
              <a:t>https://github.com/Asukasssss/-/blob/9239959a17175222778301fdea6a094f9509242e/results/PDAC/07_INTEGRATION/20260922T131900Z_author_identity_v4/candidate_relations_integrated.tsv</a:t>
            </a:r>
          </a:p>
          <a:p>
            <a:r>
              <a:t>https://github.com/Asukasssss/-/blob/8fe4d512390c5005da36be4920e20ae2517d214a/results/PRAD/07_INTEGRATION/20260922T142000Z_discovery_v1/candidate_relations_integrated.tsv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来源：图源06｜45对主分析 / 28对LPC可用值；同患者变化量不同于肿瘤间相关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https://github.com/Asukasssss/-/blob/4b2a02b5cdeb999ec94f4558f93ce2f86a743a54/results/BRCA/03_PATIENT/20260925T091556Z_lypla1_paired_delta_v1/results.tsv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来源：图源：server redraw｜Wu2021｜既有分析者上皮UMAP；原有细胞身份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https://github.com/Asukasssss/-/blob/4b2a02b5cdeb999ec94f4558f93ce2f86a743a54/results/BRCA/06_EXTERNAL/20260923T040012Z_epithelial_paired20_v1/results.tsv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来源：图源：server redraw｜Uhlitz｜CNA/CNN为原作者分类；CNN不等于非恶性；排除细胞仅作灰色背景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https://github.com/Asukasssss/-/blob/e18818697125f457fbd1c28db7c4dbb90f3de72f/results/COAD/06_EXTERNAL/20260925T142407Z_lypla1_cell_pooled_v1/results.tsv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来源：图源：server redraw｜GSE202051 未治疗｜单核数据；原作者UMAP与细胞身份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https://github.com/Asukasssss/-/blob/9239959a17175222778301fdea6a094f9509242e/results/PDAC/06_EXTERNAL/20260928T031629Z_gse202051_lypla1_v1/results.tsv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来源：图源：server redraw｜PRAD24 肿瘤内上皮｜原作者UMAP；正常上皮与恶性上皮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https://github.com/Asukasssss/-/blob/8fe4d512390c5005da36be4920e20ae2517d214a/results/PRAD/06_EXTERNAL/20260928T031839Z_lypla1_umap_v2/epithelial_summary.tsv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来源：图源07｜患者是统计单位；BRCA Naive为标签敏感性；PDAC另一CRA001160肿瘤内14对P=0.6045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https://github.com/Asukasssss/-/blob/4b2a02b5cdeb999ec94f4558f93ce2f86a743a54/results/BRCA/06_EXTERNAL/20260923T040012Z_epithelial_paired20_v1/results.tsv</a:t>
            </a:r>
          </a:p>
          <a:p>
            <a:r>
              <a:t>https://github.com/Asukasssss/-/blob/9239959a17175222778301fdea6a094f9509242e/results/PDAC/06_EXTERNAL/20260928T031629Z_gse202051_lypla1_v1/results.tsv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来源：图源08｜蓝：参照上皮；红：恶性/CNA上皮；细胞等权描述，无新P值；检出受深度影响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https://github.com/Asukasssss/-/blob/e18818697125f457fbd1c28db7c4dbb90f3de72f/results/COAD/06_EXTERNAL/20260925T142407Z_lypla1_cell_pooled_v1/results.tsv</a:t>
            </a:r>
          </a:p>
          <a:p>
            <a:r>
              <a:t>https://github.com/Asukasssss/-/blob/9239959a17175222778301fdea6a094f9509242e/results/PDAC/06_EXTERNAL/20260928T031629Z_gse202051_lypla1_v1/expression_summary.tsv</a:t>
            </a:r>
          </a:p>
          <a:p>
            <a:r>
              <a:t>https://github.com/Asukasssss/-/blob/8fe4d512390c5005da36be4920e20ae2517d214a/results/PRAD/06_EXTERNAL/20260928T031839Z_lypla1_umap_v2/epithelial_summary.tsv</a:t>
            </a:r>
          </a:p>
          <a:p>
            <a:r>
              <a:t>https://github.com/Asukasssss/-/blob/8fe4d512390c5005da36be4920e20ae2517d214a/results/PRAD/06_EXTERNAL/20260928T090606Z_lypla1_positive_summary_v1/positive_cell_summary.tsv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来源：CTA2025｜14切片 / 3患者｜正文按样本名排序取首片，非按结果选片；全部切片另附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https://github.com/Asukasssss/-/blob/4b2a02b5cdeb999ec94f4558f93ce2f86a743a54/results/BRCA/06_EXTERNAL/20260928T060000Z_cta_lypla1_v1/aggregate_effects.tsv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来源：Erickson2022｜7切片中5张可比较 / 1患者｜CC BY-NC 3.0；按字典序首张合格片展示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https://github.com/Asukasssss/-/blob/8fe4d512390c5005da36be4920e20ae2517d214a/results/PRAD/06_EXTERNAL/20260928T101700Z_lypla1_erickson_v1/contrast_summary.tsv</a:t>
            </a:r>
          </a:p>
          <a:p>
            <a:r>
              <a:t>https://github.com/Asukasssss/-/blob/8fe4d512390c5005da36be4920e20ae2517d214a/results/PRAD/06_EXTERNAL/20260928T101700Z_lypla1_erickson_v1/region_summary.tsv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来源：图源09｜Bell2025，6配对患者；正常导管均低于全局LOQ；各标准化尺度不合并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https://github.com/Asukasssss/-/blob/9239959a17175222778301fdea6a094f9509242e/results/PDAC/06_EXTERNAL/20260928T094758Z_geomx_bell2025_lypla1_v1/results.tsv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来源：图源10｜既有作者亚群；BRCA两队列未得到满足固定效应与患者方向规则的共同伴随基因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https://github.com/Asukasssss/-/blob/a395909c8f4a6234cd8b2faec9db344ceb4aa056/results/BRCA/06_EXTERNAL/20260928T131206Z_lypla1_cellstates_v1/state_summary.tsv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来源：图源11｜33个肿瘤；CNA上皮对正常上皮7/9较高但P=0.1797；不是已证实癌特异机制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https://github.com/Asukasssss/-/blob/e18818697125f457fbd1c28db7c4dbb90f3de72f/results/COAD/07_INTEGRATION/20260922T151000Z_source_contract_integration_v2/candidate_relations.tsv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来源：图源12｜PDAC21肿瘤 / PRAD91肿瘤；PRAD配对变化ρ=−0.040、P=0.803；未做癌种交互检验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https://github.com/Asukasssss/-/blob/9239959a17175222778301fdea6a094f9509242e/results/PDAC/07_INTEGRATION/20260922T131900Z_author_identity_v4/candidate_relations_integrated.tsv</a:t>
            </a:r>
          </a:p>
          <a:p>
            <a:r>
              <a:t>https://github.com/Asukasssss/-/blob/8fe4d512390c5005da36be4920e20ae2517d214a/results/PRAD/07_INTEGRATION/20260922T142000Z_discovery_v1/candidate_relations_integrated.tsv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来源：图源13｜CAMP60 / FUSCC258 / Tang20；GLS在CAMP较弱；条件关联不是通量或代谢介导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>
            <a:r>
              <a:t>https://github.com/Asukasssss/-/blob/4b2a02b5cdeb999ec94f4558f93ce2f86a743a54/results/BRCA/07_INTEGRATION/20260921T154000Z_mapping262_integration_v1/relations262_comparison.tsv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来源：本版：所有定量图代码重绘；原P、效应和范围保留；单细胞与空间原始数据留server165</a:t>
            </a:r>
          </a:p>
          <a:p>
            <a:r>
              <a:t>统计：复用冻结结果；名义P&lt;0.05；不新增患者检验。</a:t>
            </a:r>
          </a:p>
          <a:p/>
          <a:p>
            <a:r>
              <a:t>冻结汇总表链接：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CAMP / RESEARCH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从CAMP代谢差异，聚焦四癌LYPLA1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以代谢物—基因关系为起点，结合患者关联、单细胞来源与空间定位。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2026-09-28｜公开汇总冻结重绘｜LYPLA1：BRCA · COAD · PDAC · PRAD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发现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CAMP六癌代谢差异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精确代谢物直接映射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保留全部候选背景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1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聚焦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四癌LYPLA1统计线索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RNA差异与代谢关联分列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从候选进入定向深入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19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单细胞中的细胞来源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患者层面的表达比较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病理区域中的空间分布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01 / PROJECT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统一分析框架，区分每一层证据回答的问题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表达差异、患者相关、细胞定位相互补充；不相互替代。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来源：六癌主线整合报告；各队列原方法保留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代谢层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肿瘤与参照有何不同？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同一分子是否跨癌同向？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缺测与不显著分开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1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基因层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哪些酶/转运体直接相关？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RNA是否发生变化？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肿瘤内是否与代谢物相关？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19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细胞与空间层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表达主要位于哪些细胞？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患者方向是否重复？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病理癌区是否有定位支持？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02 / CAMP PANORAMA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六癌主线已有结果，覆盖与比较设计并不相同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柱尾为P&lt;0.05数 / 可评估特征数；数量差异不能直接排名癌种异常程度。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图源01｜BRCA45对；COAD33对；PDAC11对；PRAD43对；GBM74/6非配对；ccRCC17/12对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03</a:t>
            </a:r>
          </a:p>
        </p:txBody>
      </p:sp>
      <p:pic>
        <p:nvPicPr>
          <p:cNvPr id="7" name="Picture 6" descr="01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42" y="1993392"/>
            <a:ext cx="10861435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02 / CAMP PANORAMA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精确分子对照显示：共同变化与相反方向并存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红↑与蓝↓：名义P&lt;0.05；浅灰点：未显著；NA：未覆盖或化学标识不唯一。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图源02｜固定14个讨论分子；不是全分子显著性排名；ccRCC两队列分开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04</a:t>
            </a:r>
          </a:p>
        </p:txBody>
      </p:sp>
      <p:pic>
        <p:nvPicPr>
          <p:cNvPr id="7" name="Picture 6" descr="02_pan_metabol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123" y="1993392"/>
            <a:ext cx="854127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03 / CANDIDATE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在CAMP关系候选中，LYPLA1出现四癌关注线索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BRCA、COAD、PRAD：RNA显著上调；PDAC：GPC—LYPLA1关联显著。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图源03｜固定讨论面板，不是全转录组排名；PDAC的LYPLA1 RNA P=0.0777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05</a:t>
            </a:r>
          </a:p>
        </p:txBody>
      </p:sp>
      <p:pic>
        <p:nvPicPr>
          <p:cNvPr id="7" name="Picture 6" descr="03_candidate_r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56" y="1993392"/>
            <a:ext cx="1065560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03 / LYPLA1 · 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LYPLA1 RNA在四癌同向，三癌达到名义显著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保留PDAC的上调趋势与不显著结果，不将其写成四癌RNA全部显著。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图源04｜各队列配对RNA原结果；P值不是效应大小，也不代表患者逐人显著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06</a:t>
            </a:r>
          </a:p>
        </p:txBody>
      </p:sp>
      <p:pic>
        <p:nvPicPr>
          <p:cNvPr id="7" name="Picture 6" descr="04_lypla1_r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91795"/>
            <a:ext cx="10972800" cy="3872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03 / LYPLA1 · METABOLITE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LYPLA1代谢联系必须逐一比较同一个分子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BRCA的LPC(16:0)正关联突出；PDAC的游离GPC负关联回答另一项关系。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图源05｜实心：P&lt;0.05；空心：未显著；横线：原95%区间；未覆盖不等于阴性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07</a:t>
            </a:r>
          </a:p>
        </p:txBody>
      </p:sp>
      <p:pic>
        <p:nvPicPr>
          <p:cNvPr id="7" name="Picture 6" descr="05_lypla1_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14000"/>
            <a:ext cx="10972800" cy="36278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03 / LYPLA1 ·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BRCA配对变化提供线索，但敏感性支持有限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LPC(16:0)变化量主分析P=0.0312；可用值子集P=0.2647；游离GPC接近零相关。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图源06｜45对主分析 / 28对LPC可用值；同患者变化量不同于肿瘤间相关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7" name="Picture 6" descr="06_delta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4784"/>
            <a:ext cx="10972800" cy="37662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04 / LYPLA1 · SINGLE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BRCA：细胞身份与LYPLA1表达并列查看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统一点大小、绘制顺序和0–3色标；平台与取材不同，跨队列颜色不能直接比较。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图源：server redraw｜Wu2021｜既有分析者上皮UMAP；原有细胞身份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7" name="Picture 6" descr="umap_B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23" y="1975104"/>
            <a:ext cx="10174633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04 / LYPLA1 · SINGLE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COAD：细胞身份与LYPLA1表达并列查看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统一点大小、绘制顺序和0–3色标；平台与取材不同，跨队列颜色不能直接比较。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图源：server redraw｜Uhlitz｜CNA/CNN为原作者分类；CNN不等于非恶性；排除细胞仅作灰色背景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7" name="Picture 6" descr="umap_C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16" y="1975104"/>
            <a:ext cx="9671847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04 / LYPLA1 · SINGLE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PDAC：细胞身份与LYPLA1表达并列查看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统一点大小、绘制顺序和0–3色标；平台与取材不同，跨队列颜色不能直接比较。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图源：server redraw｜GSE202051 未治疗｜单核数据；原作者UMAP与细胞身份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7" name="Picture 6" descr="umap_PD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79" y="1975104"/>
            <a:ext cx="989472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04 / LYPLA1 · SINGLE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PRAD：细胞身份与LYPLA1表达并列查看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统一点大小、绘制顺序和0–3色标；平台与取材不同，跨队列颜色不能直接比较。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图源：server redraw｜PRAD24 肿瘤内上皮｜原作者UMAP；正常上皮与恶性上皮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7" name="Picture 6" descr="umap_P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34" y="1975104"/>
            <a:ext cx="10894411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04 / LYPLA1 · PATIENT REPEATABILITY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患者层面支持应与整体细胞图分开呈现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BRCA主分析7/8方向升高；PDAC未治疗9/9均值升高，仅阳性细胞核未获支持。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图源07｜患者是统计单位；BRCA Naive为标签敏感性；PDAC另一CRA001160肿瘤内14对P=0.6045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13</a:t>
            </a:r>
          </a:p>
        </p:txBody>
      </p:sp>
      <p:pic>
        <p:nvPicPr>
          <p:cNvPr id="7" name="Picture 6" descr="07_sc_pa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94817"/>
            <a:ext cx="10972800" cy="38662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04 / LYPLA1 · EXPRESSION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均值升高，可能主要体现为更多细胞被检出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PRAD阳性细胞均值几乎相同；检出比例不同，不能解释为每个癌细胞都更强。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图源08｜蓝：参照上皮；红：恶性/CNA上皮；细胞等权描述，无新P值；检出受深度影响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14</a:t>
            </a:r>
          </a:p>
        </p:txBody>
      </p:sp>
      <p:pic>
        <p:nvPicPr>
          <p:cNvPr id="7" name="Picture 6" descr="08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32286"/>
            <a:ext cx="10972800" cy="37912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05 / LYPLA1 · SPATIAL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空间图统一为H&amp;E—病理区域—LYPLA1表达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BRCA：癌区对免疫区3/3患者方向为正，P=0.25；未提供正常上皮对照。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CTA2025｜14切片 / 3患者｜正文按样本名排序取首片，非按结果选片；全部切片另附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15</a:t>
            </a:r>
          </a:p>
        </p:txBody>
      </p:sp>
      <p:pic>
        <p:nvPicPr>
          <p:cNvPr id="7" name="Picture 6" descr="spatial_BRCA_V10F24-112_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1127"/>
            <a:ext cx="11064240" cy="38101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05 / LYPLA1 · SPATIAL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PRAD病理癌区高于良性腺体，但仅来自一位患者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5张可比较切片方向一致；深度校正相对丰度比1.37–1.84。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Erickson2022｜7切片中5张可比较 / 1患者｜CC BY-NC 3.0；按字典序首张合格片展示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16</a:t>
            </a:r>
          </a:p>
        </p:txBody>
      </p:sp>
      <p:pic>
        <p:nvPicPr>
          <p:cNvPr id="7" name="Picture 6" descr="spatial_PRAD_H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3377"/>
            <a:ext cx="11064240" cy="38056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05 / LYPLA1 · SPATIAL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PDAC空间结果支持较高表达，也存在处理依赖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GeoMx主分析6/6癌上皮更高；两种敏感性为5/6，P=0.0625。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图源09｜Bell2025，6配对患者；正常导管均低于全局LOQ；各标准化尺度不合并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17</a:t>
            </a:r>
          </a:p>
        </p:txBody>
      </p:sp>
      <p:pic>
        <p:nvPicPr>
          <p:cNvPr id="7" name="Picture 6" descr="09_geom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80470"/>
            <a:ext cx="10972800" cy="36949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06 / LYPLA1 · HETEROGENEITY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癌细胞内部存在差异，尚不能概括为共同程序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Wu Cycling在15/17供者中相对自身癌细胞均值较高；不同队列亚群不能直接对应。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图源10｜既有作者亚群；BRCA两队列未得到满足固定效应与患者方向规则的共同伴随基因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18</a:t>
            </a:r>
          </a:p>
        </p:txBody>
      </p:sp>
      <p:pic>
        <p:nvPicPr>
          <p:cNvPr id="7" name="Picture 6" descr="10_st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94817"/>
            <a:ext cx="10972800" cy="38662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07 / CANCER CONTEXT · COAD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COAD代表案例：UCKL1与尿苷负相关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代谢关联与上皮表达背景形成线索，但不能直接解释为UCKL1消耗尿苷。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图源11｜33个肿瘤；CNA上皮对正常上皮7/9较高但P=0.1797；不是已证实癌特异机制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19</a:t>
            </a:r>
          </a:p>
        </p:txBody>
      </p:sp>
      <p:pic>
        <p:nvPicPr>
          <p:cNvPr id="7" name="Picture 6" descr="11_uck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49308"/>
            <a:ext cx="10972800" cy="35572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07 / CANCER CONTEXT · PDAC / PRAD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牛磺酸—SLC6A6在PDAC和PRAD呈不同背景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PDAC两者升高且相关；PRAD两者下降，但共同方向不等于变化幅度相关。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图源12｜PDAC21肿瘤 / PRAD91肿瘤；PRAD配对变化ρ=−0.040、P=0.803；未做癌种交互检验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20</a:t>
            </a:r>
          </a:p>
        </p:txBody>
      </p:sp>
      <p:pic>
        <p:nvPicPr>
          <p:cNvPr id="7" name="Picture 6" descr="12_taur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03799"/>
            <a:ext cx="10972800" cy="32482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07 / CANCER CONTEXT · BRCA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BRCA代表案例：ASNS负关联获得外部队列支持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ASNS在CAMP与FUSCC均与谷氨酰胺负相关；Tang小队列未显著，完整保留。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图源13｜CAMP60 / FUSCC258 / Tang20；GLS在CAMP较弱；条件关联不是通量或代谢介导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21</a:t>
            </a:r>
          </a:p>
        </p:txBody>
      </p:sp>
      <p:pic>
        <p:nvPicPr>
          <p:cNvPr id="7" name="Picture 6" descr="13_glutam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7761"/>
            <a:ext cx="10972800" cy="376034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46304"/>
            <a:ext cx="10058400" cy="24688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58F88"/>
                </a:solidFill>
                <a:latin typeface="Noto Sans CJK SC"/>
              </a:defRPr>
            </a:pPr>
            <a:r>
              <a:t>08 /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30352"/>
            <a:ext cx="11247120" cy="621792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72A3A"/>
                </a:solidFill>
                <a:latin typeface="Noto Sans CJK SC"/>
              </a:defRPr>
            </a:pPr>
            <a:r>
              <a:t>目前可讲清的是候选与表达背景，机制仍需独立证据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280160"/>
            <a:ext cx="11247120" cy="576072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700" b="0">
                <a:solidFill>
                  <a:srgbClr val="172A3A"/>
                </a:solidFill>
                <a:latin typeface="Noto Sans CJK SC"/>
              </a:defRPr>
            </a:pPr>
            <a:r>
              <a:t>LYPLA1来自CAMP关系候选，在四癌获得不同层面的线索，值得有边界地深入。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18504"/>
            <a:ext cx="10744200" cy="329184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57583"/>
                </a:solidFill>
                <a:latin typeface="Noto Sans CJK SC"/>
              </a:defRPr>
            </a:pPr>
            <a:r>
              <a:t>本版：所有定量图代码重绘；原P、效应和范围保留；单细胞与空间原始数据留server165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18504"/>
            <a:ext cx="457200" cy="292608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57583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已形成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六癌代谢与候选框架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四癌LYPLA1定向证据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三个癌种代表关系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81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已看清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RNA差异不等于代谢相关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细胞检出与强度需分开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空间区域不等于纯癌细胞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1960" y="2148840"/>
            <a:ext cx="3505200" cy="502920"/>
          </a:xfrm>
          <a:prstGeom prst="rect">
            <a:avLst/>
          </a:prstGeom>
          <a:noFill/>
        </p:spPr>
        <p:txBody>
          <a:bodyPr wrap="square" lIns="82296" rIns="82296" tIns="36576" bIns="27432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58F88"/>
                </a:solidFill>
                <a:latin typeface="Noto Sans CJK SC"/>
              </a:defRPr>
            </a:pPr>
            <a:r>
              <a:t>下一步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1960" y="2807208"/>
            <a:ext cx="3505200" cy="2926080"/>
          </a:xfrm>
          <a:prstGeom prst="round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27432"/>
          <a:lstStyle/>
          <a:p>
            <a:pPr algn="ctr"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优先复核同一精确关系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补足可靠患者与正常上皮对照</a:t>
            </a:r>
          </a:p>
          <a:p>
            <a:pPr>
              <a:spcAft>
                <a:spcPts val="800"/>
              </a:spcAft>
              <a:defRPr sz="1900" b="0">
                <a:solidFill>
                  <a:srgbClr val="172A3A"/>
                </a:solidFill>
                <a:latin typeface="Noto Sans CJK SC"/>
              </a:defRPr>
            </a:pPr>
            <a:r>
              <a:t>不以更多图替代关键证据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CAMP代谢相关候选与四癌LYPLA1</dc:title>
  <dc:subject/>
  <dc:creator>CAMP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