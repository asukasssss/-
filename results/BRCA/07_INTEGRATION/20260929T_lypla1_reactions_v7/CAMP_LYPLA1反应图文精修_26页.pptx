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6" r:id="rId6"/>
    <p:sldId id="277" r:id="rId7"/>
    <p:sldId id="278" r:id="rId8"/>
    <p:sldId id="261" r:id="rId9"/>
    <p:sldId id="262" r:id="rId10"/>
    <p:sldId id="263" r:id="rId11"/>
    <p:sldId id="264" r:id="rId12"/>
    <p:sldId id="286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插图由image_gen生成，脂质尾数与产物对应为概念图，不是精确化学结构或实际蛋白构象。LYPLA1溶血磷脂酶与磷脂酶A1作用分别展示。油酸是Rhea41720产物。来源https://www.rhea-db.org/rhea/41720及原冻结UniProt O75608映射。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3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t="12695" r="3437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t="5859" r="3646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2"/>
          <a:srcRect l="781" t="1953" r="63867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49043" t="34857" r="40730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t="29224" r="1746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29224" r="490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t="45165" r="16268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45590" r="4306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t="61105" r="16866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t="61105" r="5742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当前分析范围：标本份数与同患者肿瘤</a:t>
            </a:r>
            <a:r>
              <a:rPr altLang="zh-CN"/>
              <a:t>—</a:t>
            </a:r>
            <a:r>
              <a:rPr altLang="en-US"/>
              <a:t>参照配对数分别列示</a:t>
            </a:r>
            <a:endParaRPr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854" t="29224" r="1746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108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其中配对：45</a:t>
            </a:r>
            <a:r>
              <a:rPr altLang="en-US" sz="1100"/>
              <a:t>对</a:t>
            </a:r>
            <a:r>
              <a:rPr altLang="zh-CN" sz="1100"/>
              <a:t> / 90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29224" r="490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66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其中配对：33</a:t>
            </a:r>
            <a:r>
              <a:rPr altLang="en-US" sz="1100"/>
              <a:t>对</a:t>
            </a:r>
            <a:r>
              <a:rPr altLang="zh-CN" sz="1100"/>
              <a:t> / 66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45590" r="4306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39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其中配对：11</a:t>
            </a:r>
            <a:r>
              <a:rPr altLang="en-US" sz="1100"/>
              <a:t>对</a:t>
            </a:r>
            <a:r>
              <a:rPr altLang="zh-CN" sz="1100"/>
              <a:t> / 22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7751" t="61105" r="16866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137 </a:t>
            </a:r>
            <a:r>
              <a:rPr altLang="en-US" sz="1050"/>
              <a:t>份标本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其中配对：43</a:t>
            </a:r>
            <a:r>
              <a:rPr altLang="en-US" sz="1050"/>
              <a:t>对</a:t>
            </a:r>
            <a:r>
              <a:rPr altLang="zh-CN" sz="1050"/>
              <a:t> / 86</a:t>
            </a:r>
            <a:r>
              <a:rPr altLang="en-US" sz="1050"/>
              <a:t>份</a:t>
            </a:r>
            <a:endParaRPr altLang="en-US" sz="1050"/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9354" t="61105" r="5742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/>
              <a:t>队列</a:t>
            </a:r>
            <a:r>
              <a:rPr altLang="zh-CN" sz="1050"/>
              <a:t>3</a:t>
            </a:r>
            <a:r>
              <a:rPr altLang="en-US" sz="1050"/>
              <a:t>：</a:t>
            </a:r>
            <a:r>
              <a:rPr altLang="zh-CN" sz="1050"/>
              <a:t>114</a:t>
            </a:r>
            <a:r>
              <a:rPr altLang="en-US" sz="1050"/>
              <a:t>份，配对</a:t>
            </a:r>
            <a:r>
              <a:rPr altLang="zh-CN" sz="1050"/>
              <a:t>17</a:t>
            </a:r>
            <a:r>
              <a:rPr altLang="en-US" sz="1050"/>
              <a:t>位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队列4</a:t>
            </a:r>
            <a:r>
              <a:rPr altLang="en-US" sz="1050"/>
              <a:t>：</a:t>
            </a:r>
            <a:r>
              <a:rPr altLang="zh-CN" sz="1050"/>
              <a:t>71</a:t>
            </a:r>
            <a:r>
              <a:rPr altLang="en-US" sz="1050"/>
              <a:t>份，配对</a:t>
            </a:r>
            <a:r>
              <a:rPr altLang="zh-CN" sz="1050"/>
              <a:t>12</a:t>
            </a:r>
            <a:r>
              <a:rPr altLang="en-US" sz="1050"/>
              <a:t>位</a:t>
            </a:r>
            <a:endParaRPr altLang="en-US" sz="1050"/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555" t="45165" r="16268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80 </a:t>
            </a:r>
            <a:r>
              <a:rPr altLang="en-US" sz="1050"/>
              <a:t>份：</a:t>
            </a:r>
            <a:r>
              <a:rPr altLang="zh-CN" sz="1050"/>
              <a:t>74 </a:t>
            </a:r>
            <a:r>
              <a:rPr altLang="en-US" sz="1050"/>
              <a:t>肿瘤</a:t>
            </a:r>
            <a:r>
              <a:rPr altLang="zh-CN" sz="1050"/>
              <a:t> + 6 </a:t>
            </a:r>
            <a:r>
              <a:rPr altLang="en-US" sz="1050"/>
              <a:t>参照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/>
              <a:t>0 </a:t>
            </a:r>
            <a:r>
              <a:rPr altLang="en-US" sz="1050"/>
              <a:t>对</a:t>
            </a:r>
            <a:r>
              <a:rPr altLang="zh-CN" sz="1050"/>
              <a:t> · </a:t>
            </a:r>
            <a:r>
              <a:rPr altLang="en-US" sz="1050"/>
              <a:t>跨来源非配对</a:t>
            </a:r>
            <a:endParaRPr altLang="en-US" sz="1050"/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362700"/>
            <a:ext cx="10287000" cy="289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配对按患者计；</a:t>
            </a:r>
            <a:r>
              <a:rPr altLang="zh-CN"/>
              <a:t>ccRCC</a:t>
            </a:r>
            <a:r>
              <a:rPr altLang="en-US"/>
              <a:t>为多区域标本，</a:t>
            </a:r>
            <a:r>
              <a:rPr altLang="zh-CN"/>
              <a:t>17 / 12</a:t>
            </a:r>
            <a:r>
              <a:rPr altLang="en-US"/>
              <a:t>对分别对应</a:t>
            </a:r>
            <a:r>
              <a:rPr altLang="zh-CN"/>
              <a:t>17 / 12</a:t>
            </a:r>
            <a:r>
              <a:rPr altLang="en-US"/>
              <a:t>位患者，两队列不合并。</a:t>
            </a:r>
            <a:endParaRPr altLang="zh-CN"/>
          </a:p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BRCA</a:t>
            </a:r>
            <a:r>
              <a:rPr altLang="en-US"/>
              <a:t>含</a:t>
            </a:r>
            <a:r>
              <a:rPr altLang="zh-CN"/>
              <a:t>1</a:t>
            </a:r>
            <a:r>
              <a:rPr altLang="en-US"/>
              <a:t>份组织标签冲突；</a:t>
            </a:r>
            <a:r>
              <a:rPr altLang="zh-CN"/>
              <a:t>PDAC 39</a:t>
            </a:r>
            <a:r>
              <a:rPr altLang="en-US"/>
              <a:t>份中</a:t>
            </a:r>
            <a:r>
              <a:rPr altLang="zh-CN"/>
              <a:t>11</a:t>
            </a:r>
            <a:r>
              <a:rPr altLang="en-US"/>
              <a:t>对可配对。各具体分析按实际可用数计。</a:t>
            </a:r>
            <a:endParaRPr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2"/>
          <a:srcRect l="651" t="57324" r="67578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2"/>
          <a:srcRect l="35677" t="55957" r="33268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2"/>
          <a:srcRect l="67188" t="60352" r="260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11500"/>
            <a:ext cx="2219325" cy="1714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0"/>
              <a:t>含油酰基</a:t>
            </a:r>
            <a:r>
              <a:rPr altLang="zh-CN" sz="1120"/>
              <a:t> PC → 2-</a:t>
            </a:r>
            <a:r>
              <a:rPr altLang="en-US" sz="1120"/>
              <a:t>酰基</a:t>
            </a:r>
            <a:r>
              <a:rPr altLang="zh-CN" sz="1120"/>
              <a:t> LPC + </a:t>
            </a:r>
            <a:r>
              <a:rPr altLang="en-US" sz="1120"/>
              <a:t>油酸</a:t>
            </a:r>
            <a:endParaRPr altLang="en-US" sz="1120"/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78200"/>
            <a:ext cx="208216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/>
              <a:t>油酸：</a:t>
            </a:r>
            <a:r>
              <a:rPr altLang="zh-CN" sz="1000"/>
              <a:t>sn-1 </a:t>
            </a:r>
            <a:r>
              <a:rPr altLang="en-US" sz="1000"/>
              <a:t>位水解释放的脂肪酸产物</a:t>
            </a:r>
            <a:endParaRPr altLang="en-US" sz="1000"/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33271"/>
            <a:ext cx="109728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LYPLA1 如何连接 LPC、GPC 与油酸？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59105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两条不同的磷脂水解反应：底物不同，释放的脂肪酸也不同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002536"/>
            <a:ext cx="10945368" cy="1874519"/>
          </a:xfrm>
          <a:prstGeom prst="rect">
            <a:avLst/>
          </a:prstGeom>
          <a:solidFill>
            <a:srgbClr val="F2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01  溶血磷脂水解</a:t>
            </a:r>
          </a:p>
        </p:txBody>
      </p:sp>
      <p:pic>
        <p:nvPicPr>
          <p:cNvPr id="10" name="Picture 9" descr="lipid_reactions.png"/>
          <p:cNvPicPr>
            <a:picLocks noChangeAspect="1"/>
          </p:cNvPicPr>
          <p:nvPr/>
        </p:nvPicPr>
        <p:blipFill>
          <a:blip r:embed="rId2"/>
          <a:srcRect l="11719" t="2930" r="68750" b="51172"/>
          <a:stretch>
            <a:fillRect/>
          </a:stretch>
        </p:blipFill>
        <p:spPr>
          <a:xfrm>
            <a:off x="1140665" y="2450591"/>
            <a:ext cx="717901" cy="1124712"/>
          </a:xfrm>
          <a:prstGeom prst="rect">
            <a:avLst/>
          </a:prstGeom>
        </p:spPr>
      </p:pic>
      <p:pic>
        <p:nvPicPr>
          <p:cNvPr id="11" name="Picture 10" descr="lipid_reactions.png"/>
          <p:cNvPicPr>
            <a:picLocks noChangeAspect="1"/>
          </p:cNvPicPr>
          <p:nvPr/>
        </p:nvPicPr>
        <p:blipFill>
          <a:blip r:embed="rId2"/>
          <a:srcRect l="35807" t="4395" r="36849" b="55078"/>
          <a:stretch>
            <a:fillRect/>
          </a:stretch>
        </p:blipFill>
        <p:spPr>
          <a:xfrm>
            <a:off x="5216486" y="2450591"/>
            <a:ext cx="795858" cy="786384"/>
          </a:xfrm>
          <a:prstGeom prst="rect">
            <a:avLst/>
          </a:prstGeom>
        </p:spPr>
      </p:pic>
      <p:pic>
        <p:nvPicPr>
          <p:cNvPr id="12" name="Picture 11" descr="lipid_reactions.png"/>
          <p:cNvPicPr>
            <a:picLocks noChangeAspect="1"/>
          </p:cNvPicPr>
          <p:nvPr/>
        </p:nvPicPr>
        <p:blipFill>
          <a:blip r:embed="rId2"/>
          <a:srcRect l="69010" t="2930" r="5599" b="51172"/>
          <a:stretch>
            <a:fillRect/>
          </a:stretch>
        </p:blipFill>
        <p:spPr>
          <a:xfrm>
            <a:off x="9276977" y="2414016"/>
            <a:ext cx="895333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40280" y="2770632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596896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LYPLA1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0328" y="3355848"/>
            <a:ext cx="2871216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27448" y="3557015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催化酯键水解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557015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GPC  +  棕榈酸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38328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切下 LPC 的棕榈酰基，留下 GPC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023360"/>
            <a:ext cx="10945368" cy="1874519"/>
          </a:xfrm>
          <a:prstGeom prst="rect">
            <a:avLst/>
          </a:prstGeom>
          <a:solidFill>
            <a:srgbClr val="F2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2394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02  磷脂酰胆碱 sn-1 位水解</a:t>
            </a:r>
          </a:p>
        </p:txBody>
      </p:sp>
      <p:pic>
        <p:nvPicPr>
          <p:cNvPr id="21" name="Picture 20" descr="lipid_reactions.png"/>
          <p:cNvPicPr>
            <a:picLocks noChangeAspect="1"/>
          </p:cNvPicPr>
          <p:nvPr/>
        </p:nvPicPr>
        <p:blipFill>
          <a:blip r:embed="rId2"/>
          <a:srcRect l="7161" t="50781" r="68424" b="3320"/>
          <a:stretch>
            <a:fillRect/>
          </a:stretch>
        </p:blipFill>
        <p:spPr>
          <a:xfrm>
            <a:off x="1050927" y="4471416"/>
            <a:ext cx="897376" cy="1124712"/>
          </a:xfrm>
          <a:prstGeom prst="rect">
            <a:avLst/>
          </a:prstGeom>
        </p:spPr>
      </p:pic>
      <p:pic>
        <p:nvPicPr>
          <p:cNvPr id="22" name="Picture 21" descr="lipid_reactions.png"/>
          <p:cNvPicPr>
            <a:picLocks noChangeAspect="1"/>
          </p:cNvPicPr>
          <p:nvPr/>
        </p:nvPicPr>
        <p:blipFill>
          <a:blip r:embed="rId2"/>
          <a:srcRect l="35807" t="51270" r="36849" b="6738"/>
          <a:stretch>
            <a:fillRect/>
          </a:stretch>
        </p:blipFill>
        <p:spPr>
          <a:xfrm>
            <a:off x="5230368" y="4471416"/>
            <a:ext cx="768096" cy="786384"/>
          </a:xfrm>
          <a:prstGeom prst="rect">
            <a:avLst/>
          </a:prstGeom>
        </p:spPr>
      </p:pic>
      <p:pic>
        <p:nvPicPr>
          <p:cNvPr id="23" name="Picture 22" descr="lipid_reactions.png"/>
          <p:cNvPicPr>
            <a:picLocks noChangeAspect="1"/>
          </p:cNvPicPr>
          <p:nvPr/>
        </p:nvPicPr>
        <p:blipFill>
          <a:blip r:embed="rId2"/>
          <a:srcRect l="68359" t="50781" r="3320" b="3320"/>
          <a:stretch>
            <a:fillRect/>
          </a:stretch>
        </p:blipFill>
        <p:spPr>
          <a:xfrm>
            <a:off x="9225323" y="4434840"/>
            <a:ext cx="998641" cy="10789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40280" y="479145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sn-1 含油酰基的 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4617720"/>
            <a:ext cx="1024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LYPLA1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0328" y="5376672"/>
            <a:ext cx="2871216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27448" y="557784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催化酯键水解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5577840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2-酰基 LPC  +  油酸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58568" y="5404104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切下 sn-1 油酰基，释放油酸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6126480"/>
            <a:ext cx="1097280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油酸在第二条反应中是脂肪酸产物；不是 LPC(16:0) 水解的产物。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1792" y="6510528"/>
            <a:ext cx="1094536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" y="65836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来源：UniProt O75608 · Rhea 40435 / 41720｜概念示意，省略水与质子；不代表患者内净通量。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参照为肿瘤内非恶性上皮；Naive 子集 6/7 同向，P=0.078。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机制链为原文结果概括；本项目尚未验证上述底物、酶活或因果机制。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E0EE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现阶段：多层证据支持候选价值，共同代谢机制尚未建立。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利用谷氨酰胺的氮合成天冬酰胺；分子与蛋白均为概念示意。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Na+ / Cl− 依赖性摄取；将细胞外牛磺酸转运入细胞，不改变化学结构。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457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EF8A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2"/>
          <a:srcRect l="4232" t="3906" r="70703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→ UMP：进入嘧啶核苷补救合成；也可催化胞苷 → CMP。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12070</Words>
  <Application>WPS 演示</Application>
  <PresentationFormat>On-screen Show (4:3)</PresentationFormat>
  <Paragraphs>2461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许子祥</cp:lastModifiedBy>
  <cp:revision>11</cp:revision>
  <dcterms:created xsi:type="dcterms:W3CDTF">2013-01-27T09:14:00Z</dcterms:created>
  <dcterms:modified xsi:type="dcterms:W3CDTF">2026-09-29T15:38:27Z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B830230EABE644CDB0BE84BC6E00FDE6_13</vt:lpwstr>
  </property>
</Properties>
</file>