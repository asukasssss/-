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6"/>
    <p:sldId id="275" r:id="rId27"/>
    <p:sldId id="276" r:id="rId28"/>
    <p:sldId id="277" r:id="rId29"/>
    <p:sldId id="278" r:id="rId30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9" r:id="rId12"/>
    <p:sldId id="280" r:id="rId11"/>
    <p:sldId id="281" r:id="rId10"/>
    <p:sldId id="282" r:id="rId9"/>
    <p:sldId id="283" r:id="rId7"/>
    <p:sldId id="284" r:id="rId31"/>
    <p:sldId id="285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2.xml"/><Relationship Id="rId10" Type="http://schemas.openxmlformats.org/officeDocument/2006/relationships/slide" Target="slides/slide21.xml"/><Relationship Id="rId11" Type="http://schemas.openxmlformats.org/officeDocument/2006/relationships/slide" Target="slides/slide20.xml"/><Relationship Id="rId12" Type="http://schemas.openxmlformats.org/officeDocument/2006/relationships/slide" Target="slides/slide19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Relationship Id="rId7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3.xml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5.xml"/><Relationship Id="rId1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23.png"/><Relationship Id="rId12" Type="http://schemas.openxmlformats.org/officeDocument/2006/relationships/notesSlide" Target="../notesSlides/notesSlide16.xml"/><Relationship Id="rId1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4.xml"/><Relationship Id="rId7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5.xm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3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sz="3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3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9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sz="2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3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4"/>
          <a:srcRect l="40039" r="34375" t="1269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4"/>
          <a:srcRect l="72266" r="3646" t="5859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8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781" r="63867" t="1953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49043" r="40730" t="34857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854" r="17464" t="2922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904" t="2922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6555" r="16268" t="45165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7919" r="4306" t="45590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77751" r="16866" t="61105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4"/>
          <a:srcRect l="89354" r="5742" t="61105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08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本项目使用 CAMP 子集；保留各队列的配对、参照与治疗背景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r="17464" t="2922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904" t="2922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r="4306" t="45590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46557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r="16866" t="61105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患者内配对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r="5742" t="61105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两个队列，分别分析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r="16268" t="45165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2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4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157216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1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非配对 · 跨来源参照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ccRCC 两队列在癌种计数时仅计一次；LYPLA1 专题聚焦 BRCA、COAD、PDAC、PRAD。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27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3"/>
          <a:srcRect l="651" r="67578" t="57324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3"/>
          <a:srcRect l="35677" r="33268" t="55957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6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sz="117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r="3646" t="5859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r="34375" t="1269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3"/>
          <a:srcRect l="67188" r="260" t="60352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34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10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  <a:defRPr sz="9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B2C5B7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25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0" lang="zh-CN">
                <a:solidFill>
                  <a:srgbClr val="ABB9B1"/>
                </a:solidFill>
                <a:latin typeface="Microsoft YaHei"/>
                <a:ea typeface="微软雅黑"/>
                <a:cs typeface="Microsoft YaHei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193291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依据生化反应映射到 LYPLA1</a:t>
            </a:r>
          </a:p>
        </p:txBody>
      </p:sp>
      <p:sp>
        <p:nvSpPr>
          <p:cNvPr id="50" name="Editable text: LPC(16:0)"/>
          <p:cNvSpPr txBox="1"/>
          <p:nvPr/>
        </p:nvSpPr>
        <p:spPr>
          <a:xfrm>
            <a:off x="6656832" y="2748127"/>
            <a:ext cx="77698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LPC(16:0)</a:t>
            </a:r>
          </a:p>
        </p:txBody>
      </p:sp>
      <p:sp>
        <p:nvSpPr>
          <p:cNvPr id="51" name="Editable text: LYPLA1"/>
          <p:cNvSpPr txBox="1"/>
          <p:nvPr/>
        </p:nvSpPr>
        <p:spPr>
          <a:xfrm>
            <a:off x="8149422" y="2487523"/>
            <a:ext cx="61736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52" name="Editable text: →"/>
          <p:cNvSpPr txBox="1"/>
          <p:nvPr/>
        </p:nvSpPr>
        <p:spPr>
          <a:xfrm>
            <a:off x="8297671" y="2670401"/>
            <a:ext cx="36830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→</a:t>
            </a:r>
          </a:p>
        </p:txBody>
      </p:sp>
      <p:sp>
        <p:nvSpPr>
          <p:cNvPr id="53" name="Editable text: GPC + 棕榈酸"/>
          <p:cNvSpPr txBox="1"/>
          <p:nvPr/>
        </p:nvSpPr>
        <p:spPr>
          <a:xfrm>
            <a:off x="9570720" y="2748127"/>
            <a:ext cx="1022646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GPC + 棕榈酸</a:t>
            </a:r>
          </a:p>
        </p:txBody>
      </p:sp>
      <p:sp>
        <p:nvSpPr>
          <p:cNvPr id="54" name="Editable text: 底物"/>
          <p:cNvSpPr txBox="1"/>
          <p:nvPr/>
        </p:nvSpPr>
        <p:spPr>
          <a:xfrm>
            <a:off x="6656832" y="2980942"/>
            <a:ext cx="25929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底物</a:t>
            </a:r>
          </a:p>
        </p:txBody>
      </p:sp>
      <p:sp>
        <p:nvSpPr>
          <p:cNvPr id="55" name="Editable text: 油酸：另一条 LYPLA1 注释反应中的产物"/>
          <p:cNvSpPr txBox="1"/>
          <p:nvPr/>
        </p:nvSpPr>
        <p:spPr>
          <a:xfrm>
            <a:off x="6656832" y="3121709"/>
            <a:ext cx="235426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油酸：另一条 LYPLA1 注释反应中的产物</a:t>
            </a:r>
          </a:p>
        </p:txBody>
      </p:sp>
      <p:sp>
        <p:nvSpPr>
          <p:cNvPr id="56" name="Editable text: 反应参与关系 ≠ 患者内净通量或致因关系"/>
          <p:cNvSpPr txBox="1"/>
          <p:nvPr/>
        </p:nvSpPr>
        <p:spPr>
          <a:xfrm>
            <a:off x="6656832" y="3388977"/>
            <a:ext cx="1928333" cy="15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反应参与关系 ≠ 患者内净通量或致因关系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4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8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sp>
        <p:nvSpPr>
          <p:cNvPr id="511" name="Editable text: 10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参照为肿瘤内非恶性上皮；Naive 子集 6/7 同向，P=0.078。</a:t>
            </a:r>
          </a:p>
        </p:txBody>
      </p:sp>
      <p:sp>
        <p:nvSpPr>
          <p:cNvPr id="131" name="Editable text: 11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11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sp>
        <p:nvSpPr>
          <p:cNvPr id="150" name="Editable text: 12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12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sp>
        <p:nvSpPr>
          <p:cNvPr id="145" name="Editable text: 13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13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sp>
        <p:nvSpPr>
          <p:cNvPr id="153" name="Editable text: 14"/>
          <p:cNvSpPr txBox="1"/>
          <p:nvPr/>
        </p:nvSpPr>
        <p:spPr>
          <a:xfrm>
            <a:off x="11521427" y="6424015"/>
            <a:ext cx="24951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14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70" name="Editable text: 15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15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5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sp>
        <p:nvSpPr>
          <p:cNvPr id="68" name="Editable text: 16"/>
          <p:cNvSpPr txBox="1"/>
          <p:nvPr/>
        </p:nvSpPr>
        <p:spPr>
          <a:xfrm>
            <a:off x="11534656" y="6542226"/>
            <a:ext cx="23169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8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25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9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机制链为原文结果概括；本项目尚未验证上述底物、酶活或因果机制。</a:t>
            </a:r>
          </a:p>
        </p:txBody>
      </p:sp>
      <p:sp>
        <p:nvSpPr>
          <p:cNvPr id="78" name="Editable text: 17"/>
          <p:cNvSpPr txBox="1"/>
          <p:nvPr/>
        </p:nvSpPr>
        <p:spPr>
          <a:xfrm>
            <a:off x="11201400" y="6610366"/>
            <a:ext cx="42386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17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A5BDAF"/>
                </a:solidFill>
                <a:latin typeface="Microsoft YaHei"/>
                <a:ea typeface="微软雅黑"/>
                <a:cs typeface="Microsoft YaHei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0" lang="zh-CN">
                <a:solidFill>
                  <a:srgbClr val="FFFFFF"/>
                </a:solidFill>
                <a:latin typeface="Microsoft YaHei"/>
                <a:ea typeface="微软雅黑"/>
                <a:cs typeface="Microsoft YaHei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E0EEE5"/>
                </a:solidFill>
                <a:latin typeface="Microsoft YaHei"/>
                <a:ea typeface="微软雅黑"/>
                <a:cs typeface="Microsoft YaHei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现阶段：多层证据支持候选价值，共同代谢机制尚未建立。</a:t>
            </a:r>
          </a:p>
        </p:txBody>
      </p:sp>
      <p:sp>
        <p:nvSpPr>
          <p:cNvPr id="34" name="Editable text: 18"/>
          <p:cNvSpPr txBox="1"/>
          <p:nvPr/>
        </p:nvSpPr>
        <p:spPr>
          <a:xfrm>
            <a:off x="11159066" y="6512811"/>
            <a:ext cx="470958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18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12063" y="1837944"/>
            <a:ext cx="11167871" cy="1536192"/>
          </a:xfrm>
          <a:custGeom>
            <a:avLst/>
            <a:gdLst/>
            <a:ahLst/>
            <a:cxnLst/>
            <a:rect l="0" t="0" r="r" b="b"/>
            <a:pathLst>
              <a:path w="1055232" h="145152">
                <a:moveTo>
                  <a:pt x="11520" y="145152"/>
                </a:moveTo>
                <a:lnTo>
                  <a:pt x="1043712" y="145152"/>
                </a:lnTo>
                <a:cubicBezTo>
                  <a:pt x="1051392" y="145152"/>
                  <a:pt x="1055232" y="142992"/>
                  <a:pt x="1055232" y="138672"/>
                </a:cubicBezTo>
                <a:lnTo>
                  <a:pt x="1055232" y="6480"/>
                </a:lnTo>
                <a:cubicBezTo>
                  <a:pt x="1055232" y="2160"/>
                  <a:pt x="1051392" y="0"/>
                  <a:pt x="1043712" y="0"/>
                </a:cubicBezTo>
                <a:lnTo>
                  <a:pt x="11520" y="0"/>
                </a:lnTo>
                <a:cubicBezTo>
                  <a:pt x="3840" y="0"/>
                  <a:pt x="0" y="2160"/>
                  <a:pt x="0" y="6480"/>
                </a:cubicBezTo>
                <a:lnTo>
                  <a:pt x="0" y="138672"/>
                </a:lnTo>
                <a:cubicBezTo>
                  <a:pt x="0" y="142992"/>
                  <a:pt x="3840" y="145152"/>
                  <a:pt x="11520" y="145152"/>
                </a:cubicBezTo>
              </a:path>
            </a:pathLst>
          </a:custGeom>
          <a:solidFill>
            <a:srgbClr val="F0F5F1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446648" y="2537460"/>
            <a:ext cx="1397001" cy="105"/>
          </a:xfrm>
          <a:custGeom>
            <a:avLst/>
            <a:gdLst/>
            <a:ahLst/>
            <a:cxnLst/>
            <a:rect l="0" t="0" r="r" b="b"/>
            <a:pathLst>
              <a:path w="132000" h="10">
                <a:moveTo>
                  <a:pt x="0" y="0"/>
                </a:moveTo>
                <a:cubicBezTo>
                  <a:pt x="44745" y="0"/>
                  <a:pt x="88745" y="0"/>
                  <a:pt x="132000" y="0"/>
                </a:cubicBezTo>
              </a:path>
            </a:pathLst>
          </a:custGeom>
          <a:noFill/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758983" y="2495126"/>
            <a:ext cx="84666" cy="84666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4000"/>
                </a:lnTo>
                <a:lnTo>
                  <a:pt x="0" y="8000"/>
                </a:lnTo>
                <a:lnTo>
                  <a:pt x="0" y="0"/>
                </a:lnTo>
              </a:path>
            </a:pathLst>
          </a:custGeom>
          <a:solidFill>
            <a:srgbClr val="00553B">
              <a:alpha val="100000"/>
            </a:srgbClr>
          </a:solidFill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12" name="Editable text: 谷氨酰胺 + 天冬氨酸"/>
          <p:cNvSpPr txBox="1"/>
          <p:nvPr/>
        </p:nvSpPr>
        <p:spPr>
          <a:xfrm>
            <a:off x="2263543" y="2351243"/>
            <a:ext cx="2283396" cy="35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 + 天冬氨酸</a:t>
            </a:r>
          </a:p>
        </p:txBody>
      </p:sp>
      <p:sp>
        <p:nvSpPr>
          <p:cNvPr id="13" name="Editable text: 谷氨酸 + 天冬酰胺"/>
          <p:cNvSpPr txBox="1"/>
          <p:nvPr/>
        </p:nvSpPr>
        <p:spPr>
          <a:xfrm>
            <a:off x="8049239" y="2351243"/>
            <a:ext cx="2050563" cy="353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谷氨酸 + 天冬酰胺</a:t>
            </a:r>
          </a:p>
        </p:txBody>
      </p:sp>
      <p:sp>
        <p:nvSpPr>
          <p:cNvPr id="14" name="Editable text: ASNS"/>
          <p:cNvSpPr txBox="1"/>
          <p:nvPr/>
        </p:nvSpPr>
        <p:spPr>
          <a:xfrm>
            <a:off x="5904696" y="2064475"/>
            <a:ext cx="585449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ASNS</a:t>
            </a:r>
          </a:p>
        </p:txBody>
      </p:sp>
      <p:sp>
        <p:nvSpPr>
          <p:cNvPr id="15" name="Editable text: ATP → AMP + PPi"/>
          <p:cNvSpPr txBox="1"/>
          <p:nvPr/>
        </p:nvSpPr>
        <p:spPr>
          <a:xfrm>
            <a:off x="5615887" y="2744519"/>
            <a:ext cx="11393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ATP → AMP + PPi</a:t>
            </a:r>
          </a:p>
        </p:txBody>
      </p:sp>
      <p:sp>
        <p:nvSpPr>
          <p:cNvPr id="16" name="Editable text: 谷氨酰胺是氮供体和反应底物；ASNS 合成的是天冬酰胺。"/>
          <p:cNvSpPr txBox="1"/>
          <p:nvPr/>
        </p:nvSpPr>
        <p:spPr>
          <a:xfrm>
            <a:off x="4309814" y="3044646"/>
            <a:ext cx="363453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谷氨酰胺是氮供体和反应底物；ASNS 合成的是天冬酰胺。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12063" y="1837944"/>
            <a:ext cx="11167871" cy="1536192"/>
          </a:xfrm>
          <a:custGeom>
            <a:avLst/>
            <a:gdLst/>
            <a:ahLst/>
            <a:cxnLst/>
            <a:rect l="0" t="0" r="r" b="b"/>
            <a:pathLst>
              <a:path w="1055232" h="145152">
                <a:moveTo>
                  <a:pt x="11520" y="145152"/>
                </a:moveTo>
                <a:lnTo>
                  <a:pt x="1043712" y="145152"/>
                </a:lnTo>
                <a:cubicBezTo>
                  <a:pt x="1051392" y="145152"/>
                  <a:pt x="1055232" y="142992"/>
                  <a:pt x="1055232" y="138672"/>
                </a:cubicBezTo>
                <a:lnTo>
                  <a:pt x="1055232" y="6480"/>
                </a:lnTo>
                <a:cubicBezTo>
                  <a:pt x="1055232" y="2160"/>
                  <a:pt x="1051392" y="0"/>
                  <a:pt x="1043712" y="0"/>
                </a:cubicBezTo>
                <a:lnTo>
                  <a:pt x="11520" y="0"/>
                </a:lnTo>
                <a:cubicBezTo>
                  <a:pt x="3840" y="0"/>
                  <a:pt x="0" y="2160"/>
                  <a:pt x="0" y="6480"/>
                </a:cubicBezTo>
                <a:lnTo>
                  <a:pt x="0" y="138672"/>
                </a:lnTo>
                <a:cubicBezTo>
                  <a:pt x="0" y="142992"/>
                  <a:pt x="3840" y="145152"/>
                  <a:pt x="11520" y="145152"/>
                </a:cubicBezTo>
              </a:path>
            </a:pathLst>
          </a:custGeom>
          <a:solidFill>
            <a:srgbClr val="F0F5F1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96256" y="2228850"/>
            <a:ext cx="1999487" cy="589787"/>
          </a:xfrm>
          <a:custGeom>
            <a:avLst/>
            <a:gdLst/>
            <a:ahLst/>
            <a:cxnLst/>
            <a:rect l="0" t="0" r="r" b="b"/>
            <a:pathLst>
              <a:path w="188928" h="55728">
                <a:moveTo>
                  <a:pt x="8064" y="55728"/>
                </a:moveTo>
                <a:lnTo>
                  <a:pt x="180864" y="55728"/>
                </a:lnTo>
                <a:cubicBezTo>
                  <a:pt x="186240" y="55728"/>
                  <a:pt x="188928" y="54216"/>
                  <a:pt x="188928" y="51192"/>
                </a:cubicBezTo>
                <a:lnTo>
                  <a:pt x="188928" y="4536"/>
                </a:lnTo>
                <a:cubicBezTo>
                  <a:pt x="188928" y="1512"/>
                  <a:pt x="186240" y="0"/>
                  <a:pt x="180864" y="0"/>
                </a:cubicBezTo>
                <a:lnTo>
                  <a:pt x="8064" y="0"/>
                </a:lnTo>
                <a:cubicBezTo>
                  <a:pt x="2688" y="0"/>
                  <a:pt x="0" y="1512"/>
                  <a:pt x="0" y="4536"/>
                </a:cubicBezTo>
                <a:lnTo>
                  <a:pt x="0" y="51192"/>
                </a:lnTo>
                <a:cubicBezTo>
                  <a:pt x="0" y="54216"/>
                  <a:pt x="2688" y="55728"/>
                  <a:pt x="8064" y="55728"/>
                </a:cubicBezTo>
              </a:path>
            </a:pathLst>
          </a:custGeom>
          <a:solidFill>
            <a:srgbClr val="D7E7DD">
              <a:alpha val="100000"/>
            </a:srgbClr>
          </a:solidFill>
          <a:ln w="10583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044517" y="2558034"/>
            <a:ext cx="970337" cy="105"/>
          </a:xfrm>
          <a:custGeom>
            <a:avLst/>
            <a:gdLst/>
            <a:ahLst/>
            <a:cxnLst/>
            <a:rect l="0" t="0" r="r" b="b"/>
            <a:pathLst>
              <a:path w="91685" h="10">
                <a:moveTo>
                  <a:pt x="0" y="0"/>
                </a:moveTo>
                <a:cubicBezTo>
                  <a:pt x="31307" y="0"/>
                  <a:pt x="61869" y="0"/>
                  <a:pt x="91685" y="0"/>
                </a:cubicBezTo>
              </a:path>
            </a:pathLst>
          </a:custGeom>
          <a:noFill/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4930188" y="2515700"/>
            <a:ext cx="84666" cy="84666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4000"/>
                </a:lnTo>
                <a:lnTo>
                  <a:pt x="0" y="8000"/>
                </a:lnTo>
                <a:lnTo>
                  <a:pt x="0" y="0"/>
                </a:lnTo>
              </a:path>
            </a:pathLst>
          </a:custGeom>
          <a:solidFill>
            <a:srgbClr val="00553B">
              <a:alpha val="100000"/>
            </a:srgbClr>
          </a:solidFill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177867" y="2558034"/>
            <a:ext cx="909361" cy="105"/>
          </a:xfrm>
          <a:custGeom>
            <a:avLst/>
            <a:gdLst/>
            <a:ahLst/>
            <a:cxnLst/>
            <a:rect l="0" t="0" r="r" b="b"/>
            <a:pathLst>
              <a:path w="85924" h="10">
                <a:moveTo>
                  <a:pt x="0" y="0"/>
                </a:moveTo>
                <a:cubicBezTo>
                  <a:pt x="29387" y="0"/>
                  <a:pt x="58028" y="0"/>
                  <a:pt x="85924" y="0"/>
                </a:cubicBezTo>
              </a:path>
            </a:pathLst>
          </a:custGeom>
          <a:noFill/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8002561" y="2515700"/>
            <a:ext cx="84666" cy="84666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4000"/>
                </a:lnTo>
                <a:lnTo>
                  <a:pt x="0" y="8000"/>
                </a:lnTo>
                <a:lnTo>
                  <a:pt x="0" y="0"/>
                </a:lnTo>
              </a:path>
            </a:pathLst>
          </a:custGeom>
          <a:solidFill>
            <a:srgbClr val="00553B">
              <a:alpha val="100000"/>
            </a:srgbClr>
          </a:solidFill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16" name="Editable text: 细胞外"/>
          <p:cNvSpPr txBox="1"/>
          <p:nvPr/>
        </p:nvSpPr>
        <p:spPr>
          <a:xfrm>
            <a:off x="2857500" y="2086151"/>
            <a:ext cx="438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细胞外</a:t>
            </a:r>
          </a:p>
        </p:txBody>
      </p:sp>
      <p:sp>
        <p:nvSpPr>
          <p:cNvPr id="17" name="Editable text: 细胞内"/>
          <p:cNvSpPr txBox="1"/>
          <p:nvPr/>
        </p:nvSpPr>
        <p:spPr>
          <a:xfrm>
            <a:off x="8953500" y="2086151"/>
            <a:ext cx="438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细胞内</a:t>
            </a:r>
          </a:p>
        </p:txBody>
      </p:sp>
      <p:sp>
        <p:nvSpPr>
          <p:cNvPr id="18" name="Editable text: 牛磺酸"/>
          <p:cNvSpPr txBox="1"/>
          <p:nvPr/>
        </p:nvSpPr>
        <p:spPr>
          <a:xfrm>
            <a:off x="2682875" y="2363416"/>
            <a:ext cx="839787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</a:t>
            </a:r>
          </a:p>
        </p:txBody>
      </p:sp>
      <p:sp>
        <p:nvSpPr>
          <p:cNvPr id="19" name="Editable text: 牛磺酸"/>
          <p:cNvSpPr txBox="1"/>
          <p:nvPr/>
        </p:nvSpPr>
        <p:spPr>
          <a:xfrm>
            <a:off x="8778875" y="2363416"/>
            <a:ext cx="839787" cy="369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</a:t>
            </a:r>
          </a:p>
        </p:txBody>
      </p:sp>
      <p:sp>
        <p:nvSpPr>
          <p:cNvPr id="20" name="Editable text: SLC6A6 / TauT"/>
          <p:cNvSpPr txBox="1"/>
          <p:nvPr/>
        </p:nvSpPr>
        <p:spPr>
          <a:xfrm>
            <a:off x="5521523" y="2396743"/>
            <a:ext cx="12195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 / TauT</a:t>
            </a:r>
          </a:p>
        </p:txBody>
      </p:sp>
      <p:sp>
        <p:nvSpPr>
          <p:cNvPr id="21" name="Editable text: Na+ / Cl- 依赖性摄取  ·  搬运牛磺酸，本步骤不改变化学结构"/>
          <p:cNvSpPr txBox="1"/>
          <p:nvPr/>
        </p:nvSpPr>
        <p:spPr>
          <a:xfrm>
            <a:off x="4223990" y="2982924"/>
            <a:ext cx="3806380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Na+ / Cl- 依赖性摄取  ·  搬运牛磺酸，本步骤不改变化学结构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4575B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33" b="0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EF8A0C"/>
                </a:solidFill>
                <a:latin typeface="Microsoft YaHei"/>
                <a:ea typeface="微软雅黑"/>
                <a:cs typeface="Microsoft YaHei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12063" y="1837944"/>
            <a:ext cx="11167871" cy="1536192"/>
          </a:xfrm>
          <a:custGeom>
            <a:avLst/>
            <a:gdLst/>
            <a:ahLst/>
            <a:cxnLst/>
            <a:rect l="0" t="0" r="r" b="b"/>
            <a:pathLst>
              <a:path w="1055232" h="145152">
                <a:moveTo>
                  <a:pt x="11520" y="145152"/>
                </a:moveTo>
                <a:lnTo>
                  <a:pt x="1043712" y="145152"/>
                </a:lnTo>
                <a:cubicBezTo>
                  <a:pt x="1051392" y="145152"/>
                  <a:pt x="1055232" y="142992"/>
                  <a:pt x="1055232" y="138672"/>
                </a:cubicBezTo>
                <a:lnTo>
                  <a:pt x="1055232" y="6480"/>
                </a:lnTo>
                <a:cubicBezTo>
                  <a:pt x="1055232" y="2160"/>
                  <a:pt x="1051392" y="0"/>
                  <a:pt x="1043712" y="0"/>
                </a:cubicBezTo>
                <a:lnTo>
                  <a:pt x="11520" y="0"/>
                </a:lnTo>
                <a:cubicBezTo>
                  <a:pt x="3840" y="0"/>
                  <a:pt x="0" y="2160"/>
                  <a:pt x="0" y="6480"/>
                </a:cubicBezTo>
                <a:lnTo>
                  <a:pt x="0" y="138672"/>
                </a:lnTo>
                <a:cubicBezTo>
                  <a:pt x="0" y="142992"/>
                  <a:pt x="3840" y="145152"/>
                  <a:pt x="11520" y="145152"/>
                </a:cubicBezTo>
              </a:path>
            </a:pathLst>
          </a:custGeom>
          <a:solidFill>
            <a:srgbClr val="F0F5F1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141803" y="2537460"/>
            <a:ext cx="1884722" cy="105"/>
          </a:xfrm>
          <a:custGeom>
            <a:avLst/>
            <a:gdLst/>
            <a:ahLst/>
            <a:cxnLst/>
            <a:rect l="0" t="0" r="r" b="b"/>
            <a:pathLst>
              <a:path w="178084" h="10">
                <a:moveTo>
                  <a:pt x="0" y="0"/>
                </a:moveTo>
                <a:cubicBezTo>
                  <a:pt x="60107" y="0"/>
                  <a:pt x="119468" y="0"/>
                  <a:pt x="178084" y="0"/>
                </a:cubicBezTo>
              </a:path>
            </a:pathLst>
          </a:custGeom>
          <a:noFill/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941859" y="2495126"/>
            <a:ext cx="84666" cy="84666"/>
          </a:xfrm>
          <a:custGeom>
            <a:avLst/>
            <a:gdLst/>
            <a:ahLst/>
            <a:cxnLst/>
            <a:rect l="0" t="0" r="r" b="b"/>
            <a:pathLst>
              <a:path w="8000" h="8000">
                <a:moveTo>
                  <a:pt x="0" y="0"/>
                </a:moveTo>
                <a:lnTo>
                  <a:pt x="8000" y="4000"/>
                </a:lnTo>
                <a:lnTo>
                  <a:pt x="0" y="8000"/>
                </a:lnTo>
                <a:lnTo>
                  <a:pt x="0" y="0"/>
                </a:lnTo>
              </a:path>
            </a:pathLst>
          </a:custGeom>
          <a:solidFill>
            <a:srgbClr val="00553B">
              <a:alpha val="100000"/>
            </a:srgbClr>
          </a:solidFill>
          <a:ln w="21166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01  已知生化作用</a:t>
            </a:r>
          </a:p>
        </p:txBody>
      </p:sp>
      <p:sp>
        <p:nvSpPr>
          <p:cNvPr id="12" name="Editable text: 尿苷 + ATP"/>
          <p:cNvSpPr txBox="1"/>
          <p:nvPr/>
        </p:nvSpPr>
        <p:spPr>
          <a:xfrm>
            <a:off x="2677864" y="2334359"/>
            <a:ext cx="1464431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尿苷 + ATP</a:t>
            </a:r>
          </a:p>
        </p:txBody>
      </p:sp>
      <p:sp>
        <p:nvSpPr>
          <p:cNvPr id="13" name="Editable text: UMP + ADP"/>
          <p:cNvSpPr txBox="1"/>
          <p:nvPr/>
        </p:nvSpPr>
        <p:spPr>
          <a:xfrm>
            <a:off x="8257351" y="2334359"/>
            <a:ext cx="1643125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UMP + ADP</a:t>
            </a:r>
          </a:p>
        </p:txBody>
      </p:sp>
      <p:sp>
        <p:nvSpPr>
          <p:cNvPr id="14" name="Editable text: UCKL1"/>
          <p:cNvSpPr txBox="1"/>
          <p:nvPr/>
        </p:nvSpPr>
        <p:spPr>
          <a:xfrm>
            <a:off x="5798509" y="2057616"/>
            <a:ext cx="675767" cy="2734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UCKL1</a:t>
            </a:r>
          </a:p>
        </p:txBody>
      </p:sp>
      <p:sp>
        <p:nvSpPr>
          <p:cNvPr id="15" name="Editable text: 尿苷单磷酸"/>
          <p:cNvSpPr txBox="1"/>
          <p:nvPr/>
        </p:nvSpPr>
        <p:spPr>
          <a:xfrm>
            <a:off x="8704579" y="2744519"/>
            <a:ext cx="692150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尿苷单磷酸</a:t>
            </a:r>
          </a:p>
        </p:txBody>
      </p:sp>
      <p:sp>
        <p:nvSpPr>
          <p:cNvPr id="16" name="Editable text: 尿苷是磷酸化底物，进入嘧啶核苷补救合成；也可催化胞苷 → CMP。"/>
          <p:cNvSpPr txBox="1"/>
          <p:nvPr/>
        </p:nvSpPr>
        <p:spPr>
          <a:xfrm>
            <a:off x="3973793" y="3030930"/>
            <a:ext cx="4306357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尿苷是磷酸化底物，进入嘧啶核苷补救合成；也可催化胞苷 → CMP。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8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468B9E"/>
                </a:solidFill>
                <a:latin typeface="Microsoft YaHei"/>
                <a:ea typeface="微软雅黑"/>
                <a:cs typeface="Microsoft YaHei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3" b="1" lang="zh-CN">
                <a:solidFill>
                  <a:srgbClr val="C77462"/>
                </a:solidFill>
                <a:latin typeface="Microsoft YaHei"/>
                <a:ea typeface="微软雅黑"/>
                <a:cs typeface="Microsoft YaHei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5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000000"/>
                </a:solidFill>
                <a:latin typeface="Microsoft YaHei"/>
                <a:ea typeface="微软雅黑"/>
                <a:cs typeface="Microsoft YaHei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6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1" lang="zh-CN">
                <a:solidFill>
                  <a:srgbClr val="78B436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91" b="0" lang="zh-CN">
                <a:solidFill>
                  <a:srgbClr val="183D34"/>
                </a:solidFill>
                <a:latin typeface="Microsoft YaHei"/>
                <a:ea typeface="微软雅黑"/>
                <a:cs typeface="Microsoft YaHei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75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50" b="0" lang="zh-CN">
                <a:solidFill>
                  <a:srgbClr val="DD3434"/>
                </a:solidFill>
                <a:latin typeface="Microsoft YaHei"/>
                <a:ea typeface="微软雅黑"/>
                <a:cs typeface="Microsoft YaHei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4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33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1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91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66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8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0" lang="zh-CN">
                <a:solidFill>
                  <a:srgbClr val="6A7973"/>
                </a:solidFill>
                <a:latin typeface="Microsoft YaHei"/>
                <a:ea typeface="微软雅黑"/>
                <a:cs typeface="Microsoft YaHei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46520"/>
            <a:ext cx="4754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  <a:defRPr sz="1100" b="1" lang="zh-CN">
                <a:solidFill>
                  <a:srgbClr val="00553B"/>
                </a:solidFill>
                <a:latin typeface="Microsoft YaHei"/>
                <a:ea typeface="微软雅黑"/>
                <a:cs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