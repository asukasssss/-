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4" r:id="rId3"/>
    <p:sldId id="275" r:id="rId5"/>
    <p:sldId id="276" r:id="rId6"/>
    <p:sldId id="277" r:id="rId7"/>
    <p:sldId id="27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插图背景沿用用户认可的IMAGE封面下方校景意象及叶片，为装饰性插画，不是真实校园摄影。全部标题、副标题和标签为可编辑文字。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CAMP包含11癌种15数据集988组织标本。组学标本匹配与同患者肿瘤—正常配对分开核对。左侧为原文截图，右侧分子与DNA仅为组学示意，不表示数据或特定分子结构。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患者组织配对、对应标本的组学匹配分别成立才使用相应分析。示意组织使用非写实绘图。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队列和研究范围不变。器官图仅示意癌种；未修改原始科学数据或肿瘤亚型判断。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完整流程沿用前版：差异代谢物、身份核对、生化关系映射、候选池，后接三个并行证据模块。相关性不等于因果；同通路不等于直接关系。所有文字、箭头和卡片原生可编辑，插图为独立裁剪对象。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来源：D:\CodexData\visualizations\2026\09\25\01a0d8cd-4545-75b0-ba43-922588deea1a\CAMP_representative_cases_v3\01_BRCA_ASNS_CAMP.pdf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来源：D:\CodexData\visualizations\2026\09\25\01a0d8cd-4545-75b0-ba43-922588deea1a\CAMP_representative_cases_v3\02_BRCA_ASNS_全细胞与患者.pdf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来源：D:\CodexData\visualizations\2026\09\25\01a0d8cd-4545-75b0-ba43-922588deea1a\CAMP_representative_cases_v3\04_PDAC_PRAD_SLC6A6_CAMP.pdf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来源：D:\CodexData\visualizations\2026\09\25\01a0d8cd-4545-75b0-ba43-922588deea1a\CAMP_representative_cases_v3\05_PDAC_SLC6A6_全细胞与患者.pdf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来源：D:\CodexData\visualizations\2026\09\25\01a0d8cd-4545-75b0-ba43-922588deea1a\CAMP_representative_cases_v3\06_PRAD_SLC6A6_全细胞与患者.pdf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来源：D:\CodexData\visualizations\2026\09\25\01a0d8cd-4545-75b0-ba43-922588deea1a\CAMP_representative_cases_v3\11_COAD_UCKL1_CAMP.pdf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来源：D:\CodexData\visualizations\2026\09\25\01a0d8cd-4545-75b0-ba43-922588deea1a\CAMP_representative_cases_v3\09_COAD_UCKL1_全细胞与患者.pdf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pic>
        <p:nvPicPr>
          <p:cNvPr id="9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t="73220"/>
          <a:stretch>
            <a:fillRect/>
          </a:stretch>
        </p:blipFill>
        <p:spPr>
          <a:xfrm>
            <a:off x="0" y="5020275"/>
            <a:ext cx="12191695" cy="1837504"/>
          </a:xfrm>
          <a:prstGeom prst="rect">
            <a:avLst/>
          </a:prstGeom>
        </p:spPr>
      </p:pic>
      <p:pic>
        <p:nvPicPr>
          <p:cNvPr id="10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l="71172" b="75770"/>
          <a:stretch>
            <a:fillRect/>
          </a:stretch>
        </p:blipFill>
        <p:spPr>
          <a:xfrm>
            <a:off x="8750808" y="3054"/>
            <a:ext cx="3447287" cy="16306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508760"/>
            <a:ext cx="1938528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9051"/>
            <a:ext cx="17922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· 多组学研究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06984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 CAMP 多组学的</a:t>
            </a:r>
          </a:p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泛癌潜在代谢靶点筛选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730752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3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 LYPLA1 为重点的跨癌种证据分析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78408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患者匹配  /  代谢物—基因关系  /  细胞与空间背景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Atlas of Metabolic Profiles · 将代谢组与转录组放到同一研究框架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76856"/>
            <a:ext cx="4992624" cy="3648456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76856"/>
            <a:ext cx="41148" cy="3648456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llustration crop: paper_real.png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0655" y="2496312"/>
            <a:ext cx="4616608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83480"/>
            <a:ext cx="45445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9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Nature Metabolism ·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477256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Benedetti et al. · 原始论文截图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313432"/>
            <a:ext cx="5248656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整合肿瘤及参照组织的两种组学，</a:t>
            </a:r>
          </a:p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研究代谢物与基因表达的共同变化。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类癌症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个数据集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份组织标本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t="12695" r="34375" b="52148"/>
          <a:stretch>
            <a:fillRect/>
          </a:stretch>
        </p:blipFill>
        <p:spPr>
          <a:xfrm>
            <a:off x="6232017" y="4645152"/>
            <a:ext cx="1297686" cy="1188720"/>
          </a:xfrm>
          <a:prstGeom prst="rect">
            <a:avLst/>
          </a:prstGeom>
        </p:spPr>
      </p:pic>
      <p:pic>
        <p:nvPicPr>
          <p:cNvPr id="22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t="5859" r="3646" b="42871"/>
          <a:stretch>
            <a:fillRect/>
          </a:stretch>
        </p:blipFill>
        <p:spPr>
          <a:xfrm>
            <a:off x="9909048" y="4590288"/>
            <a:ext cx="902207" cy="128016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7680960" y="5230368"/>
            <a:ext cx="1901952" cy="0"/>
          </a:xfrm>
          <a:prstGeom prst="line">
            <a:avLst/>
          </a:prstGeom>
          <a:ln w="19050">
            <a:solidFill>
              <a:srgbClr val="89A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17536" y="4700016"/>
            <a:ext cx="1956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431536"/>
            <a:ext cx="2002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代谢水平 ↔ 基因表达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来源：Nature Metabolism 5, 1029–1044 (2023) · doi:10.1038/s42255-023-00817-8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患者内配对减少个体差异；对应标本匹配连接代谢物与基因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患者内组织配对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对应标本组学匹配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跨癌种覆盖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2"/>
          <a:srcRect l="781" t="1953" r="63867" b="46289"/>
          <a:stretch>
            <a:fillRect/>
          </a:stretch>
        </p:blipFill>
        <p:spPr>
          <a:xfrm>
            <a:off x="1149435" y="3017520"/>
            <a:ext cx="2135969" cy="208483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072" y="51023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肿瘤组织 / 参照组织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86400"/>
            <a:ext cx="27614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以同一患者为自身参照</a:t>
            </a:r>
          </a:p>
        </p:txBody>
      </p:sp>
      <p:pic>
        <p:nvPicPr>
          <p:cNvPr id="2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49043" t="34857" r="40730" b="53348"/>
          <a:stretch>
            <a:fillRect/>
          </a:stretch>
        </p:blipFill>
        <p:spPr>
          <a:xfrm>
            <a:off x="5504688" y="3080004"/>
            <a:ext cx="1216152" cy="78943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H="1">
            <a:off x="5330952" y="3877056"/>
            <a:ext cx="786384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17336" y="3877056"/>
            <a:ext cx="795528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804371" y="4160520"/>
            <a:ext cx="1108024" cy="1014984"/>
          </a:xfrm>
          <a:prstGeom prst="rect">
            <a:avLst/>
          </a:prstGeom>
        </p:spPr>
      </p:pic>
      <p:pic>
        <p:nvPicPr>
          <p:cNvPr id="28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6501384" y="4069265"/>
            <a:ext cx="850392" cy="12066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516636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66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48640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匹配肿瘤标本中的实测关联</a:t>
            </a:r>
          </a:p>
        </p:txBody>
      </p:sp>
      <p:pic>
        <p:nvPicPr>
          <p:cNvPr id="3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854" t="29224" r="17464" b="60680"/>
          <a:stretch>
            <a:fillRect/>
          </a:stretch>
        </p:blipFill>
        <p:spPr>
          <a:xfrm>
            <a:off x="8842248" y="2980944"/>
            <a:ext cx="539496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95360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pic>
        <p:nvPicPr>
          <p:cNvPr id="3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29224" r="4904" b="60680"/>
          <a:stretch>
            <a:fillRect/>
          </a:stretch>
        </p:blipFill>
        <p:spPr>
          <a:xfrm>
            <a:off x="10206869" y="2980944"/>
            <a:ext cx="681468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30968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pic>
        <p:nvPicPr>
          <p:cNvPr id="36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555" t="45165" r="16268" b="44208"/>
          <a:stretch>
            <a:fillRect/>
          </a:stretch>
        </p:blipFill>
        <p:spPr>
          <a:xfrm>
            <a:off x="8788298" y="3730752"/>
            <a:ext cx="647395" cy="5394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0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pic>
        <p:nvPicPr>
          <p:cNvPr id="38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45590" r="4306" b="45271"/>
          <a:stretch>
            <a:fillRect/>
          </a:stretch>
        </p:blipFill>
        <p:spPr>
          <a:xfrm>
            <a:off x="10139845" y="3730752"/>
            <a:ext cx="815517" cy="5394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30968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pic>
        <p:nvPicPr>
          <p:cNvPr id="4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7751" t="61105" r="16866" b="30287"/>
          <a:stretch>
            <a:fillRect/>
          </a:stretch>
        </p:blipFill>
        <p:spPr>
          <a:xfrm>
            <a:off x="8812276" y="4480559"/>
            <a:ext cx="599440" cy="5394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pic>
        <p:nvPicPr>
          <p:cNvPr id="4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9354" t="61105" r="5742" b="30181"/>
          <a:stretch>
            <a:fillRect/>
          </a:stretch>
        </p:blipFill>
        <p:spPr>
          <a:xfrm>
            <a:off x="10277856" y="4480559"/>
            <a:ext cx="539496" cy="5394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30968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5486400"/>
            <a:ext cx="28529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比较共同方向与背景差异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两类匹配分别核对；GBM 的跨来源参照单独解释。插图均为示意。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当前分析范围：标本份数与同患者肿瘤</a:t>
            </a:r>
            <a:r>
              <a:rPr altLang="zh-CN"/>
              <a:t>—</a:t>
            </a:r>
            <a:r>
              <a:rPr altLang="en-US"/>
              <a:t>参照配对数分别列示</a:t>
            </a:r>
            <a:endParaRPr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854" t="29224" r="17464" b="60680"/>
          <a:stretch>
            <a:fillRect/>
          </a:stretch>
        </p:blipFill>
        <p:spPr>
          <a:xfrm>
            <a:off x="813815" y="2569464"/>
            <a:ext cx="1033271" cy="10332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9967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108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其中配对：45</a:t>
            </a:r>
            <a:r>
              <a:rPr altLang="en-US" sz="1100"/>
              <a:t>对</a:t>
            </a:r>
            <a:r>
              <a:rPr altLang="zh-CN" sz="1100"/>
              <a:t> / 90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4" name="Rectangle 13"/>
          <p:cNvSpPr/>
          <p:nvPr/>
        </p:nvSpPr>
        <p:spPr>
          <a:xfrm>
            <a:off x="4489704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29224" r="4904" b="60680"/>
          <a:stretch>
            <a:fillRect/>
          </a:stretch>
        </p:blipFill>
        <p:spPr>
          <a:xfrm>
            <a:off x="4654296" y="2662618"/>
            <a:ext cx="1069848" cy="8469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8736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66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其中配对：33</a:t>
            </a:r>
            <a:r>
              <a:rPr altLang="en-US" sz="1100"/>
              <a:t>对</a:t>
            </a:r>
            <a:r>
              <a:rPr altLang="zh-CN" sz="1100"/>
              <a:t> / 66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9" name="Rectangle 18"/>
          <p:cNvSpPr/>
          <p:nvPr/>
        </p:nvSpPr>
        <p:spPr>
          <a:xfrm>
            <a:off x="8348471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45590" r="4306" b="45271"/>
          <a:stretch>
            <a:fillRect/>
          </a:stretch>
        </p:blipFill>
        <p:spPr>
          <a:xfrm>
            <a:off x="8513063" y="2732227"/>
            <a:ext cx="1069848" cy="7077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3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7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39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其中配对：11</a:t>
            </a:r>
            <a:r>
              <a:rPr altLang="en-US" sz="1100"/>
              <a:t>对</a:t>
            </a:r>
            <a:r>
              <a:rPr altLang="zh-CN" sz="1100"/>
              <a:t> / 22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24" name="Rectangle 23"/>
          <p:cNvSpPr/>
          <p:nvPr/>
        </p:nvSpPr>
        <p:spPr>
          <a:xfrm>
            <a:off x="630936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7751" t="61105" r="16866" b="30287"/>
          <a:stretch>
            <a:fillRect/>
          </a:stretch>
        </p:blipFill>
        <p:spPr>
          <a:xfrm>
            <a:off x="795527" y="4296308"/>
            <a:ext cx="1069848" cy="962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9967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137 </a:t>
            </a:r>
            <a:r>
              <a:rPr altLang="en-US" sz="1050"/>
              <a:t>份标本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其中配对：43</a:t>
            </a:r>
            <a:r>
              <a:rPr altLang="en-US" sz="1050"/>
              <a:t>对</a:t>
            </a:r>
            <a:r>
              <a:rPr altLang="zh-CN" sz="1050"/>
              <a:t> / 86</a:t>
            </a:r>
            <a:r>
              <a:rPr altLang="en-US" sz="1050"/>
              <a:t>份</a:t>
            </a:r>
            <a:endParaRPr altLang="en-US" sz="1050"/>
          </a:p>
        </p:txBody>
      </p:sp>
      <p:sp>
        <p:nvSpPr>
          <p:cNvPr id="29" name="Rectangle 28"/>
          <p:cNvSpPr/>
          <p:nvPr/>
        </p:nvSpPr>
        <p:spPr>
          <a:xfrm>
            <a:off x="4489704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9354" t="61105" r="5742" b="30181"/>
          <a:stretch>
            <a:fillRect/>
          </a:stretch>
        </p:blipFill>
        <p:spPr>
          <a:xfrm>
            <a:off x="4672583" y="4261104"/>
            <a:ext cx="1033271" cy="10332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/>
              <a:t>队列</a:t>
            </a:r>
            <a:r>
              <a:rPr altLang="zh-CN" sz="1050"/>
              <a:t>3</a:t>
            </a:r>
            <a:r>
              <a:rPr altLang="en-US" sz="1050"/>
              <a:t>：</a:t>
            </a:r>
            <a:r>
              <a:rPr altLang="zh-CN" sz="1050"/>
              <a:t>114</a:t>
            </a:r>
            <a:r>
              <a:rPr altLang="en-US" sz="1050"/>
              <a:t>份，配对</a:t>
            </a:r>
            <a:r>
              <a:rPr altLang="zh-CN" sz="1050"/>
              <a:t>17</a:t>
            </a:r>
            <a:r>
              <a:rPr altLang="en-US" sz="1050"/>
              <a:t>位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队列4</a:t>
            </a:r>
            <a:r>
              <a:rPr altLang="en-US" sz="1050"/>
              <a:t>：</a:t>
            </a:r>
            <a:r>
              <a:rPr altLang="zh-CN" sz="1050"/>
              <a:t>71</a:t>
            </a:r>
            <a:r>
              <a:rPr altLang="en-US" sz="1050"/>
              <a:t>份，配对</a:t>
            </a:r>
            <a:r>
              <a:rPr altLang="zh-CN" sz="1050"/>
              <a:t>12</a:t>
            </a:r>
            <a:r>
              <a:rPr altLang="en-US" sz="1050"/>
              <a:t>位</a:t>
            </a:r>
            <a:endParaRPr altLang="en-US" sz="1050"/>
          </a:p>
        </p:txBody>
      </p:sp>
      <p:sp>
        <p:nvSpPr>
          <p:cNvPr id="34" name="Rectangle 33"/>
          <p:cNvSpPr/>
          <p:nvPr/>
        </p:nvSpPr>
        <p:spPr>
          <a:xfrm>
            <a:off x="8348471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555" t="45165" r="16268" b="44208"/>
          <a:stretch>
            <a:fillRect/>
          </a:stretch>
        </p:blipFill>
        <p:spPr>
          <a:xfrm>
            <a:off x="8513063" y="4331970"/>
            <a:ext cx="1069848" cy="891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47503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7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80 </a:t>
            </a:r>
            <a:r>
              <a:rPr altLang="en-US" sz="1050"/>
              <a:t>份：</a:t>
            </a:r>
            <a:r>
              <a:rPr altLang="zh-CN" sz="1050"/>
              <a:t>74 </a:t>
            </a:r>
            <a:r>
              <a:rPr altLang="en-US" sz="1050"/>
              <a:t>肿瘤</a:t>
            </a:r>
            <a:r>
              <a:rPr altLang="zh-CN" sz="1050"/>
              <a:t> + 6 </a:t>
            </a:r>
            <a:r>
              <a:rPr altLang="en-US" sz="1050"/>
              <a:t>参照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/>
              <a:t>0 </a:t>
            </a:r>
            <a:r>
              <a:rPr altLang="en-US" sz="1050"/>
              <a:t>对</a:t>
            </a:r>
            <a:r>
              <a:rPr altLang="zh-CN" sz="1050"/>
              <a:t> · </a:t>
            </a:r>
            <a:r>
              <a:rPr altLang="en-US" sz="1050"/>
              <a:t>跨来源非配对</a:t>
            </a:r>
            <a:endParaRPr altLang="en-US" sz="1050"/>
          </a:p>
        </p:txBody>
      </p:sp>
      <p:cxnSp>
        <p:nvCxnSpPr>
          <p:cNvPr id="39" name="Connector 38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362700"/>
            <a:ext cx="10287000" cy="289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/>
              <a:t>配对按患者计；</a:t>
            </a:r>
            <a:r>
              <a:rPr altLang="zh-CN"/>
              <a:t>ccRCC</a:t>
            </a:r>
            <a:r>
              <a:rPr altLang="en-US"/>
              <a:t>为多区域标本，</a:t>
            </a:r>
            <a:r>
              <a:rPr altLang="zh-CN"/>
              <a:t>17 / 12</a:t>
            </a:r>
            <a:r>
              <a:rPr altLang="en-US"/>
              <a:t>对分别对应</a:t>
            </a:r>
            <a:r>
              <a:rPr altLang="zh-CN"/>
              <a:t>17 / 12</a:t>
            </a:r>
            <a:r>
              <a:rPr altLang="en-US"/>
              <a:t>位患者，两队列不合并。</a:t>
            </a:r>
            <a:endParaRPr altLang="zh-CN"/>
          </a:p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/>
              <a:t>BRCA</a:t>
            </a:r>
            <a:r>
              <a:rPr altLang="en-US"/>
              <a:t>含</a:t>
            </a:r>
            <a:r>
              <a:rPr altLang="zh-CN"/>
              <a:t>1</a:t>
            </a:r>
            <a:r>
              <a:rPr altLang="en-US"/>
              <a:t>份组织标签冲突；</a:t>
            </a:r>
            <a:r>
              <a:rPr altLang="zh-CN"/>
              <a:t>PDAC 39</a:t>
            </a:r>
            <a:r>
              <a:rPr altLang="en-US"/>
              <a:t>份中</a:t>
            </a:r>
            <a:r>
              <a:rPr altLang="zh-CN"/>
              <a:t>11</a:t>
            </a:r>
            <a:r>
              <a:rPr altLang="en-US"/>
              <a:t>对可配对。各具体分析按实际可用数计。</a:t>
            </a:r>
            <a:endParaRPr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从代谢物到候选基因：映射与证据并行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生化知识提出候选，患者数据与细胞背景检验其研究价值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差异代谢物</a:t>
            </a:r>
          </a:p>
        </p:txBody>
      </p:sp>
      <p:pic>
        <p:nvPicPr>
          <p:cNvPr id="11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1435607" y="2879487"/>
            <a:ext cx="850392" cy="778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癌种内肿瘤—参照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身份与注释核对</a:t>
            </a:r>
          </a:p>
        </p:txBody>
      </p:sp>
      <p:pic>
        <p:nvPicPr>
          <p:cNvPr id="16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3707168" y="2889504"/>
            <a:ext cx="888415" cy="813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81728" y="3154680"/>
            <a:ext cx="1060704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4972"/>
            <a:ext cx="91439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化学标识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名称、化学标识对齐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异构体 / 混合峰另列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直接生化关系</a:t>
            </a:r>
          </a:p>
        </p:txBody>
      </p:sp>
      <p:pic>
        <p:nvPicPr>
          <p:cNvPr id="23" name="Illustration crop: artwork.png" descr="artwork.png"/>
          <p:cNvPicPr>
            <a:picLocks noChangeAspect="1"/>
          </p:cNvPicPr>
          <p:nvPr/>
        </p:nvPicPr>
        <p:blipFill>
          <a:blip r:embed="rId2"/>
          <a:srcRect l="651" t="57324" r="67578" b="1367"/>
          <a:stretch>
            <a:fillRect/>
          </a:stretch>
        </p:blipFill>
        <p:spPr>
          <a:xfrm>
            <a:off x="6580588" y="2880360"/>
            <a:ext cx="938870" cy="813815"/>
          </a:xfrm>
          <a:prstGeom prst="rect">
            <a:avLst/>
          </a:prstGeom>
        </p:spPr>
      </p:pic>
      <p:pic>
        <p:nvPicPr>
          <p:cNvPr id="24" name="Illustration crop: artwork.png" descr="artwork.png"/>
          <p:cNvPicPr>
            <a:picLocks noChangeAspect="1"/>
          </p:cNvPicPr>
          <p:nvPr/>
        </p:nvPicPr>
        <p:blipFill>
          <a:blip r:embed="rId2"/>
          <a:srcRect l="35677" t="55957" r="33268" b="1172"/>
          <a:stretch>
            <a:fillRect/>
          </a:stretch>
        </p:blipFill>
        <p:spPr>
          <a:xfrm>
            <a:off x="7823254" y="2862072"/>
            <a:ext cx="904131" cy="832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92824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反应底物 / 产物 · 转运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必要复合体成员另注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34272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4312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代谢物—基因候选池</a:t>
            </a:r>
          </a:p>
        </p:txBody>
      </p:sp>
      <p:pic>
        <p:nvPicPr>
          <p:cNvPr id="29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9539020" y="2944368"/>
            <a:ext cx="718718" cy="658368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10360152" y="3200400"/>
            <a:ext cx="320040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10860894" y="2825496"/>
            <a:ext cx="644434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按特征 × 基因去重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条件性关系单列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" y="4416552"/>
            <a:ext cx="0" cy="27432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6272" y="4690872"/>
            <a:ext cx="8430768" cy="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57984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847518" y="5047488"/>
            <a:ext cx="444659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7904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是否改变？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7904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 · 同患者方向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44568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636007" y="5053037"/>
            <a:ext cx="676656" cy="6198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2392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代谢与 RNA 是否关联？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 · 实测关联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49056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llustration crop: artwork.png" descr="artwork.png"/>
          <p:cNvPicPr>
            <a:picLocks noChangeAspect="1"/>
          </p:cNvPicPr>
          <p:nvPr/>
        </p:nvPicPr>
        <p:blipFill>
          <a:blip r:embed="rId2"/>
          <a:srcRect l="67188" t="60352" r="260" b="1172"/>
          <a:stretch>
            <a:fillRect/>
          </a:stretch>
        </p:blipFill>
        <p:spPr>
          <a:xfrm>
            <a:off x="8540496" y="5096353"/>
            <a:ext cx="676656" cy="533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候选在哪里表达？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单细胞定位 · 空间背景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三类证据并行检查；不以相关显著作为唯一入场条件。插图为关系示意，不是实验数据。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193291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依据生化反应映射到 LYPLA1</a:t>
            </a:r>
          </a:p>
        </p:txBody>
      </p:sp>
      <p:sp>
        <p:nvSpPr>
          <p:cNvPr id="50" name="Editable text: LPC(16:0)"/>
          <p:cNvSpPr txBox="1"/>
          <p:nvPr/>
        </p:nvSpPr>
        <p:spPr>
          <a:xfrm>
            <a:off x="6656832" y="2748127"/>
            <a:ext cx="776986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51" name="Editable text: LYPLA1"/>
          <p:cNvSpPr txBox="1"/>
          <p:nvPr/>
        </p:nvSpPr>
        <p:spPr>
          <a:xfrm>
            <a:off x="8149422" y="2487523"/>
            <a:ext cx="61736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52" name="Editable text: →"/>
          <p:cNvSpPr txBox="1"/>
          <p:nvPr/>
        </p:nvSpPr>
        <p:spPr>
          <a:xfrm>
            <a:off x="8297671" y="2670401"/>
            <a:ext cx="368300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53" name="Editable text: GPC + 棕榈酸"/>
          <p:cNvSpPr txBox="1"/>
          <p:nvPr/>
        </p:nvSpPr>
        <p:spPr>
          <a:xfrm>
            <a:off x="9570720" y="2748127"/>
            <a:ext cx="1022646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 + 棕榈酸</a:t>
            </a:r>
          </a:p>
        </p:txBody>
      </p:sp>
      <p:sp>
        <p:nvSpPr>
          <p:cNvPr id="54" name="Editable text: 底物"/>
          <p:cNvSpPr txBox="1"/>
          <p:nvPr/>
        </p:nvSpPr>
        <p:spPr>
          <a:xfrm>
            <a:off x="6656832" y="2980942"/>
            <a:ext cx="25929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底物</a:t>
            </a:r>
          </a:p>
        </p:txBody>
      </p:sp>
      <p:sp>
        <p:nvSpPr>
          <p:cNvPr id="55" name="Editable text: 油酸：另一条 LYPLA1 注释反应中的产物"/>
          <p:cNvSpPr txBox="1"/>
          <p:nvPr/>
        </p:nvSpPr>
        <p:spPr>
          <a:xfrm>
            <a:off x="6656832" y="3121709"/>
            <a:ext cx="23542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油酸：另一条 LYPLA1 注释反应中的产物</a:t>
            </a:r>
          </a:p>
        </p:txBody>
      </p:sp>
      <p:sp>
        <p:nvSpPr>
          <p:cNvPr id="56" name="Editable text: 反应参与关系 ≠ 患者内净通量或致因关系"/>
          <p:cNvSpPr txBox="1"/>
          <p:nvPr/>
        </p:nvSpPr>
        <p:spPr>
          <a:xfrm>
            <a:off x="6656832" y="3388977"/>
            <a:ext cx="1928333" cy="156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反应参与关系 ≠ 患者内净通量或致因关系</a:t>
            </a:r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sp>
        <p:nvSpPr>
          <p:cNvPr id="511" name="Editable text: 10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参照为肿瘤内非恶性上皮；Naive 子集 6/7 同向，P=0.078。</a:t>
            </a:r>
          </a:p>
        </p:txBody>
      </p:sp>
      <p:sp>
        <p:nvSpPr>
          <p:cNvPr id="131" name="Editable text: 11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sp>
        <p:nvSpPr>
          <p:cNvPr id="150" name="Editable text: 12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sp>
        <p:nvSpPr>
          <p:cNvPr id="145" name="Editable text: 13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sp>
        <p:nvSpPr>
          <p:cNvPr id="153" name="Editable text: 14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70" name="Editable text: 15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68" name="Editable text: 16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机制链为原文结果概括；本项目尚未验证上述底物、酶活或因果机制。</a:t>
            </a:r>
          </a:p>
        </p:txBody>
      </p:sp>
      <p:sp>
        <p:nvSpPr>
          <p:cNvPr id="78" name="Editable text: 17"/>
          <p:cNvSpPr txBox="1"/>
          <p:nvPr/>
        </p:nvSpPr>
        <p:spPr>
          <a:xfrm>
            <a:off x="11201400" y="6610366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E0EE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现阶段：多层证据支持候选价值，共同代谢机制尚未建立。</a:t>
            </a:r>
          </a:p>
        </p:txBody>
      </p:sp>
      <p:sp>
        <p:nvSpPr>
          <p:cNvPr id="34" name="Editable text: 18"/>
          <p:cNvSpPr txBox="1"/>
          <p:nvPr/>
        </p:nvSpPr>
        <p:spPr>
          <a:xfrm>
            <a:off x="11159066" y="6512811"/>
            <a:ext cx="470958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18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ASNS：利用谷氨酰胺的氮，合成天冬酰胺"/>
          <p:cNvSpPr txBox="1"/>
          <p:nvPr/>
        </p:nvSpPr>
        <p:spPr>
          <a:xfrm>
            <a:off x="609599" y="974850"/>
            <a:ext cx="5094287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ASNS：利用谷氨酰胺的氮，合成天冬酰胺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BRCA"/>
          <p:cNvSpPr txBox="1"/>
          <p:nvPr/>
        </p:nvSpPr>
        <p:spPr>
          <a:xfrm>
            <a:off x="853439" y="4557013"/>
            <a:ext cx="51522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2" name="Editable text: 谷氨酰胺 ↓"/>
          <p:cNvSpPr txBox="1"/>
          <p:nvPr/>
        </p:nvSpPr>
        <p:spPr>
          <a:xfrm>
            <a:off x="2443711" y="4454666"/>
            <a:ext cx="1055285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↓</a:t>
            </a:r>
          </a:p>
        </p:txBody>
      </p:sp>
      <p:sp>
        <p:nvSpPr>
          <p:cNvPr id="23" name="Editable text: 配对 P = 6.03e-08"/>
          <p:cNvSpPr txBox="1"/>
          <p:nvPr/>
        </p:nvSpPr>
        <p:spPr>
          <a:xfrm>
            <a:off x="2458594" y="4816091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6.03e-08</a:t>
            </a:r>
          </a:p>
        </p:txBody>
      </p:sp>
      <p:sp>
        <p:nvSpPr>
          <p:cNvPr id="24" name="Editable text: ASNS ↑"/>
          <p:cNvSpPr txBox="1"/>
          <p:nvPr/>
        </p:nvSpPr>
        <p:spPr>
          <a:xfrm>
            <a:off x="5612014" y="4454666"/>
            <a:ext cx="814789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↑</a:t>
            </a:r>
          </a:p>
        </p:txBody>
      </p:sp>
      <p:sp>
        <p:nvSpPr>
          <p:cNvPr id="25" name="Editable text: 配对 P = 6e-07"/>
          <p:cNvSpPr txBox="1"/>
          <p:nvPr/>
        </p:nvSpPr>
        <p:spPr>
          <a:xfrm>
            <a:off x="5585142" y="4816091"/>
            <a:ext cx="8278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6e-07</a:t>
            </a:r>
          </a:p>
        </p:txBody>
      </p:sp>
      <p:sp>
        <p:nvSpPr>
          <p:cNvPr id="26" name="Editable text: ρ = -0.440   P = 0.0005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-0.440   P = 0.0005</a:t>
            </a:r>
          </a:p>
        </p:txBody>
      </p:sp>
      <p:sp>
        <p:nvSpPr>
          <p:cNvPr id="27" name="Editable text: 60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60 个肿瘤样本 · Spearman 相关</a:t>
            </a:r>
          </a:p>
        </p:txBody>
      </p:sp>
      <p:sp>
        <p:nvSpPr>
          <p:cNvPr id="28" name="Editable text: 对应线索：谷氨酰胺降低、ASNS 升高且负相关；尚不能断定是 ASNS 消耗所致"/>
          <p:cNvSpPr txBox="1"/>
          <p:nvPr/>
        </p:nvSpPr>
        <p:spPr>
          <a:xfrm>
            <a:off x="609599" y="5970217"/>
            <a:ext cx="52795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对应线索：谷氨酰胺降低、ASNS 升高且负相关；尚不能断定是 ASNS 消耗所致。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P08243 · RHEA:12228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P08243 · RHEA:12228（人类，已审阅）；反应为简化示意。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2065" y="1947672"/>
            <a:ext cx="1163116" cy="969264"/>
          </a:xfrm>
          <a:prstGeom prst="rect">
            <a:avLst/>
          </a:prstGeom>
        </p:spPr>
      </p:pic>
      <p:pic>
        <p:nvPicPr>
          <p:cNvPr id="38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pic>
        <p:nvPicPr>
          <p:cNvPr id="39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70033" y="1947672"/>
            <a:ext cx="1163116" cy="9692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31136" y="2249424"/>
            <a:ext cx="24780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+ 天冬氨酸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2249424"/>
            <a:ext cx="24048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谷氨酸 + 天冬酰胺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01184" y="2802636"/>
            <a:ext cx="239572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289864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AMP + PPi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8" y="2916936"/>
            <a:ext cx="346557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谷氨酰胺提供酰胺氮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2916936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产物为天冬酰胺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136392"/>
            <a:ext cx="10012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利用谷氨酰胺的氮合成天冬酰胺；分子与蛋白均为概念示意。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303318"/>
            <a:ext cx="2663536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08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6400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471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3028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0201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74719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4742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012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92832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4046116"/>
            <a:ext cx="830579" cy="28076"/>
          </a:xfrm>
          <a:custGeom>
            <a:avLst/>
            <a:gdLst/>
            <a:ahLst/>
            <a:cxnLst/>
            <a:rect l="0" t="0" r="r" b="b"/>
            <a:pathLst>
              <a:path w="78480" h="2653">
                <a:moveTo>
                  <a:pt x="0" y="26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4029954"/>
            <a:ext cx="830579" cy="22152"/>
          </a:xfrm>
          <a:custGeom>
            <a:avLst/>
            <a:gdLst/>
            <a:ahLst/>
            <a:cxnLst/>
            <a:rect l="0" t="0" r="r" b="b"/>
            <a:pathLst>
              <a:path w="78480" h="2093">
                <a:moveTo>
                  <a:pt x="0" y="0"/>
                </a:moveTo>
                <a:lnTo>
                  <a:pt x="78480" y="209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883484"/>
            <a:ext cx="830579" cy="89509"/>
          </a:xfrm>
          <a:custGeom>
            <a:avLst/>
            <a:gdLst/>
            <a:ahLst/>
            <a:cxnLst/>
            <a:rect l="0" t="0" r="r" b="b"/>
            <a:pathLst>
              <a:path w="78480" h="8458">
                <a:moveTo>
                  <a:pt x="0" y="0"/>
                </a:moveTo>
                <a:lnTo>
                  <a:pt x="78480" y="845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918371"/>
          </a:xfrm>
          <a:custGeom>
            <a:avLst/>
            <a:gdLst/>
            <a:ahLst/>
            <a:cxnLst/>
            <a:rect l="0" t="0" r="r" b="b"/>
            <a:pathLst>
              <a:path w="78480" h="86775">
                <a:moveTo>
                  <a:pt x="0" y="867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814527"/>
            <a:ext cx="830579" cy="285032"/>
          </a:xfrm>
          <a:custGeom>
            <a:avLst/>
            <a:gdLst/>
            <a:ahLst/>
            <a:cxnLst/>
            <a:rect l="0" t="0" r="r" b="b"/>
            <a:pathLst>
              <a:path w="78480" h="26932">
                <a:moveTo>
                  <a:pt x="0" y="269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30884"/>
            <a:ext cx="830579" cy="167488"/>
          </a:xfrm>
          <a:custGeom>
            <a:avLst/>
            <a:gdLst/>
            <a:ahLst/>
            <a:cxnLst/>
            <a:rect l="0" t="0" r="r" b="b"/>
            <a:pathLst>
              <a:path w="78480" h="15826">
                <a:moveTo>
                  <a:pt x="0" y="1582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885365"/>
            <a:ext cx="830579" cy="60110"/>
          </a:xfrm>
          <a:custGeom>
            <a:avLst/>
            <a:gdLst/>
            <a:ahLst/>
            <a:cxnLst/>
            <a:rect l="0" t="0" r="r" b="b"/>
            <a:pathLst>
              <a:path w="78480" h="5680">
                <a:moveTo>
                  <a:pt x="0" y="56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4126552"/>
            <a:ext cx="830579" cy="91837"/>
          </a:xfrm>
          <a:custGeom>
            <a:avLst/>
            <a:gdLst/>
            <a:ahLst/>
            <a:cxnLst/>
            <a:rect l="0" t="0" r="r" b="b"/>
            <a:pathLst>
              <a:path w="78480" h="8678">
                <a:moveTo>
                  <a:pt x="0" y="0"/>
                </a:moveTo>
                <a:lnTo>
                  <a:pt x="78480" y="867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74652" y="40511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400688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60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105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40764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6753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92240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10348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1505231" y="40230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1505231" y="40290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94992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914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078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8622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41953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598048" y="3973907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428627" y="381695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4" name="Editable text: UMAP 2"/>
          <p:cNvSpPr txBox="1"/>
          <p:nvPr/>
        </p:nvSpPr>
        <p:spPr>
          <a:xfrm rot="16200000">
            <a:off x="30209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5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413037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78" name="Editable text: 0.5"/>
          <p:cNvSpPr txBox="1"/>
          <p:nvPr/>
        </p:nvSpPr>
        <p:spPr>
          <a:xfrm>
            <a:off x="3825536" y="422366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79" name="Editable text: 1.0"/>
          <p:cNvSpPr txBox="1"/>
          <p:nvPr/>
        </p:nvSpPr>
        <p:spPr>
          <a:xfrm>
            <a:off x="3825536" y="380680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0" name="Editable text: 1.5"/>
          <p:cNvSpPr txBox="1"/>
          <p:nvPr/>
        </p:nvSpPr>
        <p:spPr>
          <a:xfrm>
            <a:off x="3825536" y="338994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1" name="Editable text: 2.0"/>
          <p:cNvSpPr txBox="1"/>
          <p:nvPr/>
        </p:nvSpPr>
        <p:spPr>
          <a:xfrm>
            <a:off x="3825536" y="297308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2" name="Editable text: ASNS · log1p(CP10K)"/>
          <p:cNvSpPr txBox="1"/>
          <p:nvPr/>
        </p:nvSpPr>
        <p:spPr>
          <a:xfrm rot="16200000">
            <a:off x="3569233" y="3652904"/>
            <a:ext cx="93799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· log1p(CP10K)</a:t>
            </a:r>
          </a:p>
        </p:txBody>
      </p:sp>
      <p:sp>
        <p:nvSpPr>
          <p:cNvPr id="83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4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5" name="Editable text: 0.00"/>
          <p:cNvSpPr txBox="1"/>
          <p:nvPr/>
        </p:nvSpPr>
        <p:spPr>
          <a:xfrm>
            <a:off x="10221167" y="42359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86" name="Editable text: 0.05"/>
          <p:cNvSpPr txBox="1"/>
          <p:nvPr/>
        </p:nvSpPr>
        <p:spPr>
          <a:xfrm>
            <a:off x="10221167" y="396295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0.05</a:t>
            </a:r>
          </a:p>
        </p:txBody>
      </p:sp>
      <p:sp>
        <p:nvSpPr>
          <p:cNvPr id="87" name="Editable text: 0.10"/>
          <p:cNvSpPr txBox="1"/>
          <p:nvPr/>
        </p:nvSpPr>
        <p:spPr>
          <a:xfrm>
            <a:off x="10221167" y="368999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0.10</a:t>
            </a:r>
          </a:p>
        </p:txBody>
      </p:sp>
      <p:sp>
        <p:nvSpPr>
          <p:cNvPr id="88" name="Editable text: 0.15"/>
          <p:cNvSpPr txBox="1"/>
          <p:nvPr/>
        </p:nvSpPr>
        <p:spPr>
          <a:xfrm>
            <a:off x="10221167" y="341704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0.15</a:t>
            </a:r>
          </a:p>
        </p:txBody>
      </p:sp>
      <p:sp>
        <p:nvSpPr>
          <p:cNvPr id="89" name="Editable text: 0.20"/>
          <p:cNvSpPr txBox="1"/>
          <p:nvPr/>
        </p:nvSpPr>
        <p:spPr>
          <a:xfrm>
            <a:off x="10221167" y="3144084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0.20</a:t>
            </a:r>
          </a:p>
        </p:txBody>
      </p:sp>
      <p:sp>
        <p:nvSpPr>
          <p:cNvPr id="90" name="Editable text: 0.25"/>
          <p:cNvSpPr txBox="1"/>
          <p:nvPr/>
        </p:nvSpPr>
        <p:spPr>
          <a:xfrm>
            <a:off x="10221167" y="287112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1" name="Editable text: 患者平均表达"/>
          <p:cNvSpPr txBox="1"/>
          <p:nvPr/>
        </p:nvSpPr>
        <p:spPr>
          <a:xfrm rot="16200000">
            <a:off x="983147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3" name="Editable text: BRCA：ASNS 的全细胞定位与同患者证据"/>
          <p:cNvSpPr txBox="1"/>
          <p:nvPr/>
        </p:nvSpPr>
        <p:spPr>
          <a:xfrm>
            <a:off x="609599" y="951108"/>
            <a:ext cx="5528527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BRCA：ASNS 的全细胞定位与同患者证据</a:t>
            </a:r>
          </a:p>
        </p:txBody>
      </p:sp>
      <p:sp>
        <p:nvSpPr>
          <p:cNvPr id="94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5" name="Editable text: ASNS expression"/>
          <p:cNvSpPr txBox="1"/>
          <p:nvPr/>
        </p:nvSpPr>
        <p:spPr>
          <a:xfrm>
            <a:off x="585216" y="1882394"/>
            <a:ext cx="142491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expression</a:t>
            </a:r>
          </a:p>
        </p:txBody>
      </p:sp>
      <p:sp>
        <p:nvSpPr>
          <p:cNvPr id="96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97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98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99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0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1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2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3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4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5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06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07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08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09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0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1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2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3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4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5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16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17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18" name="Editable text: 色标上限 2.3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2.35 · 阳性值第99百分位</a:t>
            </a:r>
          </a:p>
        </p:txBody>
      </p:sp>
      <p:sp>
        <p:nvSpPr>
          <p:cNvPr id="119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20" name="Editable text: 5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 / 8</a:t>
            </a:r>
          </a:p>
        </p:txBody>
      </p:sp>
      <p:sp>
        <p:nvSpPr>
          <p:cNvPr id="121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2" name="Editable text: 平均差 +0.029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+0.029</a:t>
            </a:r>
          </a:p>
        </p:txBody>
      </p:sp>
      <p:sp>
        <p:nvSpPr>
          <p:cNvPr id="123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4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5" name="Editable text: 同患者描述：5/8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同患者描述：5/8 位目标上皮表达更高；尚未作显著性检验。</a:t>
            </a:r>
          </a:p>
        </p:txBody>
      </p:sp>
      <p:sp>
        <p:nvSpPr>
          <p:cNvPr id="126" name="Editable text: 同患者两类上皮均至少 20 个细胞；患者平均表达配对，未新增显著性检验。"/>
          <p:cNvSpPr txBox="1"/>
          <p:nvPr/>
        </p:nvSpPr>
        <p:spPr>
          <a:xfrm>
            <a:off x="609599" y="6417173"/>
            <a:ext cx="307783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同患者两类上皮均至少 20 个细胞；患者平均表达配对，未新增显著性检验。</a:t>
            </a: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09599" y="4951476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text: SLC6A6：将细胞外牛磺酸转运入细胞"/>
          <p:cNvSpPr txBox="1"/>
          <p:nvPr/>
        </p:nvSpPr>
        <p:spPr>
          <a:xfrm>
            <a:off x="609599" y="974850"/>
            <a:ext cx="455890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SLC6A6：将细胞外牛磺酸转运入细胞</a:t>
            </a:r>
          </a:p>
        </p:txBody>
      </p:sp>
      <p:sp>
        <p:nvSpPr>
          <p:cNvPr id="15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22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23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24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5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6" name="Editable text: PDAC"/>
          <p:cNvSpPr txBox="1"/>
          <p:nvPr/>
        </p:nvSpPr>
        <p:spPr>
          <a:xfrm>
            <a:off x="853439" y="4440427"/>
            <a:ext cx="52272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7" name="Editable text: 牛磺酸 ↑"/>
          <p:cNvSpPr txBox="1"/>
          <p:nvPr/>
        </p:nvSpPr>
        <p:spPr>
          <a:xfrm>
            <a:off x="2544253" y="4338080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↑</a:t>
            </a:r>
          </a:p>
        </p:txBody>
      </p:sp>
      <p:sp>
        <p:nvSpPr>
          <p:cNvPr id="28" name="Editable text: 配对 P = 0.00195"/>
          <p:cNvSpPr txBox="1"/>
          <p:nvPr/>
        </p:nvSpPr>
        <p:spPr>
          <a:xfrm>
            <a:off x="2481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0.00195</a:t>
            </a:r>
          </a:p>
        </p:txBody>
      </p:sp>
      <p:sp>
        <p:nvSpPr>
          <p:cNvPr id="29" name="Editable text: SLC6A6 ↑"/>
          <p:cNvSpPr txBox="1"/>
          <p:nvPr/>
        </p:nvSpPr>
        <p:spPr>
          <a:xfrm>
            <a:off x="5513704" y="4338080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↑</a:t>
            </a:r>
          </a:p>
        </p:txBody>
      </p:sp>
      <p:sp>
        <p:nvSpPr>
          <p:cNvPr id="30" name="Editable text: 配对 P = 0.00355"/>
          <p:cNvSpPr txBox="1"/>
          <p:nvPr/>
        </p:nvSpPr>
        <p:spPr>
          <a:xfrm>
            <a:off x="5529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0.00355</a:t>
            </a:r>
          </a:p>
        </p:txBody>
      </p:sp>
      <p:sp>
        <p:nvSpPr>
          <p:cNvPr id="31" name="Editable text: ρ = +0.494   P = 0.0275"/>
          <p:cNvSpPr txBox="1"/>
          <p:nvPr/>
        </p:nvSpPr>
        <p:spPr>
          <a:xfrm>
            <a:off x="8572225" y="4371848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+0.494   P = 0.0275</a:t>
            </a:r>
          </a:p>
        </p:txBody>
      </p:sp>
      <p:sp>
        <p:nvSpPr>
          <p:cNvPr id="32" name="Editable text: 21 个肿瘤样本 · Spearman 相关"/>
          <p:cNvSpPr txBox="1"/>
          <p:nvPr/>
        </p:nvSpPr>
        <p:spPr>
          <a:xfrm>
            <a:off x="8708320" y="4701489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 个肿瘤样本 · Spearman 相关</a:t>
            </a:r>
          </a:p>
        </p:txBody>
      </p:sp>
      <p:sp>
        <p:nvSpPr>
          <p:cNvPr id="33" name="Editable text: PRAD"/>
          <p:cNvSpPr txBox="1"/>
          <p:nvPr/>
        </p:nvSpPr>
        <p:spPr>
          <a:xfrm>
            <a:off x="853439" y="5270246"/>
            <a:ext cx="53165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34" name="Editable text: 牛磺酸 ↓"/>
          <p:cNvSpPr txBox="1"/>
          <p:nvPr/>
        </p:nvSpPr>
        <p:spPr>
          <a:xfrm>
            <a:off x="2544253" y="5167898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↓</a:t>
            </a:r>
          </a:p>
        </p:txBody>
      </p:sp>
      <p:sp>
        <p:nvSpPr>
          <p:cNvPr id="35" name="Editable text: 配对 P = 1.69e-06"/>
          <p:cNvSpPr txBox="1"/>
          <p:nvPr/>
        </p:nvSpPr>
        <p:spPr>
          <a:xfrm>
            <a:off x="2458594" y="5529323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1.69e-06</a:t>
            </a:r>
          </a:p>
        </p:txBody>
      </p:sp>
      <p:sp>
        <p:nvSpPr>
          <p:cNvPr id="36" name="Editable text: SLC6A6 ↓"/>
          <p:cNvSpPr txBox="1"/>
          <p:nvPr/>
        </p:nvSpPr>
        <p:spPr>
          <a:xfrm>
            <a:off x="5513704" y="5167898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↓</a:t>
            </a:r>
          </a:p>
        </p:txBody>
      </p:sp>
      <p:sp>
        <p:nvSpPr>
          <p:cNvPr id="37" name="Editable text: 配对 P = 0.00108"/>
          <p:cNvSpPr txBox="1"/>
          <p:nvPr/>
        </p:nvSpPr>
        <p:spPr>
          <a:xfrm>
            <a:off x="5529579" y="5529323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0.00108</a:t>
            </a:r>
          </a:p>
        </p:txBody>
      </p:sp>
      <p:sp>
        <p:nvSpPr>
          <p:cNvPr id="38" name="Editable text: ρ = +0.141   P = 0.1777"/>
          <p:cNvSpPr txBox="1"/>
          <p:nvPr/>
        </p:nvSpPr>
        <p:spPr>
          <a:xfrm>
            <a:off x="8572225" y="5201666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+0.141   P = 0.1777</a:t>
            </a:r>
          </a:p>
        </p:txBody>
      </p:sp>
      <p:sp>
        <p:nvSpPr>
          <p:cNvPr id="39" name="Editable text: 91 个肿瘤样本 · Spearman 相关"/>
          <p:cNvSpPr txBox="1"/>
          <p:nvPr/>
        </p:nvSpPr>
        <p:spPr>
          <a:xfrm>
            <a:off x="8708320" y="5531307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 个肿瘤样本 · Spearman 相关</a:t>
            </a:r>
          </a:p>
        </p:txBody>
      </p:sp>
      <p:sp>
        <p:nvSpPr>
          <p:cNvPr id="40" name="Editable text: PDAC 单核定位指向 CAF；组织牛磺酸变化尚不能归因为 CAF 的转运作用。"/>
          <p:cNvSpPr txBox="1"/>
          <p:nvPr/>
        </p:nvSpPr>
        <p:spPr>
          <a:xfrm>
            <a:off x="609599" y="5970217"/>
            <a:ext cx="49223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单核定位指向 CAF；组织牛磺酸变化尚不能归因为 CAF 的转运作用。</a:t>
            </a:r>
          </a:p>
        </p:txBody>
      </p:sp>
      <p:sp>
        <p:nvSpPr>
          <p:cNvPr id="41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42" name="Editable text: 来源：UniProt P31641 · RHEA:71223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P31641 · RHEA:71223（人类，已审阅）；反应为简化示意。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Imagegen conceptual cutout: transporter" descr="scientific_cutouts.png"/>
          <p:cNvPicPr>
            <a:picLocks noChangeAspect="1"/>
          </p:cNvPicPr>
          <p:nvPr/>
        </p:nvPicPr>
        <p:blipFill>
          <a:blip r:embed="rId2"/>
          <a:srcRect l="34505" t="51758" r="33594" b="4297"/>
          <a:stretch>
            <a:fillRect/>
          </a:stretch>
        </p:blipFill>
        <p:spPr>
          <a:xfrm>
            <a:off x="5382768" y="1865376"/>
            <a:ext cx="1194816" cy="10972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8988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988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675887" y="2546604"/>
            <a:ext cx="1069849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7768" y="2546604"/>
            <a:ext cx="1060703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90288" y="2971800"/>
            <a:ext cx="29443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/ TauT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3136392"/>
            <a:ext cx="959205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Na+ / Cl− 依赖性摄取；将细胞外牛磺酸转运入细胞，不改变化学结构。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303318"/>
            <a:ext cx="2199408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473080" y="3933175"/>
            <a:ext cx="633877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301367" y="3933175"/>
            <a:ext cx="633878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4494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012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95294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046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4564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2081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295990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0951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89717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6992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0123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30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10530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427377" y="29073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43679"/>
            <a:ext cx="830579" cy="710943"/>
          </a:xfrm>
          <a:custGeom>
            <a:avLst/>
            <a:gdLst/>
            <a:ahLst/>
            <a:cxnLst/>
            <a:rect l="0" t="0" r="r" b="b"/>
            <a:pathLst>
              <a:path w="78480" h="67176">
                <a:moveTo>
                  <a:pt x="0" y="6717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140863"/>
            <a:ext cx="830579" cy="788799"/>
          </a:xfrm>
          <a:custGeom>
            <a:avLst/>
            <a:gdLst/>
            <a:ahLst/>
            <a:cxnLst/>
            <a:rect l="0" t="0" r="r" b="b"/>
            <a:pathLst>
              <a:path w="78480" h="74532">
                <a:moveTo>
                  <a:pt x="0" y="745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02324"/>
            <a:ext cx="830579" cy="717739"/>
          </a:xfrm>
          <a:custGeom>
            <a:avLst/>
            <a:gdLst/>
            <a:ahLst/>
            <a:cxnLst/>
            <a:rect l="0" t="0" r="r" b="b"/>
            <a:pathLst>
              <a:path w="78480" h="67818">
                <a:moveTo>
                  <a:pt x="0" y="6781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015292"/>
            <a:ext cx="830579" cy="1219118"/>
          </a:xfrm>
          <a:custGeom>
            <a:avLst/>
            <a:gdLst/>
            <a:ahLst/>
            <a:cxnLst/>
            <a:rect l="0" t="0" r="r" b="b"/>
            <a:pathLst>
              <a:path w="78480" h="115192">
                <a:moveTo>
                  <a:pt x="0" y="11519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685798"/>
            <a:ext cx="830579" cy="542189"/>
          </a:xfrm>
          <a:custGeom>
            <a:avLst/>
            <a:gdLst/>
            <a:ahLst/>
            <a:cxnLst/>
            <a:rect l="0" t="0" r="r" b="b"/>
            <a:pathLst>
              <a:path w="78480" h="51230">
                <a:moveTo>
                  <a:pt x="0" y="5123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641190"/>
            <a:ext cx="830579" cy="511156"/>
          </a:xfrm>
          <a:custGeom>
            <a:avLst/>
            <a:gdLst/>
            <a:ahLst/>
            <a:cxnLst/>
            <a:rect l="0" t="0" r="r" b="b"/>
            <a:pathLst>
              <a:path w="78480" h="48298">
                <a:moveTo>
                  <a:pt x="0" y="4829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842994"/>
            <a:ext cx="830579" cy="380510"/>
          </a:xfrm>
          <a:custGeom>
            <a:avLst/>
            <a:gdLst/>
            <a:ahLst/>
            <a:cxnLst/>
            <a:rect l="0" t="0" r="r" b="b"/>
            <a:pathLst>
              <a:path w="78480" h="35954">
                <a:moveTo>
                  <a:pt x="0" y="3595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386060"/>
            <a:ext cx="830579" cy="640788"/>
          </a:xfrm>
          <a:custGeom>
            <a:avLst/>
            <a:gdLst/>
            <a:ahLst/>
            <a:cxnLst/>
            <a:rect l="0" t="0" r="r" b="b"/>
            <a:pathLst>
              <a:path w="78480" h="60547">
                <a:moveTo>
                  <a:pt x="0" y="6054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445034"/>
            <a:ext cx="830579" cy="706762"/>
          </a:xfrm>
          <a:custGeom>
            <a:avLst/>
            <a:gdLst/>
            <a:ahLst/>
            <a:cxnLst/>
            <a:rect l="0" t="0" r="r" b="b"/>
            <a:pathLst>
              <a:path w="78480" h="66781">
                <a:moveTo>
                  <a:pt x="0" y="667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97717" y="3505509"/>
            <a:ext cx="830579" cy="626006"/>
          </a:xfrm>
          <a:custGeom>
            <a:avLst/>
            <a:gdLst/>
            <a:ahLst/>
            <a:cxnLst/>
            <a:rect l="0" t="0" r="r" b="b"/>
            <a:pathLst>
              <a:path w="78480" h="59150">
                <a:moveTo>
                  <a:pt x="0" y="5915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97717" y="3261122"/>
            <a:ext cx="830579" cy="799505"/>
          </a:xfrm>
          <a:custGeom>
            <a:avLst/>
            <a:gdLst/>
            <a:ahLst/>
            <a:cxnLst/>
            <a:rect l="0" t="0" r="r" b="b"/>
            <a:pathLst>
              <a:path w="78480" h="75544">
                <a:moveTo>
                  <a:pt x="0" y="7554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97717" y="3719110"/>
            <a:ext cx="830579" cy="517828"/>
          </a:xfrm>
          <a:custGeom>
            <a:avLst/>
            <a:gdLst/>
            <a:ahLst/>
            <a:cxnLst/>
            <a:rect l="0" t="0" r="r" b="b"/>
            <a:pathLst>
              <a:path w="78480" h="48929">
                <a:moveTo>
                  <a:pt x="0" y="48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97717" y="3735606"/>
            <a:ext cx="830579" cy="123496"/>
          </a:xfrm>
          <a:custGeom>
            <a:avLst/>
            <a:gdLst/>
            <a:ahLst/>
            <a:cxnLst/>
            <a:rect l="0" t="0" r="r" b="b"/>
            <a:pathLst>
              <a:path w="78480" h="11669">
                <a:moveTo>
                  <a:pt x="0" y="1166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97717" y="3881413"/>
            <a:ext cx="830579" cy="203366"/>
          </a:xfrm>
          <a:custGeom>
            <a:avLst/>
            <a:gdLst/>
            <a:ahLst/>
            <a:cxnLst/>
            <a:rect l="0" t="0" r="r" b="b"/>
            <a:pathLst>
              <a:path w="78480" h="19216">
                <a:moveTo>
                  <a:pt x="0" y="1921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97717" y="3574431"/>
            <a:ext cx="830579" cy="558612"/>
          </a:xfrm>
          <a:custGeom>
            <a:avLst/>
            <a:gdLst/>
            <a:ahLst/>
            <a:cxnLst/>
            <a:rect l="0" t="0" r="r" b="b"/>
            <a:pathLst>
              <a:path w="78480" h="52782">
                <a:moveTo>
                  <a:pt x="0" y="5278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97717" y="3948978"/>
            <a:ext cx="830579" cy="183235"/>
          </a:xfrm>
          <a:custGeom>
            <a:avLst/>
            <a:gdLst/>
            <a:ahLst/>
            <a:cxnLst/>
            <a:rect l="0" t="0" r="r" b="b"/>
            <a:pathLst>
              <a:path w="78480" h="17314">
                <a:moveTo>
                  <a:pt x="0" y="0"/>
                </a:moveTo>
                <a:lnTo>
                  <a:pt x="78480" y="1731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97717" y="3114697"/>
            <a:ext cx="830579" cy="1172174"/>
          </a:xfrm>
          <a:custGeom>
            <a:avLst/>
            <a:gdLst/>
            <a:ahLst/>
            <a:cxnLst/>
            <a:rect l="0" t="0" r="r" b="b"/>
            <a:pathLst>
              <a:path w="78480" h="110757">
                <a:moveTo>
                  <a:pt x="0" y="11075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315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065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674652" y="41969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0674652" y="42113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674652" y="420492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674652" y="41292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674652" y="420043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674652" y="400378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0674652" y="41287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0674652" y="41084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674652" y="40375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0674652" y="42138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674652" y="38360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0674652" y="40617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0674652" y="410997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0674652" y="39259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0674652" y="42638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1505231" y="352061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1505231" y="31177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1505231" y="34792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1505231" y="36627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1505231" y="36181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1505231" y="381992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1505231" y="33629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1505231" y="34219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1505231" y="3482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1505231" y="32380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1505231" y="36960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1505231" y="37125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1505231" y="38583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1505231" y="35513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1505231" y="41091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1505231" y="30916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0598048" y="412724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1428627" y="353690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1" name="Editable text: UMAP 2"/>
          <p:cNvSpPr txBox="1"/>
          <p:nvPr/>
        </p:nvSpPr>
        <p:spPr>
          <a:xfrm rot="16200000">
            <a:off x="55064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2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3" name="Editable text: UMAP 2"/>
          <p:cNvSpPr txBox="1"/>
          <p:nvPr/>
        </p:nvSpPr>
        <p:spPr>
          <a:xfrm rot="16200000">
            <a:off x="437893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4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15" name="Editable text: 0.5"/>
          <p:cNvSpPr txBox="1"/>
          <p:nvPr/>
        </p:nvSpPr>
        <p:spPr>
          <a:xfrm>
            <a:off x="3825536" y="439226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16" name="Editable text: 1.0"/>
          <p:cNvSpPr txBox="1"/>
          <p:nvPr/>
        </p:nvSpPr>
        <p:spPr>
          <a:xfrm>
            <a:off x="3825536" y="414400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17" name="Editable text: 1.5"/>
          <p:cNvSpPr txBox="1"/>
          <p:nvPr/>
        </p:nvSpPr>
        <p:spPr>
          <a:xfrm>
            <a:off x="3825536" y="389574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118" name="Editable text: 2.0"/>
          <p:cNvSpPr txBox="1"/>
          <p:nvPr/>
        </p:nvSpPr>
        <p:spPr>
          <a:xfrm>
            <a:off x="3825536" y="364748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119" name="Editable text: 2.5"/>
          <p:cNvSpPr txBox="1"/>
          <p:nvPr/>
        </p:nvSpPr>
        <p:spPr>
          <a:xfrm>
            <a:off x="3825536" y="33992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120" name="Editable text: 3.0"/>
          <p:cNvSpPr txBox="1"/>
          <p:nvPr/>
        </p:nvSpPr>
        <p:spPr>
          <a:xfrm>
            <a:off x="3825536" y="315096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3.0</a:t>
            </a:r>
          </a:p>
        </p:txBody>
      </p:sp>
      <p:sp>
        <p:nvSpPr>
          <p:cNvPr id="121" name="Editable text: 3.5"/>
          <p:cNvSpPr txBox="1"/>
          <p:nvPr/>
        </p:nvSpPr>
        <p:spPr>
          <a:xfrm>
            <a:off x="3825536" y="290270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3.5</a:t>
            </a:r>
          </a:p>
        </p:txBody>
      </p:sp>
      <p:sp>
        <p:nvSpPr>
          <p:cNvPr id="122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123" name="Editable text: 恶性上皮"/>
          <p:cNvSpPr txBox="1"/>
          <p:nvPr/>
        </p:nvSpPr>
        <p:spPr>
          <a:xfrm>
            <a:off x="10528384" y="4327933"/>
            <a:ext cx="376766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恶性上皮</a:t>
            </a:r>
          </a:p>
        </p:txBody>
      </p:sp>
      <p:sp>
        <p:nvSpPr>
          <p:cNvPr id="124" name="Editable text: CAF"/>
          <p:cNvSpPr txBox="1"/>
          <p:nvPr/>
        </p:nvSpPr>
        <p:spPr>
          <a:xfrm>
            <a:off x="11447682" y="4327933"/>
            <a:ext cx="199305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</a:t>
            </a:r>
          </a:p>
        </p:txBody>
      </p:sp>
      <p:sp>
        <p:nvSpPr>
          <p:cNvPr id="125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26" name="Editable text: 0.2"/>
          <p:cNvSpPr txBox="1"/>
          <p:nvPr/>
        </p:nvSpPr>
        <p:spPr>
          <a:xfrm>
            <a:off x="10270776" y="403794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27" name="Editable text: 0.4"/>
          <p:cNvSpPr txBox="1"/>
          <p:nvPr/>
        </p:nvSpPr>
        <p:spPr>
          <a:xfrm>
            <a:off x="10270776" y="383997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28" name="Editable text: 0.6"/>
          <p:cNvSpPr txBox="1"/>
          <p:nvPr/>
        </p:nvSpPr>
        <p:spPr>
          <a:xfrm>
            <a:off x="10270776" y="36420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29" name="Editable text: 0.8"/>
          <p:cNvSpPr txBox="1"/>
          <p:nvPr/>
        </p:nvSpPr>
        <p:spPr>
          <a:xfrm>
            <a:off x="10270776" y="344403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30" name="Editable text: 1.0"/>
          <p:cNvSpPr txBox="1"/>
          <p:nvPr/>
        </p:nvSpPr>
        <p:spPr>
          <a:xfrm>
            <a:off x="10270776" y="324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31" name="Editable text: 1.2"/>
          <p:cNvSpPr txBox="1"/>
          <p:nvPr/>
        </p:nvSpPr>
        <p:spPr>
          <a:xfrm>
            <a:off x="10270776" y="304810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132" name="Editable text: 1.4"/>
          <p:cNvSpPr txBox="1"/>
          <p:nvPr/>
        </p:nvSpPr>
        <p:spPr>
          <a:xfrm>
            <a:off x="10270776" y="28501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1.4</a:t>
            </a:r>
          </a:p>
        </p:txBody>
      </p:sp>
      <p:sp>
        <p:nvSpPr>
          <p:cNvPr id="133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35" name="Editable text: PDAC：SLC6A6 在 CAF 中表达更突出"/>
          <p:cNvSpPr txBox="1"/>
          <p:nvPr/>
        </p:nvSpPr>
        <p:spPr>
          <a:xfrm>
            <a:off x="609599" y="951108"/>
            <a:ext cx="5129204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PDAC：SLC6A6 在 CAF 中表达更突出</a:t>
            </a:r>
          </a:p>
        </p:txBody>
      </p:sp>
      <p:sp>
        <p:nvSpPr>
          <p:cNvPr id="136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37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38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39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40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41" name="Editable text: CAFs"/>
          <p:cNvSpPr txBox="1"/>
          <p:nvPr/>
        </p:nvSpPr>
        <p:spPr>
          <a:xfrm>
            <a:off x="7827263" y="2493778"/>
            <a:ext cx="257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457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42" name="Editable text: 20,801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43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44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45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46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47" name="Editable text: Ductal"/>
          <p:cNvSpPr txBox="1"/>
          <p:nvPr/>
        </p:nvSpPr>
        <p:spPr>
          <a:xfrm>
            <a:off x="7827263" y="311099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48" name="Editable text: 6,755"/>
          <p:cNvSpPr txBox="1"/>
          <p:nvPr/>
        </p:nvSpPr>
        <p:spPr>
          <a:xfrm>
            <a:off x="9604336" y="311327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49" name="Editable text: Endocrine"/>
          <p:cNvSpPr txBox="1"/>
          <p:nvPr/>
        </p:nvSpPr>
        <p:spPr>
          <a:xfrm>
            <a:off x="7827263" y="331673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50" name="Editable text: 1,86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51" name="Editable text: Endothelial"/>
          <p:cNvSpPr txBox="1"/>
          <p:nvPr/>
        </p:nvSpPr>
        <p:spPr>
          <a:xfrm>
            <a:off x="7827263" y="352247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52" name="Editable text: 6,668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53" name="Editable text: Lymphoid"/>
          <p:cNvSpPr txBox="1"/>
          <p:nvPr/>
        </p:nvSpPr>
        <p:spPr>
          <a:xfrm>
            <a:off x="7827263" y="372797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54" name="Editable text: 4,631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55" name="Editable text: Malignant epithelial"/>
          <p:cNvSpPr txBox="1"/>
          <p:nvPr/>
        </p:nvSpPr>
        <p:spPr>
          <a:xfrm>
            <a:off x="7827263" y="3933710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56" name="Editable text: 52,999"/>
          <p:cNvSpPr txBox="1"/>
          <p:nvPr/>
        </p:nvSpPr>
        <p:spPr>
          <a:xfrm>
            <a:off x="9553900" y="39362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57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58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59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60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61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62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63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64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65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66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67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68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69" name="Editable text: CAFs：红圈仅作位置提示"/>
          <p:cNvSpPr txBox="1"/>
          <p:nvPr/>
        </p:nvSpPr>
        <p:spPr>
          <a:xfrm>
            <a:off x="5310838" y="5321062"/>
            <a:ext cx="112556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CAFs：红圈仅作位置提示</a:t>
            </a:r>
          </a:p>
        </p:txBody>
      </p:sp>
      <p:sp>
        <p:nvSpPr>
          <p:cNvPr id="170" name="Editable text: 色标上限 3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3.95 · 阳性值第99百分位</a:t>
            </a:r>
          </a:p>
        </p:txBody>
      </p:sp>
      <p:sp>
        <p:nvSpPr>
          <p:cNvPr id="171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72" name="Editable text: 16 / 17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 / 17</a:t>
            </a:r>
          </a:p>
        </p:txBody>
      </p:sp>
      <p:sp>
        <p:nvSpPr>
          <p:cNvPr id="173" name="Editable text: 患者 CAF 表达更高"/>
          <p:cNvSpPr txBox="1"/>
          <p:nvPr/>
        </p:nvSpPr>
        <p:spPr>
          <a:xfrm>
            <a:off x="10652121" y="4896599"/>
            <a:ext cx="936458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 CAF 表达更高</a:t>
            </a:r>
          </a:p>
        </p:txBody>
      </p:sp>
      <p:sp>
        <p:nvSpPr>
          <p:cNvPr id="174" name="Editable text: 平均差 +0.59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+0.596</a:t>
            </a:r>
          </a:p>
        </p:txBody>
      </p:sp>
      <p:sp>
        <p:nvSpPr>
          <p:cNvPr id="175" name="Editable text: 参照：恶性上皮"/>
          <p:cNvSpPr txBox="1"/>
          <p:nvPr/>
        </p:nvSpPr>
        <p:spPr>
          <a:xfrm>
            <a:off x="10253471" y="5553064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参照：恶性上皮</a:t>
            </a:r>
          </a:p>
        </p:txBody>
      </p:sp>
      <p:sp>
        <p:nvSpPr>
          <p:cNvPr id="176" name="Editable text: 目标：CAF"/>
          <p:cNvSpPr txBox="1"/>
          <p:nvPr/>
        </p:nvSpPr>
        <p:spPr>
          <a:xfrm>
            <a:off x="10253471" y="5745089"/>
            <a:ext cx="48163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目标：CAF</a:t>
            </a:r>
          </a:p>
        </p:txBody>
      </p:sp>
      <p:sp>
        <p:nvSpPr>
          <p:cNvPr id="177" name="Editable text: SLC6A6 表达以 CAF 更突出；16/17 位患者 CAF 高于恶性上皮。"/>
          <p:cNvSpPr txBox="1"/>
          <p:nvPr/>
        </p:nvSpPr>
        <p:spPr>
          <a:xfrm>
            <a:off x="609599" y="6115405"/>
            <a:ext cx="443390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表达以 CAF 更突出；16/17 位患者 CAF 高于恶性上皮。</a:t>
            </a:r>
          </a:p>
        </p:txBody>
      </p:sp>
      <p:sp>
        <p:nvSpPr>
          <p:cNvPr id="178" name="Editable text: 同患者 CAF 与恶性上皮各 ≥20 个细胞核；比较细胞类型，不是 CAF 肿瘤"/>
          <p:cNvSpPr txBox="1"/>
          <p:nvPr/>
        </p:nvSpPr>
        <p:spPr>
          <a:xfrm>
            <a:off x="609599" y="6417173"/>
            <a:ext cx="35108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 CAF 与恶性上皮各 ≥20 个细胞核；比较细胞类型，不是 CAF 肿瘤—正常变化。</a:t>
            </a:r>
          </a:p>
        </p:txBody>
      </p:sp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299854"/>
            <a:ext cx="2573481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766298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594586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92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807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723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6386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3953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61484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27571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29365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697717" y="3392422"/>
            <a:ext cx="830579" cy="335855"/>
          </a:xfrm>
          <a:custGeom>
            <a:avLst/>
            <a:gdLst/>
            <a:ahLst/>
            <a:cxnLst/>
            <a:rect l="0" t="0" r="r" b="b"/>
            <a:pathLst>
              <a:path w="78480" h="31734">
                <a:moveTo>
                  <a:pt x="0" y="3173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348466"/>
            <a:ext cx="830579" cy="155249"/>
          </a:xfrm>
          <a:custGeom>
            <a:avLst/>
            <a:gdLst/>
            <a:ahLst/>
            <a:cxnLst/>
            <a:rect l="0" t="0" r="r" b="b"/>
            <a:pathLst>
              <a:path w="78480" h="14669">
                <a:moveTo>
                  <a:pt x="0" y="0"/>
                </a:moveTo>
                <a:lnTo>
                  <a:pt x="78480" y="14669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091621"/>
            <a:ext cx="830579" cy="548897"/>
          </a:xfrm>
          <a:custGeom>
            <a:avLst/>
            <a:gdLst/>
            <a:ahLst/>
            <a:cxnLst/>
            <a:rect l="0" t="0" r="r" b="b"/>
            <a:pathLst>
              <a:path w="78480" h="51864">
                <a:moveTo>
                  <a:pt x="0" y="0"/>
                </a:moveTo>
                <a:lnTo>
                  <a:pt x="78480" y="5186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120029"/>
            <a:ext cx="830579" cy="383167"/>
          </a:xfrm>
          <a:custGeom>
            <a:avLst/>
            <a:gdLst/>
            <a:ahLst/>
            <a:cxnLst/>
            <a:rect l="0" t="0" r="r" b="b"/>
            <a:pathLst>
              <a:path w="78480" h="36205">
                <a:moveTo>
                  <a:pt x="0" y="0"/>
                </a:moveTo>
                <a:lnTo>
                  <a:pt x="78480" y="3620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82257"/>
            <a:ext cx="830579" cy="15382"/>
          </a:xfrm>
          <a:custGeom>
            <a:avLst/>
            <a:gdLst/>
            <a:ahLst/>
            <a:cxnLst/>
            <a:rect l="0" t="0" r="r" b="b"/>
            <a:pathLst>
              <a:path w="78480" h="1453">
                <a:moveTo>
                  <a:pt x="0" y="14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43098"/>
            <a:ext cx="830579" cy="271366"/>
          </a:xfrm>
          <a:custGeom>
            <a:avLst/>
            <a:gdLst/>
            <a:ahLst/>
            <a:cxnLst/>
            <a:rect l="0" t="0" r="r" b="b"/>
            <a:pathLst>
              <a:path w="78480" h="25641">
                <a:moveTo>
                  <a:pt x="0" y="0"/>
                </a:moveTo>
                <a:lnTo>
                  <a:pt x="78480" y="25641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293748"/>
            <a:ext cx="830579" cy="142176"/>
          </a:xfrm>
          <a:custGeom>
            <a:avLst/>
            <a:gdLst/>
            <a:ahLst/>
            <a:cxnLst/>
            <a:rect l="0" t="0" r="r" b="b"/>
            <a:pathLst>
              <a:path w="78480" h="13434">
                <a:moveTo>
                  <a:pt x="0" y="0"/>
                </a:moveTo>
                <a:lnTo>
                  <a:pt x="78480" y="134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15292"/>
            <a:ext cx="830579" cy="539615"/>
          </a:xfrm>
          <a:custGeom>
            <a:avLst/>
            <a:gdLst/>
            <a:ahLst/>
            <a:cxnLst/>
            <a:rect l="0" t="0" r="r" b="b"/>
            <a:pathLst>
              <a:path w="78480" h="50987">
                <a:moveTo>
                  <a:pt x="0" y="509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648290"/>
            <a:ext cx="830579" cy="50226"/>
          </a:xfrm>
          <a:custGeom>
            <a:avLst/>
            <a:gdLst/>
            <a:ahLst/>
            <a:cxnLst/>
            <a:rect l="0" t="0" r="r" b="b"/>
            <a:pathLst>
              <a:path w="78480" h="4746">
                <a:moveTo>
                  <a:pt x="0" y="0"/>
                </a:moveTo>
                <a:lnTo>
                  <a:pt x="78480" y="474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73681"/>
            <a:ext cx="830579" cy="388587"/>
          </a:xfrm>
          <a:custGeom>
            <a:avLst/>
            <a:gdLst/>
            <a:ahLst/>
            <a:cxnLst/>
            <a:rect l="0" t="0" r="r" b="b"/>
            <a:pathLst>
              <a:path w="78480" h="36717">
                <a:moveTo>
                  <a:pt x="0" y="3671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523135"/>
            <a:ext cx="830579" cy="47374"/>
          </a:xfrm>
          <a:custGeom>
            <a:avLst/>
            <a:gdLst/>
            <a:ahLst/>
            <a:cxnLst/>
            <a:rect l="0" t="0" r="r" b="b"/>
            <a:pathLst>
              <a:path w="78480" h="4476">
                <a:moveTo>
                  <a:pt x="0" y="0"/>
                </a:moveTo>
                <a:lnTo>
                  <a:pt x="78480" y="447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70521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254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06855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09696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274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0200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2706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5318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6252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6392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50006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3693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4806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6174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4801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25919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913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1285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67545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506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547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598048" y="3391953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428627" y="342095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35086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417915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0" name="Editable text: 0.5"/>
          <p:cNvSpPr txBox="1"/>
          <p:nvPr/>
        </p:nvSpPr>
        <p:spPr>
          <a:xfrm>
            <a:off x="3825536" y="423206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1" name="Editable text: 1.0"/>
          <p:cNvSpPr txBox="1"/>
          <p:nvPr/>
        </p:nvSpPr>
        <p:spPr>
          <a:xfrm>
            <a:off x="3825536" y="38235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2" name="Editable text: 1.5"/>
          <p:cNvSpPr txBox="1"/>
          <p:nvPr/>
        </p:nvSpPr>
        <p:spPr>
          <a:xfrm>
            <a:off x="3825536" y="341513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3" name="Editable text: 2.0"/>
          <p:cNvSpPr txBox="1"/>
          <p:nvPr/>
        </p:nvSpPr>
        <p:spPr>
          <a:xfrm>
            <a:off x="3825536" y="30066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4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38967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557647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21851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287938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PRAD：SLC6A6 的全细胞定位与同患者证据"/>
          <p:cNvSpPr txBox="1"/>
          <p:nvPr/>
        </p:nvSpPr>
        <p:spPr>
          <a:xfrm>
            <a:off x="609599" y="951108"/>
            <a:ext cx="583707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PRAD：SLC6A6 的全细胞定位与同患者证据</a:t>
            </a:r>
          </a:p>
        </p:txBody>
      </p:sp>
      <p:sp>
        <p:nvSpPr>
          <p:cNvPr id="105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06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Myeloid"/>
          <p:cNvSpPr txBox="1"/>
          <p:nvPr/>
        </p:nvSpPr>
        <p:spPr>
          <a:xfrm>
            <a:off x="7827263" y="2493530"/>
            <a:ext cx="39867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EF8A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1" name="Editable text: 2,743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12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13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16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7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18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19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0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1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2" name="Editable text: Malignant epithelial"/>
          <p:cNvSpPr txBox="1"/>
          <p:nvPr/>
        </p:nvSpPr>
        <p:spPr>
          <a:xfrm>
            <a:off x="7827263" y="3810266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23" name="Editable text: 3,802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24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25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26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27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28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29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0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1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2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33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34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35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36" name="Editable text: Myeloid：红圈仅作位置提示"/>
          <p:cNvSpPr txBox="1"/>
          <p:nvPr/>
        </p:nvSpPr>
        <p:spPr>
          <a:xfrm>
            <a:off x="5238657" y="5322550"/>
            <a:ext cx="126928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Myeloid：红圈仅作位置提示</a:t>
            </a:r>
          </a:p>
        </p:txBody>
      </p:sp>
      <p:sp>
        <p:nvSpPr>
          <p:cNvPr id="137" name="Editable text: 色标上限 2.4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2.40 · 阳性值第99百分位</a:t>
            </a:r>
          </a:p>
        </p:txBody>
      </p:sp>
      <p:sp>
        <p:nvSpPr>
          <p:cNvPr id="138" name="Editable text: 配对 P = 0.637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0.6377</a:t>
            </a:r>
          </a:p>
        </p:txBody>
      </p:sp>
      <p:sp>
        <p:nvSpPr>
          <p:cNvPr id="139" name="Editable text: 4 / 11"/>
          <p:cNvSpPr txBox="1"/>
          <p:nvPr/>
        </p:nvSpPr>
        <p:spPr>
          <a:xfrm>
            <a:off x="10724055" y="4515203"/>
            <a:ext cx="855980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 / 11</a:t>
            </a:r>
          </a:p>
        </p:txBody>
      </p:sp>
      <p:sp>
        <p:nvSpPr>
          <p:cNvPr id="140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1" name="Editable text: 平均差 -0.009"/>
          <p:cNvSpPr txBox="1"/>
          <p:nvPr/>
        </p:nvSpPr>
        <p:spPr>
          <a:xfrm>
            <a:off x="10777137" y="5208622"/>
            <a:ext cx="68006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-0.009</a:t>
            </a:r>
          </a:p>
        </p:txBody>
      </p:sp>
      <p:sp>
        <p:nvSpPr>
          <p:cNvPr id="142" name="Editable text: 参照：癌旁组织髓系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参照：癌旁组织髓系</a:t>
            </a:r>
          </a:p>
        </p:txBody>
      </p:sp>
      <p:sp>
        <p:nvSpPr>
          <p:cNvPr id="143" name="Editable text: 目标：肿瘤组织髓系"/>
          <p:cNvSpPr txBox="1"/>
          <p:nvPr/>
        </p:nvSpPr>
        <p:spPr>
          <a:xfrm>
            <a:off x="10253471" y="5745089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目标：肿瘤组织髓系</a:t>
            </a:r>
          </a:p>
        </p:txBody>
      </p:sp>
      <p:sp>
        <p:nvSpPr>
          <p:cNvPr id="144" name="Editable text: 髓系肿瘤—癌旁配对未显著；组织 RNA 下降不能直接归于髓系。"/>
          <p:cNvSpPr txBox="1"/>
          <p:nvPr/>
        </p:nvSpPr>
        <p:spPr>
          <a:xfrm>
            <a:off x="609599" y="6115405"/>
            <a:ext cx="435965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髓系肿瘤—癌旁配对未显著；组织 RNA 下降不能直接归于髓系。</a:t>
            </a:r>
          </a:p>
        </p:txBody>
      </p:sp>
      <p:sp>
        <p:nvSpPr>
          <p:cNvPr id="145" name="Editable text: 同类髓系按作者供者配对；不进行恶性髓系推断。"/>
          <p:cNvSpPr txBox="1"/>
          <p:nvPr/>
        </p:nvSpPr>
        <p:spPr>
          <a:xfrm>
            <a:off x="609599" y="6417173"/>
            <a:ext cx="201956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同类髓系按作者供者配对；不进行恶性髓系推断。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UCKL1：将尿苷转为 UMP，参与补救合成"/>
          <p:cNvSpPr txBox="1"/>
          <p:nvPr/>
        </p:nvSpPr>
        <p:spPr>
          <a:xfrm>
            <a:off x="609599" y="974850"/>
            <a:ext cx="516334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UCKL1：将尿苷转为 UMP，参与补救合成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COAD"/>
          <p:cNvSpPr txBox="1"/>
          <p:nvPr/>
        </p:nvSpPr>
        <p:spPr>
          <a:xfrm>
            <a:off x="853439" y="4557013"/>
            <a:ext cx="54877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22" name="Editable text: 尿苷 ↓"/>
          <p:cNvSpPr txBox="1"/>
          <p:nvPr/>
        </p:nvSpPr>
        <p:spPr>
          <a:xfrm>
            <a:off x="2644794" y="4454666"/>
            <a:ext cx="65311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↓</a:t>
            </a:r>
          </a:p>
        </p:txBody>
      </p:sp>
      <p:sp>
        <p:nvSpPr>
          <p:cNvPr id="23" name="Editable text: 配对 P = 0.000446"/>
          <p:cNvSpPr txBox="1"/>
          <p:nvPr/>
        </p:nvSpPr>
        <p:spPr>
          <a:xfrm>
            <a:off x="2449003" y="4816091"/>
            <a:ext cx="10040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0.000446</a:t>
            </a:r>
          </a:p>
        </p:txBody>
      </p:sp>
      <p:sp>
        <p:nvSpPr>
          <p:cNvPr id="24" name="Editable text: UCKL1 ↑"/>
          <p:cNvSpPr txBox="1"/>
          <p:nvPr/>
        </p:nvSpPr>
        <p:spPr>
          <a:xfrm>
            <a:off x="5561412" y="4454666"/>
            <a:ext cx="91573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↑</a:t>
            </a:r>
          </a:p>
        </p:txBody>
      </p:sp>
      <p:sp>
        <p:nvSpPr>
          <p:cNvPr id="25" name="Editable text: 配对 P = 2.96e-05"/>
          <p:cNvSpPr txBox="1"/>
          <p:nvPr/>
        </p:nvSpPr>
        <p:spPr>
          <a:xfrm>
            <a:off x="5506594" y="4816091"/>
            <a:ext cx="98490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2.96e-05</a:t>
            </a:r>
          </a:p>
        </p:txBody>
      </p:sp>
      <p:sp>
        <p:nvSpPr>
          <p:cNvPr id="26" name="Editable text: ρ = -0.491   P = 0.0041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-0.491   P = 0.0041</a:t>
            </a:r>
          </a:p>
        </p:txBody>
      </p:sp>
      <p:sp>
        <p:nvSpPr>
          <p:cNvPr id="27" name="Editable text: 33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个肿瘤样本 · Spearman 相关</a:t>
            </a:r>
          </a:p>
        </p:txBody>
      </p:sp>
      <p:sp>
        <p:nvSpPr>
          <p:cNvPr id="28" name="Editable text: 对应线索：尿苷降低、UCKL1 升高且负相关；尚未直接测量尿苷补救通量。"/>
          <p:cNvSpPr txBox="1"/>
          <p:nvPr/>
        </p:nvSpPr>
        <p:spPr>
          <a:xfrm>
            <a:off x="609599" y="5970217"/>
            <a:ext cx="4865465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对应线索：尿苷降低、UCKL1 升高且负相关；尚未直接测量尿苷补救通量。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Q9NWZ5 · RHEA:16825（人类，已审阅）；反"/>
          <p:cNvSpPr txBox="1"/>
          <p:nvPr/>
        </p:nvSpPr>
        <p:spPr>
          <a:xfrm>
            <a:off x="609599" y="6554333"/>
            <a:ext cx="319269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Q9NWZ5 · RHEA:16825（人类，已审阅）；反应为简化示意。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nucleoside" descr="scientific_cutouts.png"/>
          <p:cNvPicPr>
            <a:picLocks noChangeAspect="1"/>
          </p:cNvPicPr>
          <p:nvPr/>
        </p:nvPicPr>
        <p:blipFill>
          <a:blip r:embed="rId2"/>
          <a:srcRect l="4232" t="3906" r="70703" b="54102"/>
          <a:stretch>
            <a:fillRect/>
          </a:stretch>
        </p:blipFill>
        <p:spPr>
          <a:xfrm>
            <a:off x="1631672" y="1929384"/>
            <a:ext cx="851455" cy="950976"/>
          </a:xfrm>
          <a:prstGeom prst="rect">
            <a:avLst/>
          </a:prstGeom>
        </p:spPr>
      </p:pic>
      <p:pic>
        <p:nvPicPr>
          <p:cNvPr id="38" name="Imagegen conceptual cutout: nucleotide" descr="scientific_cutouts.png"/>
          <p:cNvPicPr>
            <a:picLocks noChangeAspect="1"/>
          </p:cNvPicPr>
          <p:nvPr/>
        </p:nvPicPr>
        <p:blipFill>
          <a:blip r:embed="rId2"/>
          <a:srcRect l="33854" t="4395" r="35221" b="54102"/>
          <a:stretch>
            <a:fillRect/>
          </a:stretch>
        </p:blipFill>
        <p:spPr>
          <a:xfrm>
            <a:off x="8321040" y="1934437"/>
            <a:ext cx="1051560" cy="940869"/>
          </a:xfrm>
          <a:prstGeom prst="rect">
            <a:avLst/>
          </a:prstGeom>
        </p:spPr>
      </p:pic>
      <p:pic>
        <p:nvPicPr>
          <p:cNvPr id="39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88336" y="22311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2311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99432" y="2802636"/>
            <a:ext cx="294436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7448" y="289864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2916936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核苷底物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916936"/>
            <a:ext cx="2587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增加一个磷酸基团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136392"/>
            <a:ext cx="9921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→ UMP：进入嘧啶核苷补救合成；也可催化胞苷 → CMP。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303318"/>
            <a:ext cx="2317172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31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117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28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84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0634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6583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385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61127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8400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5672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92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430620"/>
            <a:ext cx="830579" cy="287389"/>
          </a:xfrm>
          <a:custGeom>
            <a:avLst/>
            <a:gdLst/>
            <a:ahLst/>
            <a:cxnLst/>
            <a:rect l="0" t="0" r="r" b="b"/>
            <a:pathLst>
              <a:path w="78480" h="27155">
                <a:moveTo>
                  <a:pt x="0" y="0"/>
                </a:moveTo>
                <a:lnTo>
                  <a:pt x="78480" y="2715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568515"/>
            <a:ext cx="830579" cy="106552"/>
          </a:xfrm>
          <a:custGeom>
            <a:avLst/>
            <a:gdLst/>
            <a:ahLst/>
            <a:cxnLst/>
            <a:rect l="0" t="0" r="r" b="b"/>
            <a:pathLst>
              <a:path w="78480" h="10068">
                <a:moveTo>
                  <a:pt x="0" y="1006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34241"/>
            <a:ext cx="830579" cy="655412"/>
          </a:xfrm>
          <a:custGeom>
            <a:avLst/>
            <a:gdLst/>
            <a:ahLst/>
            <a:cxnLst/>
            <a:rect l="0" t="0" r="r" b="b"/>
            <a:pathLst>
              <a:path w="78480" h="61929">
                <a:moveTo>
                  <a:pt x="0" y="61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015292"/>
            <a:ext cx="830579" cy="905722"/>
          </a:xfrm>
          <a:custGeom>
            <a:avLst/>
            <a:gdLst/>
            <a:ahLst/>
            <a:cxnLst/>
            <a:rect l="0" t="0" r="r" b="b"/>
            <a:pathLst>
              <a:path w="78480" h="85580">
                <a:moveTo>
                  <a:pt x="0" y="855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59348"/>
            <a:ext cx="830579" cy="437471"/>
          </a:xfrm>
          <a:custGeom>
            <a:avLst/>
            <a:gdLst/>
            <a:ahLst/>
            <a:cxnLst/>
            <a:rect l="0" t="0" r="r" b="b"/>
            <a:pathLst>
              <a:path w="78480" h="41336">
                <a:moveTo>
                  <a:pt x="0" y="4133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879196"/>
            <a:ext cx="830579" cy="57392"/>
          </a:xfrm>
          <a:custGeom>
            <a:avLst/>
            <a:gdLst/>
            <a:ahLst/>
            <a:cxnLst/>
            <a:rect l="0" t="0" r="r" b="b"/>
            <a:pathLst>
              <a:path w="78480" h="5423">
                <a:moveTo>
                  <a:pt x="0" y="0"/>
                </a:moveTo>
                <a:lnTo>
                  <a:pt x="78480" y="542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531088"/>
            <a:ext cx="830579" cy="232846"/>
          </a:xfrm>
          <a:custGeom>
            <a:avLst/>
            <a:gdLst/>
            <a:ahLst/>
            <a:cxnLst/>
            <a:rect l="0" t="0" r="r" b="b"/>
            <a:pathLst>
              <a:path w="78480" h="22001">
                <a:moveTo>
                  <a:pt x="0" y="2200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783273"/>
            <a:ext cx="830579" cy="3307"/>
          </a:xfrm>
          <a:custGeom>
            <a:avLst/>
            <a:gdLst/>
            <a:ahLst/>
            <a:cxnLst/>
            <a:rect l="0" t="0" r="r" b="b"/>
            <a:pathLst>
              <a:path w="78480" h="313">
                <a:moveTo>
                  <a:pt x="0" y="31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420212"/>
            <a:ext cx="830579" cy="116785"/>
          </a:xfrm>
          <a:custGeom>
            <a:avLst/>
            <a:gdLst/>
            <a:ahLst/>
            <a:cxnLst/>
            <a:rect l="0" t="0" r="r" b="b"/>
            <a:pathLst>
              <a:path w="78480" h="11035">
                <a:moveTo>
                  <a:pt x="0" y="1103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407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6520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9665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979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6737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8561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7408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76351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5139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949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454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311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362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9135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5080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7602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39714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598048" y="37422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428627" y="350739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5" name="Editable text: UMAP 2"/>
          <p:cNvSpPr txBox="1"/>
          <p:nvPr/>
        </p:nvSpPr>
        <p:spPr>
          <a:xfrm rot="16200000">
            <a:off x="486959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6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7" name="Editable text: UMAP 2"/>
          <p:cNvSpPr txBox="1"/>
          <p:nvPr/>
        </p:nvSpPr>
        <p:spPr>
          <a:xfrm rot="16200000">
            <a:off x="431524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5"/>
          <p:cNvSpPr txBox="1"/>
          <p:nvPr/>
        </p:nvSpPr>
        <p:spPr>
          <a:xfrm>
            <a:off x="3825536" y="426225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0" name="Editable text: 1.0"/>
          <p:cNvSpPr txBox="1"/>
          <p:nvPr/>
        </p:nvSpPr>
        <p:spPr>
          <a:xfrm>
            <a:off x="3825536" y="388397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1" name="Editable text: 1.5"/>
          <p:cNvSpPr txBox="1"/>
          <p:nvPr/>
        </p:nvSpPr>
        <p:spPr>
          <a:xfrm>
            <a:off x="3825536" y="35056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2" name="Editable text: 2.0"/>
          <p:cNvSpPr txBox="1"/>
          <p:nvPr/>
        </p:nvSpPr>
        <p:spPr>
          <a:xfrm>
            <a:off x="3825536" y="312742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3" name="Editable text: 2.5"/>
          <p:cNvSpPr txBox="1"/>
          <p:nvPr/>
        </p:nvSpPr>
        <p:spPr>
          <a:xfrm>
            <a:off x="3825536" y="27491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4" name="Editable text: UCKL1 · log1p(CP10K)"/>
          <p:cNvSpPr txBox="1"/>
          <p:nvPr/>
        </p:nvSpPr>
        <p:spPr>
          <a:xfrm rot="16200000">
            <a:off x="3547687" y="3652857"/>
            <a:ext cx="98108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400863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7813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55408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332680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0.5"/>
          <p:cNvSpPr txBox="1"/>
          <p:nvPr/>
        </p:nvSpPr>
        <p:spPr>
          <a:xfrm>
            <a:off x="10270776" y="309952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03" name="Editable text: 0.6"/>
          <p:cNvSpPr txBox="1"/>
          <p:nvPr/>
        </p:nvSpPr>
        <p:spPr>
          <a:xfrm>
            <a:off x="10270776" y="28722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4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6" name="Editable text: COAD：UCKL1 的全细胞定位与同患者证据"/>
          <p:cNvSpPr txBox="1"/>
          <p:nvPr/>
        </p:nvSpPr>
        <p:spPr>
          <a:xfrm>
            <a:off x="609599" y="951108"/>
            <a:ext cx="573232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COAD：UCKL1 的全细胞定位与同患者证据</a:t>
            </a:r>
          </a:p>
        </p:txBody>
      </p:sp>
      <p:sp>
        <p:nvSpPr>
          <p:cNvPr id="107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8" name="Editable text: UCKL1 expression"/>
          <p:cNvSpPr txBox="1"/>
          <p:nvPr/>
        </p:nvSpPr>
        <p:spPr>
          <a:xfrm>
            <a:off x="585216" y="1882394"/>
            <a:ext cx="1504606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expression</a:t>
            </a:r>
          </a:p>
        </p:txBody>
      </p:sp>
      <p:sp>
        <p:nvSpPr>
          <p:cNvPr id="109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0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1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2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3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6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7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8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9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20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21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2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3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4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5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6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7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8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9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30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31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2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3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4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5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6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7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8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9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40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41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2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3" name="Editable text: 色标上限 2.59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2.59 · 阳性值第99百分位</a:t>
            </a:r>
          </a:p>
        </p:txBody>
      </p:sp>
      <p:sp>
        <p:nvSpPr>
          <p:cNvPr id="144" name="Editable text: 配对 P = 0.179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0.1797</a:t>
            </a:r>
          </a:p>
        </p:txBody>
      </p:sp>
      <p:sp>
        <p:nvSpPr>
          <p:cNvPr id="145" name="Editable text: 7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9</a:t>
            </a:r>
          </a:p>
        </p:txBody>
      </p:sp>
      <p:sp>
        <p:nvSpPr>
          <p:cNvPr id="146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7" name="Editable text: 平均差 +0.10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+0.103</a:t>
            </a:r>
          </a:p>
        </p:txBody>
      </p:sp>
      <p:sp>
        <p:nvSpPr>
          <p:cNvPr id="148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9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50" name="Editable text: 多数患者 CNA 上皮更高，但配对检验未显著。"/>
          <p:cNvSpPr txBox="1"/>
          <p:nvPr/>
        </p:nvSpPr>
        <p:spPr>
          <a:xfrm>
            <a:off x="609599" y="6115405"/>
            <a:ext cx="315876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多数患者 CNA 上皮更高，但配对检验未显著。</a:t>
            </a:r>
          </a:p>
        </p:txBody>
      </p:sp>
      <p:sp>
        <p:nvSpPr>
          <p:cNvPr id="151" name="Editable text: CNA 标签沿用作者；正常组织上皮参照；P 复用既有精确符号检验。"/>
          <p:cNvSpPr txBox="1"/>
          <p:nvPr/>
        </p:nvSpPr>
        <p:spPr>
          <a:xfrm>
            <a:off x="609599" y="6417173"/>
            <a:ext cx="2774315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标签沿用作者；正常组织上皮参照；P 复用既有精确符号检验。</a:t>
            </a:r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11774</Words>
  <Application>WPS 演示</Application>
  <PresentationFormat>On-screen Show (4:3)</PresentationFormat>
  <Paragraphs>2425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许子祥</cp:lastModifiedBy>
  <cp:revision>7</cp:revision>
  <dcterms:created xsi:type="dcterms:W3CDTF">2013-01-27T09:14:00Z</dcterms:created>
  <dcterms:modified xsi:type="dcterms:W3CDTF">2026-09-29T15:24:33Z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0763B217186F4699A1F676EE78758788_13</vt:lpwstr>
  </property>
</Properties>
</file>