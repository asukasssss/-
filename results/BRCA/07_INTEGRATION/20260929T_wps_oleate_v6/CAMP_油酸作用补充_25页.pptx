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6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3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t="12695" r="3437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t="5859" r="3646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2"/>
          <a:srcRect l="781" t="1953" r="63867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49043" t="34857" r="40730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t="29224" r="1746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29224" r="490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t="45165" r="16268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45590" r="4306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t="61105" r="16866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t="61105" r="5742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当前分析范围：标本份数与同患者肿瘤</a:t>
            </a:r>
            <a:r>
              <a:rPr altLang="zh-CN"/>
              <a:t>—</a:t>
            </a:r>
            <a:r>
              <a:rPr altLang="en-US"/>
              <a:t>参照配对数分别列示</a:t>
            </a:r>
            <a:endParaRPr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854" t="29224" r="1746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108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其中配对：45</a:t>
            </a:r>
            <a:r>
              <a:rPr altLang="en-US" sz="1100"/>
              <a:t>对</a:t>
            </a:r>
            <a:r>
              <a:rPr altLang="zh-CN" sz="1100"/>
              <a:t> / 90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29224" r="490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66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其中配对：33</a:t>
            </a:r>
            <a:r>
              <a:rPr altLang="en-US" sz="1100"/>
              <a:t>对</a:t>
            </a:r>
            <a:r>
              <a:rPr altLang="zh-CN" sz="1100"/>
              <a:t> / 66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45590" r="4306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39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其中配对：11</a:t>
            </a:r>
            <a:r>
              <a:rPr altLang="en-US" sz="1100"/>
              <a:t>对</a:t>
            </a:r>
            <a:r>
              <a:rPr altLang="zh-CN" sz="1100"/>
              <a:t> / 22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7751" t="61105" r="16866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137 </a:t>
            </a:r>
            <a:r>
              <a:rPr altLang="en-US" sz="1050"/>
              <a:t>份标本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其中配对：43</a:t>
            </a:r>
            <a:r>
              <a:rPr altLang="en-US" sz="1050"/>
              <a:t>对</a:t>
            </a:r>
            <a:r>
              <a:rPr altLang="zh-CN" sz="1050"/>
              <a:t> / 86</a:t>
            </a:r>
            <a:r>
              <a:rPr altLang="en-US" sz="1050"/>
              <a:t>份</a:t>
            </a:r>
            <a:endParaRPr altLang="en-US" sz="1050"/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9354" t="61105" r="5742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/>
              <a:t>队列</a:t>
            </a:r>
            <a:r>
              <a:rPr altLang="zh-CN" sz="1050"/>
              <a:t>3</a:t>
            </a:r>
            <a:r>
              <a:rPr altLang="en-US" sz="1050"/>
              <a:t>：</a:t>
            </a:r>
            <a:r>
              <a:rPr altLang="zh-CN" sz="1050"/>
              <a:t>114</a:t>
            </a:r>
            <a:r>
              <a:rPr altLang="en-US" sz="1050"/>
              <a:t>份，配对</a:t>
            </a:r>
            <a:r>
              <a:rPr altLang="zh-CN" sz="1050"/>
              <a:t>17</a:t>
            </a:r>
            <a:r>
              <a:rPr altLang="en-US" sz="1050"/>
              <a:t>位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队列4</a:t>
            </a:r>
            <a:r>
              <a:rPr altLang="en-US" sz="1050"/>
              <a:t>：</a:t>
            </a:r>
            <a:r>
              <a:rPr altLang="zh-CN" sz="1050"/>
              <a:t>71</a:t>
            </a:r>
            <a:r>
              <a:rPr altLang="en-US" sz="1050"/>
              <a:t>份，配对</a:t>
            </a:r>
            <a:r>
              <a:rPr altLang="zh-CN" sz="1050"/>
              <a:t>12</a:t>
            </a:r>
            <a:r>
              <a:rPr altLang="en-US" sz="1050"/>
              <a:t>位</a:t>
            </a:r>
            <a:endParaRPr altLang="en-US" sz="1050"/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555" t="45165" r="16268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80 </a:t>
            </a:r>
            <a:r>
              <a:rPr altLang="en-US" sz="1050"/>
              <a:t>份：</a:t>
            </a:r>
            <a:r>
              <a:rPr altLang="zh-CN" sz="1050"/>
              <a:t>74 </a:t>
            </a:r>
            <a:r>
              <a:rPr altLang="en-US" sz="1050"/>
              <a:t>肿瘤</a:t>
            </a:r>
            <a:r>
              <a:rPr altLang="zh-CN" sz="1050"/>
              <a:t> + 6 </a:t>
            </a:r>
            <a:r>
              <a:rPr altLang="en-US" sz="1050"/>
              <a:t>参照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/>
              <a:t>0 </a:t>
            </a:r>
            <a:r>
              <a:rPr altLang="en-US" sz="1050"/>
              <a:t>对</a:t>
            </a:r>
            <a:r>
              <a:rPr altLang="zh-CN" sz="1050"/>
              <a:t> · </a:t>
            </a:r>
            <a:r>
              <a:rPr altLang="en-US" sz="1050"/>
              <a:t>跨来源非配对</a:t>
            </a:r>
            <a:endParaRPr altLang="en-US" sz="1050"/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362700"/>
            <a:ext cx="10287000" cy="289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/>
              <a:t>配对按患者计；</a:t>
            </a:r>
            <a:r>
              <a:rPr altLang="zh-CN"/>
              <a:t>ccRCC</a:t>
            </a:r>
            <a:r>
              <a:rPr altLang="en-US"/>
              <a:t>为多区域标本，</a:t>
            </a:r>
            <a:r>
              <a:rPr altLang="zh-CN"/>
              <a:t>17 / 12</a:t>
            </a:r>
            <a:r>
              <a:rPr altLang="en-US"/>
              <a:t>对分别对应</a:t>
            </a:r>
            <a:r>
              <a:rPr altLang="zh-CN"/>
              <a:t>17 / 12</a:t>
            </a:r>
            <a:r>
              <a:rPr altLang="en-US"/>
              <a:t>位患者，两队列不合并。</a:t>
            </a:r>
            <a:endParaRPr altLang="zh-CN"/>
          </a:p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BRCA</a:t>
            </a:r>
            <a:r>
              <a:rPr altLang="en-US"/>
              <a:t>含</a:t>
            </a:r>
            <a:r>
              <a:rPr altLang="zh-CN"/>
              <a:t>1</a:t>
            </a:r>
            <a:r>
              <a:rPr altLang="en-US"/>
              <a:t>份组织标签冲突；</a:t>
            </a:r>
            <a:r>
              <a:rPr altLang="zh-CN"/>
              <a:t>PDAC 39</a:t>
            </a:r>
            <a:r>
              <a:rPr altLang="en-US"/>
              <a:t>份中</a:t>
            </a:r>
            <a:r>
              <a:rPr altLang="zh-CN"/>
              <a:t>11</a:t>
            </a:r>
            <a:r>
              <a:rPr altLang="en-US"/>
              <a:t>对可配对。各具体分析按实际可用数计。</a:t>
            </a:r>
            <a:endParaRPr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2"/>
          <a:srcRect l="651" t="57324" r="67578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2"/>
          <a:srcRect l="35677" t="55957" r="33268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2"/>
          <a:srcRect l="67188" t="60352" r="260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11500"/>
            <a:ext cx="2219325" cy="1714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0"/>
              <a:t>含油酰基</a:t>
            </a:r>
            <a:r>
              <a:rPr altLang="zh-CN" sz="1120"/>
              <a:t> PC → 2-</a:t>
            </a:r>
            <a:r>
              <a:rPr altLang="en-US" sz="1120"/>
              <a:t>酰基</a:t>
            </a:r>
            <a:r>
              <a:rPr altLang="zh-CN" sz="1120"/>
              <a:t> LPC + </a:t>
            </a:r>
            <a:r>
              <a:rPr altLang="en-US" sz="1120"/>
              <a:t>油酸</a:t>
            </a:r>
            <a:endParaRPr altLang="en-US" sz="1120"/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78200"/>
            <a:ext cx="208216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/>
              <a:t>油酸：</a:t>
            </a:r>
            <a:r>
              <a:rPr altLang="zh-CN" sz="1000"/>
              <a:t>sn-1 </a:t>
            </a:r>
            <a:r>
              <a:rPr altLang="en-US" sz="1000"/>
              <a:t>位水解释放的脂肪酸产物</a:t>
            </a:r>
            <a:endParaRPr altLang="en-US" sz="1000"/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E0EE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利用谷氨酰胺的氮合成天冬酰胺；分子与蛋白均为概念示意。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Na+ / Cl− 依赖性摄取；将细胞外牛磺酸转运入细胞，不改变化学结构。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457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EF8A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2"/>
          <a:srcRect l="4232" t="3906" r="70703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→ UMP：进入嘧啶核苷补救合成；也可催化胞苷 → CMP。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11774</Words>
  <Application>WPS 演示</Application>
  <PresentationFormat>On-screen Show (4:3)</PresentationFormat>
  <Paragraphs>2425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许子祥</cp:lastModifiedBy>
  <cp:revision>9</cp:revision>
  <dcterms:created xsi:type="dcterms:W3CDTF">2013-01-27T09:14:00Z</dcterms:created>
  <dcterms:modified xsi:type="dcterms:W3CDTF">2026-09-29T15:34:22Z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D940E1EBA76147399EE8BD4BD070A0DE_13</vt:lpwstr>
  </property>
</Properties>
</file>