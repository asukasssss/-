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6"/>
    <p:sldId id="275" r:id="rId27"/>
    <p:sldId id="276" r:id="rId28"/>
    <p:sldId id="277" r:id="rId29"/>
    <p:sldId id="278" r:id="rId30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来源：D:\CodexData\visualizations\2026\09\25\01a0d8cd-4545-75b0-ba43-922588deea1a\CAMP_pages_06_07_v2\06_代谢异常到候选基因_v2.pdf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来源：D:\CodexData\visualizations\2026\09\25\01a0d8cd-4545-75b0-ba43-922588deea1a\CAMP_page07_patient_consistency_v4\07_代谢物同向与患者一致性.pdf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来源：D:\CodexData\visualizations\2026\09\25\01a0d8cd-4545-75b0-ba43-922588deea1a\CAMP_page08_patient_consistency_v3\08_候选基因同向与患者一致性.pdf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来源：D:\CodexData\visualizations\2026\09\25\01a0d8cd-4545-75b0-ba43-922588deea1a\CAMP_LYPLA1_metabolite_bridge_v2\09_代谢物如何指向LYPLA1.pdf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来源：D:\CodexData\visualizations\2026\09\25\01a0d8cd-4545-75b0-ba43-922588deea1a\CAMP_page09_LYPLA1_paired_v1\09_LYPLA1_四癌患者配对.pdf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来源：D:\CodexData\visualizations\2026\09\25\01a0d8cd-4545-75b0-ba43-922588deea1a\CAMP_four_cancer_singlecell_v3\11_BRCA_LYPLA1_全细胞与患者.pdf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来源：D:\CodexData\visualizations\2026\09\25\01a0d8cd-4545-75b0-ba43-922588deea1a\CAMP_four_cancer_singlecell_v3\12_COAD_LYPLA1_全细胞与患者.pdf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来源：D:\CodexData\visualizations\2026\09\25\01a0d8cd-4545-75b0-ba43-922588deea1a\CAMP_four_cancer_singlecell_v3\13_PDAC_LYPLA1_全细胞与患者.pdf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来源：D:\CodexData\visualizations\2026\09\25\01a0d8cd-4545-75b0-ba43-922588deea1a\CAMP_four_cancer_singlecell_v3\14_PRAD_LYPLA1_全细胞与患者.pdf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来源：D:\CodexData\visualizations\2026\09\25\01a0d8cd-4545-75b0-ba43-922588deea1a\CAMP_selected_spatial_v1\15_BRCA_LYPLA1_空间切片统一版.pdf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来源：D:\CodexData\visualizations\2026\09\25\01a0d8cd-4545-75b0-ba43-922588deea1a\CAMP_selected_spatial_v1\16_PRAD_LYPLA1_空间切片统一版.pdf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来源：D:\CodexData\visualizations\2026\09\25\01a0d8cd-4545-75b0-ba43-922588deea1a\CAMP_LYPLA1_recent_literature_v1\LYPLA1_近期研究进展.pdf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来源：D:\CodexData\visualizations\2026\09\25\01a0d8cd-4545-75b0-ba43-922588deea1a\CAMP_LYPLA1_evidence_summary_v2\LYPLA1_多层证据收拢.pdf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插图背景沿用用户认可的IMAGE封面下方校景意象及叶片，为装饰性插画，不是真实校园摄影。全部标题、副标题和标签为可编辑文字。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CAMP包含11癌种15数据集988组织标本。组学标本匹配与同患者肿瘤—正常配对分开核对。左侧为原文截图，右侧分子与DNA仅为组学示意，不表示数据或特定分子结构。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患者组织配对、对应标本的组学匹配分别成立才使用相应分析。示意组织使用非写实绘图。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队列和研究范围不变。器官图仅示意癌种；未修改原始科学数据或肿瘤亚型判断。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完整流程沿用前版：差异代谢物、身份核对、生化关系映射、候选池，后接三个并行证据模块。相关性不等于因果；同通路不等于直接关系。所有文字、箭头和卡片原生可编辑，插图为独立裁剪对象。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1.xml"/><Relationship Id="rId7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3.xml"/><Relationship Id="rId7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notesSlide" Target="../notesSlides/notesSlide15.xml"/><Relationship Id="rId1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23.png"/><Relationship Id="rId12" Type="http://schemas.openxmlformats.org/officeDocument/2006/relationships/notesSlide" Target="../notesSlides/notesSlide16.xml"/><Relationship Id="rId1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23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73024" y="2811779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608575" y="2900934"/>
            <a:ext cx="402335" cy="150875"/>
          </a:xfrm>
          <a:custGeom>
            <a:avLst/>
            <a:gdLst/>
            <a:ahLst/>
            <a:cxnLst/>
            <a:rect l="0" t="0" r="r" b="b"/>
            <a:pathLst>
              <a:path w="38016" h="14256">
                <a:moveTo>
                  <a:pt x="0" y="0"/>
                </a:moveTo>
                <a:lnTo>
                  <a:pt x="38016" y="0"/>
                </a:lnTo>
                <a:lnTo>
                  <a:pt x="3801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10911" y="2900934"/>
            <a:ext cx="1335024" cy="150875"/>
          </a:xfrm>
          <a:custGeom>
            <a:avLst/>
            <a:gdLst/>
            <a:ahLst/>
            <a:cxnLst/>
            <a:rect l="0" t="0" r="r" b="b"/>
            <a:pathLst>
              <a:path w="126144" h="14256">
                <a:moveTo>
                  <a:pt x="0" y="0"/>
                </a:moveTo>
                <a:lnTo>
                  <a:pt x="126144" y="0"/>
                </a:lnTo>
                <a:lnTo>
                  <a:pt x="1261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507991" y="3292983"/>
            <a:ext cx="502919" cy="150875"/>
          </a:xfrm>
          <a:custGeom>
            <a:avLst/>
            <a:gdLst/>
            <a:ahLst/>
            <a:cxnLst/>
            <a:rect l="0" t="0" r="r" b="b"/>
            <a:pathLst>
              <a:path w="47520" h="14256">
                <a:moveTo>
                  <a:pt x="0" y="0"/>
                </a:moveTo>
                <a:lnTo>
                  <a:pt x="47520" y="0"/>
                </a:lnTo>
                <a:lnTo>
                  <a:pt x="475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5010911" y="3292983"/>
            <a:ext cx="420624" cy="150875"/>
          </a:xfrm>
          <a:custGeom>
            <a:avLst/>
            <a:gdLst/>
            <a:ahLst/>
            <a:cxnLst/>
            <a:rect l="0" t="0" r="r" b="b"/>
            <a:pathLst>
              <a:path w="39744" h="14256">
                <a:moveTo>
                  <a:pt x="0" y="0"/>
                </a:moveTo>
                <a:lnTo>
                  <a:pt x="39744" y="0"/>
                </a:lnTo>
                <a:lnTo>
                  <a:pt x="397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573024" y="3595878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487167" y="3685031"/>
            <a:ext cx="2523743" cy="150876"/>
          </a:xfrm>
          <a:custGeom>
            <a:avLst/>
            <a:gdLst/>
            <a:ahLst/>
            <a:cxnLst/>
            <a:rect l="0" t="0" r="r" b="b"/>
            <a:pathLst>
              <a:path w="238464" h="14256">
                <a:moveTo>
                  <a:pt x="0" y="0"/>
                </a:moveTo>
                <a:lnTo>
                  <a:pt x="238464" y="0"/>
                </a:lnTo>
                <a:lnTo>
                  <a:pt x="238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010911" y="3685031"/>
            <a:ext cx="1865376" cy="150876"/>
          </a:xfrm>
          <a:custGeom>
            <a:avLst/>
            <a:gdLst/>
            <a:ahLst/>
            <a:cxnLst/>
            <a:rect l="0" t="0" r="r" b="b"/>
            <a:pathLst>
              <a:path w="176256" h="14256">
                <a:moveTo>
                  <a:pt x="0" y="0"/>
                </a:moveTo>
                <a:lnTo>
                  <a:pt x="176256" y="0"/>
                </a:lnTo>
                <a:lnTo>
                  <a:pt x="17625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654296" y="4077080"/>
            <a:ext cx="356615" cy="150876"/>
          </a:xfrm>
          <a:custGeom>
            <a:avLst/>
            <a:gdLst/>
            <a:ahLst/>
            <a:cxnLst/>
            <a:rect l="0" t="0" r="r" b="b"/>
            <a:pathLst>
              <a:path w="33696" h="14256">
                <a:moveTo>
                  <a:pt x="0" y="0"/>
                </a:moveTo>
                <a:lnTo>
                  <a:pt x="33696" y="0"/>
                </a:lnTo>
                <a:lnTo>
                  <a:pt x="3369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010911" y="4077080"/>
            <a:ext cx="109728" cy="150876"/>
          </a:xfrm>
          <a:custGeom>
            <a:avLst/>
            <a:gdLst/>
            <a:ahLst/>
            <a:cxnLst/>
            <a:rect l="0" t="0" r="r" b="b"/>
            <a:pathLst>
              <a:path w="10368" h="14256">
                <a:moveTo>
                  <a:pt x="0" y="0"/>
                </a:moveTo>
                <a:lnTo>
                  <a:pt x="10368" y="0"/>
                </a:lnTo>
                <a:lnTo>
                  <a:pt x="1036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73024" y="4379976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4617720" y="4469129"/>
            <a:ext cx="393191" cy="150876"/>
          </a:xfrm>
          <a:custGeom>
            <a:avLst/>
            <a:gdLst/>
            <a:ahLst/>
            <a:cxnLst/>
            <a:rect l="0" t="0" r="r" b="b"/>
            <a:pathLst>
              <a:path w="37152" h="14256">
                <a:moveTo>
                  <a:pt x="0" y="0"/>
                </a:moveTo>
                <a:lnTo>
                  <a:pt x="37152" y="0"/>
                </a:lnTo>
                <a:lnTo>
                  <a:pt x="3715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5010911" y="4469129"/>
            <a:ext cx="237744" cy="150876"/>
          </a:xfrm>
          <a:custGeom>
            <a:avLst/>
            <a:gdLst/>
            <a:ahLst/>
            <a:cxnLst/>
            <a:rect l="0" t="0" r="r" b="b"/>
            <a:pathLst>
              <a:path w="22464" h="14256">
                <a:moveTo>
                  <a:pt x="0" y="0"/>
                </a:moveTo>
                <a:lnTo>
                  <a:pt x="22464" y="0"/>
                </a:lnTo>
                <a:lnTo>
                  <a:pt x="22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2651759" y="4861179"/>
            <a:ext cx="2359151" cy="150876"/>
          </a:xfrm>
          <a:custGeom>
            <a:avLst/>
            <a:gdLst/>
            <a:ahLst/>
            <a:cxnLst/>
            <a:rect l="0" t="0" r="r" b="b"/>
            <a:pathLst>
              <a:path w="222912" h="14256">
                <a:moveTo>
                  <a:pt x="0" y="0"/>
                </a:moveTo>
                <a:lnTo>
                  <a:pt x="222912" y="0"/>
                </a:lnTo>
                <a:lnTo>
                  <a:pt x="22291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5010911" y="4861179"/>
            <a:ext cx="1929384" cy="150876"/>
          </a:xfrm>
          <a:custGeom>
            <a:avLst/>
            <a:gdLst/>
            <a:ahLst/>
            <a:cxnLst/>
            <a:rect l="0" t="0" r="r" b="b"/>
            <a:pathLst>
              <a:path w="182304" h="14256">
                <a:moveTo>
                  <a:pt x="0" y="0"/>
                </a:moveTo>
                <a:lnTo>
                  <a:pt x="182304" y="0"/>
                </a:lnTo>
                <a:lnTo>
                  <a:pt x="18230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73024" y="5164074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2450592" y="5253227"/>
            <a:ext cx="2560319" cy="150876"/>
          </a:xfrm>
          <a:custGeom>
            <a:avLst/>
            <a:gdLst/>
            <a:ahLst/>
            <a:cxnLst/>
            <a:rect l="0" t="0" r="r" b="b"/>
            <a:pathLst>
              <a:path w="241920" h="14256">
                <a:moveTo>
                  <a:pt x="0" y="0"/>
                </a:moveTo>
                <a:lnTo>
                  <a:pt x="241920" y="0"/>
                </a:lnTo>
                <a:lnTo>
                  <a:pt x="2419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5010911" y="5253227"/>
            <a:ext cx="1389888" cy="150876"/>
          </a:xfrm>
          <a:custGeom>
            <a:avLst/>
            <a:gdLst/>
            <a:ahLst/>
            <a:cxnLst/>
            <a:rect l="0" t="0" r="r" b="b"/>
            <a:pathLst>
              <a:path w="131328" h="14256">
                <a:moveTo>
                  <a:pt x="0" y="0"/>
                </a:moveTo>
                <a:lnTo>
                  <a:pt x="131328" y="0"/>
                </a:lnTo>
                <a:lnTo>
                  <a:pt x="13132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09599" y="2324861"/>
            <a:ext cx="7510271" cy="105"/>
          </a:xfrm>
          <a:custGeom>
            <a:avLst/>
            <a:gdLst/>
            <a:ahLst/>
            <a:cxnLst/>
            <a:rect l="0" t="0" r="r" b="b"/>
            <a:pathLst>
              <a:path w="709632" h="10">
                <a:moveTo>
                  <a:pt x="0" y="0"/>
                </a:moveTo>
                <a:lnTo>
                  <a:pt x="709632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8778240" y="2324861"/>
            <a:ext cx="2804160" cy="105"/>
          </a:xfrm>
          <a:custGeom>
            <a:avLst/>
            <a:gdLst/>
            <a:ahLst/>
            <a:cxnLst/>
            <a:rect l="0" t="0" r="r" b="b"/>
            <a:pathLst>
              <a:path w="264960" h="10">
                <a:moveTo>
                  <a:pt x="0" y="0"/>
                </a:moveTo>
                <a:lnTo>
                  <a:pt x="26496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5010911" y="2798064"/>
            <a:ext cx="105" cy="2695193"/>
          </a:xfrm>
          <a:custGeom>
            <a:avLst/>
            <a:gdLst/>
            <a:ahLst/>
            <a:cxnLst/>
            <a:rect l="0" t="0" r="r" b="b"/>
            <a:pathLst>
              <a:path w="10" h="254664">
                <a:moveTo>
                  <a:pt x="0" y="254664"/>
                </a:moveTo>
                <a:lnTo>
                  <a:pt x="0" y="0"/>
                </a:lnTo>
              </a:path>
            </a:pathLst>
          </a:custGeom>
          <a:noFill/>
          <a:ln w="9524">
            <a:solidFill>
              <a:srgbClr val="CDDAD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609599" y="6089904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ext: 从代谢异常，走向候选基因"/>
          <p:cNvSpPr txBox="1"/>
          <p:nvPr/>
        </p:nvSpPr>
        <p:spPr>
          <a:xfrm>
            <a:off x="609599" y="1020128"/>
            <a:ext cx="4084637" cy="4986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从代谢异常，走向候选基因</a:t>
            </a:r>
          </a:p>
        </p:txBody>
      </p:sp>
      <p:sp>
        <p:nvSpPr>
          <p:cNvPr id="30" name="Editable text: 六癌七队列概况  ·  差异代谢特征 → 已映射特征 → 候选基因"/>
          <p:cNvSpPr txBox="1"/>
          <p:nvPr/>
        </p:nvSpPr>
        <p:spPr>
          <a:xfrm>
            <a:off x="633983" y="1567381"/>
            <a:ext cx="3866054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六癌七队列概况  ·  差异代谢特征 → 已映射特征 → 候选基因</a:t>
            </a:r>
          </a:p>
        </p:txBody>
      </p:sp>
      <p:sp>
        <p:nvSpPr>
          <p:cNvPr id="31" name="Editable text: 06"/>
          <p:cNvSpPr txBox="1"/>
          <p:nvPr/>
        </p:nvSpPr>
        <p:spPr>
          <a:xfrm>
            <a:off x="11399507" y="6478878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06</a:t>
            </a:r>
          </a:p>
        </p:txBody>
      </p:sp>
      <p:sp>
        <p:nvSpPr>
          <p:cNvPr id="32" name="Editable text: 01"/>
          <p:cNvSpPr txBox="1"/>
          <p:nvPr/>
        </p:nvSpPr>
        <p:spPr>
          <a:xfrm>
            <a:off x="609599" y="2017571"/>
            <a:ext cx="2138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33" name="Editable text: 代谢变化"/>
          <p:cNvSpPr txBox="1"/>
          <p:nvPr/>
        </p:nvSpPr>
        <p:spPr>
          <a:xfrm>
            <a:off x="1036319" y="1966837"/>
            <a:ext cx="847725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代谢变化</a:t>
            </a:r>
          </a:p>
        </p:txBody>
      </p:sp>
      <p:sp>
        <p:nvSpPr>
          <p:cNvPr id="34" name="Editable text: 02"/>
          <p:cNvSpPr txBox="1"/>
          <p:nvPr/>
        </p:nvSpPr>
        <p:spPr>
          <a:xfrm>
            <a:off x="8778240" y="2017571"/>
            <a:ext cx="2138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35" name="Editable text: 生化映射"/>
          <p:cNvSpPr txBox="1"/>
          <p:nvPr/>
        </p:nvSpPr>
        <p:spPr>
          <a:xfrm>
            <a:off x="9192767" y="1966837"/>
            <a:ext cx="847725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生化映射</a:t>
            </a:r>
          </a:p>
        </p:txBody>
      </p:sp>
      <p:sp>
        <p:nvSpPr>
          <p:cNvPr id="36" name="Editable text: 癌种 / 可评估特征"/>
          <p:cNvSpPr txBox="1"/>
          <p:nvPr/>
        </p:nvSpPr>
        <p:spPr>
          <a:xfrm>
            <a:off x="609599" y="2484371"/>
            <a:ext cx="94111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 / 可评估特征</a:t>
            </a:r>
          </a:p>
        </p:txBody>
      </p:sp>
      <p:sp>
        <p:nvSpPr>
          <p:cNvPr id="37" name="Editable text: 降低"/>
          <p:cNvSpPr txBox="1"/>
          <p:nvPr/>
        </p:nvSpPr>
        <p:spPr>
          <a:xfrm>
            <a:off x="3469639" y="2470199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38" name="Editable text: 升高"/>
          <p:cNvSpPr txBox="1"/>
          <p:nvPr/>
        </p:nvSpPr>
        <p:spPr>
          <a:xfrm>
            <a:off x="6090920" y="2470199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39" name="Editable text: 已映射特征"/>
          <p:cNvSpPr txBox="1"/>
          <p:nvPr/>
        </p:nvSpPr>
        <p:spPr>
          <a:xfrm>
            <a:off x="8999262" y="2478682"/>
            <a:ext cx="634470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已映射特征</a:t>
            </a:r>
          </a:p>
        </p:txBody>
      </p:sp>
      <p:sp>
        <p:nvSpPr>
          <p:cNvPr id="40" name="Editable text: 候选基因"/>
          <p:cNvSpPr txBox="1"/>
          <p:nvPr/>
        </p:nvSpPr>
        <p:spPr>
          <a:xfrm>
            <a:off x="10813118" y="2478682"/>
            <a:ext cx="518053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</a:t>
            </a:r>
          </a:p>
        </p:txBody>
      </p:sp>
      <p:sp>
        <p:nvSpPr>
          <p:cNvPr id="41" name="Editable text: BRCA"/>
          <p:cNvSpPr txBox="1"/>
          <p:nvPr/>
        </p:nvSpPr>
        <p:spPr>
          <a:xfrm>
            <a:off x="670560" y="2806681"/>
            <a:ext cx="54953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42" name="Editable text: 318 项可评估"/>
          <p:cNvSpPr txBox="1"/>
          <p:nvPr/>
        </p:nvSpPr>
        <p:spPr>
          <a:xfrm>
            <a:off x="670560" y="3014062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318 项可评估</a:t>
            </a:r>
          </a:p>
        </p:txBody>
      </p:sp>
      <p:sp>
        <p:nvSpPr>
          <p:cNvPr id="43" name="Editable text: 44"/>
          <p:cNvSpPr txBox="1"/>
          <p:nvPr/>
        </p:nvSpPr>
        <p:spPr>
          <a:xfrm>
            <a:off x="4329184" y="2866338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44</a:t>
            </a:r>
          </a:p>
        </p:txBody>
      </p:sp>
      <p:sp>
        <p:nvSpPr>
          <p:cNvPr id="44" name="Editable text: 146"/>
          <p:cNvSpPr txBox="1"/>
          <p:nvPr/>
        </p:nvSpPr>
        <p:spPr>
          <a:xfrm>
            <a:off x="6455664" y="2866338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146</a:t>
            </a:r>
          </a:p>
        </p:txBody>
      </p:sp>
      <p:sp>
        <p:nvSpPr>
          <p:cNvPr id="45" name="Editable text: 93"/>
          <p:cNvSpPr txBox="1"/>
          <p:nvPr/>
        </p:nvSpPr>
        <p:spPr>
          <a:xfrm>
            <a:off x="9166280" y="2801888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93</a:t>
            </a:r>
          </a:p>
        </p:txBody>
      </p:sp>
      <p:sp>
        <p:nvSpPr>
          <p:cNvPr id="46" name="Editable text: 150"/>
          <p:cNvSpPr txBox="1"/>
          <p:nvPr/>
        </p:nvSpPr>
        <p:spPr>
          <a:xfrm>
            <a:off x="10859917" y="2801888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47" name="Editable text: →"/>
          <p:cNvSpPr txBox="1"/>
          <p:nvPr/>
        </p:nvSpPr>
        <p:spPr>
          <a:xfrm>
            <a:off x="10088753" y="2835656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48" name="Editable text: COAD"/>
          <p:cNvSpPr txBox="1"/>
          <p:nvPr/>
        </p:nvSpPr>
        <p:spPr>
          <a:xfrm>
            <a:off x="670560" y="3198730"/>
            <a:ext cx="585331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49" name="Editable text: 159 项可评估"/>
          <p:cNvSpPr txBox="1"/>
          <p:nvPr/>
        </p:nvSpPr>
        <p:spPr>
          <a:xfrm>
            <a:off x="670560" y="3406111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159 项可评估</a:t>
            </a:r>
          </a:p>
        </p:txBody>
      </p:sp>
      <p:sp>
        <p:nvSpPr>
          <p:cNvPr id="50" name="Editable text: 55"/>
          <p:cNvSpPr txBox="1"/>
          <p:nvPr/>
        </p:nvSpPr>
        <p:spPr>
          <a:xfrm>
            <a:off x="4228600" y="3258387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55</a:t>
            </a:r>
          </a:p>
        </p:txBody>
      </p:sp>
      <p:sp>
        <p:nvSpPr>
          <p:cNvPr id="51" name="Editable text: 46"/>
          <p:cNvSpPr txBox="1"/>
          <p:nvPr/>
        </p:nvSpPr>
        <p:spPr>
          <a:xfrm>
            <a:off x="5541263" y="3258387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46</a:t>
            </a:r>
          </a:p>
        </p:txBody>
      </p:sp>
      <p:sp>
        <p:nvSpPr>
          <p:cNvPr id="52" name="Editable text: 78"/>
          <p:cNvSpPr txBox="1"/>
          <p:nvPr/>
        </p:nvSpPr>
        <p:spPr>
          <a:xfrm>
            <a:off x="9166280" y="3193937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78</a:t>
            </a:r>
          </a:p>
        </p:txBody>
      </p:sp>
      <p:sp>
        <p:nvSpPr>
          <p:cNvPr id="53" name="Editable text: 526"/>
          <p:cNvSpPr txBox="1"/>
          <p:nvPr/>
        </p:nvSpPr>
        <p:spPr>
          <a:xfrm>
            <a:off x="10859917" y="3193937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526</a:t>
            </a:r>
          </a:p>
        </p:txBody>
      </p:sp>
      <p:sp>
        <p:nvSpPr>
          <p:cNvPr id="54" name="Editable text: →"/>
          <p:cNvSpPr txBox="1"/>
          <p:nvPr/>
        </p:nvSpPr>
        <p:spPr>
          <a:xfrm>
            <a:off x="10088753" y="3227705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55" name="Editable text: GBM"/>
          <p:cNvSpPr txBox="1"/>
          <p:nvPr/>
        </p:nvSpPr>
        <p:spPr>
          <a:xfrm>
            <a:off x="670560" y="3590779"/>
            <a:ext cx="495638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56" name="Editable text: 697 项可评估"/>
          <p:cNvSpPr txBox="1"/>
          <p:nvPr/>
        </p:nvSpPr>
        <p:spPr>
          <a:xfrm>
            <a:off x="670560" y="3798160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697 项可评估</a:t>
            </a:r>
          </a:p>
        </p:txBody>
      </p:sp>
      <p:sp>
        <p:nvSpPr>
          <p:cNvPr id="57" name="Editable text: 276"/>
          <p:cNvSpPr txBox="1"/>
          <p:nvPr/>
        </p:nvSpPr>
        <p:spPr>
          <a:xfrm>
            <a:off x="2122943" y="3650436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276</a:t>
            </a:r>
          </a:p>
        </p:txBody>
      </p:sp>
      <p:sp>
        <p:nvSpPr>
          <p:cNvPr id="58" name="Editable text: 204"/>
          <p:cNvSpPr txBox="1"/>
          <p:nvPr/>
        </p:nvSpPr>
        <p:spPr>
          <a:xfrm>
            <a:off x="6986016" y="3650436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204</a:t>
            </a:r>
          </a:p>
        </p:txBody>
      </p:sp>
      <p:sp>
        <p:nvSpPr>
          <p:cNvPr id="59" name="Editable text: 23"/>
          <p:cNvSpPr txBox="1"/>
          <p:nvPr/>
        </p:nvSpPr>
        <p:spPr>
          <a:xfrm>
            <a:off x="9166280" y="3585986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23</a:t>
            </a:r>
          </a:p>
        </p:txBody>
      </p:sp>
      <p:sp>
        <p:nvSpPr>
          <p:cNvPr id="60" name="Editable text: 142"/>
          <p:cNvSpPr txBox="1"/>
          <p:nvPr/>
        </p:nvSpPr>
        <p:spPr>
          <a:xfrm>
            <a:off x="10859917" y="3585986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142</a:t>
            </a:r>
          </a:p>
        </p:txBody>
      </p:sp>
      <p:sp>
        <p:nvSpPr>
          <p:cNvPr id="61" name="Editable text: →"/>
          <p:cNvSpPr txBox="1"/>
          <p:nvPr/>
        </p:nvSpPr>
        <p:spPr>
          <a:xfrm>
            <a:off x="10088753" y="3619753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670560" y="3982828"/>
            <a:ext cx="55757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63" name="Editable text: 307 项可评估"/>
          <p:cNvSpPr txBox="1"/>
          <p:nvPr/>
        </p:nvSpPr>
        <p:spPr>
          <a:xfrm>
            <a:off x="670560" y="4190209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307 项可评估</a:t>
            </a:r>
          </a:p>
        </p:txBody>
      </p:sp>
      <p:sp>
        <p:nvSpPr>
          <p:cNvPr id="64" name="Editable text: 39"/>
          <p:cNvSpPr txBox="1"/>
          <p:nvPr/>
        </p:nvSpPr>
        <p:spPr>
          <a:xfrm>
            <a:off x="4374903" y="4042485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39</a:t>
            </a:r>
          </a:p>
        </p:txBody>
      </p:sp>
      <p:sp>
        <p:nvSpPr>
          <p:cNvPr id="65" name="Editable text: 12"/>
          <p:cNvSpPr txBox="1"/>
          <p:nvPr/>
        </p:nvSpPr>
        <p:spPr>
          <a:xfrm>
            <a:off x="5230368" y="4042485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12</a:t>
            </a:r>
          </a:p>
        </p:txBody>
      </p:sp>
      <p:sp>
        <p:nvSpPr>
          <p:cNvPr id="66" name="Editable text: 30"/>
          <p:cNvSpPr txBox="1"/>
          <p:nvPr/>
        </p:nvSpPr>
        <p:spPr>
          <a:xfrm>
            <a:off x="9166280" y="3978035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</a:t>
            </a:r>
          </a:p>
        </p:txBody>
      </p:sp>
      <p:sp>
        <p:nvSpPr>
          <p:cNvPr id="67" name="Editable text: 250"/>
          <p:cNvSpPr txBox="1"/>
          <p:nvPr/>
        </p:nvSpPr>
        <p:spPr>
          <a:xfrm>
            <a:off x="10859917" y="3978035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250</a:t>
            </a:r>
          </a:p>
        </p:txBody>
      </p:sp>
      <p:sp>
        <p:nvSpPr>
          <p:cNvPr id="68" name="Editable text: →"/>
          <p:cNvSpPr txBox="1"/>
          <p:nvPr/>
        </p:nvSpPr>
        <p:spPr>
          <a:xfrm>
            <a:off x="10088753" y="4011802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69" name="Editable text: PRAD"/>
          <p:cNvSpPr txBox="1"/>
          <p:nvPr/>
        </p:nvSpPr>
        <p:spPr>
          <a:xfrm>
            <a:off x="670560" y="4374877"/>
            <a:ext cx="56709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70" name="Editable text: 361 项可评估"/>
          <p:cNvSpPr txBox="1"/>
          <p:nvPr/>
        </p:nvSpPr>
        <p:spPr>
          <a:xfrm>
            <a:off x="670560" y="4582258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361 项可评估</a:t>
            </a:r>
          </a:p>
        </p:txBody>
      </p:sp>
      <p:sp>
        <p:nvSpPr>
          <p:cNvPr id="71" name="Editable text: 43"/>
          <p:cNvSpPr txBox="1"/>
          <p:nvPr/>
        </p:nvSpPr>
        <p:spPr>
          <a:xfrm>
            <a:off x="4338327" y="4434534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43</a:t>
            </a:r>
          </a:p>
        </p:txBody>
      </p:sp>
      <p:sp>
        <p:nvSpPr>
          <p:cNvPr id="72" name="Editable text: 26"/>
          <p:cNvSpPr txBox="1"/>
          <p:nvPr/>
        </p:nvSpPr>
        <p:spPr>
          <a:xfrm>
            <a:off x="5358383" y="4434534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26</a:t>
            </a:r>
          </a:p>
        </p:txBody>
      </p:sp>
      <p:sp>
        <p:nvSpPr>
          <p:cNvPr id="73" name="Editable text: 48"/>
          <p:cNvSpPr txBox="1"/>
          <p:nvPr/>
        </p:nvSpPr>
        <p:spPr>
          <a:xfrm>
            <a:off x="9166280" y="4370084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48</a:t>
            </a:r>
          </a:p>
        </p:txBody>
      </p:sp>
      <p:sp>
        <p:nvSpPr>
          <p:cNvPr id="74" name="Editable text: 101"/>
          <p:cNvSpPr txBox="1"/>
          <p:nvPr/>
        </p:nvSpPr>
        <p:spPr>
          <a:xfrm>
            <a:off x="10859917" y="4370084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101</a:t>
            </a:r>
          </a:p>
        </p:txBody>
      </p:sp>
      <p:sp>
        <p:nvSpPr>
          <p:cNvPr id="75" name="Editable text: →"/>
          <p:cNvSpPr txBox="1"/>
          <p:nvPr/>
        </p:nvSpPr>
        <p:spPr>
          <a:xfrm>
            <a:off x="10088753" y="4403851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76" name="Editable text: ccRCC3"/>
          <p:cNvSpPr txBox="1"/>
          <p:nvPr/>
        </p:nvSpPr>
        <p:spPr>
          <a:xfrm>
            <a:off x="670560" y="4766926"/>
            <a:ext cx="69461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77" name="Editable text: 711 项可评估"/>
          <p:cNvSpPr txBox="1"/>
          <p:nvPr/>
        </p:nvSpPr>
        <p:spPr>
          <a:xfrm>
            <a:off x="670560" y="4974307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711 项可评估</a:t>
            </a:r>
          </a:p>
        </p:txBody>
      </p:sp>
      <p:sp>
        <p:nvSpPr>
          <p:cNvPr id="78" name="Editable text: 258"/>
          <p:cNvSpPr txBox="1"/>
          <p:nvPr/>
        </p:nvSpPr>
        <p:spPr>
          <a:xfrm>
            <a:off x="2287535" y="4826583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258</a:t>
            </a:r>
          </a:p>
        </p:txBody>
      </p:sp>
      <p:sp>
        <p:nvSpPr>
          <p:cNvPr id="79" name="Editable text: 211"/>
          <p:cNvSpPr txBox="1"/>
          <p:nvPr/>
        </p:nvSpPr>
        <p:spPr>
          <a:xfrm>
            <a:off x="7050023" y="4826583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211</a:t>
            </a:r>
          </a:p>
        </p:txBody>
      </p:sp>
      <p:sp>
        <p:nvSpPr>
          <p:cNvPr id="80" name="Editable text: 68"/>
          <p:cNvSpPr txBox="1"/>
          <p:nvPr/>
        </p:nvSpPr>
        <p:spPr>
          <a:xfrm>
            <a:off x="9166280" y="4762133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68</a:t>
            </a:r>
          </a:p>
        </p:txBody>
      </p:sp>
      <p:sp>
        <p:nvSpPr>
          <p:cNvPr id="81" name="Editable text: 144"/>
          <p:cNvSpPr txBox="1"/>
          <p:nvPr/>
        </p:nvSpPr>
        <p:spPr>
          <a:xfrm>
            <a:off x="10859917" y="4762133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144</a:t>
            </a:r>
          </a:p>
        </p:txBody>
      </p:sp>
      <p:sp>
        <p:nvSpPr>
          <p:cNvPr id="82" name="Editable text: →"/>
          <p:cNvSpPr txBox="1"/>
          <p:nvPr/>
        </p:nvSpPr>
        <p:spPr>
          <a:xfrm>
            <a:off x="10088753" y="4795901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670560" y="5158975"/>
            <a:ext cx="69461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84" name="Editable text: 904 项可评估"/>
          <p:cNvSpPr txBox="1"/>
          <p:nvPr/>
        </p:nvSpPr>
        <p:spPr>
          <a:xfrm>
            <a:off x="670560" y="5366356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904 项可评估</a:t>
            </a:r>
          </a:p>
        </p:txBody>
      </p:sp>
      <p:sp>
        <p:nvSpPr>
          <p:cNvPr id="85" name="Editable text: 280"/>
          <p:cNvSpPr txBox="1"/>
          <p:nvPr/>
        </p:nvSpPr>
        <p:spPr>
          <a:xfrm>
            <a:off x="2086367" y="5218632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280</a:t>
            </a:r>
          </a:p>
        </p:txBody>
      </p:sp>
      <p:sp>
        <p:nvSpPr>
          <p:cNvPr id="86" name="Editable text: 152"/>
          <p:cNvSpPr txBox="1"/>
          <p:nvPr/>
        </p:nvSpPr>
        <p:spPr>
          <a:xfrm>
            <a:off x="6510528" y="5218632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152</a:t>
            </a:r>
          </a:p>
        </p:txBody>
      </p:sp>
      <p:sp>
        <p:nvSpPr>
          <p:cNvPr id="87" name="Editable text: 44"/>
          <p:cNvSpPr txBox="1"/>
          <p:nvPr/>
        </p:nvSpPr>
        <p:spPr>
          <a:xfrm>
            <a:off x="9166280" y="5154182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44</a:t>
            </a:r>
          </a:p>
        </p:txBody>
      </p:sp>
      <p:sp>
        <p:nvSpPr>
          <p:cNvPr id="88" name="Editable text: 95"/>
          <p:cNvSpPr txBox="1"/>
          <p:nvPr/>
        </p:nvSpPr>
        <p:spPr>
          <a:xfrm>
            <a:off x="10921928" y="5154182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95</a:t>
            </a:r>
          </a:p>
        </p:txBody>
      </p:sp>
      <p:sp>
        <p:nvSpPr>
          <p:cNvPr id="89" name="Editable text: →"/>
          <p:cNvSpPr txBox="1"/>
          <p:nvPr/>
        </p:nvSpPr>
        <p:spPr>
          <a:xfrm>
            <a:off x="10088753" y="5187950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90" name="Editable text: 300"/>
          <p:cNvSpPr txBox="1"/>
          <p:nvPr/>
        </p:nvSpPr>
        <p:spPr>
          <a:xfrm>
            <a:off x="2174694" y="5566408"/>
            <a:ext cx="23368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300</a:t>
            </a:r>
          </a:p>
        </p:txBody>
      </p:sp>
      <p:sp>
        <p:nvSpPr>
          <p:cNvPr id="91" name="Editable text: 150"/>
          <p:cNvSpPr txBox="1"/>
          <p:nvPr/>
        </p:nvSpPr>
        <p:spPr>
          <a:xfrm>
            <a:off x="35462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92" name="Editable text: 0"/>
          <p:cNvSpPr txBox="1"/>
          <p:nvPr/>
        </p:nvSpPr>
        <p:spPr>
          <a:xfrm>
            <a:off x="4979905" y="5566408"/>
            <a:ext cx="10964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93" name="Editable text: 150"/>
          <p:cNvSpPr txBox="1"/>
          <p:nvPr/>
        </p:nvSpPr>
        <p:spPr>
          <a:xfrm>
            <a:off x="62894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94" name="Editable text: 300"/>
          <p:cNvSpPr txBox="1"/>
          <p:nvPr/>
        </p:nvSpPr>
        <p:spPr>
          <a:xfrm>
            <a:off x="76610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300</a:t>
            </a:r>
          </a:p>
        </p:txBody>
      </p:sp>
      <p:sp>
        <p:nvSpPr>
          <p:cNvPr id="95" name="Editable text: P &lt; 0.05 的代谢特征数"/>
          <p:cNvSpPr txBox="1"/>
          <p:nvPr/>
        </p:nvSpPr>
        <p:spPr>
          <a:xfrm>
            <a:off x="4414772" y="5777380"/>
            <a:ext cx="1244610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 &lt; 0.05 的代谢特征数</a:t>
            </a:r>
          </a:p>
        </p:txBody>
      </p:sp>
      <p:sp>
        <p:nvSpPr>
          <p:cNvPr id="96" name="Editable text: 仅统计有直接生化关系的候选"/>
          <p:cNvSpPr txBox="1"/>
          <p:nvPr/>
        </p:nvSpPr>
        <p:spPr>
          <a:xfrm>
            <a:off x="8778240" y="5597903"/>
            <a:ext cx="149463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仅统计有直接生化关系的候选</a:t>
            </a:r>
          </a:p>
        </p:txBody>
      </p:sp>
      <p:sp>
        <p:nvSpPr>
          <p:cNvPr id="97" name="Editable text: 队列覆盖与映射范围不同，数量不代表癌种异常程度。"/>
          <p:cNvSpPr txBox="1"/>
          <p:nvPr/>
        </p:nvSpPr>
        <p:spPr>
          <a:xfrm>
            <a:off x="609599" y="6235241"/>
            <a:ext cx="3105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队列覆盖与映射范围不同，数量不代表癌种异常程度。</a:t>
            </a:r>
          </a:p>
        </p:txBody>
      </p:sp>
      <p:sp>
        <p:nvSpPr>
          <p:cNvPr id="98" name="Editable text: 名义 P &lt; 0.05；GBM 非配对，其余按患者配对；ccRCC 两队列分列。"/>
          <p:cNvSpPr txBox="1"/>
          <p:nvPr/>
        </p:nvSpPr>
        <p:spPr>
          <a:xfrm>
            <a:off x="609599" y="6525358"/>
            <a:ext cx="3175230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名义 P &lt; 0.05；GBM 非配对，其余按患者配对；ccRCC 两队列分列。</a:t>
            </a:r>
          </a:p>
        </p:txBody>
      </p:sp>
      <p:pic>
        <p:nvPicPr>
          <p:cNvPr id="99" name="Picture 9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519110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189986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3860862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09599" y="4531737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307537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368802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4300672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913320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525968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13861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75126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07537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68802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4300672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525968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613861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675126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07537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4913320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5525968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13861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6751264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07537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68802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4913320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5525968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13861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75126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307537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368802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4300672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4913320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5525968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13861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75126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307537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4300672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4913320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5525968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613861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6751264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307537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368802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4913320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5525968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613861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675126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307537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368802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4913320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5525968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613861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675126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609599" y="251240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7160361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8114994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text: 代谢物"/>
          <p:cNvSpPr txBox="1"/>
          <p:nvPr/>
        </p:nvSpPr>
        <p:spPr>
          <a:xfrm>
            <a:off x="609599" y="2261678"/>
            <a:ext cx="401637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</a:t>
            </a:r>
          </a:p>
        </p:txBody>
      </p:sp>
      <p:sp>
        <p:nvSpPr>
          <p:cNvPr id="68" name="Editable text: BRCA"/>
          <p:cNvSpPr txBox="1"/>
          <p:nvPr/>
        </p:nvSpPr>
        <p:spPr>
          <a:xfrm>
            <a:off x="2979885" y="2265610"/>
            <a:ext cx="357329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69" name="Editable text: COAD"/>
          <p:cNvSpPr txBox="1"/>
          <p:nvPr/>
        </p:nvSpPr>
        <p:spPr>
          <a:xfrm>
            <a:off x="3580710" y="2265610"/>
            <a:ext cx="38060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70" name="Editable text: GBM"/>
          <p:cNvSpPr txBox="1"/>
          <p:nvPr/>
        </p:nvSpPr>
        <p:spPr>
          <a:xfrm>
            <a:off x="4222627" y="2265610"/>
            <a:ext cx="32216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71" name="Editable text: PDAC"/>
          <p:cNvSpPr txBox="1"/>
          <p:nvPr/>
        </p:nvSpPr>
        <p:spPr>
          <a:xfrm>
            <a:off x="4814853" y="2265610"/>
            <a:ext cx="362554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72" name="Editable text: PRAD"/>
          <p:cNvSpPr txBox="1"/>
          <p:nvPr/>
        </p:nvSpPr>
        <p:spPr>
          <a:xfrm>
            <a:off x="5424772" y="2265610"/>
            <a:ext cx="368613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73" name="Editable text: ccRCC3"/>
          <p:cNvSpPr txBox="1"/>
          <p:nvPr/>
        </p:nvSpPr>
        <p:spPr>
          <a:xfrm>
            <a:off x="5996327" y="2265610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74" name="Editable text: ccRCC4"/>
          <p:cNvSpPr txBox="1"/>
          <p:nvPr/>
        </p:nvSpPr>
        <p:spPr>
          <a:xfrm>
            <a:off x="6608975" y="2265610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75" name="Editable text: 同向显著 / 可评估"/>
          <p:cNvSpPr txBox="1"/>
          <p:nvPr/>
        </p:nvSpPr>
        <p:spPr>
          <a:xfrm>
            <a:off x="7187198" y="2219379"/>
            <a:ext cx="775370" cy="138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同向显著 / 可评估</a:t>
            </a:r>
          </a:p>
        </p:txBody>
      </p:sp>
      <p:sp>
        <p:nvSpPr>
          <p:cNvPr id="76" name="Editable text: 癌种数"/>
          <p:cNvSpPr txBox="1"/>
          <p:nvPr/>
        </p:nvSpPr>
        <p:spPr>
          <a:xfrm>
            <a:off x="7412507" y="2345649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癌种数</a:t>
            </a:r>
          </a:p>
        </p:txBody>
      </p:sp>
      <p:sp>
        <p:nvSpPr>
          <p:cNvPr id="77" name="Editable text: 患者一致性"/>
          <p:cNvSpPr txBox="1"/>
          <p:nvPr/>
        </p:nvSpPr>
        <p:spPr>
          <a:xfrm>
            <a:off x="9570576" y="2003196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患者一致性</a:t>
            </a:r>
          </a:p>
        </p:txBody>
      </p:sp>
      <p:sp>
        <p:nvSpPr>
          <p:cNvPr id="78" name="Editable text: BRCA"/>
          <p:cNvSpPr txBox="1"/>
          <p:nvPr/>
        </p:nvSpPr>
        <p:spPr>
          <a:xfrm>
            <a:off x="8384232" y="2275149"/>
            <a:ext cx="319412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79" name="Editable text: COAD"/>
          <p:cNvSpPr txBox="1"/>
          <p:nvPr/>
        </p:nvSpPr>
        <p:spPr>
          <a:xfrm>
            <a:off x="8933261" y="2275149"/>
            <a:ext cx="34036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80" name="Editable text: PDAC"/>
          <p:cNvSpPr txBox="1"/>
          <p:nvPr/>
        </p:nvSpPr>
        <p:spPr>
          <a:xfrm>
            <a:off x="9500812" y="2275149"/>
            <a:ext cx="324188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81" name="Editable text: PRAD"/>
          <p:cNvSpPr txBox="1"/>
          <p:nvPr/>
        </p:nvSpPr>
        <p:spPr>
          <a:xfrm>
            <a:off x="10057944" y="2275149"/>
            <a:ext cx="32962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82" name="Editable text: ccRCC3"/>
          <p:cNvSpPr txBox="1"/>
          <p:nvPr/>
        </p:nvSpPr>
        <p:spPr>
          <a:xfrm>
            <a:off x="10580515" y="2275149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11140128" y="2275149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84" name="Editable text: 肌酐"/>
          <p:cNvSpPr txBox="1"/>
          <p:nvPr/>
        </p:nvSpPr>
        <p:spPr>
          <a:xfrm>
            <a:off x="675436" y="2561739"/>
            <a:ext cx="31892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肌酐</a:t>
            </a:r>
          </a:p>
        </p:txBody>
      </p:sp>
      <p:sp>
        <p:nvSpPr>
          <p:cNvPr id="85" name="Editable text: ↓"/>
          <p:cNvSpPr txBox="1"/>
          <p:nvPr/>
        </p:nvSpPr>
        <p:spPr>
          <a:xfrm>
            <a:off x="7249702" y="2531302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86" name="Editable text: 5/6"/>
          <p:cNvSpPr txBox="1"/>
          <p:nvPr/>
        </p:nvSpPr>
        <p:spPr>
          <a:xfrm>
            <a:off x="7465718" y="2531302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5/6</a:t>
            </a:r>
          </a:p>
        </p:txBody>
      </p:sp>
      <p:sp>
        <p:nvSpPr>
          <p:cNvPr id="87" name="Editable text: 37/45"/>
          <p:cNvSpPr txBox="1"/>
          <p:nvPr/>
        </p:nvSpPr>
        <p:spPr>
          <a:xfrm>
            <a:off x="8363065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37/45</a:t>
            </a:r>
          </a:p>
        </p:txBody>
      </p:sp>
      <p:sp>
        <p:nvSpPr>
          <p:cNvPr id="88" name="Editable text: 32/33"/>
          <p:cNvSpPr txBox="1"/>
          <p:nvPr/>
        </p:nvSpPr>
        <p:spPr>
          <a:xfrm>
            <a:off x="8922678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32/33</a:t>
            </a:r>
          </a:p>
        </p:txBody>
      </p:sp>
      <p:sp>
        <p:nvSpPr>
          <p:cNvPr id="89" name="Editable text: 5/11"/>
          <p:cNvSpPr txBox="1"/>
          <p:nvPr/>
        </p:nvSpPr>
        <p:spPr>
          <a:xfrm>
            <a:off x="9515695" y="2575911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5/11</a:t>
            </a:r>
          </a:p>
        </p:txBody>
      </p:sp>
      <p:sp>
        <p:nvSpPr>
          <p:cNvPr id="90" name="Editable text: 30/43"/>
          <p:cNvSpPr txBox="1"/>
          <p:nvPr/>
        </p:nvSpPr>
        <p:spPr>
          <a:xfrm>
            <a:off x="10041903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30/43</a:t>
            </a:r>
          </a:p>
        </p:txBody>
      </p:sp>
      <p:sp>
        <p:nvSpPr>
          <p:cNvPr id="91" name="Editable text: 16/17"/>
          <p:cNvSpPr txBox="1"/>
          <p:nvPr/>
        </p:nvSpPr>
        <p:spPr>
          <a:xfrm>
            <a:off x="10601516" y="257591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16/17</a:t>
            </a:r>
          </a:p>
        </p:txBody>
      </p:sp>
      <p:sp>
        <p:nvSpPr>
          <p:cNvPr id="92" name="Editable text: 11/12"/>
          <p:cNvSpPr txBox="1"/>
          <p:nvPr/>
        </p:nvSpPr>
        <p:spPr>
          <a:xfrm>
            <a:off x="11161130" y="257591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93" name="Editable text: 2-羟基戊二酸¹"/>
          <p:cNvSpPr txBox="1"/>
          <p:nvPr/>
        </p:nvSpPr>
        <p:spPr>
          <a:xfrm>
            <a:off x="675436" y="2897177"/>
            <a:ext cx="901331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2-羟基戊二酸¹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4885546" y="2875141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5" name="Editable text: ↑"/>
          <p:cNvSpPr txBox="1"/>
          <p:nvPr/>
        </p:nvSpPr>
        <p:spPr>
          <a:xfrm>
            <a:off x="7249702" y="286674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96" name="Editable text: 4/5"/>
          <p:cNvSpPr txBox="1"/>
          <p:nvPr/>
        </p:nvSpPr>
        <p:spPr>
          <a:xfrm>
            <a:off x="7465718" y="286674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97" name="Editable text: 31/45"/>
          <p:cNvSpPr txBox="1"/>
          <p:nvPr/>
        </p:nvSpPr>
        <p:spPr>
          <a:xfrm>
            <a:off x="8363065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31/45</a:t>
            </a:r>
          </a:p>
        </p:txBody>
      </p:sp>
      <p:sp>
        <p:nvSpPr>
          <p:cNvPr id="98" name="Editable text: 24/33"/>
          <p:cNvSpPr txBox="1"/>
          <p:nvPr/>
        </p:nvSpPr>
        <p:spPr>
          <a:xfrm>
            <a:off x="8922678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24/33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9578781" y="2911349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0" name="Editable text: 19/43"/>
          <p:cNvSpPr txBox="1"/>
          <p:nvPr/>
        </p:nvSpPr>
        <p:spPr>
          <a:xfrm>
            <a:off x="10041903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19/43</a:t>
            </a:r>
          </a:p>
        </p:txBody>
      </p:sp>
      <p:sp>
        <p:nvSpPr>
          <p:cNvPr id="101" name="Editable text: 13/17"/>
          <p:cNvSpPr txBox="1"/>
          <p:nvPr/>
        </p:nvSpPr>
        <p:spPr>
          <a:xfrm>
            <a:off x="10601516" y="29113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13/17</a:t>
            </a:r>
          </a:p>
        </p:txBody>
      </p:sp>
      <p:sp>
        <p:nvSpPr>
          <p:cNvPr id="102" name="Editable text: 11/12"/>
          <p:cNvSpPr txBox="1"/>
          <p:nvPr/>
        </p:nvSpPr>
        <p:spPr>
          <a:xfrm>
            <a:off x="11161130" y="29113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103" name="Editable text: 丁酰肉碱"/>
          <p:cNvSpPr txBox="1"/>
          <p:nvPr/>
        </p:nvSpPr>
        <p:spPr>
          <a:xfrm>
            <a:off x="675436" y="3232615"/>
            <a:ext cx="57927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丁酰肉碱</a:t>
            </a:r>
          </a:p>
        </p:txBody>
      </p:sp>
      <p:sp>
        <p:nvSpPr>
          <p:cNvPr id="104" name="Editable text: —"/>
          <p:cNvSpPr txBox="1"/>
          <p:nvPr/>
        </p:nvSpPr>
        <p:spPr>
          <a:xfrm>
            <a:off x="3660250" y="321057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4272898" y="321057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6" name="Editable text: ↑"/>
          <p:cNvSpPr txBox="1"/>
          <p:nvPr/>
        </p:nvSpPr>
        <p:spPr>
          <a:xfrm>
            <a:off x="7249702" y="3202178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07" name="Editable text: 4/4"/>
          <p:cNvSpPr txBox="1"/>
          <p:nvPr/>
        </p:nvSpPr>
        <p:spPr>
          <a:xfrm>
            <a:off x="7465718" y="3202178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108" name="Editable text: 34/45"/>
          <p:cNvSpPr txBox="1"/>
          <p:nvPr/>
        </p:nvSpPr>
        <p:spPr>
          <a:xfrm>
            <a:off x="8363065" y="324678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34/45</a:t>
            </a:r>
          </a:p>
        </p:txBody>
      </p:sp>
      <p:sp>
        <p:nvSpPr>
          <p:cNvPr id="109" name="Editable text: —"/>
          <p:cNvSpPr txBox="1"/>
          <p:nvPr/>
        </p:nvSpPr>
        <p:spPr>
          <a:xfrm>
            <a:off x="9019168" y="3246787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10" name="Editable text: 8/11"/>
          <p:cNvSpPr txBox="1"/>
          <p:nvPr/>
        </p:nvSpPr>
        <p:spPr>
          <a:xfrm>
            <a:off x="9515695" y="324678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8/11</a:t>
            </a:r>
          </a:p>
        </p:txBody>
      </p:sp>
      <p:sp>
        <p:nvSpPr>
          <p:cNvPr id="111" name="Editable text: 30/43"/>
          <p:cNvSpPr txBox="1"/>
          <p:nvPr/>
        </p:nvSpPr>
        <p:spPr>
          <a:xfrm>
            <a:off x="10041903" y="324678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30/43</a:t>
            </a:r>
          </a:p>
        </p:txBody>
      </p:sp>
      <p:sp>
        <p:nvSpPr>
          <p:cNvPr id="112" name="Editable text: 14/17"/>
          <p:cNvSpPr txBox="1"/>
          <p:nvPr/>
        </p:nvSpPr>
        <p:spPr>
          <a:xfrm>
            <a:off x="10601516" y="3246787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14/17</a:t>
            </a:r>
          </a:p>
        </p:txBody>
      </p:sp>
      <p:sp>
        <p:nvSpPr>
          <p:cNvPr id="113" name="Editable text: 5/12"/>
          <p:cNvSpPr txBox="1"/>
          <p:nvPr/>
        </p:nvSpPr>
        <p:spPr>
          <a:xfrm>
            <a:off x="11194533" y="324678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5/12</a:t>
            </a:r>
          </a:p>
        </p:txBody>
      </p:sp>
      <p:sp>
        <p:nvSpPr>
          <p:cNvPr id="114" name="Editable text: 肌苷"/>
          <p:cNvSpPr txBox="1"/>
          <p:nvPr/>
        </p:nvSpPr>
        <p:spPr>
          <a:xfrm>
            <a:off x="675436" y="3568053"/>
            <a:ext cx="31892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肌苷</a:t>
            </a:r>
          </a:p>
        </p:txBody>
      </p:sp>
      <p:sp>
        <p:nvSpPr>
          <p:cNvPr id="115" name="Editable text: —"/>
          <p:cNvSpPr txBox="1"/>
          <p:nvPr/>
        </p:nvSpPr>
        <p:spPr>
          <a:xfrm>
            <a:off x="4272898" y="3546016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16" name="Editable text: ↓"/>
          <p:cNvSpPr txBox="1"/>
          <p:nvPr/>
        </p:nvSpPr>
        <p:spPr>
          <a:xfrm>
            <a:off x="7249702" y="3537616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117" name="Editable text: 4/5"/>
          <p:cNvSpPr txBox="1"/>
          <p:nvPr/>
        </p:nvSpPr>
        <p:spPr>
          <a:xfrm>
            <a:off x="7465718" y="3537616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118" name="Editable text: 29/45"/>
          <p:cNvSpPr txBox="1"/>
          <p:nvPr/>
        </p:nvSpPr>
        <p:spPr>
          <a:xfrm>
            <a:off x="8363065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29/45</a:t>
            </a:r>
          </a:p>
        </p:txBody>
      </p:sp>
      <p:sp>
        <p:nvSpPr>
          <p:cNvPr id="119" name="Editable text: 25/33"/>
          <p:cNvSpPr txBox="1"/>
          <p:nvPr/>
        </p:nvSpPr>
        <p:spPr>
          <a:xfrm>
            <a:off x="8922678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25/33</a:t>
            </a:r>
          </a:p>
        </p:txBody>
      </p:sp>
      <p:sp>
        <p:nvSpPr>
          <p:cNvPr id="120" name="Editable text: 10/11"/>
          <p:cNvSpPr txBox="1"/>
          <p:nvPr/>
        </p:nvSpPr>
        <p:spPr>
          <a:xfrm>
            <a:off x="9482291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10/11</a:t>
            </a:r>
          </a:p>
        </p:txBody>
      </p:sp>
      <p:sp>
        <p:nvSpPr>
          <p:cNvPr id="121" name="Editable text: 31/43"/>
          <p:cNvSpPr txBox="1"/>
          <p:nvPr/>
        </p:nvSpPr>
        <p:spPr>
          <a:xfrm>
            <a:off x="10041903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31/43</a:t>
            </a:r>
          </a:p>
        </p:txBody>
      </p:sp>
      <p:sp>
        <p:nvSpPr>
          <p:cNvPr id="122" name="Editable text: 3/17"/>
          <p:cNvSpPr txBox="1"/>
          <p:nvPr/>
        </p:nvSpPr>
        <p:spPr>
          <a:xfrm>
            <a:off x="10634920" y="3582224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3/17</a:t>
            </a:r>
          </a:p>
        </p:txBody>
      </p:sp>
      <p:sp>
        <p:nvSpPr>
          <p:cNvPr id="123" name="Editable text: 9/12"/>
          <p:cNvSpPr txBox="1"/>
          <p:nvPr/>
        </p:nvSpPr>
        <p:spPr>
          <a:xfrm>
            <a:off x="11194533" y="3582224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124" name="Editable text: 甘氨酸"/>
          <p:cNvSpPr txBox="1"/>
          <p:nvPr/>
        </p:nvSpPr>
        <p:spPr>
          <a:xfrm>
            <a:off x="675436" y="3903491"/>
            <a:ext cx="44910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甘氨酸</a:t>
            </a:r>
          </a:p>
        </p:txBody>
      </p:sp>
      <p:sp>
        <p:nvSpPr>
          <p:cNvPr id="125" name="Editable text: ↑"/>
          <p:cNvSpPr txBox="1"/>
          <p:nvPr/>
        </p:nvSpPr>
        <p:spPr>
          <a:xfrm>
            <a:off x="7249702" y="3873054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26" name="Editable text: 3/6"/>
          <p:cNvSpPr txBox="1"/>
          <p:nvPr/>
        </p:nvSpPr>
        <p:spPr>
          <a:xfrm>
            <a:off x="7465718" y="3873054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3/6</a:t>
            </a:r>
          </a:p>
        </p:txBody>
      </p:sp>
      <p:sp>
        <p:nvSpPr>
          <p:cNvPr id="127" name="Editable text: 38/45"/>
          <p:cNvSpPr txBox="1"/>
          <p:nvPr/>
        </p:nvSpPr>
        <p:spPr>
          <a:xfrm>
            <a:off x="8363065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38/45</a:t>
            </a:r>
          </a:p>
        </p:txBody>
      </p:sp>
      <p:sp>
        <p:nvSpPr>
          <p:cNvPr id="128" name="Editable text: 19/33"/>
          <p:cNvSpPr txBox="1"/>
          <p:nvPr/>
        </p:nvSpPr>
        <p:spPr>
          <a:xfrm>
            <a:off x="8922678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19/33</a:t>
            </a:r>
          </a:p>
        </p:txBody>
      </p:sp>
      <p:sp>
        <p:nvSpPr>
          <p:cNvPr id="129" name="Editable text: 7/11"/>
          <p:cNvSpPr txBox="1"/>
          <p:nvPr/>
        </p:nvSpPr>
        <p:spPr>
          <a:xfrm>
            <a:off x="9515695" y="3917663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7/11</a:t>
            </a:r>
          </a:p>
        </p:txBody>
      </p:sp>
      <p:sp>
        <p:nvSpPr>
          <p:cNvPr id="130" name="Editable text: 27/43"/>
          <p:cNvSpPr txBox="1"/>
          <p:nvPr/>
        </p:nvSpPr>
        <p:spPr>
          <a:xfrm>
            <a:off x="10041903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27/43</a:t>
            </a:r>
          </a:p>
        </p:txBody>
      </p:sp>
      <p:sp>
        <p:nvSpPr>
          <p:cNvPr id="131" name="Editable text: 11/17"/>
          <p:cNvSpPr txBox="1"/>
          <p:nvPr/>
        </p:nvSpPr>
        <p:spPr>
          <a:xfrm>
            <a:off x="10601516" y="391766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11/17</a:t>
            </a:r>
          </a:p>
        </p:txBody>
      </p:sp>
      <p:sp>
        <p:nvSpPr>
          <p:cNvPr id="132" name="Editable text: 5/12"/>
          <p:cNvSpPr txBox="1"/>
          <p:nvPr/>
        </p:nvSpPr>
        <p:spPr>
          <a:xfrm>
            <a:off x="11194533" y="3917663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5/12</a:t>
            </a:r>
          </a:p>
        </p:txBody>
      </p:sp>
      <p:sp>
        <p:nvSpPr>
          <p:cNvPr id="133" name="Editable text: 麦芽糖"/>
          <p:cNvSpPr txBox="1"/>
          <p:nvPr/>
        </p:nvSpPr>
        <p:spPr>
          <a:xfrm>
            <a:off x="675436" y="4238929"/>
            <a:ext cx="44910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麦芽糖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3660250" y="421689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5" name="Editable text: ↑"/>
          <p:cNvSpPr txBox="1"/>
          <p:nvPr/>
        </p:nvSpPr>
        <p:spPr>
          <a:xfrm>
            <a:off x="7249702" y="4208492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36" name="Editable text: 3/5"/>
          <p:cNvSpPr txBox="1"/>
          <p:nvPr/>
        </p:nvSpPr>
        <p:spPr>
          <a:xfrm>
            <a:off x="7465718" y="4208492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37" name="Editable text: 32/45"/>
          <p:cNvSpPr txBox="1"/>
          <p:nvPr/>
        </p:nvSpPr>
        <p:spPr>
          <a:xfrm>
            <a:off x="8363065" y="425310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32/45</a:t>
            </a:r>
          </a:p>
        </p:txBody>
      </p:sp>
      <p:sp>
        <p:nvSpPr>
          <p:cNvPr id="138" name="Editable text: —"/>
          <p:cNvSpPr txBox="1"/>
          <p:nvPr/>
        </p:nvSpPr>
        <p:spPr>
          <a:xfrm>
            <a:off x="9019168" y="4253101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9" name="Editable text: 6/11"/>
          <p:cNvSpPr txBox="1"/>
          <p:nvPr/>
        </p:nvSpPr>
        <p:spPr>
          <a:xfrm>
            <a:off x="9515695" y="4253101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6/11</a:t>
            </a:r>
          </a:p>
        </p:txBody>
      </p:sp>
      <p:sp>
        <p:nvSpPr>
          <p:cNvPr id="140" name="Editable text: 21/43"/>
          <p:cNvSpPr txBox="1"/>
          <p:nvPr/>
        </p:nvSpPr>
        <p:spPr>
          <a:xfrm>
            <a:off x="10041903" y="425310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21/43</a:t>
            </a:r>
          </a:p>
        </p:txBody>
      </p:sp>
      <p:sp>
        <p:nvSpPr>
          <p:cNvPr id="141" name="Editable text: 16/17"/>
          <p:cNvSpPr txBox="1"/>
          <p:nvPr/>
        </p:nvSpPr>
        <p:spPr>
          <a:xfrm>
            <a:off x="10601516" y="425310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16/17</a:t>
            </a:r>
          </a:p>
        </p:txBody>
      </p:sp>
      <p:sp>
        <p:nvSpPr>
          <p:cNvPr id="142" name="Editable text: 11/12"/>
          <p:cNvSpPr txBox="1"/>
          <p:nvPr/>
        </p:nvSpPr>
        <p:spPr>
          <a:xfrm>
            <a:off x="11161130" y="425310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143" name="Editable text: 犬尿氨酸"/>
          <p:cNvSpPr txBox="1"/>
          <p:nvPr/>
        </p:nvSpPr>
        <p:spPr>
          <a:xfrm>
            <a:off x="675436" y="4574367"/>
            <a:ext cx="57927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犬尿氨酸</a:t>
            </a:r>
          </a:p>
        </p:txBody>
      </p:sp>
      <p:sp>
        <p:nvSpPr>
          <p:cNvPr id="144" name="Editable text: —"/>
          <p:cNvSpPr txBox="1"/>
          <p:nvPr/>
        </p:nvSpPr>
        <p:spPr>
          <a:xfrm>
            <a:off x="4272898" y="4552330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45" name="Editable text: ↑"/>
          <p:cNvSpPr txBox="1"/>
          <p:nvPr/>
        </p:nvSpPr>
        <p:spPr>
          <a:xfrm>
            <a:off x="7249702" y="454393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46" name="Editable text: 3/5"/>
          <p:cNvSpPr txBox="1"/>
          <p:nvPr/>
        </p:nvSpPr>
        <p:spPr>
          <a:xfrm>
            <a:off x="7465718" y="454393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47" name="Editable text: 30/45"/>
          <p:cNvSpPr txBox="1"/>
          <p:nvPr/>
        </p:nvSpPr>
        <p:spPr>
          <a:xfrm>
            <a:off x="8363065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30/45</a:t>
            </a:r>
          </a:p>
        </p:txBody>
      </p:sp>
      <p:sp>
        <p:nvSpPr>
          <p:cNvPr id="148" name="Editable text: 28/33"/>
          <p:cNvSpPr txBox="1"/>
          <p:nvPr/>
        </p:nvSpPr>
        <p:spPr>
          <a:xfrm>
            <a:off x="8922678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28/33</a:t>
            </a:r>
          </a:p>
        </p:txBody>
      </p:sp>
      <p:sp>
        <p:nvSpPr>
          <p:cNvPr id="149" name="Editable text: 7/11"/>
          <p:cNvSpPr txBox="1"/>
          <p:nvPr/>
        </p:nvSpPr>
        <p:spPr>
          <a:xfrm>
            <a:off x="9515695" y="4588538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7/11</a:t>
            </a:r>
          </a:p>
        </p:txBody>
      </p:sp>
      <p:sp>
        <p:nvSpPr>
          <p:cNvPr id="150" name="Editable text: 24/43"/>
          <p:cNvSpPr txBox="1"/>
          <p:nvPr/>
        </p:nvSpPr>
        <p:spPr>
          <a:xfrm>
            <a:off x="10041903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24/43</a:t>
            </a:r>
          </a:p>
        </p:txBody>
      </p:sp>
      <p:sp>
        <p:nvSpPr>
          <p:cNvPr id="151" name="Editable text: 17/17"/>
          <p:cNvSpPr txBox="1"/>
          <p:nvPr/>
        </p:nvSpPr>
        <p:spPr>
          <a:xfrm>
            <a:off x="10601516" y="458853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152" name="Editable text: 12/12"/>
          <p:cNvSpPr txBox="1"/>
          <p:nvPr/>
        </p:nvSpPr>
        <p:spPr>
          <a:xfrm>
            <a:off x="11161130" y="458853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12/12</a:t>
            </a:r>
          </a:p>
        </p:txBody>
      </p:sp>
      <p:sp>
        <p:nvSpPr>
          <p:cNvPr id="153" name="Editable text: N-乙酰甲硫氨酸"/>
          <p:cNvSpPr txBox="1"/>
          <p:nvPr/>
        </p:nvSpPr>
        <p:spPr>
          <a:xfrm>
            <a:off x="675436" y="4909804"/>
            <a:ext cx="1001826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N-乙酰甲硫氨酸</a:t>
            </a:r>
          </a:p>
        </p:txBody>
      </p:sp>
      <p:sp>
        <p:nvSpPr>
          <p:cNvPr id="154" name="Editable text: —"/>
          <p:cNvSpPr txBox="1"/>
          <p:nvPr/>
        </p:nvSpPr>
        <p:spPr>
          <a:xfrm>
            <a:off x="4272898" y="488776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55" name="Editable text: ↑"/>
          <p:cNvSpPr txBox="1"/>
          <p:nvPr/>
        </p:nvSpPr>
        <p:spPr>
          <a:xfrm>
            <a:off x="7249702" y="4879368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56" name="Editable text: 3/5"/>
          <p:cNvSpPr txBox="1"/>
          <p:nvPr/>
        </p:nvSpPr>
        <p:spPr>
          <a:xfrm>
            <a:off x="7465718" y="4879368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57" name="Editable text: 41/45"/>
          <p:cNvSpPr txBox="1"/>
          <p:nvPr/>
        </p:nvSpPr>
        <p:spPr>
          <a:xfrm>
            <a:off x="8363065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41/45</a:t>
            </a:r>
          </a:p>
        </p:txBody>
      </p:sp>
      <p:sp>
        <p:nvSpPr>
          <p:cNvPr id="158" name="Editable text: 21/33"/>
          <p:cNvSpPr txBox="1"/>
          <p:nvPr/>
        </p:nvSpPr>
        <p:spPr>
          <a:xfrm>
            <a:off x="8922678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21/33</a:t>
            </a:r>
          </a:p>
        </p:txBody>
      </p:sp>
      <p:sp>
        <p:nvSpPr>
          <p:cNvPr id="159" name="Editable text: 3/11"/>
          <p:cNvSpPr txBox="1"/>
          <p:nvPr/>
        </p:nvSpPr>
        <p:spPr>
          <a:xfrm>
            <a:off x="9515695" y="492397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3/11</a:t>
            </a:r>
          </a:p>
        </p:txBody>
      </p:sp>
      <p:sp>
        <p:nvSpPr>
          <p:cNvPr id="160" name="Editable text: 26/43"/>
          <p:cNvSpPr txBox="1"/>
          <p:nvPr/>
        </p:nvSpPr>
        <p:spPr>
          <a:xfrm>
            <a:off x="10041903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26/43</a:t>
            </a:r>
          </a:p>
        </p:txBody>
      </p:sp>
      <p:sp>
        <p:nvSpPr>
          <p:cNvPr id="161" name="Editable text: 15/17"/>
          <p:cNvSpPr txBox="1"/>
          <p:nvPr/>
        </p:nvSpPr>
        <p:spPr>
          <a:xfrm>
            <a:off x="10601516" y="4923977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15/17</a:t>
            </a:r>
          </a:p>
        </p:txBody>
      </p:sp>
      <p:sp>
        <p:nvSpPr>
          <p:cNvPr id="162" name="Editable text: 9/12"/>
          <p:cNvSpPr txBox="1"/>
          <p:nvPr/>
        </p:nvSpPr>
        <p:spPr>
          <a:xfrm>
            <a:off x="11194533" y="492397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163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164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165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实心 P &lt; 0.05</a:t>
            </a:r>
          </a:p>
        </p:txBody>
      </p:sp>
      <p:sp>
        <p:nvSpPr>
          <p:cNvPr id="166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空心 P ≥ 0.05</a:t>
            </a:r>
          </a:p>
        </p:txBody>
      </p:sp>
      <p:sp>
        <p:nvSpPr>
          <p:cNvPr id="167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68" name="Editable text: 未覆盖"/>
          <p:cNvSpPr txBox="1"/>
          <p:nvPr/>
        </p:nvSpPr>
        <p:spPr>
          <a:xfrm>
            <a:off x="9046463" y="5426453"/>
            <a:ext cx="3833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未覆盖</a:t>
            </a:r>
          </a:p>
        </p:txBody>
      </p:sp>
      <p:sp>
        <p:nvSpPr>
          <p:cNvPr id="170" name="Editable text: 跨癌同向变化，在多少患者中重复？"/>
          <p:cNvSpPr txBox="1"/>
          <p:nvPr/>
        </p:nvSpPr>
        <p:spPr>
          <a:xfrm>
            <a:off x="609599" y="1028611"/>
            <a:ext cx="5222874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跨癌同向变化，在多少患者中重复？</a:t>
            </a:r>
          </a:p>
        </p:txBody>
      </p:sp>
      <p:sp>
        <p:nvSpPr>
          <p:cNvPr id="171" name="Editable text: 沿用同向显著癌种数排序  ·  右侧统计与每行主方向一致的患者数 / 可评估配对"/>
          <p:cNvSpPr txBox="1"/>
          <p:nvPr/>
        </p:nvSpPr>
        <p:spPr>
          <a:xfrm>
            <a:off x="633983" y="1570176"/>
            <a:ext cx="4938416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沿用同向显著癌种数排序  ·  右侧统计与每行主方向一致的患者数 / 可评估配对数</a:t>
            </a:r>
          </a:p>
        </p:txBody>
      </p:sp>
      <p:sp>
        <p:nvSpPr>
          <p:cNvPr id="172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73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74" name="Editable text: 分母包含升高、降低与不变的可评估配对；使用原处理矩阵。¹ 2-羟基戊二酸未区分 "/>
          <p:cNvSpPr txBox="1"/>
          <p:nvPr/>
        </p:nvSpPr>
        <p:spPr>
          <a:xfrm>
            <a:off x="609599" y="6498363"/>
            <a:ext cx="5097342" cy="14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分母包含升高、降低与不变的可评估配对；使用原处理矩阵。¹ 2-羟基戊二酸未区分 D/L。原排序、效应与 P 值不变。</a:t>
            </a:r>
          </a:p>
        </p:txBody>
      </p:sp>
      <p:sp>
        <p:nvSpPr>
          <p:cNvPr id="175" name="Editable text: 07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07</a:t>
            </a:r>
          </a:p>
        </p:txBody>
      </p:sp>
      <p:pic>
        <p:nvPicPr>
          <p:cNvPr id="176" name="Picture 17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654162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00430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346699"/>
            <a:ext cx="10972800" cy="372357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307537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4300672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913320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525968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3861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751264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307537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8802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4300672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5525968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613861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675126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07537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4300672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5525968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13861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075376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4300672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5525968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6751264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07537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368802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4300672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4913320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5525968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13861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75126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307537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3688024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4300672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5525968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13861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26456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7160361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8114994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text: 候选基因"/>
          <p:cNvSpPr txBox="1"/>
          <p:nvPr/>
        </p:nvSpPr>
        <p:spPr>
          <a:xfrm>
            <a:off x="609599" y="2353759"/>
            <a:ext cx="518054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</a:t>
            </a:r>
          </a:p>
        </p:txBody>
      </p:sp>
      <p:sp>
        <p:nvSpPr>
          <p:cNvPr id="50" name="Editable text: BRCA"/>
          <p:cNvSpPr txBox="1"/>
          <p:nvPr/>
        </p:nvSpPr>
        <p:spPr>
          <a:xfrm>
            <a:off x="2979885" y="2357691"/>
            <a:ext cx="357329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51" name="Editable text: COAD"/>
          <p:cNvSpPr txBox="1"/>
          <p:nvPr/>
        </p:nvSpPr>
        <p:spPr>
          <a:xfrm>
            <a:off x="3580710" y="2357691"/>
            <a:ext cx="38060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52" name="Editable text: GBM"/>
          <p:cNvSpPr txBox="1"/>
          <p:nvPr/>
        </p:nvSpPr>
        <p:spPr>
          <a:xfrm>
            <a:off x="4222627" y="2357691"/>
            <a:ext cx="32216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53" name="Editable text: PDAC"/>
          <p:cNvSpPr txBox="1"/>
          <p:nvPr/>
        </p:nvSpPr>
        <p:spPr>
          <a:xfrm>
            <a:off x="4814853" y="2357691"/>
            <a:ext cx="362554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54" name="Editable text: PRAD"/>
          <p:cNvSpPr txBox="1"/>
          <p:nvPr/>
        </p:nvSpPr>
        <p:spPr>
          <a:xfrm>
            <a:off x="5424772" y="2357691"/>
            <a:ext cx="368613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55" name="Editable text: ccRCC3"/>
          <p:cNvSpPr txBox="1"/>
          <p:nvPr/>
        </p:nvSpPr>
        <p:spPr>
          <a:xfrm>
            <a:off x="5996327" y="2357691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56" name="Editable text: ccRCC4"/>
          <p:cNvSpPr txBox="1"/>
          <p:nvPr/>
        </p:nvSpPr>
        <p:spPr>
          <a:xfrm>
            <a:off x="6608975" y="2357691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57" name="Editable text: 同向显著 / 可评估"/>
          <p:cNvSpPr txBox="1"/>
          <p:nvPr/>
        </p:nvSpPr>
        <p:spPr>
          <a:xfrm>
            <a:off x="7187198" y="2294798"/>
            <a:ext cx="775370" cy="138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同向显著 / 可评估</a:t>
            </a:r>
          </a:p>
        </p:txBody>
      </p:sp>
      <p:sp>
        <p:nvSpPr>
          <p:cNvPr id="58" name="Editable text: 癌种数"/>
          <p:cNvSpPr txBox="1"/>
          <p:nvPr/>
        </p:nvSpPr>
        <p:spPr>
          <a:xfrm>
            <a:off x="7412507" y="245527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癌种数</a:t>
            </a:r>
          </a:p>
        </p:txBody>
      </p:sp>
      <p:sp>
        <p:nvSpPr>
          <p:cNvPr id="59" name="Editable text: 患者一致性"/>
          <p:cNvSpPr txBox="1"/>
          <p:nvPr/>
        </p:nvSpPr>
        <p:spPr>
          <a:xfrm>
            <a:off x="9570576" y="2032136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患者一致性</a:t>
            </a:r>
          </a:p>
        </p:txBody>
      </p:sp>
      <p:sp>
        <p:nvSpPr>
          <p:cNvPr id="60" name="Editable text: BRCA"/>
          <p:cNvSpPr txBox="1"/>
          <p:nvPr/>
        </p:nvSpPr>
        <p:spPr>
          <a:xfrm>
            <a:off x="8384232" y="2367230"/>
            <a:ext cx="319412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61" name="Editable text: COAD"/>
          <p:cNvSpPr txBox="1"/>
          <p:nvPr/>
        </p:nvSpPr>
        <p:spPr>
          <a:xfrm>
            <a:off x="8933261" y="2367230"/>
            <a:ext cx="34036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9500812" y="2367230"/>
            <a:ext cx="324188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63" name="Editable text: PRAD"/>
          <p:cNvSpPr txBox="1"/>
          <p:nvPr/>
        </p:nvSpPr>
        <p:spPr>
          <a:xfrm>
            <a:off x="10057944" y="2367230"/>
            <a:ext cx="32962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64" name="Editable text: ccRCC3"/>
          <p:cNvSpPr txBox="1"/>
          <p:nvPr/>
        </p:nvSpPr>
        <p:spPr>
          <a:xfrm>
            <a:off x="10580515" y="2367230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65" name="Editable text: ccRCC4"/>
          <p:cNvSpPr txBox="1"/>
          <p:nvPr/>
        </p:nvSpPr>
        <p:spPr>
          <a:xfrm>
            <a:off x="11140128" y="2367230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66" name="Editable text: ABHD6"/>
          <p:cNvSpPr txBox="1"/>
          <p:nvPr/>
        </p:nvSpPr>
        <p:spPr>
          <a:xfrm>
            <a:off x="675436" y="2735377"/>
            <a:ext cx="535800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ABHD6</a:t>
            </a:r>
          </a:p>
        </p:txBody>
      </p:sp>
      <p:sp>
        <p:nvSpPr>
          <p:cNvPr id="67" name="Editable text: —"/>
          <p:cNvSpPr txBox="1"/>
          <p:nvPr/>
        </p:nvSpPr>
        <p:spPr>
          <a:xfrm>
            <a:off x="3660250" y="2713341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68" name="Editable text: ↓"/>
          <p:cNvSpPr txBox="1"/>
          <p:nvPr/>
        </p:nvSpPr>
        <p:spPr>
          <a:xfrm>
            <a:off x="7249702" y="270494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69" name="Editable text: 4/5"/>
          <p:cNvSpPr txBox="1"/>
          <p:nvPr/>
        </p:nvSpPr>
        <p:spPr>
          <a:xfrm>
            <a:off x="7465718" y="270494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70" name="Editable text: 41/45"/>
          <p:cNvSpPr txBox="1"/>
          <p:nvPr/>
        </p:nvSpPr>
        <p:spPr>
          <a:xfrm>
            <a:off x="8363065" y="27495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41/45</a:t>
            </a:r>
          </a:p>
        </p:txBody>
      </p:sp>
      <p:sp>
        <p:nvSpPr>
          <p:cNvPr id="71" name="Editable text: —"/>
          <p:cNvSpPr txBox="1"/>
          <p:nvPr/>
        </p:nvSpPr>
        <p:spPr>
          <a:xfrm>
            <a:off x="9019168" y="2749549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72" name="Editable text: 3/11"/>
          <p:cNvSpPr txBox="1"/>
          <p:nvPr/>
        </p:nvSpPr>
        <p:spPr>
          <a:xfrm>
            <a:off x="9515695" y="2749549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3/11</a:t>
            </a:r>
          </a:p>
        </p:txBody>
      </p:sp>
      <p:sp>
        <p:nvSpPr>
          <p:cNvPr id="73" name="Editable text: 27/43"/>
          <p:cNvSpPr txBox="1"/>
          <p:nvPr/>
        </p:nvSpPr>
        <p:spPr>
          <a:xfrm>
            <a:off x="10041903" y="27495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27/43</a:t>
            </a:r>
          </a:p>
        </p:txBody>
      </p:sp>
      <p:sp>
        <p:nvSpPr>
          <p:cNvPr id="74" name="Editable text: 12/17"/>
          <p:cNvSpPr txBox="1"/>
          <p:nvPr/>
        </p:nvSpPr>
        <p:spPr>
          <a:xfrm>
            <a:off x="10601516" y="27495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12/17</a:t>
            </a:r>
          </a:p>
        </p:txBody>
      </p:sp>
      <p:sp>
        <p:nvSpPr>
          <p:cNvPr id="75" name="Editable text: 9/12"/>
          <p:cNvSpPr txBox="1"/>
          <p:nvPr/>
        </p:nvSpPr>
        <p:spPr>
          <a:xfrm>
            <a:off x="11194533" y="2749549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76" name="Editable text: ASNS"/>
          <p:cNvSpPr txBox="1"/>
          <p:nvPr/>
        </p:nvSpPr>
        <p:spPr>
          <a:xfrm>
            <a:off x="675436" y="3158512"/>
            <a:ext cx="423589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ASNS</a:t>
            </a:r>
          </a:p>
        </p:txBody>
      </p:sp>
      <p:sp>
        <p:nvSpPr>
          <p:cNvPr id="77" name="Editable text: —"/>
          <p:cNvSpPr txBox="1"/>
          <p:nvPr/>
        </p:nvSpPr>
        <p:spPr>
          <a:xfrm>
            <a:off x="4885546" y="3136475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78" name="Editable text: ↑"/>
          <p:cNvSpPr txBox="1"/>
          <p:nvPr/>
        </p:nvSpPr>
        <p:spPr>
          <a:xfrm>
            <a:off x="7249702" y="3128075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79" name="Editable text: 4/5"/>
          <p:cNvSpPr txBox="1"/>
          <p:nvPr/>
        </p:nvSpPr>
        <p:spPr>
          <a:xfrm>
            <a:off x="7465718" y="3128075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80" name="Editable text: 36/45"/>
          <p:cNvSpPr txBox="1"/>
          <p:nvPr/>
        </p:nvSpPr>
        <p:spPr>
          <a:xfrm>
            <a:off x="8363065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36/45</a:t>
            </a:r>
          </a:p>
        </p:txBody>
      </p:sp>
      <p:sp>
        <p:nvSpPr>
          <p:cNvPr id="81" name="Editable text: 31/33"/>
          <p:cNvSpPr txBox="1"/>
          <p:nvPr/>
        </p:nvSpPr>
        <p:spPr>
          <a:xfrm>
            <a:off x="8922678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31/33</a:t>
            </a:r>
          </a:p>
        </p:txBody>
      </p:sp>
      <p:sp>
        <p:nvSpPr>
          <p:cNvPr id="82" name="Editable text: —"/>
          <p:cNvSpPr txBox="1"/>
          <p:nvPr/>
        </p:nvSpPr>
        <p:spPr>
          <a:xfrm>
            <a:off x="9578781" y="3172683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3" name="Editable text: 29/43"/>
          <p:cNvSpPr txBox="1"/>
          <p:nvPr/>
        </p:nvSpPr>
        <p:spPr>
          <a:xfrm>
            <a:off x="10041903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29/43</a:t>
            </a:r>
          </a:p>
        </p:txBody>
      </p:sp>
      <p:sp>
        <p:nvSpPr>
          <p:cNvPr id="84" name="Editable text: 15/17"/>
          <p:cNvSpPr txBox="1"/>
          <p:nvPr/>
        </p:nvSpPr>
        <p:spPr>
          <a:xfrm>
            <a:off x="10601516" y="317268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15/17</a:t>
            </a:r>
          </a:p>
        </p:txBody>
      </p:sp>
      <p:sp>
        <p:nvSpPr>
          <p:cNvPr id="85" name="Editable text: 10/12"/>
          <p:cNvSpPr txBox="1"/>
          <p:nvPr/>
        </p:nvSpPr>
        <p:spPr>
          <a:xfrm>
            <a:off x="11161130" y="317268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10/12</a:t>
            </a:r>
          </a:p>
        </p:txBody>
      </p:sp>
      <p:sp>
        <p:nvSpPr>
          <p:cNvPr id="86" name="Editable text: SHMT2"/>
          <p:cNvSpPr txBox="1"/>
          <p:nvPr/>
        </p:nvSpPr>
        <p:spPr>
          <a:xfrm>
            <a:off x="675436" y="3581646"/>
            <a:ext cx="539315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SHMT2</a:t>
            </a:r>
          </a:p>
        </p:txBody>
      </p:sp>
      <p:sp>
        <p:nvSpPr>
          <p:cNvPr id="87" name="Editable text: —"/>
          <p:cNvSpPr txBox="1"/>
          <p:nvPr/>
        </p:nvSpPr>
        <p:spPr>
          <a:xfrm>
            <a:off x="3660250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8" name="Editable text: —"/>
          <p:cNvSpPr txBox="1"/>
          <p:nvPr/>
        </p:nvSpPr>
        <p:spPr>
          <a:xfrm>
            <a:off x="4885546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9" name="Editable text: —"/>
          <p:cNvSpPr txBox="1"/>
          <p:nvPr/>
        </p:nvSpPr>
        <p:spPr>
          <a:xfrm>
            <a:off x="6723490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0" name="Editable text: ↑"/>
          <p:cNvSpPr txBox="1"/>
          <p:nvPr/>
        </p:nvSpPr>
        <p:spPr>
          <a:xfrm>
            <a:off x="7249702" y="3551209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91" name="Editable text: 4/4"/>
          <p:cNvSpPr txBox="1"/>
          <p:nvPr/>
        </p:nvSpPr>
        <p:spPr>
          <a:xfrm>
            <a:off x="7465718" y="3551209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92" name="Editable text: 40/45"/>
          <p:cNvSpPr txBox="1"/>
          <p:nvPr/>
        </p:nvSpPr>
        <p:spPr>
          <a:xfrm>
            <a:off x="8363065" y="359581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40/45</a:t>
            </a:r>
          </a:p>
        </p:txBody>
      </p:sp>
      <p:sp>
        <p:nvSpPr>
          <p:cNvPr id="93" name="Editable text: —"/>
          <p:cNvSpPr txBox="1"/>
          <p:nvPr/>
        </p:nvSpPr>
        <p:spPr>
          <a:xfrm>
            <a:off x="9019168" y="3595818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9578781" y="3595818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5" name="Editable text: 34/43"/>
          <p:cNvSpPr txBox="1"/>
          <p:nvPr/>
        </p:nvSpPr>
        <p:spPr>
          <a:xfrm>
            <a:off x="10041903" y="359581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34/43</a:t>
            </a:r>
          </a:p>
        </p:txBody>
      </p:sp>
      <p:sp>
        <p:nvSpPr>
          <p:cNvPr id="96" name="Editable text: 17/17"/>
          <p:cNvSpPr txBox="1"/>
          <p:nvPr/>
        </p:nvSpPr>
        <p:spPr>
          <a:xfrm>
            <a:off x="10601516" y="359581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97" name="Editable text: —"/>
          <p:cNvSpPr txBox="1"/>
          <p:nvPr/>
        </p:nvSpPr>
        <p:spPr>
          <a:xfrm>
            <a:off x="11257620" y="3595818"/>
            <a:ext cx="1748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8" name="Editable text: SOAT1"/>
          <p:cNvSpPr txBox="1"/>
          <p:nvPr/>
        </p:nvSpPr>
        <p:spPr>
          <a:xfrm>
            <a:off x="675436" y="4004780"/>
            <a:ext cx="491255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SOAT1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3660250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0" name="Editable text: —"/>
          <p:cNvSpPr txBox="1"/>
          <p:nvPr/>
        </p:nvSpPr>
        <p:spPr>
          <a:xfrm>
            <a:off x="4885546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1" name="Editable text: —"/>
          <p:cNvSpPr txBox="1"/>
          <p:nvPr/>
        </p:nvSpPr>
        <p:spPr>
          <a:xfrm>
            <a:off x="6110842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2" name="Editable text: ↑"/>
          <p:cNvSpPr txBox="1"/>
          <p:nvPr/>
        </p:nvSpPr>
        <p:spPr>
          <a:xfrm>
            <a:off x="7249702" y="3974343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03" name="Editable text: 4/4"/>
          <p:cNvSpPr txBox="1"/>
          <p:nvPr/>
        </p:nvSpPr>
        <p:spPr>
          <a:xfrm>
            <a:off x="7465718" y="3974343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104" name="Editable text: 28/45"/>
          <p:cNvSpPr txBox="1"/>
          <p:nvPr/>
        </p:nvSpPr>
        <p:spPr>
          <a:xfrm>
            <a:off x="8363065" y="4018952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28/45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9019168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6" name="Editable text: —"/>
          <p:cNvSpPr txBox="1"/>
          <p:nvPr/>
        </p:nvSpPr>
        <p:spPr>
          <a:xfrm>
            <a:off x="9578781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7" name="Editable text: 25/43"/>
          <p:cNvSpPr txBox="1"/>
          <p:nvPr/>
        </p:nvSpPr>
        <p:spPr>
          <a:xfrm>
            <a:off x="10041903" y="4018952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25/43</a:t>
            </a:r>
          </a:p>
        </p:txBody>
      </p:sp>
      <p:sp>
        <p:nvSpPr>
          <p:cNvPr id="108" name="Editable text: —"/>
          <p:cNvSpPr txBox="1"/>
          <p:nvPr/>
        </p:nvSpPr>
        <p:spPr>
          <a:xfrm>
            <a:off x="10698007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9" name="Editable text: 12/12"/>
          <p:cNvSpPr txBox="1"/>
          <p:nvPr/>
        </p:nvSpPr>
        <p:spPr>
          <a:xfrm>
            <a:off x="11161130" y="4018952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12/12</a:t>
            </a:r>
          </a:p>
        </p:txBody>
      </p:sp>
      <p:sp>
        <p:nvSpPr>
          <p:cNvPr id="110" name="Editable text: LYPLA1"/>
          <p:cNvSpPr txBox="1"/>
          <p:nvPr/>
        </p:nvSpPr>
        <p:spPr>
          <a:xfrm>
            <a:off x="675436" y="4427914"/>
            <a:ext cx="54246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111" name="Editable text: ↑"/>
          <p:cNvSpPr txBox="1"/>
          <p:nvPr/>
        </p:nvSpPr>
        <p:spPr>
          <a:xfrm>
            <a:off x="7249702" y="4397477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12" name="Editable text: 4/6"/>
          <p:cNvSpPr txBox="1"/>
          <p:nvPr/>
        </p:nvSpPr>
        <p:spPr>
          <a:xfrm>
            <a:off x="7465718" y="4397477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4/6</a:t>
            </a:r>
          </a:p>
        </p:txBody>
      </p:sp>
      <p:sp>
        <p:nvSpPr>
          <p:cNvPr id="113" name="Editable text: 34/45"/>
          <p:cNvSpPr txBox="1"/>
          <p:nvPr/>
        </p:nvSpPr>
        <p:spPr>
          <a:xfrm>
            <a:off x="8363065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34/45</a:t>
            </a:r>
          </a:p>
        </p:txBody>
      </p:sp>
      <p:sp>
        <p:nvSpPr>
          <p:cNvPr id="114" name="Editable text: 26/33"/>
          <p:cNvSpPr txBox="1"/>
          <p:nvPr/>
        </p:nvSpPr>
        <p:spPr>
          <a:xfrm>
            <a:off x="8922678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26/33</a:t>
            </a:r>
          </a:p>
        </p:txBody>
      </p:sp>
      <p:sp>
        <p:nvSpPr>
          <p:cNvPr id="115" name="Editable text: 8/11"/>
          <p:cNvSpPr txBox="1"/>
          <p:nvPr/>
        </p:nvSpPr>
        <p:spPr>
          <a:xfrm>
            <a:off x="9515695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8/11</a:t>
            </a:r>
          </a:p>
        </p:txBody>
      </p:sp>
      <p:sp>
        <p:nvSpPr>
          <p:cNvPr id="116" name="Editable text: 33/43"/>
          <p:cNvSpPr txBox="1"/>
          <p:nvPr/>
        </p:nvSpPr>
        <p:spPr>
          <a:xfrm>
            <a:off x="10041903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33/43</a:t>
            </a:r>
          </a:p>
        </p:txBody>
      </p:sp>
      <p:sp>
        <p:nvSpPr>
          <p:cNvPr id="117" name="Editable text: 5/17"/>
          <p:cNvSpPr txBox="1"/>
          <p:nvPr/>
        </p:nvSpPr>
        <p:spPr>
          <a:xfrm>
            <a:off x="10634920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5/17</a:t>
            </a:r>
          </a:p>
        </p:txBody>
      </p:sp>
      <p:sp>
        <p:nvSpPr>
          <p:cNvPr id="118" name="Editable text: 3/12"/>
          <p:cNvSpPr txBox="1"/>
          <p:nvPr/>
        </p:nvSpPr>
        <p:spPr>
          <a:xfrm>
            <a:off x="11194533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3/12</a:t>
            </a:r>
          </a:p>
        </p:txBody>
      </p:sp>
      <p:sp>
        <p:nvSpPr>
          <p:cNvPr id="119" name="Editable text: SLC7A11"/>
          <p:cNvSpPr txBox="1"/>
          <p:nvPr/>
        </p:nvSpPr>
        <p:spPr>
          <a:xfrm>
            <a:off x="675436" y="4851048"/>
            <a:ext cx="631130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SLC7A11</a:t>
            </a:r>
          </a:p>
        </p:txBody>
      </p:sp>
      <p:sp>
        <p:nvSpPr>
          <p:cNvPr id="120" name="Editable text: —"/>
          <p:cNvSpPr txBox="1"/>
          <p:nvPr/>
        </p:nvSpPr>
        <p:spPr>
          <a:xfrm>
            <a:off x="4885546" y="482901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1" name="Editable text: —"/>
          <p:cNvSpPr txBox="1"/>
          <p:nvPr/>
        </p:nvSpPr>
        <p:spPr>
          <a:xfrm>
            <a:off x="6723490" y="482901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2" name="Editable text: ↑"/>
          <p:cNvSpPr txBox="1"/>
          <p:nvPr/>
        </p:nvSpPr>
        <p:spPr>
          <a:xfrm>
            <a:off x="7249702" y="4820611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23" name="Editable text: 4/5"/>
          <p:cNvSpPr txBox="1"/>
          <p:nvPr/>
        </p:nvSpPr>
        <p:spPr>
          <a:xfrm>
            <a:off x="7465718" y="4820611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124" name="Editable text: 44/45"/>
          <p:cNvSpPr txBox="1"/>
          <p:nvPr/>
        </p:nvSpPr>
        <p:spPr>
          <a:xfrm>
            <a:off x="8363065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44/45</a:t>
            </a:r>
          </a:p>
        </p:txBody>
      </p:sp>
      <p:sp>
        <p:nvSpPr>
          <p:cNvPr id="125" name="Editable text: 27/33"/>
          <p:cNvSpPr txBox="1"/>
          <p:nvPr/>
        </p:nvSpPr>
        <p:spPr>
          <a:xfrm>
            <a:off x="8922678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27/33</a:t>
            </a:r>
          </a:p>
        </p:txBody>
      </p:sp>
      <p:sp>
        <p:nvSpPr>
          <p:cNvPr id="126" name="Editable text: —"/>
          <p:cNvSpPr txBox="1"/>
          <p:nvPr/>
        </p:nvSpPr>
        <p:spPr>
          <a:xfrm>
            <a:off x="9578781" y="4865220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7" name="Editable text: 34/43"/>
          <p:cNvSpPr txBox="1"/>
          <p:nvPr/>
        </p:nvSpPr>
        <p:spPr>
          <a:xfrm>
            <a:off x="10041903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34/43</a:t>
            </a:r>
          </a:p>
        </p:txBody>
      </p:sp>
      <p:sp>
        <p:nvSpPr>
          <p:cNvPr id="128" name="Editable text: 17/17"/>
          <p:cNvSpPr txBox="1"/>
          <p:nvPr/>
        </p:nvSpPr>
        <p:spPr>
          <a:xfrm>
            <a:off x="10601516" y="4865220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129" name="Editable text: —"/>
          <p:cNvSpPr txBox="1"/>
          <p:nvPr/>
        </p:nvSpPr>
        <p:spPr>
          <a:xfrm>
            <a:off x="11257620" y="4865220"/>
            <a:ext cx="1748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0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131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132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实心 P &lt; 0.05</a:t>
            </a:r>
          </a:p>
        </p:txBody>
      </p:sp>
      <p:sp>
        <p:nvSpPr>
          <p:cNvPr id="133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空心 P ≥ 0.05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5" name="Editable text: 候选池未覆盖"/>
          <p:cNvSpPr txBox="1"/>
          <p:nvPr/>
        </p:nvSpPr>
        <p:spPr>
          <a:xfrm>
            <a:off x="9046463" y="5426453"/>
            <a:ext cx="7167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候选池未覆盖</a:t>
            </a:r>
          </a:p>
        </p:txBody>
      </p:sp>
      <p:sp>
        <p:nvSpPr>
          <p:cNvPr id="137" name="Editable text: 候选基因的同向变化，在多少患者中重复？"/>
          <p:cNvSpPr txBox="1"/>
          <p:nvPr/>
        </p:nvSpPr>
        <p:spPr>
          <a:xfrm>
            <a:off x="609599" y="1045495"/>
            <a:ext cx="5763683" cy="4504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候选基因的同向变化，在多少患者中重复？</a:t>
            </a:r>
          </a:p>
        </p:txBody>
      </p:sp>
      <p:sp>
        <p:nvSpPr>
          <p:cNvPr id="138" name="Editable text: RNA 肿瘤—参照比较  ·  右侧统计与每行主方向一致的患者数 / 可评估配对"/>
          <p:cNvSpPr txBox="1"/>
          <p:nvPr/>
        </p:nvSpPr>
        <p:spPr>
          <a:xfrm>
            <a:off x="633983" y="1570176"/>
            <a:ext cx="473836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RNA 肿瘤—参照比较  ·  右侧统计与每行主方向一致的患者数 / 可评估配对数</a:t>
            </a:r>
          </a:p>
        </p:txBody>
      </p:sp>
      <p:sp>
        <p:nvSpPr>
          <p:cNvPr id="139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40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41" name="Editable text: 范围：当前直接关系候选池，非全转录组；分母含升、降及不变的可评估配对。原排名、效"/>
          <p:cNvSpPr txBox="1"/>
          <p:nvPr/>
        </p:nvSpPr>
        <p:spPr>
          <a:xfrm>
            <a:off x="609599" y="6498363"/>
            <a:ext cx="4639913" cy="14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范围：当前直接关系候选池，非全转录组；分母含升、降及不变的可评估配对。原排名、效应与 P 值不变。</a:t>
            </a:r>
          </a:p>
        </p:txBody>
      </p:sp>
      <p:sp>
        <p:nvSpPr>
          <p:cNvPr id="142" name="Editable text: 08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08</a:t>
            </a:r>
          </a:p>
        </p:txBody>
      </p:sp>
      <p:pic>
        <p:nvPicPr>
          <p:cNvPr id="143" name="Picture 142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2935223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3257549"/>
            <a:ext cx="5035295" cy="301752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79876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224527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364223" y="2393442"/>
            <a:ext cx="5230368" cy="1193291"/>
          </a:xfrm>
          <a:custGeom>
            <a:avLst/>
            <a:gdLst/>
            <a:ahLst/>
            <a:cxnLst/>
            <a:rect l="0" t="0" r="r" b="b"/>
            <a:pathLst>
              <a:path w="494208" h="112752">
                <a:moveTo>
                  <a:pt x="10368" y="112752"/>
                </a:moveTo>
                <a:lnTo>
                  <a:pt x="483840" y="112752"/>
                </a:lnTo>
                <a:cubicBezTo>
                  <a:pt x="490752" y="112752"/>
                  <a:pt x="494208" y="110808"/>
                  <a:pt x="494208" y="106920"/>
                </a:cubicBezTo>
                <a:lnTo>
                  <a:pt x="494208" y="5832"/>
                </a:lnTo>
                <a:cubicBezTo>
                  <a:pt x="494208" y="1944"/>
                  <a:pt x="490752" y="0"/>
                  <a:pt x="483840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106920"/>
                </a:lnTo>
                <a:cubicBezTo>
                  <a:pt x="0" y="110808"/>
                  <a:pt x="3456" y="112752"/>
                  <a:pt x="10368" y="112752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520690"/>
            <a:ext cx="10972800" cy="466343"/>
          </a:xfrm>
          <a:custGeom>
            <a:avLst/>
            <a:gdLst/>
            <a:ahLst/>
            <a:cxnLst/>
            <a:rect l="0" t="0" r="r" b="b"/>
            <a:pathLst>
              <a:path w="1036800" h="44064">
                <a:moveTo>
                  <a:pt x="10368" y="44064"/>
                </a:moveTo>
                <a:lnTo>
                  <a:pt x="1026432" y="44064"/>
                </a:lnTo>
                <a:cubicBezTo>
                  <a:pt x="1033344" y="44064"/>
                  <a:pt x="1036800" y="42120"/>
                  <a:pt x="1036800" y="38232"/>
                </a:cubicBezTo>
                <a:lnTo>
                  <a:pt x="1036800" y="5832"/>
                </a:lnTo>
                <a:cubicBezTo>
                  <a:pt x="1036800" y="1944"/>
                  <a:pt x="1033344" y="0"/>
                  <a:pt x="1026432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38232"/>
                </a:lnTo>
                <a:cubicBezTo>
                  <a:pt x="0" y="42120"/>
                  <a:pt x="3456" y="44064"/>
                  <a:pt x="10368" y="44064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824594" y="3360419"/>
            <a:ext cx="353220" cy="105"/>
          </a:xfrm>
          <a:custGeom>
            <a:avLst/>
            <a:gdLst/>
            <a:ahLst/>
            <a:cxnLst/>
            <a:rect l="0" t="0" r="r" b="b"/>
            <a:pathLst>
              <a:path w="33375" h="10">
                <a:moveTo>
                  <a:pt x="0" y="0"/>
                </a:moveTo>
                <a:cubicBezTo>
                  <a:pt x="11721" y="0"/>
                  <a:pt x="22846" y="0"/>
                  <a:pt x="33375" y="0"/>
                </a:cubicBezTo>
              </a:path>
            </a:pathLst>
          </a:custGeom>
          <a:noFill/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14314" y="3328669"/>
            <a:ext cx="63500" cy="63500"/>
          </a:xfrm>
          <a:custGeom>
            <a:avLst/>
            <a:gdLst/>
            <a:ahLst/>
            <a:cxnLst/>
            <a:rect l="0" t="0" r="r" b="b"/>
            <a:pathLst>
              <a:path w="6000" h="6000">
                <a:moveTo>
                  <a:pt x="0" y="0"/>
                </a:moveTo>
                <a:lnTo>
                  <a:pt x="6000" y="3000"/>
                </a:lnTo>
                <a:lnTo>
                  <a:pt x="0" y="6000"/>
                </a:lnTo>
                <a:lnTo>
                  <a:pt x="0" y="0"/>
                </a:lnTo>
              </a:path>
            </a:pathLst>
          </a:custGeom>
          <a:solidFill>
            <a:srgbClr val="9AB2A3">
              <a:alpha val="100000"/>
            </a:srgbClr>
          </a:solidFill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2859786"/>
            <a:ext cx="5035295" cy="105"/>
          </a:xfrm>
          <a:custGeom>
            <a:avLst/>
            <a:gdLst/>
            <a:ahLst/>
            <a:cxnLst/>
            <a:rect l="0" t="0" r="r" b="b"/>
            <a:pathLst>
              <a:path w="475776" h="10">
                <a:moveTo>
                  <a:pt x="0" y="0"/>
                </a:moveTo>
                <a:lnTo>
                  <a:pt x="47577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9599" y="5390388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从代谢物异常到 LYPLA1：为什么关注它？"/>
          <p:cNvSpPr txBox="1"/>
          <p:nvPr/>
        </p:nvSpPr>
        <p:spPr>
          <a:xfrm>
            <a:off x="609599" y="1037094"/>
            <a:ext cx="5974076" cy="4665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从代谢物异常到 LYPLA1：为什么关注它？</a:t>
            </a:r>
          </a:p>
        </p:txBody>
      </p:sp>
      <p:sp>
        <p:nvSpPr>
          <p:cNvPr id="18" name="Editable text: 四癌的差异代谢物关系反复涉及 LYPLA1，再检查患者关联与基因表达"/>
          <p:cNvSpPr txBox="1"/>
          <p:nvPr/>
        </p:nvSpPr>
        <p:spPr>
          <a:xfrm>
            <a:off x="633983" y="1567381"/>
            <a:ext cx="4463718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四癌的差异代谢物关系反复涉及 LYPLA1，再检查患者关联与基因表达</a:t>
            </a:r>
          </a:p>
        </p:txBody>
      </p:sp>
      <p:sp>
        <p:nvSpPr>
          <p:cNvPr id="19" name="Editable text: 01  先发现具体代谢物异常"/>
          <p:cNvSpPr txBox="1"/>
          <p:nvPr/>
        </p:nvSpPr>
        <p:spPr>
          <a:xfrm>
            <a:off x="633983" y="2011153"/>
            <a:ext cx="2079413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先发现具体代谢物异常</a:t>
            </a:r>
          </a:p>
        </p:txBody>
      </p:sp>
      <p:sp>
        <p:nvSpPr>
          <p:cNvPr id="20" name="Editable text: 肿瘤—正常配对比较；以下 6 项均 P &lt; 0.05"/>
          <p:cNvSpPr txBox="1"/>
          <p:nvPr/>
        </p:nvSpPr>
        <p:spPr>
          <a:xfrm>
            <a:off x="633983" y="2292347"/>
            <a:ext cx="2216832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肿瘤—正常配对比较；以下 6 项均 P &lt; 0.05</a:t>
            </a:r>
          </a:p>
        </p:txBody>
      </p:sp>
      <p:sp>
        <p:nvSpPr>
          <p:cNvPr id="21" name="Editable text: 癌种"/>
          <p:cNvSpPr txBox="1"/>
          <p:nvPr/>
        </p:nvSpPr>
        <p:spPr>
          <a:xfrm>
            <a:off x="961770" y="2607815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</a:t>
            </a:r>
          </a:p>
        </p:txBody>
      </p:sp>
      <p:sp>
        <p:nvSpPr>
          <p:cNvPr id="22" name="Editable text: 代谢物"/>
          <p:cNvSpPr txBox="1"/>
          <p:nvPr/>
        </p:nvSpPr>
        <p:spPr>
          <a:xfrm>
            <a:off x="2442400" y="2607815"/>
            <a:ext cx="3833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</a:t>
            </a:r>
          </a:p>
        </p:txBody>
      </p:sp>
      <p:sp>
        <p:nvSpPr>
          <p:cNvPr id="23" name="Editable text: 方向"/>
          <p:cNvSpPr txBox="1"/>
          <p:nvPr/>
        </p:nvSpPr>
        <p:spPr>
          <a:xfrm>
            <a:off x="3973195" y="2607815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方向</a:t>
            </a:r>
          </a:p>
        </p:txBody>
      </p:sp>
      <p:sp>
        <p:nvSpPr>
          <p:cNvPr id="24" name="Editable text: P 值"/>
          <p:cNvSpPr txBox="1"/>
          <p:nvPr/>
        </p:nvSpPr>
        <p:spPr>
          <a:xfrm>
            <a:off x="4990257" y="2607815"/>
            <a:ext cx="262032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 值</a:t>
            </a:r>
          </a:p>
        </p:txBody>
      </p:sp>
      <p:sp>
        <p:nvSpPr>
          <p:cNvPr id="25" name="Editable text: LPC(16:0)"/>
          <p:cNvSpPr txBox="1"/>
          <p:nvPr/>
        </p:nvSpPr>
        <p:spPr>
          <a:xfrm>
            <a:off x="2279433" y="2976066"/>
            <a:ext cx="721487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LPC(16:0)</a:t>
            </a:r>
          </a:p>
        </p:txBody>
      </p:sp>
      <p:sp>
        <p:nvSpPr>
          <p:cNvPr id="26" name="Editable text: ↑"/>
          <p:cNvSpPr txBox="1"/>
          <p:nvPr/>
        </p:nvSpPr>
        <p:spPr>
          <a:xfrm>
            <a:off x="4039340" y="2942299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27" name="Editable text: 1.02e-05"/>
          <p:cNvSpPr txBox="1"/>
          <p:nvPr/>
        </p:nvSpPr>
        <p:spPr>
          <a:xfrm>
            <a:off x="4842173" y="2990238"/>
            <a:ext cx="56241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1.02e-05</a:t>
            </a:r>
          </a:p>
        </p:txBody>
      </p:sp>
      <p:sp>
        <p:nvSpPr>
          <p:cNvPr id="28" name="Editable text: BRCA"/>
          <p:cNvSpPr txBox="1"/>
          <p:nvPr/>
        </p:nvSpPr>
        <p:spPr>
          <a:xfrm>
            <a:off x="880411" y="3298392"/>
            <a:ext cx="44662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29" name="Editable text: GPC"/>
          <p:cNvSpPr txBox="1"/>
          <p:nvPr/>
        </p:nvSpPr>
        <p:spPr>
          <a:xfrm>
            <a:off x="2464890" y="3298392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30" name="Editable text: ↓"/>
          <p:cNvSpPr txBox="1"/>
          <p:nvPr/>
        </p:nvSpPr>
        <p:spPr>
          <a:xfrm>
            <a:off x="4039340" y="3264624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31" name="Editable text: 0.00214"/>
          <p:cNvSpPr txBox="1"/>
          <p:nvPr/>
        </p:nvSpPr>
        <p:spPr>
          <a:xfrm>
            <a:off x="4867308" y="3312564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0.00214</a:t>
            </a:r>
          </a:p>
        </p:txBody>
      </p:sp>
      <p:sp>
        <p:nvSpPr>
          <p:cNvPr id="32" name="Editable text: 油酸"/>
          <p:cNvSpPr txBox="1"/>
          <p:nvPr/>
        </p:nvSpPr>
        <p:spPr>
          <a:xfrm>
            <a:off x="2471504" y="3620718"/>
            <a:ext cx="337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</a:t>
            </a:r>
          </a:p>
        </p:txBody>
      </p:sp>
      <p:sp>
        <p:nvSpPr>
          <p:cNvPr id="33" name="Editable text: ↑"/>
          <p:cNvSpPr txBox="1"/>
          <p:nvPr/>
        </p:nvSpPr>
        <p:spPr>
          <a:xfrm>
            <a:off x="4039340" y="3586950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34" name="Editable text: 0.00359"/>
          <p:cNvSpPr txBox="1"/>
          <p:nvPr/>
        </p:nvSpPr>
        <p:spPr>
          <a:xfrm>
            <a:off x="4867308" y="3634890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0.00359</a:t>
            </a:r>
          </a:p>
        </p:txBody>
      </p:sp>
      <p:sp>
        <p:nvSpPr>
          <p:cNvPr id="35" name="Editable text: COAD"/>
          <p:cNvSpPr txBox="1"/>
          <p:nvPr/>
        </p:nvSpPr>
        <p:spPr>
          <a:xfrm>
            <a:off x="866024" y="3943044"/>
            <a:ext cx="47550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36" name="Editable text: GPC"/>
          <p:cNvSpPr txBox="1"/>
          <p:nvPr/>
        </p:nvSpPr>
        <p:spPr>
          <a:xfrm>
            <a:off x="2464890" y="3943044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37" name="Editable text: ↓"/>
          <p:cNvSpPr txBox="1"/>
          <p:nvPr/>
        </p:nvSpPr>
        <p:spPr>
          <a:xfrm>
            <a:off x="4039340" y="3909276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38" name="Editable text: 0.000918"/>
          <p:cNvSpPr txBox="1"/>
          <p:nvPr/>
        </p:nvSpPr>
        <p:spPr>
          <a:xfrm>
            <a:off x="4831590" y="3957216"/>
            <a:ext cx="583348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0.000918</a:t>
            </a:r>
          </a:p>
        </p:txBody>
      </p:sp>
      <p:sp>
        <p:nvSpPr>
          <p:cNvPr id="39" name="Editable text: PDAC"/>
          <p:cNvSpPr txBox="1"/>
          <p:nvPr/>
        </p:nvSpPr>
        <p:spPr>
          <a:xfrm>
            <a:off x="877765" y="4265370"/>
            <a:ext cx="453027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40" name="Editable text: GPC"/>
          <p:cNvSpPr txBox="1"/>
          <p:nvPr/>
        </p:nvSpPr>
        <p:spPr>
          <a:xfrm>
            <a:off x="2464890" y="4265370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41" name="Editable text: ↓"/>
          <p:cNvSpPr txBox="1"/>
          <p:nvPr/>
        </p:nvSpPr>
        <p:spPr>
          <a:xfrm>
            <a:off x="4039340" y="4231603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42" name="Editable text: 0.0322"/>
          <p:cNvSpPr txBox="1"/>
          <p:nvPr/>
        </p:nvSpPr>
        <p:spPr>
          <a:xfrm>
            <a:off x="4903027" y="4279542"/>
            <a:ext cx="440706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0.0322</a:t>
            </a:r>
          </a:p>
        </p:txBody>
      </p:sp>
      <p:sp>
        <p:nvSpPr>
          <p:cNvPr id="43" name="Editable text: PRAD"/>
          <p:cNvSpPr txBox="1"/>
          <p:nvPr/>
        </p:nvSpPr>
        <p:spPr>
          <a:xfrm>
            <a:off x="873383" y="4587696"/>
            <a:ext cx="460766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44" name="Editable text: 油酸"/>
          <p:cNvSpPr txBox="1"/>
          <p:nvPr/>
        </p:nvSpPr>
        <p:spPr>
          <a:xfrm>
            <a:off x="2471504" y="4587696"/>
            <a:ext cx="337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</a:t>
            </a:r>
          </a:p>
        </p:txBody>
      </p:sp>
      <p:sp>
        <p:nvSpPr>
          <p:cNvPr id="45" name="Editable text: ↑"/>
          <p:cNvSpPr txBox="1"/>
          <p:nvPr/>
        </p:nvSpPr>
        <p:spPr>
          <a:xfrm>
            <a:off x="4039340" y="4553929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46" name="Editable text: 0.00994"/>
          <p:cNvSpPr txBox="1"/>
          <p:nvPr/>
        </p:nvSpPr>
        <p:spPr>
          <a:xfrm>
            <a:off x="4867308" y="4601868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0.00994</a:t>
            </a:r>
          </a:p>
        </p:txBody>
      </p:sp>
      <p:sp>
        <p:nvSpPr>
          <p:cNvPr id="47" name="Editable text: 四癌均有代谢物线索，映射到同一个候选。"/>
          <p:cNvSpPr txBox="1"/>
          <p:nvPr/>
        </p:nvSpPr>
        <p:spPr>
          <a:xfrm>
            <a:off x="609599" y="5044256"/>
            <a:ext cx="2552487" cy="1994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四癌均有代谢物线索，映射到同一个候选。</a:t>
            </a:r>
          </a:p>
        </p:txBody>
      </p:sp>
      <p:sp>
        <p:nvSpPr>
          <p:cNvPr id="48" name="Editable text: GPC：甘油磷酸胆碱；油酸：18:1n9。"/>
          <p:cNvSpPr txBox="1"/>
          <p:nvPr/>
        </p:nvSpPr>
        <p:spPr>
          <a:xfrm>
            <a:off x="609599" y="5234215"/>
            <a:ext cx="1758467" cy="151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GPC：甘油磷酸胆碱；油酸：18:1n9。</a:t>
            </a:r>
          </a:p>
        </p:txBody>
      </p:sp>
      <p:sp>
        <p:nvSpPr>
          <p:cNvPr id="49" name="Editable text: 02  依据生化反应映射到 LYPLA1"/>
          <p:cNvSpPr txBox="1"/>
          <p:nvPr/>
        </p:nvSpPr>
        <p:spPr>
          <a:xfrm>
            <a:off x="6437375" y="2011153"/>
            <a:ext cx="258982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依据生化反应映射到 LYPLA1</a:t>
            </a:r>
          </a:p>
        </p:txBody>
      </p:sp>
      <p:sp>
        <p:nvSpPr>
          <p:cNvPr id="50" name="Editable text: LPC(16:0)"/>
          <p:cNvSpPr txBox="1"/>
          <p:nvPr/>
        </p:nvSpPr>
        <p:spPr>
          <a:xfrm>
            <a:off x="6656832" y="2748127"/>
            <a:ext cx="776986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LPC(16:0)</a:t>
            </a:r>
          </a:p>
        </p:txBody>
      </p:sp>
      <p:sp>
        <p:nvSpPr>
          <p:cNvPr id="51" name="Editable text: LYPLA1"/>
          <p:cNvSpPr txBox="1"/>
          <p:nvPr/>
        </p:nvSpPr>
        <p:spPr>
          <a:xfrm>
            <a:off x="8149422" y="2487523"/>
            <a:ext cx="61736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52" name="Editable text: →"/>
          <p:cNvSpPr txBox="1"/>
          <p:nvPr/>
        </p:nvSpPr>
        <p:spPr>
          <a:xfrm>
            <a:off x="8297671" y="2670401"/>
            <a:ext cx="368300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53" name="Editable text: GPC + 棕榈酸"/>
          <p:cNvSpPr txBox="1"/>
          <p:nvPr/>
        </p:nvSpPr>
        <p:spPr>
          <a:xfrm>
            <a:off x="9570720" y="2748127"/>
            <a:ext cx="1022646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GPC + 棕榈酸</a:t>
            </a:r>
          </a:p>
        </p:txBody>
      </p:sp>
      <p:sp>
        <p:nvSpPr>
          <p:cNvPr id="54" name="Editable text: 底物"/>
          <p:cNvSpPr txBox="1"/>
          <p:nvPr/>
        </p:nvSpPr>
        <p:spPr>
          <a:xfrm>
            <a:off x="6656832" y="2980942"/>
            <a:ext cx="25929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底物</a:t>
            </a:r>
          </a:p>
        </p:txBody>
      </p:sp>
      <p:sp>
        <p:nvSpPr>
          <p:cNvPr id="55" name="Editable text: 油酸：另一条 LYPLA1 注释反应中的产物"/>
          <p:cNvSpPr txBox="1"/>
          <p:nvPr/>
        </p:nvSpPr>
        <p:spPr>
          <a:xfrm>
            <a:off x="6656832" y="3121709"/>
            <a:ext cx="23542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油酸：另一条 LYPLA1 注释反应中的产物</a:t>
            </a:r>
          </a:p>
        </p:txBody>
      </p:sp>
      <p:sp>
        <p:nvSpPr>
          <p:cNvPr id="56" name="Editable text: 反应参与关系 ≠ 患者内净通量或致因关系"/>
          <p:cNvSpPr txBox="1"/>
          <p:nvPr/>
        </p:nvSpPr>
        <p:spPr>
          <a:xfrm>
            <a:off x="6656832" y="3388977"/>
            <a:ext cx="1928333" cy="156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反应参与关系 ≠ 患者内净通量或致因关系</a:t>
            </a:r>
          </a:p>
        </p:txBody>
      </p:sp>
      <p:sp>
        <p:nvSpPr>
          <p:cNvPr id="57" name="Editable text: 03  肿瘤样本中的代谢物—RNA 关联"/>
          <p:cNvSpPr txBox="1"/>
          <p:nvPr/>
        </p:nvSpPr>
        <p:spPr>
          <a:xfrm>
            <a:off x="6437375" y="3739742"/>
            <a:ext cx="2602039" cy="2332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  肿瘤样本中的代谢物—RNA 关联</a:t>
            </a:r>
          </a:p>
        </p:txBody>
      </p:sp>
      <p:sp>
        <p:nvSpPr>
          <p:cNvPr id="58" name="Editable text: BRCA · LPC(16:0)  (n=60)"/>
          <p:cNvSpPr txBox="1"/>
          <p:nvPr/>
        </p:nvSpPr>
        <p:spPr>
          <a:xfrm>
            <a:off x="6522720" y="4051440"/>
            <a:ext cx="14965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 · LPC(16:0)  (n=60)</a:t>
            </a:r>
          </a:p>
        </p:txBody>
      </p:sp>
      <p:sp>
        <p:nvSpPr>
          <p:cNvPr id="59" name="Editable text: ρ = +0.482"/>
          <p:cNvSpPr txBox="1"/>
          <p:nvPr/>
        </p:nvSpPr>
        <p:spPr>
          <a:xfrm>
            <a:off x="9168384" y="4046370"/>
            <a:ext cx="699579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+0.482</a:t>
            </a:r>
          </a:p>
        </p:txBody>
      </p:sp>
      <p:sp>
        <p:nvSpPr>
          <p:cNvPr id="60" name="Editable text: P = 0.0001"/>
          <p:cNvSpPr txBox="1"/>
          <p:nvPr/>
        </p:nvSpPr>
        <p:spPr>
          <a:xfrm>
            <a:off x="10643615" y="404916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0.0001</a:t>
            </a:r>
          </a:p>
        </p:txBody>
      </p:sp>
      <p:sp>
        <p:nvSpPr>
          <p:cNvPr id="61" name="Editable text: BRCA · 油酸  (n=60)"/>
          <p:cNvSpPr txBox="1"/>
          <p:nvPr/>
        </p:nvSpPr>
        <p:spPr>
          <a:xfrm>
            <a:off x="6522720" y="4325760"/>
            <a:ext cx="1177224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 · 油酸  (n=60)</a:t>
            </a:r>
          </a:p>
        </p:txBody>
      </p:sp>
      <p:sp>
        <p:nvSpPr>
          <p:cNvPr id="62" name="Editable text: ρ = +0.384"/>
          <p:cNvSpPr txBox="1"/>
          <p:nvPr/>
        </p:nvSpPr>
        <p:spPr>
          <a:xfrm>
            <a:off x="9168384" y="4320690"/>
            <a:ext cx="699579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+0.384</a:t>
            </a:r>
          </a:p>
        </p:txBody>
      </p:sp>
      <p:sp>
        <p:nvSpPr>
          <p:cNvPr id="63" name="Editable text: P = 0.0025"/>
          <p:cNvSpPr txBox="1"/>
          <p:nvPr/>
        </p:nvSpPr>
        <p:spPr>
          <a:xfrm>
            <a:off x="10643615" y="432348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0.0025</a:t>
            </a:r>
          </a:p>
        </p:txBody>
      </p:sp>
      <p:sp>
        <p:nvSpPr>
          <p:cNvPr id="64" name="Editable text: PDAC · GPC  (n=21)"/>
          <p:cNvSpPr txBox="1"/>
          <p:nvPr/>
        </p:nvSpPr>
        <p:spPr>
          <a:xfrm>
            <a:off x="6522720" y="4600080"/>
            <a:ext cx="1193425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PDAC · GPC  (n=21)</a:t>
            </a:r>
          </a:p>
        </p:txBody>
      </p:sp>
      <p:sp>
        <p:nvSpPr>
          <p:cNvPr id="65" name="Editable text: ρ = -0.442"/>
          <p:cNvSpPr txBox="1"/>
          <p:nvPr/>
        </p:nvSpPr>
        <p:spPr>
          <a:xfrm>
            <a:off x="9168384" y="4595010"/>
            <a:ext cx="661971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-0.442</a:t>
            </a:r>
          </a:p>
        </p:txBody>
      </p:sp>
      <p:sp>
        <p:nvSpPr>
          <p:cNvPr id="66" name="Editable text: P = 0.0455"/>
          <p:cNvSpPr txBox="1"/>
          <p:nvPr/>
        </p:nvSpPr>
        <p:spPr>
          <a:xfrm>
            <a:off x="10643615" y="459780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0.0455</a:t>
            </a:r>
          </a:p>
        </p:txBody>
      </p:sp>
      <p:sp>
        <p:nvSpPr>
          <p:cNvPr id="67" name="Editable text: 其余 3 条未显著：BRCA / COAD 的 GPC、PRAD 的油酸"/>
          <p:cNvSpPr txBox="1"/>
          <p:nvPr/>
        </p:nvSpPr>
        <p:spPr>
          <a:xfrm>
            <a:off x="6437375" y="4951463"/>
            <a:ext cx="2681505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其余 3 条未显著：BRCA / COAD 的 GPC、PRAD 的油酸</a:t>
            </a:r>
          </a:p>
        </p:txBody>
      </p:sp>
      <p:sp>
        <p:nvSpPr>
          <p:cNvPr id="68" name="Editable text: 因此继续关注"/>
          <p:cNvSpPr txBox="1"/>
          <p:nvPr/>
        </p:nvSpPr>
        <p:spPr>
          <a:xfrm>
            <a:off x="816863" y="5643828"/>
            <a:ext cx="887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因此继续关注</a:t>
            </a:r>
          </a:p>
        </p:txBody>
      </p:sp>
      <p:sp>
        <p:nvSpPr>
          <p:cNvPr id="69" name="Editable text: 代谢关系候选反复出现  +  RNA 四癌平均上调、三癌显著"/>
          <p:cNvSpPr txBox="1"/>
          <p:nvPr/>
        </p:nvSpPr>
        <p:spPr>
          <a:xfrm>
            <a:off x="2389632" y="5618461"/>
            <a:ext cx="440249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代谢关系候选反复出现  +  RNA 四癌平均上调、三癌显著</a:t>
            </a:r>
          </a:p>
        </p:txBody>
      </p:sp>
      <p:sp>
        <p:nvSpPr>
          <p:cNvPr id="70" name="Editable text: 下一步：看患者配对表达，再定位到恶性上皮；目前尚未证明同一代谢物—LYPLA1 "/>
          <p:cNvSpPr txBox="1"/>
          <p:nvPr/>
        </p:nvSpPr>
        <p:spPr>
          <a:xfrm>
            <a:off x="609599" y="6125969"/>
            <a:ext cx="492531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下一步：看患者配对表达，再定位到恶性上皮；目前尚未证明同一代谢物—LYPLA1 关联跨癌重复。</a:t>
            </a:r>
          </a:p>
        </p:txBody>
      </p:sp>
      <p:sp>
        <p:nvSpPr>
          <p:cNvPr id="71" name="Editable text: RNA 不能代替酶活或通量；PDAC RNA 未显著，ccRCC RNA 存在反"/>
          <p:cNvSpPr txBox="1"/>
          <p:nvPr/>
        </p:nvSpPr>
        <p:spPr>
          <a:xfrm>
            <a:off x="609599" y="6366923"/>
            <a:ext cx="51285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RNA 不能代替酶活或通量；PDAC RNA 未显著，ccRCC RNA 存在反向。不同脂质的显著关联不合并成同一代谢轴。</a:t>
            </a:r>
          </a:p>
        </p:txBody>
      </p:sp>
      <p:sp>
        <p:nvSpPr>
          <p:cNvPr id="72" name="Editable text: 映射来源：UniProt O75608；Rhea 40435 / 41720。反"/>
          <p:cNvSpPr txBox="1"/>
          <p:nvPr/>
        </p:nvSpPr>
        <p:spPr>
          <a:xfrm>
            <a:off x="609599" y="6576076"/>
            <a:ext cx="46411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映射来源：UniProt O75608；Rhea 40435 / 41720。反应为简写；油酸不是 LPC(16:0) 水解产生的脂肪酸。</a:t>
            </a:r>
          </a:p>
        </p:txBody>
      </p:sp>
      <p:sp>
        <p:nvSpPr>
          <p:cNvPr id="73" name="Editable text: 09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09</a:t>
            </a:r>
          </a:p>
        </p:txBody>
      </p:sp>
      <p:pic>
        <p:nvPicPr>
          <p:cNvPr id="74" name="Picture 7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016" y="2825496"/>
            <a:ext cx="2048255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1311715" y="3985686"/>
            <a:ext cx="1204856" cy="392851"/>
          </a:xfrm>
          <a:custGeom>
            <a:avLst/>
            <a:gdLst/>
            <a:ahLst/>
            <a:cxnLst/>
            <a:rect l="0" t="0" r="r" b="b"/>
            <a:pathLst>
              <a:path w="113845" h="37120">
                <a:moveTo>
                  <a:pt x="0" y="3712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1311715" y="3613688"/>
            <a:ext cx="1204856" cy="268240"/>
          </a:xfrm>
          <a:custGeom>
            <a:avLst/>
            <a:gdLst/>
            <a:ahLst/>
            <a:cxnLst/>
            <a:rect l="0" t="0" r="r" b="b"/>
            <a:pathLst>
              <a:path w="113845" h="25346">
                <a:moveTo>
                  <a:pt x="0" y="253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1311715" y="3562123"/>
            <a:ext cx="1204856" cy="583315"/>
          </a:xfrm>
          <a:custGeom>
            <a:avLst/>
            <a:gdLst/>
            <a:ahLst/>
            <a:cxnLst/>
            <a:rect l="0" t="0" r="r" b="b"/>
            <a:pathLst>
              <a:path w="113845" h="55116">
                <a:moveTo>
                  <a:pt x="0" y="0"/>
                </a:moveTo>
                <a:lnTo>
                  <a:pt x="113845" y="55116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311715" y="3397751"/>
            <a:ext cx="1204856" cy="935496"/>
          </a:xfrm>
          <a:custGeom>
            <a:avLst/>
            <a:gdLst/>
            <a:ahLst/>
            <a:cxnLst/>
            <a:rect l="0" t="0" r="r" b="b"/>
            <a:pathLst>
              <a:path w="113845" h="88393">
                <a:moveTo>
                  <a:pt x="0" y="883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11715" y="3353219"/>
            <a:ext cx="1204856" cy="770262"/>
          </a:xfrm>
          <a:custGeom>
            <a:avLst/>
            <a:gdLst/>
            <a:ahLst/>
            <a:cxnLst/>
            <a:rect l="0" t="0" r="r" b="b"/>
            <a:pathLst>
              <a:path w="113845" h="72781">
                <a:moveTo>
                  <a:pt x="0" y="7278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11715" y="3912955"/>
            <a:ext cx="1204856" cy="250090"/>
          </a:xfrm>
          <a:custGeom>
            <a:avLst/>
            <a:gdLst/>
            <a:ahLst/>
            <a:cxnLst/>
            <a:rect l="0" t="0" r="r" b="b"/>
            <a:pathLst>
              <a:path w="113845" h="23631">
                <a:moveTo>
                  <a:pt x="0" y="2363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11715" y="3734970"/>
            <a:ext cx="1204856" cy="135160"/>
          </a:xfrm>
          <a:custGeom>
            <a:avLst/>
            <a:gdLst/>
            <a:ahLst/>
            <a:cxnLst/>
            <a:rect l="0" t="0" r="r" b="b"/>
            <a:pathLst>
              <a:path w="113845" h="12771">
                <a:moveTo>
                  <a:pt x="0" y="0"/>
                </a:moveTo>
                <a:lnTo>
                  <a:pt x="113845" y="1277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1311715" y="3774708"/>
            <a:ext cx="1204856" cy="278797"/>
          </a:xfrm>
          <a:custGeom>
            <a:avLst/>
            <a:gdLst/>
            <a:ahLst/>
            <a:cxnLst/>
            <a:rect l="0" t="0" r="r" b="b"/>
            <a:pathLst>
              <a:path w="113845" h="26343">
                <a:moveTo>
                  <a:pt x="0" y="263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1311715" y="3365711"/>
            <a:ext cx="1204856" cy="768524"/>
          </a:xfrm>
          <a:custGeom>
            <a:avLst/>
            <a:gdLst/>
            <a:ahLst/>
            <a:cxnLst/>
            <a:rect l="0" t="0" r="r" b="b"/>
            <a:pathLst>
              <a:path w="113845" h="72616">
                <a:moveTo>
                  <a:pt x="0" y="726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1311715" y="3872784"/>
            <a:ext cx="1204856" cy="155328"/>
          </a:xfrm>
          <a:custGeom>
            <a:avLst/>
            <a:gdLst/>
            <a:ahLst/>
            <a:cxnLst/>
            <a:rect l="0" t="0" r="r" b="b"/>
            <a:pathLst>
              <a:path w="113845" h="14677">
                <a:moveTo>
                  <a:pt x="0" y="0"/>
                </a:moveTo>
                <a:lnTo>
                  <a:pt x="113845" y="1467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1311715" y="3486858"/>
            <a:ext cx="1204856" cy="490202"/>
          </a:xfrm>
          <a:custGeom>
            <a:avLst/>
            <a:gdLst/>
            <a:ahLst/>
            <a:cxnLst/>
            <a:rect l="0" t="0" r="r" b="b"/>
            <a:pathLst>
              <a:path w="113845" h="46318">
                <a:moveTo>
                  <a:pt x="0" y="463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1311715" y="4032669"/>
            <a:ext cx="1204856" cy="240194"/>
          </a:xfrm>
          <a:custGeom>
            <a:avLst/>
            <a:gdLst/>
            <a:ahLst/>
            <a:cxnLst/>
            <a:rect l="0" t="0" r="r" b="b"/>
            <a:pathLst>
              <a:path w="113845" h="22696">
                <a:moveTo>
                  <a:pt x="0" y="226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1311715" y="3464901"/>
            <a:ext cx="1204856" cy="669546"/>
          </a:xfrm>
          <a:custGeom>
            <a:avLst/>
            <a:gdLst/>
            <a:ahLst/>
            <a:cxnLst/>
            <a:rect l="0" t="0" r="r" b="b"/>
            <a:pathLst>
              <a:path w="113845" h="63264">
                <a:moveTo>
                  <a:pt x="0" y="632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1311715" y="3767400"/>
            <a:ext cx="1204856" cy="169482"/>
          </a:xfrm>
          <a:custGeom>
            <a:avLst/>
            <a:gdLst/>
            <a:ahLst/>
            <a:cxnLst/>
            <a:rect l="0" t="0" r="r" b="b"/>
            <a:pathLst>
              <a:path w="113845" h="16014">
                <a:moveTo>
                  <a:pt x="0" y="1601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1311715" y="3256600"/>
            <a:ext cx="1204856" cy="1054180"/>
          </a:xfrm>
          <a:custGeom>
            <a:avLst/>
            <a:gdLst/>
            <a:ahLst/>
            <a:cxnLst/>
            <a:rect l="0" t="0" r="r" b="b"/>
            <a:pathLst>
              <a:path w="113845" h="99608">
                <a:moveTo>
                  <a:pt x="0" y="99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1311715" y="3895120"/>
            <a:ext cx="1204856" cy="150047"/>
          </a:xfrm>
          <a:custGeom>
            <a:avLst/>
            <a:gdLst/>
            <a:ahLst/>
            <a:cxnLst/>
            <a:rect l="0" t="0" r="r" b="b"/>
            <a:pathLst>
              <a:path w="113845" h="14178">
                <a:moveTo>
                  <a:pt x="0" y="1417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311715" y="3898990"/>
            <a:ext cx="1204856" cy="86698"/>
          </a:xfrm>
          <a:custGeom>
            <a:avLst/>
            <a:gdLst/>
            <a:ahLst/>
            <a:cxnLst/>
            <a:rect l="0" t="0" r="r" b="b"/>
            <a:pathLst>
              <a:path w="113845" h="8192">
                <a:moveTo>
                  <a:pt x="0" y="8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1311715" y="3523834"/>
            <a:ext cx="1204856" cy="453809"/>
          </a:xfrm>
          <a:custGeom>
            <a:avLst/>
            <a:gdLst/>
            <a:ahLst/>
            <a:cxnLst/>
            <a:rect l="0" t="0" r="r" b="b"/>
            <a:pathLst>
              <a:path w="113845" h="42880">
                <a:moveTo>
                  <a:pt x="0" y="42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311715" y="3675822"/>
            <a:ext cx="1204856" cy="408599"/>
          </a:xfrm>
          <a:custGeom>
            <a:avLst/>
            <a:gdLst/>
            <a:ahLst/>
            <a:cxnLst/>
            <a:rect l="0" t="0" r="r" b="b"/>
            <a:pathLst>
              <a:path w="113845" h="38608">
                <a:moveTo>
                  <a:pt x="0" y="38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311715" y="3185727"/>
            <a:ext cx="1204856" cy="1099647"/>
          </a:xfrm>
          <a:custGeom>
            <a:avLst/>
            <a:gdLst/>
            <a:ahLst/>
            <a:cxnLst/>
            <a:rect l="0" t="0" r="r" b="b"/>
            <a:pathLst>
              <a:path w="113845" h="103904">
                <a:moveTo>
                  <a:pt x="0" y="103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311715" y="3897773"/>
            <a:ext cx="1204856" cy="180917"/>
          </a:xfrm>
          <a:custGeom>
            <a:avLst/>
            <a:gdLst/>
            <a:ahLst/>
            <a:cxnLst/>
            <a:rect l="0" t="0" r="r" b="b"/>
            <a:pathLst>
              <a:path w="113845" h="17095">
                <a:moveTo>
                  <a:pt x="0" y="0"/>
                </a:moveTo>
                <a:lnTo>
                  <a:pt x="113845" y="1709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311715" y="3288597"/>
            <a:ext cx="1204856" cy="856636"/>
          </a:xfrm>
          <a:custGeom>
            <a:avLst/>
            <a:gdLst/>
            <a:ahLst/>
            <a:cxnLst/>
            <a:rect l="0" t="0" r="r" b="b"/>
            <a:pathLst>
              <a:path w="113845" h="80942">
                <a:moveTo>
                  <a:pt x="0" y="809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311715" y="3980216"/>
            <a:ext cx="1204856" cy="133834"/>
          </a:xfrm>
          <a:custGeom>
            <a:avLst/>
            <a:gdLst/>
            <a:ahLst/>
            <a:cxnLst/>
            <a:rect l="0" t="0" r="r" b="b"/>
            <a:pathLst>
              <a:path w="113845" h="12646">
                <a:moveTo>
                  <a:pt x="0" y="126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311715" y="3779917"/>
            <a:ext cx="1204856" cy="286926"/>
          </a:xfrm>
          <a:custGeom>
            <a:avLst/>
            <a:gdLst/>
            <a:ahLst/>
            <a:cxnLst/>
            <a:rect l="0" t="0" r="r" b="b"/>
            <a:pathLst>
              <a:path w="113845" h="27111">
                <a:moveTo>
                  <a:pt x="0" y="0"/>
                </a:moveTo>
                <a:lnTo>
                  <a:pt x="113845" y="2711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311715" y="3722996"/>
            <a:ext cx="1204856" cy="566568"/>
          </a:xfrm>
          <a:custGeom>
            <a:avLst/>
            <a:gdLst/>
            <a:ahLst/>
            <a:cxnLst/>
            <a:rect l="0" t="0" r="r" b="b"/>
            <a:pathLst>
              <a:path w="113845" h="53534">
                <a:moveTo>
                  <a:pt x="0" y="5353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311715" y="3673603"/>
            <a:ext cx="1204856" cy="203392"/>
          </a:xfrm>
          <a:custGeom>
            <a:avLst/>
            <a:gdLst/>
            <a:ahLst/>
            <a:cxnLst/>
            <a:rect l="0" t="0" r="r" b="b"/>
            <a:pathLst>
              <a:path w="113845" h="19218">
                <a:moveTo>
                  <a:pt x="0" y="192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311715" y="3953496"/>
            <a:ext cx="1204856" cy="73942"/>
          </a:xfrm>
          <a:custGeom>
            <a:avLst/>
            <a:gdLst/>
            <a:ahLst/>
            <a:cxnLst/>
            <a:rect l="0" t="0" r="r" b="b"/>
            <a:pathLst>
              <a:path w="113845" h="6987">
                <a:moveTo>
                  <a:pt x="0" y="0"/>
                </a:moveTo>
                <a:lnTo>
                  <a:pt x="113845" y="698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311715" y="4039613"/>
            <a:ext cx="1204856" cy="139062"/>
          </a:xfrm>
          <a:custGeom>
            <a:avLst/>
            <a:gdLst/>
            <a:ahLst/>
            <a:cxnLst/>
            <a:rect l="0" t="0" r="r" b="b"/>
            <a:pathLst>
              <a:path w="113845" h="13140">
                <a:moveTo>
                  <a:pt x="0" y="0"/>
                </a:moveTo>
                <a:lnTo>
                  <a:pt x="113845" y="1314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311715" y="3435746"/>
            <a:ext cx="1204856" cy="676157"/>
          </a:xfrm>
          <a:custGeom>
            <a:avLst/>
            <a:gdLst/>
            <a:ahLst/>
            <a:cxnLst/>
            <a:rect l="0" t="0" r="r" b="b"/>
            <a:pathLst>
              <a:path w="113845" h="63889">
                <a:moveTo>
                  <a:pt x="0" y="6388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311715" y="3554411"/>
            <a:ext cx="1204856" cy="596083"/>
          </a:xfrm>
          <a:custGeom>
            <a:avLst/>
            <a:gdLst/>
            <a:ahLst/>
            <a:cxnLst/>
            <a:rect l="0" t="0" r="r" b="b"/>
            <a:pathLst>
              <a:path w="113845" h="56323">
                <a:moveTo>
                  <a:pt x="0" y="563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311715" y="3694946"/>
            <a:ext cx="1204856" cy="529789"/>
          </a:xfrm>
          <a:custGeom>
            <a:avLst/>
            <a:gdLst/>
            <a:ahLst/>
            <a:cxnLst/>
            <a:rect l="0" t="0" r="r" b="b"/>
            <a:pathLst>
              <a:path w="113845" h="50059">
                <a:moveTo>
                  <a:pt x="0" y="500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311715" y="3013710"/>
            <a:ext cx="1204856" cy="56663"/>
          </a:xfrm>
          <a:custGeom>
            <a:avLst/>
            <a:gdLst/>
            <a:ahLst/>
            <a:cxnLst/>
            <a:rect l="0" t="0" r="r" b="b"/>
            <a:pathLst>
              <a:path w="113845" h="5354">
                <a:moveTo>
                  <a:pt x="0" y="0"/>
                </a:moveTo>
                <a:lnTo>
                  <a:pt x="113845" y="535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311715" y="3649608"/>
            <a:ext cx="1204856" cy="804426"/>
          </a:xfrm>
          <a:custGeom>
            <a:avLst/>
            <a:gdLst/>
            <a:ahLst/>
            <a:cxnLst/>
            <a:rect l="0" t="0" r="r" b="b"/>
            <a:pathLst>
              <a:path w="113845" h="76009">
                <a:moveTo>
                  <a:pt x="0" y="7600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311715" y="3995570"/>
            <a:ext cx="1204856" cy="176841"/>
          </a:xfrm>
          <a:custGeom>
            <a:avLst/>
            <a:gdLst/>
            <a:ahLst/>
            <a:cxnLst/>
            <a:rect l="0" t="0" r="r" b="b"/>
            <a:pathLst>
              <a:path w="113845" h="16709">
                <a:moveTo>
                  <a:pt x="0" y="0"/>
                </a:moveTo>
                <a:lnTo>
                  <a:pt x="113845" y="1670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311715" y="3117753"/>
            <a:ext cx="1204856" cy="1033770"/>
          </a:xfrm>
          <a:custGeom>
            <a:avLst/>
            <a:gdLst/>
            <a:ahLst/>
            <a:cxnLst/>
            <a:rect l="0" t="0" r="r" b="b"/>
            <a:pathLst>
              <a:path w="113845" h="97679">
                <a:moveTo>
                  <a:pt x="0" y="9767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311715" y="3935539"/>
            <a:ext cx="1204856" cy="73070"/>
          </a:xfrm>
          <a:custGeom>
            <a:avLst/>
            <a:gdLst/>
            <a:ahLst/>
            <a:cxnLst/>
            <a:rect l="0" t="0" r="r" b="b"/>
            <a:pathLst>
              <a:path w="113845" h="6904">
                <a:moveTo>
                  <a:pt x="0" y="6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311715" y="3820590"/>
            <a:ext cx="1204856" cy="346096"/>
          </a:xfrm>
          <a:custGeom>
            <a:avLst/>
            <a:gdLst/>
            <a:ahLst/>
            <a:cxnLst/>
            <a:rect l="0" t="0" r="r" b="b"/>
            <a:pathLst>
              <a:path w="113845" h="32702">
                <a:moveTo>
                  <a:pt x="0" y="3270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311715" y="4409259"/>
            <a:ext cx="1204856" cy="52250"/>
          </a:xfrm>
          <a:custGeom>
            <a:avLst/>
            <a:gdLst/>
            <a:ahLst/>
            <a:cxnLst/>
            <a:rect l="0" t="0" r="r" b="b"/>
            <a:pathLst>
              <a:path w="113845" h="4937">
                <a:moveTo>
                  <a:pt x="0" y="49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311715" y="3486250"/>
            <a:ext cx="1204856" cy="77946"/>
          </a:xfrm>
          <a:custGeom>
            <a:avLst/>
            <a:gdLst/>
            <a:ahLst/>
            <a:cxnLst/>
            <a:rect l="0" t="0" r="r" b="b"/>
            <a:pathLst>
              <a:path w="113845" h="7365">
                <a:moveTo>
                  <a:pt x="0" y="736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311715" y="3532682"/>
            <a:ext cx="1204856" cy="743487"/>
          </a:xfrm>
          <a:custGeom>
            <a:avLst/>
            <a:gdLst/>
            <a:ahLst/>
            <a:cxnLst/>
            <a:rect l="0" t="0" r="r" b="b"/>
            <a:pathLst>
              <a:path w="113845" h="70251">
                <a:moveTo>
                  <a:pt x="0" y="702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311715" y="4020715"/>
            <a:ext cx="1204856" cy="149587"/>
          </a:xfrm>
          <a:custGeom>
            <a:avLst/>
            <a:gdLst/>
            <a:ahLst/>
            <a:cxnLst/>
            <a:rect l="0" t="0" r="r" b="b"/>
            <a:pathLst>
              <a:path w="113845" h="14134">
                <a:moveTo>
                  <a:pt x="0" y="0"/>
                </a:moveTo>
                <a:lnTo>
                  <a:pt x="113845" y="1413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311715" y="4153932"/>
            <a:ext cx="1204856" cy="13923"/>
          </a:xfrm>
          <a:custGeom>
            <a:avLst/>
            <a:gdLst/>
            <a:ahLst/>
            <a:cxnLst/>
            <a:rect l="0" t="0" r="r" b="b"/>
            <a:pathLst>
              <a:path w="113845" h="1316">
                <a:moveTo>
                  <a:pt x="0" y="13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311715" y="3829915"/>
            <a:ext cx="1204856" cy="147713"/>
          </a:xfrm>
          <a:custGeom>
            <a:avLst/>
            <a:gdLst/>
            <a:ahLst/>
            <a:cxnLst/>
            <a:rect l="0" t="0" r="r" b="b"/>
            <a:pathLst>
              <a:path w="113845" h="13957">
                <a:moveTo>
                  <a:pt x="0" y="1395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311715" y="3930034"/>
            <a:ext cx="1204856" cy="336485"/>
          </a:xfrm>
          <a:custGeom>
            <a:avLst/>
            <a:gdLst/>
            <a:ahLst/>
            <a:cxnLst/>
            <a:rect l="0" t="0" r="r" b="b"/>
            <a:pathLst>
              <a:path w="113845" h="31794">
                <a:moveTo>
                  <a:pt x="0" y="0"/>
                </a:moveTo>
                <a:lnTo>
                  <a:pt x="113845" y="31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311715" y="3725383"/>
            <a:ext cx="1204856" cy="526668"/>
          </a:xfrm>
          <a:custGeom>
            <a:avLst/>
            <a:gdLst/>
            <a:ahLst/>
            <a:cxnLst/>
            <a:rect l="0" t="0" r="r" b="b"/>
            <a:pathLst>
              <a:path w="113845" h="49764">
                <a:moveTo>
                  <a:pt x="0" y="497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858266" y="4385944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858266" y="407236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858266" y="37587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858266" y="344521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858266" y="313164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292636" y="4359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292636" y="38628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292636" y="35430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292636" y="43141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292636" y="41044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292636" y="414396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292636" y="37158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292636" y="40344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292636" y="41151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292636" y="3853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292636" y="39579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292636" y="425378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292636" y="41153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292636" y="39178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292636" y="42917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292636" y="402608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292636" y="39666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292636" y="39585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292636" y="40653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292636" y="426629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292636" y="38786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292636" y="41261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292636" y="40949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292636" y="376083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292636" y="427048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292636" y="3857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292636" y="39344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292636" y="40205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292636" y="40928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292636" y="413141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292636" y="420565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292636" y="29946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292636" y="44349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292636" y="3976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292636" y="41324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292636" y="39895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292636" y="4147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vector geometry"/>
          <p:cNvSpPr/>
          <p:nvPr/>
        </p:nvSpPr>
        <p:spPr>
          <a:xfrm>
            <a:off x="1292636" y="44424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vector geometry"/>
          <p:cNvSpPr/>
          <p:nvPr/>
        </p:nvSpPr>
        <p:spPr>
          <a:xfrm>
            <a:off x="1292636" y="35451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1292636" y="42570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1292636" y="40016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1292636" y="414877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1292636" y="39585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1292636" y="391095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1292636" y="42329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2497492" y="396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2497492" y="3594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2497492" y="412636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2497492" y="33786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2497492" y="33341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2497492" y="38938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2497492" y="385105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2497492" y="375562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2497492" y="33466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2497492" y="40090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vector geometry"/>
          <p:cNvSpPr/>
          <p:nvPr/>
        </p:nvSpPr>
        <p:spPr>
          <a:xfrm>
            <a:off x="2497492" y="346777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vector geometry"/>
          <p:cNvSpPr/>
          <p:nvPr/>
        </p:nvSpPr>
        <p:spPr>
          <a:xfrm>
            <a:off x="2497492" y="401359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vector geometry"/>
          <p:cNvSpPr/>
          <p:nvPr/>
        </p:nvSpPr>
        <p:spPr>
          <a:xfrm>
            <a:off x="2497492" y="34458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vector geometry"/>
          <p:cNvSpPr/>
          <p:nvPr/>
        </p:nvSpPr>
        <p:spPr>
          <a:xfrm>
            <a:off x="2497492" y="37483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vector geometry"/>
          <p:cNvSpPr/>
          <p:nvPr/>
        </p:nvSpPr>
        <p:spPr>
          <a:xfrm>
            <a:off x="2497492" y="32375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vector geometry"/>
          <p:cNvSpPr/>
          <p:nvPr/>
        </p:nvSpPr>
        <p:spPr>
          <a:xfrm>
            <a:off x="2497492" y="38760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vector geometry"/>
          <p:cNvSpPr/>
          <p:nvPr/>
        </p:nvSpPr>
        <p:spPr>
          <a:xfrm>
            <a:off x="2497492" y="38799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vector geometry"/>
          <p:cNvSpPr/>
          <p:nvPr/>
        </p:nvSpPr>
        <p:spPr>
          <a:xfrm>
            <a:off x="2497492" y="35047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vector geometry"/>
          <p:cNvSpPr/>
          <p:nvPr/>
        </p:nvSpPr>
        <p:spPr>
          <a:xfrm>
            <a:off x="2497492" y="365674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vector geometry"/>
          <p:cNvSpPr/>
          <p:nvPr/>
        </p:nvSpPr>
        <p:spPr>
          <a:xfrm>
            <a:off x="2497492" y="316664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vector geometry"/>
          <p:cNvSpPr/>
          <p:nvPr/>
        </p:nvSpPr>
        <p:spPr>
          <a:xfrm>
            <a:off x="2497492" y="40596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vector geometry"/>
          <p:cNvSpPr/>
          <p:nvPr/>
        </p:nvSpPr>
        <p:spPr>
          <a:xfrm>
            <a:off x="2497492" y="32695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vector geometry"/>
          <p:cNvSpPr/>
          <p:nvPr/>
        </p:nvSpPr>
        <p:spPr>
          <a:xfrm>
            <a:off x="2497492" y="39611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vector geometry"/>
          <p:cNvSpPr/>
          <p:nvPr/>
        </p:nvSpPr>
        <p:spPr>
          <a:xfrm>
            <a:off x="2497492" y="40477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vector geometry"/>
          <p:cNvSpPr/>
          <p:nvPr/>
        </p:nvSpPr>
        <p:spPr>
          <a:xfrm>
            <a:off x="2497492" y="3703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vector geometry"/>
          <p:cNvSpPr/>
          <p:nvPr/>
        </p:nvSpPr>
        <p:spPr>
          <a:xfrm>
            <a:off x="2497492" y="36545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vector geometry"/>
          <p:cNvSpPr/>
          <p:nvPr/>
        </p:nvSpPr>
        <p:spPr>
          <a:xfrm>
            <a:off x="2497492" y="40083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vector geometry"/>
          <p:cNvSpPr/>
          <p:nvPr/>
        </p:nvSpPr>
        <p:spPr>
          <a:xfrm>
            <a:off x="2497492" y="415959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vector geometry"/>
          <p:cNvSpPr/>
          <p:nvPr/>
        </p:nvSpPr>
        <p:spPr>
          <a:xfrm>
            <a:off x="2497492" y="341666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vector geometry"/>
          <p:cNvSpPr/>
          <p:nvPr/>
        </p:nvSpPr>
        <p:spPr>
          <a:xfrm>
            <a:off x="2497492" y="3535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vector geometry"/>
          <p:cNvSpPr/>
          <p:nvPr/>
        </p:nvSpPr>
        <p:spPr>
          <a:xfrm>
            <a:off x="2497492" y="36758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vector geometry"/>
          <p:cNvSpPr/>
          <p:nvPr/>
        </p:nvSpPr>
        <p:spPr>
          <a:xfrm>
            <a:off x="2497492" y="30512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vector geometry"/>
          <p:cNvSpPr/>
          <p:nvPr/>
        </p:nvSpPr>
        <p:spPr>
          <a:xfrm>
            <a:off x="2497492" y="36305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vector geometry"/>
          <p:cNvSpPr/>
          <p:nvPr/>
        </p:nvSpPr>
        <p:spPr>
          <a:xfrm>
            <a:off x="2497492" y="4153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vector geometry"/>
          <p:cNvSpPr/>
          <p:nvPr/>
        </p:nvSpPr>
        <p:spPr>
          <a:xfrm>
            <a:off x="2497492" y="309867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vector geometry"/>
          <p:cNvSpPr/>
          <p:nvPr/>
        </p:nvSpPr>
        <p:spPr>
          <a:xfrm>
            <a:off x="2497492" y="391646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vector geometry"/>
          <p:cNvSpPr/>
          <p:nvPr/>
        </p:nvSpPr>
        <p:spPr>
          <a:xfrm>
            <a:off x="2497492" y="380151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vector geometry"/>
          <p:cNvSpPr/>
          <p:nvPr/>
        </p:nvSpPr>
        <p:spPr>
          <a:xfrm>
            <a:off x="2497492" y="439018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vector geometry"/>
          <p:cNvSpPr/>
          <p:nvPr/>
        </p:nvSpPr>
        <p:spPr>
          <a:xfrm>
            <a:off x="2497492" y="34671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vector geometry"/>
          <p:cNvSpPr/>
          <p:nvPr/>
        </p:nvSpPr>
        <p:spPr>
          <a:xfrm>
            <a:off x="2497492" y="35136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vector geometry"/>
          <p:cNvSpPr/>
          <p:nvPr/>
        </p:nvSpPr>
        <p:spPr>
          <a:xfrm>
            <a:off x="2497492" y="41512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vector geometry"/>
          <p:cNvSpPr/>
          <p:nvPr/>
        </p:nvSpPr>
        <p:spPr>
          <a:xfrm>
            <a:off x="2497492" y="41348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vector geometry"/>
          <p:cNvSpPr/>
          <p:nvPr/>
        </p:nvSpPr>
        <p:spPr>
          <a:xfrm>
            <a:off x="2497492" y="381083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vector geometry"/>
          <p:cNvSpPr/>
          <p:nvPr/>
        </p:nvSpPr>
        <p:spPr>
          <a:xfrm>
            <a:off x="2497492" y="42474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vector geometry"/>
          <p:cNvSpPr/>
          <p:nvPr/>
        </p:nvSpPr>
        <p:spPr>
          <a:xfrm>
            <a:off x="2497492" y="3706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vector geometry"/>
          <p:cNvSpPr/>
          <p:nvPr/>
        </p:nvSpPr>
        <p:spPr>
          <a:xfrm>
            <a:off x="890016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vector geometry"/>
          <p:cNvSpPr/>
          <p:nvPr/>
        </p:nvSpPr>
        <p:spPr>
          <a:xfrm>
            <a:off x="890016" y="4649723"/>
            <a:ext cx="2048255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vector geometry"/>
          <p:cNvSpPr/>
          <p:nvPr/>
        </p:nvSpPr>
        <p:spPr>
          <a:xfrm>
            <a:off x="1143035" y="4050495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vector geometry"/>
          <p:cNvSpPr/>
          <p:nvPr/>
        </p:nvSpPr>
        <p:spPr>
          <a:xfrm>
            <a:off x="2347892" y="374840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vector geometry"/>
          <p:cNvSpPr/>
          <p:nvPr/>
        </p:nvSpPr>
        <p:spPr>
          <a:xfrm>
            <a:off x="3706368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vector geometry"/>
          <p:cNvSpPr/>
          <p:nvPr/>
        </p:nvSpPr>
        <p:spPr>
          <a:xfrm>
            <a:off x="4128067" y="3769247"/>
            <a:ext cx="1204856" cy="147685"/>
          </a:xfrm>
          <a:custGeom>
            <a:avLst/>
            <a:gdLst/>
            <a:ahLst/>
            <a:cxnLst/>
            <a:rect l="0" t="0" r="r" b="b"/>
            <a:pathLst>
              <a:path w="113845" h="13955">
                <a:moveTo>
                  <a:pt x="0" y="1395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vector geometry"/>
          <p:cNvSpPr/>
          <p:nvPr/>
        </p:nvSpPr>
        <p:spPr>
          <a:xfrm>
            <a:off x="4128067" y="3963551"/>
            <a:ext cx="1204856" cy="41996"/>
          </a:xfrm>
          <a:custGeom>
            <a:avLst/>
            <a:gdLst/>
            <a:ahLst/>
            <a:cxnLst/>
            <a:rect l="0" t="0" r="r" b="b"/>
            <a:pathLst>
              <a:path w="113845" h="3968">
                <a:moveTo>
                  <a:pt x="0" y="396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vector geometry"/>
          <p:cNvSpPr/>
          <p:nvPr/>
        </p:nvSpPr>
        <p:spPr>
          <a:xfrm>
            <a:off x="4128067" y="3847089"/>
            <a:ext cx="1204856" cy="231243"/>
          </a:xfrm>
          <a:custGeom>
            <a:avLst/>
            <a:gdLst/>
            <a:ahLst/>
            <a:cxnLst/>
            <a:rect l="0" t="0" r="r" b="b"/>
            <a:pathLst>
              <a:path w="113845" h="21850">
                <a:moveTo>
                  <a:pt x="0" y="2185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geometry"/>
          <p:cNvSpPr/>
          <p:nvPr/>
        </p:nvSpPr>
        <p:spPr>
          <a:xfrm>
            <a:off x="4128067" y="3013710"/>
            <a:ext cx="1204856" cy="823318"/>
          </a:xfrm>
          <a:custGeom>
            <a:avLst/>
            <a:gdLst/>
            <a:ahLst/>
            <a:cxnLst/>
            <a:rect l="0" t="0" r="r" b="b"/>
            <a:pathLst>
              <a:path w="113845" h="77794">
                <a:moveTo>
                  <a:pt x="0" y="777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geometry"/>
          <p:cNvSpPr/>
          <p:nvPr/>
        </p:nvSpPr>
        <p:spPr>
          <a:xfrm>
            <a:off x="4128067" y="3625494"/>
            <a:ext cx="1204856" cy="213483"/>
          </a:xfrm>
          <a:custGeom>
            <a:avLst/>
            <a:gdLst/>
            <a:ahLst/>
            <a:cxnLst/>
            <a:rect l="0" t="0" r="r" b="b"/>
            <a:pathLst>
              <a:path w="113845" h="20172">
                <a:moveTo>
                  <a:pt x="0" y="201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vector geometry"/>
          <p:cNvSpPr/>
          <p:nvPr/>
        </p:nvSpPr>
        <p:spPr>
          <a:xfrm>
            <a:off x="4128067" y="3342297"/>
            <a:ext cx="1204856" cy="666209"/>
          </a:xfrm>
          <a:custGeom>
            <a:avLst/>
            <a:gdLst/>
            <a:ahLst/>
            <a:cxnLst/>
            <a:rect l="0" t="0" r="r" b="b"/>
            <a:pathLst>
              <a:path w="113845" h="62949">
                <a:moveTo>
                  <a:pt x="0" y="6294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vector geometry"/>
          <p:cNvSpPr/>
          <p:nvPr/>
        </p:nvSpPr>
        <p:spPr>
          <a:xfrm>
            <a:off x="4128067" y="3657383"/>
            <a:ext cx="1204856" cy="217507"/>
          </a:xfrm>
          <a:custGeom>
            <a:avLst/>
            <a:gdLst/>
            <a:ahLst/>
            <a:cxnLst/>
            <a:rect l="0" t="0" r="r" b="b"/>
            <a:pathLst>
              <a:path w="113845" h="20552">
                <a:moveTo>
                  <a:pt x="0" y="205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vector geometry"/>
          <p:cNvSpPr/>
          <p:nvPr/>
        </p:nvSpPr>
        <p:spPr>
          <a:xfrm>
            <a:off x="4128067" y="3641362"/>
            <a:ext cx="1204856" cy="206021"/>
          </a:xfrm>
          <a:custGeom>
            <a:avLst/>
            <a:gdLst/>
            <a:ahLst/>
            <a:cxnLst/>
            <a:rect l="0" t="0" r="r" b="b"/>
            <a:pathLst>
              <a:path w="113845" h="19467">
                <a:moveTo>
                  <a:pt x="0" y="194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vector geometry"/>
          <p:cNvSpPr/>
          <p:nvPr/>
        </p:nvSpPr>
        <p:spPr>
          <a:xfrm>
            <a:off x="4128067" y="4278229"/>
            <a:ext cx="1204856" cy="151728"/>
          </a:xfrm>
          <a:custGeom>
            <a:avLst/>
            <a:gdLst/>
            <a:ahLst/>
            <a:cxnLst/>
            <a:rect l="0" t="0" r="r" b="b"/>
            <a:pathLst>
              <a:path w="113845" h="14337">
                <a:moveTo>
                  <a:pt x="0" y="0"/>
                </a:moveTo>
                <a:lnTo>
                  <a:pt x="113845" y="1433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vector geometry"/>
          <p:cNvSpPr/>
          <p:nvPr/>
        </p:nvSpPr>
        <p:spPr>
          <a:xfrm>
            <a:off x="4128067" y="3967538"/>
            <a:ext cx="1204856" cy="122875"/>
          </a:xfrm>
          <a:custGeom>
            <a:avLst/>
            <a:gdLst/>
            <a:ahLst/>
            <a:cxnLst/>
            <a:rect l="0" t="0" r="r" b="b"/>
            <a:pathLst>
              <a:path w="113845" h="11610">
                <a:moveTo>
                  <a:pt x="0" y="0"/>
                </a:moveTo>
                <a:lnTo>
                  <a:pt x="113845" y="1161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vector geometry"/>
          <p:cNvSpPr/>
          <p:nvPr/>
        </p:nvSpPr>
        <p:spPr>
          <a:xfrm>
            <a:off x="4128067" y="3716874"/>
            <a:ext cx="1204856" cy="510177"/>
          </a:xfrm>
          <a:custGeom>
            <a:avLst/>
            <a:gdLst/>
            <a:ahLst/>
            <a:cxnLst/>
            <a:rect l="0" t="0" r="r" b="b"/>
            <a:pathLst>
              <a:path w="113845" h="48206">
                <a:moveTo>
                  <a:pt x="0" y="4820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vector geometry"/>
          <p:cNvSpPr/>
          <p:nvPr/>
        </p:nvSpPr>
        <p:spPr>
          <a:xfrm>
            <a:off x="4128067" y="4034205"/>
            <a:ext cx="1204856" cy="268076"/>
          </a:xfrm>
          <a:custGeom>
            <a:avLst/>
            <a:gdLst/>
            <a:ahLst/>
            <a:cxnLst/>
            <a:rect l="0" t="0" r="r" b="b"/>
            <a:pathLst>
              <a:path w="113845" h="25330">
                <a:moveTo>
                  <a:pt x="0" y="0"/>
                </a:moveTo>
                <a:lnTo>
                  <a:pt x="113845" y="2533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vector geometry"/>
          <p:cNvSpPr/>
          <p:nvPr/>
        </p:nvSpPr>
        <p:spPr>
          <a:xfrm>
            <a:off x="4128067" y="4154994"/>
            <a:ext cx="1204856" cy="29576"/>
          </a:xfrm>
          <a:custGeom>
            <a:avLst/>
            <a:gdLst/>
            <a:ahLst/>
            <a:cxnLst/>
            <a:rect l="0" t="0" r="r" b="b"/>
            <a:pathLst>
              <a:path w="113845" h="2795">
                <a:moveTo>
                  <a:pt x="0" y="27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vector geometry"/>
          <p:cNvSpPr/>
          <p:nvPr/>
        </p:nvSpPr>
        <p:spPr>
          <a:xfrm>
            <a:off x="4128067" y="3921579"/>
            <a:ext cx="1204856" cy="135379"/>
          </a:xfrm>
          <a:custGeom>
            <a:avLst/>
            <a:gdLst/>
            <a:ahLst/>
            <a:cxnLst/>
            <a:rect l="0" t="0" r="r" b="b"/>
            <a:pathLst>
              <a:path w="113845" h="12792">
                <a:moveTo>
                  <a:pt x="0" y="0"/>
                </a:moveTo>
                <a:lnTo>
                  <a:pt x="113845" y="1279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vector geometry"/>
          <p:cNvSpPr/>
          <p:nvPr/>
        </p:nvSpPr>
        <p:spPr>
          <a:xfrm>
            <a:off x="4128067" y="3519129"/>
            <a:ext cx="1204856" cy="251385"/>
          </a:xfrm>
          <a:custGeom>
            <a:avLst/>
            <a:gdLst/>
            <a:ahLst/>
            <a:cxnLst/>
            <a:rect l="0" t="0" r="r" b="b"/>
            <a:pathLst>
              <a:path w="113845" h="23753">
                <a:moveTo>
                  <a:pt x="0" y="0"/>
                </a:moveTo>
                <a:lnTo>
                  <a:pt x="113845" y="2375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vector geometry"/>
          <p:cNvSpPr/>
          <p:nvPr/>
        </p:nvSpPr>
        <p:spPr>
          <a:xfrm>
            <a:off x="4128067" y="3506566"/>
            <a:ext cx="1204856" cy="612857"/>
          </a:xfrm>
          <a:custGeom>
            <a:avLst/>
            <a:gdLst/>
            <a:ahLst/>
            <a:cxnLst/>
            <a:rect l="0" t="0" r="r" b="b"/>
            <a:pathLst>
              <a:path w="113845" h="57908">
                <a:moveTo>
                  <a:pt x="0" y="579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vector geometry"/>
          <p:cNvSpPr/>
          <p:nvPr/>
        </p:nvSpPr>
        <p:spPr>
          <a:xfrm>
            <a:off x="4128067" y="3756620"/>
            <a:ext cx="1204856" cy="226196"/>
          </a:xfrm>
          <a:custGeom>
            <a:avLst/>
            <a:gdLst/>
            <a:ahLst/>
            <a:cxnLst/>
            <a:rect l="0" t="0" r="r" b="b"/>
            <a:pathLst>
              <a:path w="113845" h="21373">
                <a:moveTo>
                  <a:pt x="0" y="213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vector geometry"/>
          <p:cNvSpPr/>
          <p:nvPr/>
        </p:nvSpPr>
        <p:spPr>
          <a:xfrm>
            <a:off x="4128067" y="4108348"/>
            <a:ext cx="1204856" cy="353161"/>
          </a:xfrm>
          <a:custGeom>
            <a:avLst/>
            <a:gdLst/>
            <a:ahLst/>
            <a:cxnLst/>
            <a:rect l="0" t="0" r="r" b="b"/>
            <a:pathLst>
              <a:path w="113845" h="33370">
                <a:moveTo>
                  <a:pt x="0" y="0"/>
                </a:moveTo>
                <a:lnTo>
                  <a:pt x="113845" y="3337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vector geometry"/>
          <p:cNvSpPr/>
          <p:nvPr/>
        </p:nvSpPr>
        <p:spPr>
          <a:xfrm>
            <a:off x="4128067" y="3356587"/>
            <a:ext cx="1204856" cy="669111"/>
          </a:xfrm>
          <a:custGeom>
            <a:avLst/>
            <a:gdLst/>
            <a:ahLst/>
            <a:cxnLst/>
            <a:rect l="0" t="0" r="r" b="b"/>
            <a:pathLst>
              <a:path w="113845" h="63223">
                <a:moveTo>
                  <a:pt x="0" y="632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vector geometry"/>
          <p:cNvSpPr/>
          <p:nvPr/>
        </p:nvSpPr>
        <p:spPr>
          <a:xfrm>
            <a:off x="4128067" y="3373878"/>
            <a:ext cx="1204856" cy="596840"/>
          </a:xfrm>
          <a:custGeom>
            <a:avLst/>
            <a:gdLst/>
            <a:ahLst/>
            <a:cxnLst/>
            <a:rect l="0" t="0" r="r" b="b"/>
            <a:pathLst>
              <a:path w="113845" h="56394">
                <a:moveTo>
                  <a:pt x="0" y="563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vector geometry"/>
          <p:cNvSpPr/>
          <p:nvPr/>
        </p:nvSpPr>
        <p:spPr>
          <a:xfrm>
            <a:off x="4128067" y="3657359"/>
            <a:ext cx="1204856" cy="203117"/>
          </a:xfrm>
          <a:custGeom>
            <a:avLst/>
            <a:gdLst/>
            <a:ahLst/>
            <a:cxnLst/>
            <a:rect l="0" t="0" r="r" b="b"/>
            <a:pathLst>
              <a:path w="113845" h="19192">
                <a:moveTo>
                  <a:pt x="0" y="19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vector geometry"/>
          <p:cNvSpPr/>
          <p:nvPr/>
        </p:nvSpPr>
        <p:spPr>
          <a:xfrm>
            <a:off x="4128067" y="3277704"/>
            <a:ext cx="1204856" cy="693116"/>
          </a:xfrm>
          <a:custGeom>
            <a:avLst/>
            <a:gdLst/>
            <a:ahLst/>
            <a:cxnLst/>
            <a:rect l="0" t="0" r="r" b="b"/>
            <a:pathLst>
              <a:path w="113845" h="65491">
                <a:moveTo>
                  <a:pt x="0" y="654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vector geometry"/>
          <p:cNvSpPr/>
          <p:nvPr/>
        </p:nvSpPr>
        <p:spPr>
          <a:xfrm>
            <a:off x="4128067" y="3528973"/>
            <a:ext cx="1204856" cy="618327"/>
          </a:xfrm>
          <a:custGeom>
            <a:avLst/>
            <a:gdLst/>
            <a:ahLst/>
            <a:cxnLst/>
            <a:rect l="0" t="0" r="r" b="b"/>
            <a:pathLst>
              <a:path w="113845" h="58425">
                <a:moveTo>
                  <a:pt x="0" y="5842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vector geometry"/>
          <p:cNvSpPr/>
          <p:nvPr/>
        </p:nvSpPr>
        <p:spPr>
          <a:xfrm>
            <a:off x="4128067" y="4126532"/>
            <a:ext cx="1204856" cy="51642"/>
          </a:xfrm>
          <a:custGeom>
            <a:avLst/>
            <a:gdLst/>
            <a:ahLst/>
            <a:cxnLst/>
            <a:rect l="0" t="0" r="r" b="b"/>
            <a:pathLst>
              <a:path w="113845" h="4880">
                <a:moveTo>
                  <a:pt x="0" y="4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vector geometry"/>
          <p:cNvSpPr/>
          <p:nvPr/>
        </p:nvSpPr>
        <p:spPr>
          <a:xfrm>
            <a:off x="4128067" y="3610343"/>
            <a:ext cx="1204856" cy="401658"/>
          </a:xfrm>
          <a:custGeom>
            <a:avLst/>
            <a:gdLst/>
            <a:ahLst/>
            <a:cxnLst/>
            <a:rect l="0" t="0" r="r" b="b"/>
            <a:pathLst>
              <a:path w="113845" h="37952">
                <a:moveTo>
                  <a:pt x="0" y="379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vector geometry"/>
          <p:cNvSpPr/>
          <p:nvPr/>
        </p:nvSpPr>
        <p:spPr>
          <a:xfrm>
            <a:off x="4128067" y="4117678"/>
            <a:ext cx="1204856" cy="258459"/>
          </a:xfrm>
          <a:custGeom>
            <a:avLst/>
            <a:gdLst/>
            <a:ahLst/>
            <a:cxnLst/>
            <a:rect l="0" t="0" r="r" b="b"/>
            <a:pathLst>
              <a:path w="113845" h="24421">
                <a:moveTo>
                  <a:pt x="0" y="0"/>
                </a:moveTo>
                <a:lnTo>
                  <a:pt x="113845" y="2442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vector geometry"/>
          <p:cNvSpPr/>
          <p:nvPr/>
        </p:nvSpPr>
        <p:spPr>
          <a:xfrm>
            <a:off x="4128067" y="3848975"/>
            <a:ext cx="1204856" cy="195511"/>
          </a:xfrm>
          <a:custGeom>
            <a:avLst/>
            <a:gdLst/>
            <a:ahLst/>
            <a:cxnLst/>
            <a:rect l="0" t="0" r="r" b="b"/>
            <a:pathLst>
              <a:path w="113845" h="18474">
                <a:moveTo>
                  <a:pt x="0" y="1847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vector geometry"/>
          <p:cNvSpPr/>
          <p:nvPr/>
        </p:nvSpPr>
        <p:spPr>
          <a:xfrm>
            <a:off x="4128067" y="3394919"/>
            <a:ext cx="1204856" cy="687134"/>
          </a:xfrm>
          <a:custGeom>
            <a:avLst/>
            <a:gdLst/>
            <a:ahLst/>
            <a:cxnLst/>
            <a:rect l="0" t="0" r="r" b="b"/>
            <a:pathLst>
              <a:path w="113845" h="64926">
                <a:moveTo>
                  <a:pt x="0" y="6492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vector geometry"/>
          <p:cNvSpPr/>
          <p:nvPr/>
        </p:nvSpPr>
        <p:spPr>
          <a:xfrm>
            <a:off x="4128067" y="4007783"/>
            <a:ext cx="1204856" cy="56629"/>
          </a:xfrm>
          <a:custGeom>
            <a:avLst/>
            <a:gdLst/>
            <a:ahLst/>
            <a:cxnLst/>
            <a:rect l="0" t="0" r="r" b="b"/>
            <a:pathLst>
              <a:path w="113845" h="5351">
                <a:moveTo>
                  <a:pt x="0" y="53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vector geometry"/>
          <p:cNvSpPr/>
          <p:nvPr/>
        </p:nvSpPr>
        <p:spPr>
          <a:xfrm>
            <a:off x="4128067" y="4071155"/>
            <a:ext cx="1204856" cy="74530"/>
          </a:xfrm>
          <a:custGeom>
            <a:avLst/>
            <a:gdLst/>
            <a:ahLst/>
            <a:cxnLst/>
            <a:rect l="0" t="0" r="r" b="b"/>
            <a:pathLst>
              <a:path w="113845" h="7042">
                <a:moveTo>
                  <a:pt x="0" y="70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vector geometry"/>
          <p:cNvSpPr/>
          <p:nvPr/>
        </p:nvSpPr>
        <p:spPr>
          <a:xfrm>
            <a:off x="4128067" y="3436421"/>
            <a:ext cx="1204856" cy="380099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vector geometry"/>
          <p:cNvSpPr/>
          <p:nvPr/>
        </p:nvSpPr>
        <p:spPr>
          <a:xfrm>
            <a:off x="4128067" y="3916000"/>
            <a:ext cx="1204856" cy="309906"/>
          </a:xfrm>
          <a:custGeom>
            <a:avLst/>
            <a:gdLst/>
            <a:ahLst/>
            <a:cxnLst/>
            <a:rect l="0" t="0" r="r" b="b"/>
            <a:pathLst>
              <a:path w="113845" h="29283">
                <a:moveTo>
                  <a:pt x="0" y="2928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vector geometry"/>
          <p:cNvSpPr/>
          <p:nvPr/>
        </p:nvSpPr>
        <p:spPr>
          <a:xfrm>
            <a:off x="4128067" y="3942667"/>
            <a:ext cx="1204856" cy="122095"/>
          </a:xfrm>
          <a:custGeom>
            <a:avLst/>
            <a:gdLst/>
            <a:ahLst/>
            <a:cxnLst/>
            <a:rect l="0" t="0" r="r" b="b"/>
            <a:pathLst>
              <a:path w="113845" h="11537">
                <a:moveTo>
                  <a:pt x="0" y="115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vector geometry"/>
          <p:cNvSpPr/>
          <p:nvPr/>
        </p:nvSpPr>
        <p:spPr>
          <a:xfrm>
            <a:off x="3674618" y="460034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vector geometry"/>
          <p:cNvSpPr/>
          <p:nvPr/>
        </p:nvSpPr>
        <p:spPr>
          <a:xfrm>
            <a:off x="3674618" y="432796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vector geometry"/>
          <p:cNvSpPr/>
          <p:nvPr/>
        </p:nvSpPr>
        <p:spPr>
          <a:xfrm>
            <a:off x="3674618" y="405557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vector geometry"/>
          <p:cNvSpPr/>
          <p:nvPr/>
        </p:nvSpPr>
        <p:spPr>
          <a:xfrm>
            <a:off x="3674618" y="378319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vector geometry"/>
          <p:cNvSpPr/>
          <p:nvPr/>
        </p:nvSpPr>
        <p:spPr>
          <a:xfrm>
            <a:off x="3674618" y="351080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vector geometry"/>
          <p:cNvSpPr/>
          <p:nvPr/>
        </p:nvSpPr>
        <p:spPr>
          <a:xfrm>
            <a:off x="3674618" y="323842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vector geometry"/>
          <p:cNvSpPr/>
          <p:nvPr/>
        </p:nvSpPr>
        <p:spPr>
          <a:xfrm>
            <a:off x="3674618" y="296603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vector geometry"/>
          <p:cNvSpPr/>
          <p:nvPr/>
        </p:nvSpPr>
        <p:spPr>
          <a:xfrm>
            <a:off x="4108988" y="38978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vector geometry"/>
          <p:cNvSpPr/>
          <p:nvPr/>
        </p:nvSpPr>
        <p:spPr>
          <a:xfrm>
            <a:off x="4108988" y="39864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vector geometry"/>
          <p:cNvSpPr/>
          <p:nvPr/>
        </p:nvSpPr>
        <p:spPr>
          <a:xfrm>
            <a:off x="4108988" y="40592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vector geometry"/>
          <p:cNvSpPr/>
          <p:nvPr/>
        </p:nvSpPr>
        <p:spPr>
          <a:xfrm>
            <a:off x="4108988" y="38179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vector geometry"/>
          <p:cNvSpPr/>
          <p:nvPr/>
        </p:nvSpPr>
        <p:spPr>
          <a:xfrm>
            <a:off x="4108988" y="38198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vector geometry"/>
          <p:cNvSpPr/>
          <p:nvPr/>
        </p:nvSpPr>
        <p:spPr>
          <a:xfrm>
            <a:off x="4108988" y="398942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vector geometry"/>
          <p:cNvSpPr/>
          <p:nvPr/>
        </p:nvSpPr>
        <p:spPr>
          <a:xfrm>
            <a:off x="4108988" y="38558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vector geometry"/>
          <p:cNvSpPr/>
          <p:nvPr/>
        </p:nvSpPr>
        <p:spPr>
          <a:xfrm>
            <a:off x="4108988" y="3828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vector geometry"/>
          <p:cNvSpPr/>
          <p:nvPr/>
        </p:nvSpPr>
        <p:spPr>
          <a:xfrm>
            <a:off x="4108988" y="42591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vector geometry"/>
          <p:cNvSpPr/>
          <p:nvPr/>
        </p:nvSpPr>
        <p:spPr>
          <a:xfrm>
            <a:off x="4108988" y="3948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vector geometry"/>
          <p:cNvSpPr/>
          <p:nvPr/>
        </p:nvSpPr>
        <p:spPr>
          <a:xfrm>
            <a:off x="4108988" y="420797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vector geometry"/>
          <p:cNvSpPr/>
          <p:nvPr/>
        </p:nvSpPr>
        <p:spPr>
          <a:xfrm>
            <a:off x="4108988" y="40151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vector geometry"/>
          <p:cNvSpPr/>
          <p:nvPr/>
        </p:nvSpPr>
        <p:spPr>
          <a:xfrm>
            <a:off x="4108988" y="4165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geometry"/>
          <p:cNvSpPr/>
          <p:nvPr/>
        </p:nvSpPr>
        <p:spPr>
          <a:xfrm>
            <a:off x="4108988" y="390250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geometry"/>
          <p:cNvSpPr/>
          <p:nvPr/>
        </p:nvSpPr>
        <p:spPr>
          <a:xfrm>
            <a:off x="4108988" y="35000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geometry"/>
          <p:cNvSpPr/>
          <p:nvPr/>
        </p:nvSpPr>
        <p:spPr>
          <a:xfrm>
            <a:off x="4108988" y="410034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vector geometry"/>
          <p:cNvSpPr/>
          <p:nvPr/>
        </p:nvSpPr>
        <p:spPr>
          <a:xfrm>
            <a:off x="4108988" y="39637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vector geometry"/>
          <p:cNvSpPr/>
          <p:nvPr/>
        </p:nvSpPr>
        <p:spPr>
          <a:xfrm>
            <a:off x="4108988" y="40892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vector geometry"/>
          <p:cNvSpPr/>
          <p:nvPr/>
        </p:nvSpPr>
        <p:spPr>
          <a:xfrm>
            <a:off x="4108988" y="400662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vector geometry"/>
          <p:cNvSpPr/>
          <p:nvPr/>
        </p:nvSpPr>
        <p:spPr>
          <a:xfrm>
            <a:off x="4108988" y="39516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vector geometry"/>
          <p:cNvSpPr/>
          <p:nvPr/>
        </p:nvSpPr>
        <p:spPr>
          <a:xfrm>
            <a:off x="4108988" y="38413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vector geometry"/>
          <p:cNvSpPr/>
          <p:nvPr/>
        </p:nvSpPr>
        <p:spPr>
          <a:xfrm>
            <a:off x="4108988" y="39517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vector geometry"/>
          <p:cNvSpPr/>
          <p:nvPr/>
        </p:nvSpPr>
        <p:spPr>
          <a:xfrm>
            <a:off x="4108988" y="41282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geometry"/>
          <p:cNvSpPr/>
          <p:nvPr/>
        </p:nvSpPr>
        <p:spPr>
          <a:xfrm>
            <a:off x="4108988" y="41590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geometry"/>
          <p:cNvSpPr/>
          <p:nvPr/>
        </p:nvSpPr>
        <p:spPr>
          <a:xfrm>
            <a:off x="4108988" y="399292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vector geometry"/>
          <p:cNvSpPr/>
          <p:nvPr/>
        </p:nvSpPr>
        <p:spPr>
          <a:xfrm>
            <a:off x="4108988" y="409859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vector geometry"/>
          <p:cNvSpPr/>
          <p:nvPr/>
        </p:nvSpPr>
        <p:spPr>
          <a:xfrm>
            <a:off x="4108988" y="40254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vector geometry"/>
          <p:cNvSpPr/>
          <p:nvPr/>
        </p:nvSpPr>
        <p:spPr>
          <a:xfrm>
            <a:off x="4108988" y="406297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vector geometry"/>
          <p:cNvSpPr/>
          <p:nvPr/>
        </p:nvSpPr>
        <p:spPr>
          <a:xfrm>
            <a:off x="4108988" y="4045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vector geometry"/>
          <p:cNvSpPr/>
          <p:nvPr/>
        </p:nvSpPr>
        <p:spPr>
          <a:xfrm>
            <a:off x="4108988" y="412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vector geometry"/>
          <p:cNvSpPr/>
          <p:nvPr/>
        </p:nvSpPr>
        <p:spPr>
          <a:xfrm>
            <a:off x="4108988" y="37974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vector geometry"/>
          <p:cNvSpPr/>
          <p:nvPr/>
        </p:nvSpPr>
        <p:spPr>
          <a:xfrm>
            <a:off x="4108988" y="420682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vector geometry"/>
          <p:cNvSpPr/>
          <p:nvPr/>
        </p:nvSpPr>
        <p:spPr>
          <a:xfrm>
            <a:off x="4108988" y="404568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ditable vector geometry"/>
          <p:cNvSpPr/>
          <p:nvPr/>
        </p:nvSpPr>
        <p:spPr>
          <a:xfrm>
            <a:off x="5313844" y="37501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vector geometry"/>
          <p:cNvSpPr/>
          <p:nvPr/>
        </p:nvSpPr>
        <p:spPr>
          <a:xfrm>
            <a:off x="5313844" y="39444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vector geometry"/>
          <p:cNvSpPr/>
          <p:nvPr/>
        </p:nvSpPr>
        <p:spPr>
          <a:xfrm>
            <a:off x="5313844" y="38280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vector geometry"/>
          <p:cNvSpPr/>
          <p:nvPr/>
        </p:nvSpPr>
        <p:spPr>
          <a:xfrm>
            <a:off x="5313844" y="29946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vector geometry"/>
          <p:cNvSpPr/>
          <p:nvPr/>
        </p:nvSpPr>
        <p:spPr>
          <a:xfrm>
            <a:off x="5313844" y="360641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vector geometry"/>
          <p:cNvSpPr/>
          <p:nvPr/>
        </p:nvSpPr>
        <p:spPr>
          <a:xfrm>
            <a:off x="5313844" y="33232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vector geometry"/>
          <p:cNvSpPr/>
          <p:nvPr/>
        </p:nvSpPr>
        <p:spPr>
          <a:xfrm>
            <a:off x="5313844" y="36383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vector geometry"/>
          <p:cNvSpPr/>
          <p:nvPr/>
        </p:nvSpPr>
        <p:spPr>
          <a:xfrm>
            <a:off x="5313844" y="36222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vector geometry"/>
          <p:cNvSpPr/>
          <p:nvPr/>
        </p:nvSpPr>
        <p:spPr>
          <a:xfrm>
            <a:off x="5313844" y="4410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vector geometry"/>
          <p:cNvSpPr/>
          <p:nvPr/>
        </p:nvSpPr>
        <p:spPr>
          <a:xfrm>
            <a:off x="5313844" y="4071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vector geometry"/>
          <p:cNvSpPr/>
          <p:nvPr/>
        </p:nvSpPr>
        <p:spPr>
          <a:xfrm>
            <a:off x="5313844" y="36977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vector geometry"/>
          <p:cNvSpPr/>
          <p:nvPr/>
        </p:nvSpPr>
        <p:spPr>
          <a:xfrm>
            <a:off x="5313844" y="42832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vector geometry"/>
          <p:cNvSpPr/>
          <p:nvPr/>
        </p:nvSpPr>
        <p:spPr>
          <a:xfrm>
            <a:off x="5313844" y="413591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vector geometry"/>
          <p:cNvSpPr/>
          <p:nvPr/>
        </p:nvSpPr>
        <p:spPr>
          <a:xfrm>
            <a:off x="5313844" y="4037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vector geometry"/>
          <p:cNvSpPr/>
          <p:nvPr/>
        </p:nvSpPr>
        <p:spPr>
          <a:xfrm>
            <a:off x="5313844" y="375143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vector geometry"/>
          <p:cNvSpPr/>
          <p:nvPr/>
        </p:nvSpPr>
        <p:spPr>
          <a:xfrm>
            <a:off x="5313844" y="34874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vector geometry"/>
          <p:cNvSpPr/>
          <p:nvPr/>
        </p:nvSpPr>
        <p:spPr>
          <a:xfrm>
            <a:off x="5313844" y="37375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vector geometry"/>
          <p:cNvSpPr/>
          <p:nvPr/>
        </p:nvSpPr>
        <p:spPr>
          <a:xfrm>
            <a:off x="5313844" y="44424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vector geometry"/>
          <p:cNvSpPr/>
          <p:nvPr/>
        </p:nvSpPr>
        <p:spPr>
          <a:xfrm>
            <a:off x="5313844" y="33375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vector geometry"/>
          <p:cNvSpPr/>
          <p:nvPr/>
        </p:nvSpPr>
        <p:spPr>
          <a:xfrm>
            <a:off x="5313844" y="33547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vector geometry"/>
          <p:cNvSpPr/>
          <p:nvPr/>
        </p:nvSpPr>
        <p:spPr>
          <a:xfrm>
            <a:off x="5313844" y="363828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vector geometry"/>
          <p:cNvSpPr/>
          <p:nvPr/>
        </p:nvSpPr>
        <p:spPr>
          <a:xfrm>
            <a:off x="5313844" y="32586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geometry"/>
          <p:cNvSpPr/>
          <p:nvPr/>
        </p:nvSpPr>
        <p:spPr>
          <a:xfrm>
            <a:off x="5313844" y="35098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geometry"/>
          <p:cNvSpPr/>
          <p:nvPr/>
        </p:nvSpPr>
        <p:spPr>
          <a:xfrm>
            <a:off x="5313844" y="41074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vector geometry"/>
          <p:cNvSpPr/>
          <p:nvPr/>
        </p:nvSpPr>
        <p:spPr>
          <a:xfrm>
            <a:off x="5313844" y="359126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vector geometry"/>
          <p:cNvSpPr/>
          <p:nvPr/>
        </p:nvSpPr>
        <p:spPr>
          <a:xfrm>
            <a:off x="5313844" y="435705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vector geometry"/>
          <p:cNvSpPr/>
          <p:nvPr/>
        </p:nvSpPr>
        <p:spPr>
          <a:xfrm>
            <a:off x="5313844" y="38298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vector geometry"/>
          <p:cNvSpPr/>
          <p:nvPr/>
        </p:nvSpPr>
        <p:spPr>
          <a:xfrm>
            <a:off x="5313844" y="33758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vector geometry"/>
          <p:cNvSpPr/>
          <p:nvPr/>
        </p:nvSpPr>
        <p:spPr>
          <a:xfrm>
            <a:off x="5313844" y="3988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vector geometry"/>
          <p:cNvSpPr/>
          <p:nvPr/>
        </p:nvSpPr>
        <p:spPr>
          <a:xfrm>
            <a:off x="5313844" y="40520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vector geometry"/>
          <p:cNvSpPr/>
          <p:nvPr/>
        </p:nvSpPr>
        <p:spPr>
          <a:xfrm>
            <a:off x="5313844" y="34173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vector geometry"/>
          <p:cNvSpPr/>
          <p:nvPr/>
        </p:nvSpPr>
        <p:spPr>
          <a:xfrm>
            <a:off x="5313844" y="38969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vector geometry"/>
          <p:cNvSpPr/>
          <p:nvPr/>
        </p:nvSpPr>
        <p:spPr>
          <a:xfrm>
            <a:off x="5313844" y="39235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vector geometry"/>
          <p:cNvSpPr/>
          <p:nvPr/>
        </p:nvSpPr>
        <p:spPr>
          <a:xfrm>
            <a:off x="3706368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geometry"/>
          <p:cNvSpPr/>
          <p:nvPr/>
        </p:nvSpPr>
        <p:spPr>
          <a:xfrm>
            <a:off x="3706368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geometry"/>
          <p:cNvSpPr/>
          <p:nvPr/>
        </p:nvSpPr>
        <p:spPr>
          <a:xfrm>
            <a:off x="3959387" y="401446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vector geometry"/>
          <p:cNvSpPr/>
          <p:nvPr/>
        </p:nvSpPr>
        <p:spPr>
          <a:xfrm>
            <a:off x="5164244" y="3788856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vector geometry"/>
          <p:cNvSpPr/>
          <p:nvPr/>
        </p:nvSpPr>
        <p:spPr>
          <a:xfrm>
            <a:off x="6522720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vector geometry"/>
          <p:cNvSpPr/>
          <p:nvPr/>
        </p:nvSpPr>
        <p:spPr>
          <a:xfrm>
            <a:off x="6944419" y="3679508"/>
            <a:ext cx="1204856" cy="782001"/>
          </a:xfrm>
          <a:custGeom>
            <a:avLst/>
            <a:gdLst/>
            <a:ahLst/>
            <a:cxnLst/>
            <a:rect l="0" t="0" r="r" b="b"/>
            <a:pathLst>
              <a:path w="113845" h="73890">
                <a:moveTo>
                  <a:pt x="0" y="738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vector geometry"/>
          <p:cNvSpPr/>
          <p:nvPr/>
        </p:nvSpPr>
        <p:spPr>
          <a:xfrm>
            <a:off x="6944419" y="3707623"/>
            <a:ext cx="1204856" cy="591156"/>
          </a:xfrm>
          <a:custGeom>
            <a:avLst/>
            <a:gdLst/>
            <a:ahLst/>
            <a:cxnLst/>
            <a:rect l="0" t="0" r="r" b="b"/>
            <a:pathLst>
              <a:path w="113845" h="55857">
                <a:moveTo>
                  <a:pt x="0" y="0"/>
                </a:moveTo>
                <a:lnTo>
                  <a:pt x="113845" y="5585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vector geometry"/>
          <p:cNvSpPr/>
          <p:nvPr/>
        </p:nvSpPr>
        <p:spPr>
          <a:xfrm>
            <a:off x="6944419" y="3767281"/>
            <a:ext cx="1204856" cy="196081"/>
          </a:xfrm>
          <a:custGeom>
            <a:avLst/>
            <a:gdLst/>
            <a:ahLst/>
            <a:cxnLst/>
            <a:rect l="0" t="0" r="r" b="b"/>
            <a:pathLst>
              <a:path w="113845" h="18527">
                <a:moveTo>
                  <a:pt x="0" y="0"/>
                </a:moveTo>
                <a:lnTo>
                  <a:pt x="113845" y="185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vector geometry"/>
          <p:cNvSpPr/>
          <p:nvPr/>
        </p:nvSpPr>
        <p:spPr>
          <a:xfrm>
            <a:off x="6944419" y="4239373"/>
            <a:ext cx="1204856" cy="171420"/>
          </a:xfrm>
          <a:custGeom>
            <a:avLst/>
            <a:gdLst/>
            <a:ahLst/>
            <a:cxnLst/>
            <a:rect l="0" t="0" r="r" b="b"/>
            <a:pathLst>
              <a:path w="113845" h="16197">
                <a:moveTo>
                  <a:pt x="0" y="1619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vector geometry"/>
          <p:cNvSpPr/>
          <p:nvPr/>
        </p:nvSpPr>
        <p:spPr>
          <a:xfrm>
            <a:off x="6944419" y="3339241"/>
            <a:ext cx="1204856" cy="568485"/>
          </a:xfrm>
          <a:custGeom>
            <a:avLst/>
            <a:gdLst/>
            <a:ahLst/>
            <a:cxnLst/>
            <a:rect l="0" t="0" r="r" b="b"/>
            <a:pathLst>
              <a:path w="113845" h="53715">
                <a:moveTo>
                  <a:pt x="0" y="537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vector geometry"/>
          <p:cNvSpPr/>
          <p:nvPr/>
        </p:nvSpPr>
        <p:spPr>
          <a:xfrm>
            <a:off x="6944419" y="3523358"/>
            <a:ext cx="1204856" cy="98019"/>
          </a:xfrm>
          <a:custGeom>
            <a:avLst/>
            <a:gdLst/>
            <a:ahLst/>
            <a:cxnLst/>
            <a:rect l="0" t="0" r="r" b="b"/>
            <a:pathLst>
              <a:path w="113845" h="9262">
                <a:moveTo>
                  <a:pt x="0" y="92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vector geometry"/>
          <p:cNvSpPr/>
          <p:nvPr/>
        </p:nvSpPr>
        <p:spPr>
          <a:xfrm>
            <a:off x="6944419" y="3013710"/>
            <a:ext cx="1204856" cy="1109454"/>
          </a:xfrm>
          <a:custGeom>
            <a:avLst/>
            <a:gdLst/>
            <a:ahLst/>
            <a:cxnLst/>
            <a:rect l="0" t="0" r="r" b="b"/>
            <a:pathLst>
              <a:path w="113845" h="104830">
                <a:moveTo>
                  <a:pt x="0" y="10483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vector geometry"/>
          <p:cNvSpPr/>
          <p:nvPr/>
        </p:nvSpPr>
        <p:spPr>
          <a:xfrm>
            <a:off x="6944419" y="4295160"/>
            <a:ext cx="1204856" cy="69120"/>
          </a:xfrm>
          <a:custGeom>
            <a:avLst/>
            <a:gdLst/>
            <a:ahLst/>
            <a:cxnLst/>
            <a:rect l="0" t="0" r="r" b="b"/>
            <a:pathLst>
              <a:path w="113845" h="6531">
                <a:moveTo>
                  <a:pt x="0" y="0"/>
                </a:moveTo>
                <a:lnTo>
                  <a:pt x="113845" y="653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vector geometry"/>
          <p:cNvSpPr/>
          <p:nvPr/>
        </p:nvSpPr>
        <p:spPr>
          <a:xfrm>
            <a:off x="6944419" y="3682125"/>
            <a:ext cx="1204856" cy="209086"/>
          </a:xfrm>
          <a:custGeom>
            <a:avLst/>
            <a:gdLst/>
            <a:ahLst/>
            <a:cxnLst/>
            <a:rect l="0" t="0" r="r" b="b"/>
            <a:pathLst>
              <a:path w="113845" h="19756">
                <a:moveTo>
                  <a:pt x="0" y="1975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vector geometry"/>
          <p:cNvSpPr/>
          <p:nvPr/>
        </p:nvSpPr>
        <p:spPr>
          <a:xfrm>
            <a:off x="6944419" y="3492650"/>
            <a:ext cx="1204856" cy="406797"/>
          </a:xfrm>
          <a:custGeom>
            <a:avLst/>
            <a:gdLst/>
            <a:ahLst/>
            <a:cxnLst/>
            <a:rect l="0" t="0" r="r" b="b"/>
            <a:pathLst>
              <a:path w="113845" h="38438">
                <a:moveTo>
                  <a:pt x="0" y="3843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vector geometry"/>
          <p:cNvSpPr/>
          <p:nvPr/>
        </p:nvSpPr>
        <p:spPr>
          <a:xfrm>
            <a:off x="6944419" y="3272606"/>
            <a:ext cx="1204856" cy="670051"/>
          </a:xfrm>
          <a:custGeom>
            <a:avLst/>
            <a:gdLst/>
            <a:ahLst/>
            <a:cxnLst/>
            <a:rect l="0" t="0" r="r" b="b"/>
            <a:pathLst>
              <a:path w="113845" h="63312">
                <a:moveTo>
                  <a:pt x="0" y="6331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vector geometry"/>
          <p:cNvSpPr/>
          <p:nvPr/>
        </p:nvSpPr>
        <p:spPr>
          <a:xfrm>
            <a:off x="6490970" y="4359143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vector geometry"/>
          <p:cNvSpPr/>
          <p:nvPr/>
        </p:nvSpPr>
        <p:spPr>
          <a:xfrm>
            <a:off x="6490970" y="400688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vector geometry"/>
          <p:cNvSpPr/>
          <p:nvPr/>
        </p:nvSpPr>
        <p:spPr>
          <a:xfrm>
            <a:off x="6490970" y="3654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vector geometry"/>
          <p:cNvSpPr/>
          <p:nvPr/>
        </p:nvSpPr>
        <p:spPr>
          <a:xfrm>
            <a:off x="6490970" y="330235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vector geometry"/>
          <p:cNvSpPr/>
          <p:nvPr/>
        </p:nvSpPr>
        <p:spPr>
          <a:xfrm>
            <a:off x="6490970" y="29500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ditable vector geometry"/>
          <p:cNvSpPr/>
          <p:nvPr/>
        </p:nvSpPr>
        <p:spPr>
          <a:xfrm>
            <a:off x="6925340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vector geometry"/>
          <p:cNvSpPr/>
          <p:nvPr/>
        </p:nvSpPr>
        <p:spPr>
          <a:xfrm>
            <a:off x="6925340" y="36885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vector geometry"/>
          <p:cNvSpPr/>
          <p:nvPr/>
        </p:nvSpPr>
        <p:spPr>
          <a:xfrm>
            <a:off x="6925340" y="374820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ditable vector geometry"/>
          <p:cNvSpPr/>
          <p:nvPr/>
        </p:nvSpPr>
        <p:spPr>
          <a:xfrm>
            <a:off x="6925340" y="43917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vector geometry"/>
          <p:cNvSpPr/>
          <p:nvPr/>
        </p:nvSpPr>
        <p:spPr>
          <a:xfrm>
            <a:off x="6925340" y="388864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vector geometry"/>
          <p:cNvSpPr/>
          <p:nvPr/>
        </p:nvSpPr>
        <p:spPr>
          <a:xfrm>
            <a:off x="6925340" y="360229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vector geometry"/>
          <p:cNvSpPr/>
          <p:nvPr/>
        </p:nvSpPr>
        <p:spPr>
          <a:xfrm>
            <a:off x="6925340" y="41040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vector geometry"/>
          <p:cNvSpPr/>
          <p:nvPr/>
        </p:nvSpPr>
        <p:spPr>
          <a:xfrm>
            <a:off x="6925340" y="427608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vector geometry"/>
          <p:cNvSpPr/>
          <p:nvPr/>
        </p:nvSpPr>
        <p:spPr>
          <a:xfrm>
            <a:off x="6925340" y="387213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vector geometry"/>
          <p:cNvSpPr/>
          <p:nvPr/>
        </p:nvSpPr>
        <p:spPr>
          <a:xfrm>
            <a:off x="6925340" y="388036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vector geometry"/>
          <p:cNvSpPr/>
          <p:nvPr/>
        </p:nvSpPr>
        <p:spPr>
          <a:xfrm>
            <a:off x="6925340" y="392357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vector geometry"/>
          <p:cNvSpPr/>
          <p:nvPr/>
        </p:nvSpPr>
        <p:spPr>
          <a:xfrm>
            <a:off x="8130196" y="366042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vector geometry"/>
          <p:cNvSpPr/>
          <p:nvPr/>
        </p:nvSpPr>
        <p:spPr>
          <a:xfrm>
            <a:off x="8130196" y="42797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vector geometry"/>
          <p:cNvSpPr/>
          <p:nvPr/>
        </p:nvSpPr>
        <p:spPr>
          <a:xfrm>
            <a:off x="8130196" y="394428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vector geometry"/>
          <p:cNvSpPr/>
          <p:nvPr/>
        </p:nvSpPr>
        <p:spPr>
          <a:xfrm>
            <a:off x="8130196" y="422029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vector geometry"/>
          <p:cNvSpPr/>
          <p:nvPr/>
        </p:nvSpPr>
        <p:spPr>
          <a:xfrm>
            <a:off x="8130196" y="332016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vector geometry"/>
          <p:cNvSpPr/>
          <p:nvPr/>
        </p:nvSpPr>
        <p:spPr>
          <a:xfrm>
            <a:off x="8130196" y="35042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vector geometry"/>
          <p:cNvSpPr/>
          <p:nvPr/>
        </p:nvSpPr>
        <p:spPr>
          <a:xfrm>
            <a:off x="8130196" y="29946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vector geometry"/>
          <p:cNvSpPr/>
          <p:nvPr/>
        </p:nvSpPr>
        <p:spPr>
          <a:xfrm>
            <a:off x="8130196" y="43452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vector geometry"/>
          <p:cNvSpPr/>
          <p:nvPr/>
        </p:nvSpPr>
        <p:spPr>
          <a:xfrm>
            <a:off x="8130196" y="36630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vector geometry"/>
          <p:cNvSpPr/>
          <p:nvPr/>
        </p:nvSpPr>
        <p:spPr>
          <a:xfrm>
            <a:off x="8130196" y="347357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vector geometry"/>
          <p:cNvSpPr/>
          <p:nvPr/>
        </p:nvSpPr>
        <p:spPr>
          <a:xfrm>
            <a:off x="8130196" y="325352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vector geometry"/>
          <p:cNvSpPr/>
          <p:nvPr/>
        </p:nvSpPr>
        <p:spPr>
          <a:xfrm>
            <a:off x="6522720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vector geometry"/>
          <p:cNvSpPr/>
          <p:nvPr/>
        </p:nvSpPr>
        <p:spPr>
          <a:xfrm>
            <a:off x="6522720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vector geometry"/>
          <p:cNvSpPr/>
          <p:nvPr/>
        </p:nvSpPr>
        <p:spPr>
          <a:xfrm>
            <a:off x="6775740" y="400254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vector geometry"/>
          <p:cNvSpPr/>
          <p:nvPr/>
        </p:nvSpPr>
        <p:spPr>
          <a:xfrm>
            <a:off x="7980596" y="3715363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vector geometry"/>
          <p:cNvSpPr/>
          <p:nvPr/>
        </p:nvSpPr>
        <p:spPr>
          <a:xfrm>
            <a:off x="9339072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vector geometry"/>
          <p:cNvSpPr/>
          <p:nvPr/>
        </p:nvSpPr>
        <p:spPr>
          <a:xfrm>
            <a:off x="9760771" y="3608569"/>
            <a:ext cx="1204856" cy="390454"/>
          </a:xfrm>
          <a:custGeom>
            <a:avLst/>
            <a:gdLst/>
            <a:ahLst/>
            <a:cxnLst/>
            <a:rect l="0" t="0" r="r" b="b"/>
            <a:pathLst>
              <a:path w="113845" h="36893">
                <a:moveTo>
                  <a:pt x="0" y="368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vector geometry"/>
          <p:cNvSpPr/>
          <p:nvPr/>
        </p:nvSpPr>
        <p:spPr>
          <a:xfrm>
            <a:off x="9760771" y="3266492"/>
            <a:ext cx="1204856" cy="281676"/>
          </a:xfrm>
          <a:custGeom>
            <a:avLst/>
            <a:gdLst/>
            <a:ahLst/>
            <a:cxnLst/>
            <a:rect l="0" t="0" r="r" b="b"/>
            <a:pathLst>
              <a:path w="113845" h="26615">
                <a:moveTo>
                  <a:pt x="0" y="266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itable vector geometry"/>
          <p:cNvSpPr/>
          <p:nvPr/>
        </p:nvSpPr>
        <p:spPr>
          <a:xfrm>
            <a:off x="9760771" y="3654720"/>
            <a:ext cx="1204856" cy="273026"/>
          </a:xfrm>
          <a:custGeom>
            <a:avLst/>
            <a:gdLst/>
            <a:ahLst/>
            <a:cxnLst/>
            <a:rect l="0" t="0" r="r" b="b"/>
            <a:pathLst>
              <a:path w="113845" h="25798">
                <a:moveTo>
                  <a:pt x="0" y="2579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Editable vector geometry"/>
          <p:cNvSpPr/>
          <p:nvPr/>
        </p:nvSpPr>
        <p:spPr>
          <a:xfrm>
            <a:off x="9760771" y="3629495"/>
            <a:ext cx="1204856" cy="87650"/>
          </a:xfrm>
          <a:custGeom>
            <a:avLst/>
            <a:gdLst/>
            <a:ahLst/>
            <a:cxnLst/>
            <a:rect l="0" t="0" r="r" b="b"/>
            <a:pathLst>
              <a:path w="113845" h="8282">
                <a:moveTo>
                  <a:pt x="0" y="828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Editable vector geometry"/>
          <p:cNvSpPr/>
          <p:nvPr/>
        </p:nvSpPr>
        <p:spPr>
          <a:xfrm>
            <a:off x="9760771" y="3490924"/>
            <a:ext cx="1204856" cy="137540"/>
          </a:xfrm>
          <a:custGeom>
            <a:avLst/>
            <a:gdLst/>
            <a:ahLst/>
            <a:cxnLst/>
            <a:rect l="0" t="0" r="r" b="b"/>
            <a:pathLst>
              <a:path w="113845" h="12996">
                <a:moveTo>
                  <a:pt x="0" y="129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Editable vector geometry"/>
          <p:cNvSpPr/>
          <p:nvPr/>
        </p:nvSpPr>
        <p:spPr>
          <a:xfrm>
            <a:off x="9760771" y="3073228"/>
            <a:ext cx="1204856" cy="536564"/>
          </a:xfrm>
          <a:custGeom>
            <a:avLst/>
            <a:gdLst/>
            <a:ahLst/>
            <a:cxnLst/>
            <a:rect l="0" t="0" r="r" b="b"/>
            <a:pathLst>
              <a:path w="113845" h="50699">
                <a:moveTo>
                  <a:pt x="0" y="5069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Editable vector geometry"/>
          <p:cNvSpPr/>
          <p:nvPr/>
        </p:nvSpPr>
        <p:spPr>
          <a:xfrm>
            <a:off x="9760771" y="3338745"/>
            <a:ext cx="1204856" cy="506805"/>
          </a:xfrm>
          <a:custGeom>
            <a:avLst/>
            <a:gdLst/>
            <a:ahLst/>
            <a:cxnLst/>
            <a:rect l="0" t="0" r="r" b="b"/>
            <a:pathLst>
              <a:path w="113845" h="47887">
                <a:moveTo>
                  <a:pt x="0" y="4788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vector geometry"/>
          <p:cNvSpPr/>
          <p:nvPr/>
        </p:nvSpPr>
        <p:spPr>
          <a:xfrm>
            <a:off x="9760771" y="3481348"/>
            <a:ext cx="1204856" cy="246308"/>
          </a:xfrm>
          <a:custGeom>
            <a:avLst/>
            <a:gdLst/>
            <a:ahLst/>
            <a:cxnLst/>
            <a:rect l="0" t="0" r="r" b="b"/>
            <a:pathLst>
              <a:path w="113845" h="23273">
                <a:moveTo>
                  <a:pt x="0" y="232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vector geometry"/>
          <p:cNvSpPr/>
          <p:nvPr/>
        </p:nvSpPr>
        <p:spPr>
          <a:xfrm>
            <a:off x="9760771" y="3913997"/>
            <a:ext cx="1204856" cy="102643"/>
          </a:xfrm>
          <a:custGeom>
            <a:avLst/>
            <a:gdLst/>
            <a:ahLst/>
            <a:cxnLst/>
            <a:rect l="0" t="0" r="r" b="b"/>
            <a:pathLst>
              <a:path w="113845" h="9699">
                <a:moveTo>
                  <a:pt x="0" y="0"/>
                </a:moveTo>
                <a:lnTo>
                  <a:pt x="113845" y="969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vector geometry"/>
          <p:cNvSpPr/>
          <p:nvPr/>
        </p:nvSpPr>
        <p:spPr>
          <a:xfrm>
            <a:off x="9760771" y="3599837"/>
            <a:ext cx="1204856" cy="861672"/>
          </a:xfrm>
          <a:custGeom>
            <a:avLst/>
            <a:gdLst/>
            <a:ahLst/>
            <a:cxnLst/>
            <a:rect l="0" t="0" r="r" b="b"/>
            <a:pathLst>
              <a:path w="113845" h="81418">
                <a:moveTo>
                  <a:pt x="0" y="814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ditable vector geometry"/>
          <p:cNvSpPr/>
          <p:nvPr/>
        </p:nvSpPr>
        <p:spPr>
          <a:xfrm>
            <a:off x="9760771" y="3281150"/>
            <a:ext cx="1204856" cy="363771"/>
          </a:xfrm>
          <a:custGeom>
            <a:avLst/>
            <a:gdLst/>
            <a:ahLst/>
            <a:cxnLst/>
            <a:rect l="0" t="0" r="r" b="b"/>
            <a:pathLst>
              <a:path w="113845" h="34372">
                <a:moveTo>
                  <a:pt x="0" y="343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ditable vector geometry"/>
          <p:cNvSpPr/>
          <p:nvPr/>
        </p:nvSpPr>
        <p:spPr>
          <a:xfrm>
            <a:off x="9760771" y="3768675"/>
            <a:ext cx="1204856" cy="437784"/>
          </a:xfrm>
          <a:custGeom>
            <a:avLst/>
            <a:gdLst/>
            <a:ahLst/>
            <a:cxnLst/>
            <a:rect l="0" t="0" r="r" b="b"/>
            <a:pathLst>
              <a:path w="113845" h="41365">
                <a:moveTo>
                  <a:pt x="0" y="0"/>
                </a:moveTo>
                <a:lnTo>
                  <a:pt x="113845" y="4136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ditable vector geometry"/>
          <p:cNvSpPr/>
          <p:nvPr/>
        </p:nvSpPr>
        <p:spPr>
          <a:xfrm>
            <a:off x="9760771" y="3424236"/>
            <a:ext cx="1204856" cy="832297"/>
          </a:xfrm>
          <a:custGeom>
            <a:avLst/>
            <a:gdLst/>
            <a:ahLst/>
            <a:cxnLst/>
            <a:rect l="0" t="0" r="r" b="b"/>
            <a:pathLst>
              <a:path w="113845" h="78642">
                <a:moveTo>
                  <a:pt x="0" y="786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Editable vector geometry"/>
          <p:cNvSpPr/>
          <p:nvPr/>
        </p:nvSpPr>
        <p:spPr>
          <a:xfrm>
            <a:off x="9760771" y="3627605"/>
            <a:ext cx="1204856" cy="101001"/>
          </a:xfrm>
          <a:custGeom>
            <a:avLst/>
            <a:gdLst/>
            <a:ahLst/>
            <a:cxnLst/>
            <a:rect l="0" t="0" r="r" b="b"/>
            <a:pathLst>
              <a:path w="113845" h="9543">
                <a:moveTo>
                  <a:pt x="0" y="95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Editable vector geometry"/>
          <p:cNvSpPr/>
          <p:nvPr/>
        </p:nvSpPr>
        <p:spPr>
          <a:xfrm>
            <a:off x="9760771" y="3473237"/>
            <a:ext cx="1204856" cy="339809"/>
          </a:xfrm>
          <a:custGeom>
            <a:avLst/>
            <a:gdLst/>
            <a:ahLst/>
            <a:cxnLst/>
            <a:rect l="0" t="0" r="r" b="b"/>
            <a:pathLst>
              <a:path w="113845" h="32108">
                <a:moveTo>
                  <a:pt x="0" y="321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Editable vector geometry"/>
          <p:cNvSpPr/>
          <p:nvPr/>
        </p:nvSpPr>
        <p:spPr>
          <a:xfrm>
            <a:off x="9760771" y="3078393"/>
            <a:ext cx="1204856" cy="502810"/>
          </a:xfrm>
          <a:custGeom>
            <a:avLst/>
            <a:gdLst/>
            <a:ahLst/>
            <a:cxnLst/>
            <a:rect l="0" t="0" r="r" b="b"/>
            <a:pathLst>
              <a:path w="113845" h="47510">
                <a:moveTo>
                  <a:pt x="0" y="4751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Editable vector geometry"/>
          <p:cNvSpPr/>
          <p:nvPr/>
        </p:nvSpPr>
        <p:spPr>
          <a:xfrm>
            <a:off x="9760771" y="3673899"/>
            <a:ext cx="1204856" cy="44104"/>
          </a:xfrm>
          <a:custGeom>
            <a:avLst/>
            <a:gdLst/>
            <a:ahLst/>
            <a:cxnLst/>
            <a:rect l="0" t="0" r="r" b="b"/>
            <a:pathLst>
              <a:path w="113845" h="4167">
                <a:moveTo>
                  <a:pt x="0" y="41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Editable vector geometry"/>
          <p:cNvSpPr/>
          <p:nvPr/>
        </p:nvSpPr>
        <p:spPr>
          <a:xfrm>
            <a:off x="9760771" y="3274090"/>
            <a:ext cx="1204856" cy="720334"/>
          </a:xfrm>
          <a:custGeom>
            <a:avLst/>
            <a:gdLst/>
            <a:ahLst/>
            <a:cxnLst/>
            <a:rect l="0" t="0" r="r" b="b"/>
            <a:pathLst>
              <a:path w="113845" h="68063">
                <a:moveTo>
                  <a:pt x="0" y="6806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vector geometry"/>
          <p:cNvSpPr/>
          <p:nvPr/>
        </p:nvSpPr>
        <p:spPr>
          <a:xfrm>
            <a:off x="9760771" y="3698042"/>
            <a:ext cx="1204856" cy="380104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vector geometry"/>
          <p:cNvSpPr/>
          <p:nvPr/>
        </p:nvSpPr>
        <p:spPr>
          <a:xfrm>
            <a:off x="9760771" y="3774893"/>
            <a:ext cx="1204856" cy="204767"/>
          </a:xfrm>
          <a:custGeom>
            <a:avLst/>
            <a:gdLst/>
            <a:ahLst/>
            <a:cxnLst/>
            <a:rect l="0" t="0" r="r" b="b"/>
            <a:pathLst>
              <a:path w="113845" h="19348">
                <a:moveTo>
                  <a:pt x="0" y="0"/>
                </a:moveTo>
                <a:lnTo>
                  <a:pt x="113845" y="19348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vector geometry"/>
          <p:cNvSpPr/>
          <p:nvPr/>
        </p:nvSpPr>
        <p:spPr>
          <a:xfrm>
            <a:off x="9760771" y="3062700"/>
            <a:ext cx="1204856" cy="330688"/>
          </a:xfrm>
          <a:custGeom>
            <a:avLst/>
            <a:gdLst/>
            <a:ahLst/>
            <a:cxnLst/>
            <a:rect l="0" t="0" r="r" b="b"/>
            <a:pathLst>
              <a:path w="113845" h="31246">
                <a:moveTo>
                  <a:pt x="0" y="312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vector geometry"/>
          <p:cNvSpPr/>
          <p:nvPr/>
        </p:nvSpPr>
        <p:spPr>
          <a:xfrm>
            <a:off x="9760771" y="3304751"/>
            <a:ext cx="1204856" cy="29574"/>
          </a:xfrm>
          <a:custGeom>
            <a:avLst/>
            <a:gdLst/>
            <a:ahLst/>
            <a:cxnLst/>
            <a:rect l="0" t="0" r="r" b="b"/>
            <a:pathLst>
              <a:path w="113845" h="2794">
                <a:moveTo>
                  <a:pt x="0" y="0"/>
                </a:moveTo>
                <a:lnTo>
                  <a:pt x="113845" y="2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vector geometry"/>
          <p:cNvSpPr/>
          <p:nvPr/>
        </p:nvSpPr>
        <p:spPr>
          <a:xfrm>
            <a:off x="9760771" y="3560195"/>
            <a:ext cx="1204856" cy="15103"/>
          </a:xfrm>
          <a:custGeom>
            <a:avLst/>
            <a:gdLst/>
            <a:ahLst/>
            <a:cxnLst/>
            <a:rect l="0" t="0" r="r" b="b"/>
            <a:pathLst>
              <a:path w="113845" h="1427">
                <a:moveTo>
                  <a:pt x="0" y="0"/>
                </a:moveTo>
                <a:lnTo>
                  <a:pt x="113845" y="14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vector geometry"/>
          <p:cNvSpPr/>
          <p:nvPr/>
        </p:nvSpPr>
        <p:spPr>
          <a:xfrm>
            <a:off x="9760771" y="3354385"/>
            <a:ext cx="1204856" cy="360838"/>
          </a:xfrm>
          <a:custGeom>
            <a:avLst/>
            <a:gdLst/>
            <a:ahLst/>
            <a:cxnLst/>
            <a:rect l="0" t="0" r="r" b="b"/>
            <a:pathLst>
              <a:path w="113845" h="34095">
                <a:moveTo>
                  <a:pt x="0" y="340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vector geometry"/>
          <p:cNvSpPr/>
          <p:nvPr/>
        </p:nvSpPr>
        <p:spPr>
          <a:xfrm>
            <a:off x="9760771" y="3803651"/>
            <a:ext cx="1204856" cy="10193"/>
          </a:xfrm>
          <a:custGeom>
            <a:avLst/>
            <a:gdLst/>
            <a:ahLst/>
            <a:cxnLst/>
            <a:rect l="0" t="0" r="r" b="b"/>
            <a:pathLst>
              <a:path w="113845" h="963">
                <a:moveTo>
                  <a:pt x="0" y="0"/>
                </a:moveTo>
                <a:lnTo>
                  <a:pt x="113845" y="96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vector geometry"/>
          <p:cNvSpPr/>
          <p:nvPr/>
        </p:nvSpPr>
        <p:spPr>
          <a:xfrm>
            <a:off x="9760771" y="3559394"/>
            <a:ext cx="1204856" cy="158824"/>
          </a:xfrm>
          <a:custGeom>
            <a:avLst/>
            <a:gdLst/>
            <a:ahLst/>
            <a:cxnLst/>
            <a:rect l="0" t="0" r="r" b="b"/>
            <a:pathLst>
              <a:path w="113845" h="15007">
                <a:moveTo>
                  <a:pt x="0" y="0"/>
                </a:moveTo>
                <a:lnTo>
                  <a:pt x="113845" y="1500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vector geometry"/>
          <p:cNvSpPr/>
          <p:nvPr/>
        </p:nvSpPr>
        <p:spPr>
          <a:xfrm>
            <a:off x="9760771" y="4030678"/>
            <a:ext cx="1204856" cy="27275"/>
          </a:xfrm>
          <a:custGeom>
            <a:avLst/>
            <a:gdLst/>
            <a:ahLst/>
            <a:cxnLst/>
            <a:rect l="0" t="0" r="r" b="b"/>
            <a:pathLst>
              <a:path w="113845" h="2577">
                <a:moveTo>
                  <a:pt x="0" y="257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vector geometry"/>
          <p:cNvSpPr/>
          <p:nvPr/>
        </p:nvSpPr>
        <p:spPr>
          <a:xfrm>
            <a:off x="9760771" y="3573312"/>
            <a:ext cx="1204856" cy="111568"/>
          </a:xfrm>
          <a:custGeom>
            <a:avLst/>
            <a:gdLst/>
            <a:ahLst/>
            <a:cxnLst/>
            <a:rect l="0" t="0" r="r" b="b"/>
            <a:pathLst>
              <a:path w="113845" h="10542">
                <a:moveTo>
                  <a:pt x="0" y="105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vector geometry"/>
          <p:cNvSpPr/>
          <p:nvPr/>
        </p:nvSpPr>
        <p:spPr>
          <a:xfrm>
            <a:off x="9760771" y="3698054"/>
            <a:ext cx="1204856" cy="220743"/>
          </a:xfrm>
          <a:custGeom>
            <a:avLst/>
            <a:gdLst/>
            <a:ahLst/>
            <a:cxnLst/>
            <a:rect l="0" t="0" r="r" b="b"/>
            <a:pathLst>
              <a:path w="113845" h="20858">
                <a:moveTo>
                  <a:pt x="0" y="2085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vector geometry"/>
          <p:cNvSpPr/>
          <p:nvPr/>
        </p:nvSpPr>
        <p:spPr>
          <a:xfrm>
            <a:off x="9760771" y="3904151"/>
            <a:ext cx="1204856" cy="3918"/>
          </a:xfrm>
          <a:custGeom>
            <a:avLst/>
            <a:gdLst/>
            <a:ahLst/>
            <a:cxnLst/>
            <a:rect l="0" t="0" r="r" b="b"/>
            <a:pathLst>
              <a:path w="113845" h="370">
                <a:moveTo>
                  <a:pt x="0" y="37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vector geometry"/>
          <p:cNvSpPr/>
          <p:nvPr/>
        </p:nvSpPr>
        <p:spPr>
          <a:xfrm>
            <a:off x="9760771" y="3740233"/>
            <a:ext cx="1204856" cy="206807"/>
          </a:xfrm>
          <a:custGeom>
            <a:avLst/>
            <a:gdLst/>
            <a:ahLst/>
            <a:cxnLst/>
            <a:rect l="0" t="0" r="r" b="b"/>
            <a:pathLst>
              <a:path w="113845" h="19541">
                <a:moveTo>
                  <a:pt x="0" y="195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vector geometry"/>
          <p:cNvSpPr/>
          <p:nvPr/>
        </p:nvSpPr>
        <p:spPr>
          <a:xfrm>
            <a:off x="9760771" y="3589413"/>
            <a:ext cx="1204856" cy="686758"/>
          </a:xfrm>
          <a:custGeom>
            <a:avLst/>
            <a:gdLst/>
            <a:ahLst/>
            <a:cxnLst/>
            <a:rect l="0" t="0" r="r" b="b"/>
            <a:pathLst>
              <a:path w="113845" h="64891">
                <a:moveTo>
                  <a:pt x="0" y="648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vector geometry"/>
          <p:cNvSpPr/>
          <p:nvPr/>
        </p:nvSpPr>
        <p:spPr>
          <a:xfrm>
            <a:off x="9760771" y="3895157"/>
            <a:ext cx="1204856" cy="216852"/>
          </a:xfrm>
          <a:custGeom>
            <a:avLst/>
            <a:gdLst/>
            <a:ahLst/>
            <a:cxnLst/>
            <a:rect l="0" t="0" r="r" b="b"/>
            <a:pathLst>
              <a:path w="113845" h="20490">
                <a:moveTo>
                  <a:pt x="0" y="204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vector geometry"/>
          <p:cNvSpPr/>
          <p:nvPr/>
        </p:nvSpPr>
        <p:spPr>
          <a:xfrm>
            <a:off x="9760771" y="3013710"/>
            <a:ext cx="1204856" cy="1081261"/>
          </a:xfrm>
          <a:custGeom>
            <a:avLst/>
            <a:gdLst/>
            <a:ahLst/>
            <a:cxnLst/>
            <a:rect l="0" t="0" r="r" b="b"/>
            <a:pathLst>
              <a:path w="113845" h="102166">
                <a:moveTo>
                  <a:pt x="0" y="10216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vector geometry"/>
          <p:cNvSpPr/>
          <p:nvPr/>
        </p:nvSpPr>
        <p:spPr>
          <a:xfrm>
            <a:off x="9760771" y="3864834"/>
            <a:ext cx="1204856" cy="89554"/>
          </a:xfrm>
          <a:custGeom>
            <a:avLst/>
            <a:gdLst/>
            <a:ahLst/>
            <a:cxnLst/>
            <a:rect l="0" t="0" r="r" b="b"/>
            <a:pathLst>
              <a:path w="113845" h="8462">
                <a:moveTo>
                  <a:pt x="0" y="84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vector geometry"/>
          <p:cNvSpPr/>
          <p:nvPr/>
        </p:nvSpPr>
        <p:spPr>
          <a:xfrm>
            <a:off x="9760771" y="3412300"/>
            <a:ext cx="1204856" cy="132547"/>
          </a:xfrm>
          <a:custGeom>
            <a:avLst/>
            <a:gdLst/>
            <a:ahLst/>
            <a:cxnLst/>
            <a:rect l="0" t="0" r="r" b="b"/>
            <a:pathLst>
              <a:path w="113845" h="12524">
                <a:moveTo>
                  <a:pt x="0" y="1252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ditable vector geometry"/>
          <p:cNvSpPr/>
          <p:nvPr/>
        </p:nvSpPr>
        <p:spPr>
          <a:xfrm>
            <a:off x="9760771" y="3550545"/>
            <a:ext cx="1204856" cy="549714"/>
          </a:xfrm>
          <a:custGeom>
            <a:avLst/>
            <a:gdLst/>
            <a:ahLst/>
            <a:cxnLst/>
            <a:rect l="0" t="0" r="r" b="b"/>
            <a:pathLst>
              <a:path w="113845" h="51941">
                <a:moveTo>
                  <a:pt x="0" y="519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Editable vector geometry"/>
          <p:cNvSpPr/>
          <p:nvPr/>
        </p:nvSpPr>
        <p:spPr>
          <a:xfrm>
            <a:off x="9760771" y="3278096"/>
            <a:ext cx="1204856" cy="106910"/>
          </a:xfrm>
          <a:custGeom>
            <a:avLst/>
            <a:gdLst/>
            <a:ahLst/>
            <a:cxnLst/>
            <a:rect l="0" t="0" r="r" b="b"/>
            <a:pathLst>
              <a:path w="113845" h="10102">
                <a:moveTo>
                  <a:pt x="0" y="0"/>
                </a:moveTo>
                <a:lnTo>
                  <a:pt x="113845" y="1010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Editable vector geometry"/>
          <p:cNvSpPr/>
          <p:nvPr/>
        </p:nvSpPr>
        <p:spPr>
          <a:xfrm>
            <a:off x="9760771" y="3504872"/>
            <a:ext cx="1204856" cy="143509"/>
          </a:xfrm>
          <a:custGeom>
            <a:avLst/>
            <a:gdLst/>
            <a:ahLst/>
            <a:cxnLst/>
            <a:rect l="0" t="0" r="r" b="b"/>
            <a:pathLst>
              <a:path w="113845" h="13560">
                <a:moveTo>
                  <a:pt x="0" y="1356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Editable vector geometry"/>
          <p:cNvSpPr/>
          <p:nvPr/>
        </p:nvSpPr>
        <p:spPr>
          <a:xfrm>
            <a:off x="9760771" y="3557430"/>
            <a:ext cx="1204856" cy="126279"/>
          </a:xfrm>
          <a:custGeom>
            <a:avLst/>
            <a:gdLst/>
            <a:ahLst/>
            <a:cxnLst/>
            <a:rect l="0" t="0" r="r" b="b"/>
            <a:pathLst>
              <a:path w="113845" h="11932">
                <a:moveTo>
                  <a:pt x="0" y="0"/>
                </a:moveTo>
                <a:lnTo>
                  <a:pt x="113845" y="1193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Editable vector geometry"/>
          <p:cNvSpPr/>
          <p:nvPr/>
        </p:nvSpPr>
        <p:spPr>
          <a:xfrm>
            <a:off x="9760771" y="3309553"/>
            <a:ext cx="1204856" cy="417603"/>
          </a:xfrm>
          <a:custGeom>
            <a:avLst/>
            <a:gdLst/>
            <a:ahLst/>
            <a:cxnLst/>
            <a:rect l="0" t="0" r="r" b="b"/>
            <a:pathLst>
              <a:path w="113845" h="39459">
                <a:moveTo>
                  <a:pt x="0" y="394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Editable vector geometry"/>
          <p:cNvSpPr/>
          <p:nvPr/>
        </p:nvSpPr>
        <p:spPr>
          <a:xfrm>
            <a:off x="9760771" y="3540476"/>
            <a:ext cx="1204856" cy="332367"/>
          </a:xfrm>
          <a:custGeom>
            <a:avLst/>
            <a:gdLst/>
            <a:ahLst/>
            <a:cxnLst/>
            <a:rect l="0" t="0" r="r" b="b"/>
            <a:pathLst>
              <a:path w="113845" h="31405">
                <a:moveTo>
                  <a:pt x="0" y="0"/>
                </a:moveTo>
                <a:lnTo>
                  <a:pt x="113845" y="3140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vector geometry"/>
          <p:cNvSpPr/>
          <p:nvPr/>
        </p:nvSpPr>
        <p:spPr>
          <a:xfrm>
            <a:off x="9760771" y="3277328"/>
            <a:ext cx="1204856" cy="563088"/>
          </a:xfrm>
          <a:custGeom>
            <a:avLst/>
            <a:gdLst/>
            <a:ahLst/>
            <a:cxnLst/>
            <a:rect l="0" t="0" r="r" b="b"/>
            <a:pathLst>
              <a:path w="113845" h="53205">
                <a:moveTo>
                  <a:pt x="0" y="5320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Editable vector geometry"/>
          <p:cNvSpPr/>
          <p:nvPr/>
        </p:nvSpPr>
        <p:spPr>
          <a:xfrm>
            <a:off x="9307322" y="457425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Editable vector geometry"/>
          <p:cNvSpPr/>
          <p:nvPr/>
        </p:nvSpPr>
        <p:spPr>
          <a:xfrm>
            <a:off x="9307322" y="430998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vector geometry"/>
          <p:cNvSpPr/>
          <p:nvPr/>
        </p:nvSpPr>
        <p:spPr>
          <a:xfrm>
            <a:off x="9307322" y="404571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vector geometry"/>
          <p:cNvSpPr/>
          <p:nvPr/>
        </p:nvSpPr>
        <p:spPr>
          <a:xfrm>
            <a:off x="9307322" y="378143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vector geometry"/>
          <p:cNvSpPr/>
          <p:nvPr/>
        </p:nvSpPr>
        <p:spPr>
          <a:xfrm>
            <a:off x="9307322" y="351716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vector geometry"/>
          <p:cNvSpPr/>
          <p:nvPr/>
        </p:nvSpPr>
        <p:spPr>
          <a:xfrm>
            <a:off x="9307322" y="32528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ditable vector geometry"/>
          <p:cNvSpPr/>
          <p:nvPr/>
        </p:nvSpPr>
        <p:spPr>
          <a:xfrm>
            <a:off x="9307322" y="2988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ditable vector geometry"/>
          <p:cNvSpPr/>
          <p:nvPr/>
        </p:nvSpPr>
        <p:spPr>
          <a:xfrm>
            <a:off x="9741692" y="397994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vector geometry"/>
          <p:cNvSpPr/>
          <p:nvPr/>
        </p:nvSpPr>
        <p:spPr>
          <a:xfrm>
            <a:off x="9741692" y="35290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vector geometry"/>
          <p:cNvSpPr/>
          <p:nvPr/>
        </p:nvSpPr>
        <p:spPr>
          <a:xfrm>
            <a:off x="9741692" y="39086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vector geometry"/>
          <p:cNvSpPr/>
          <p:nvPr/>
        </p:nvSpPr>
        <p:spPr>
          <a:xfrm>
            <a:off x="9741692" y="369806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vector geometry"/>
          <p:cNvSpPr/>
          <p:nvPr/>
        </p:nvSpPr>
        <p:spPr>
          <a:xfrm>
            <a:off x="9741692" y="36093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vector geometry"/>
          <p:cNvSpPr/>
          <p:nvPr/>
        </p:nvSpPr>
        <p:spPr>
          <a:xfrm>
            <a:off x="9741692" y="359071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vector geometry"/>
          <p:cNvSpPr/>
          <p:nvPr/>
        </p:nvSpPr>
        <p:spPr>
          <a:xfrm>
            <a:off x="9741692" y="38264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vector geometry"/>
          <p:cNvSpPr/>
          <p:nvPr/>
        </p:nvSpPr>
        <p:spPr>
          <a:xfrm>
            <a:off x="9741692" y="370857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vector geometry"/>
          <p:cNvSpPr/>
          <p:nvPr/>
        </p:nvSpPr>
        <p:spPr>
          <a:xfrm>
            <a:off x="9741692" y="38949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vector geometry"/>
          <p:cNvSpPr/>
          <p:nvPr/>
        </p:nvSpPr>
        <p:spPr>
          <a:xfrm>
            <a:off x="9741692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vector geometry"/>
          <p:cNvSpPr/>
          <p:nvPr/>
        </p:nvSpPr>
        <p:spPr>
          <a:xfrm>
            <a:off x="9741692" y="362584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vector geometry"/>
          <p:cNvSpPr/>
          <p:nvPr/>
        </p:nvSpPr>
        <p:spPr>
          <a:xfrm>
            <a:off x="9741692" y="374959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vector geometry"/>
          <p:cNvSpPr/>
          <p:nvPr/>
        </p:nvSpPr>
        <p:spPr>
          <a:xfrm>
            <a:off x="9741692" y="423745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vector geometry"/>
          <p:cNvSpPr/>
          <p:nvPr/>
        </p:nvSpPr>
        <p:spPr>
          <a:xfrm>
            <a:off x="9741692" y="370952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vector geometry"/>
          <p:cNvSpPr/>
          <p:nvPr/>
        </p:nvSpPr>
        <p:spPr>
          <a:xfrm>
            <a:off x="9741692" y="37939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vector geometry"/>
          <p:cNvSpPr/>
          <p:nvPr/>
        </p:nvSpPr>
        <p:spPr>
          <a:xfrm>
            <a:off x="9741692" y="35621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vector geometry"/>
          <p:cNvSpPr/>
          <p:nvPr/>
        </p:nvSpPr>
        <p:spPr>
          <a:xfrm>
            <a:off x="9741692" y="36989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vector geometry"/>
          <p:cNvSpPr/>
          <p:nvPr/>
        </p:nvSpPr>
        <p:spPr>
          <a:xfrm>
            <a:off x="9741692" y="39753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vector geometry"/>
          <p:cNvSpPr/>
          <p:nvPr/>
        </p:nvSpPr>
        <p:spPr>
          <a:xfrm>
            <a:off x="9741692" y="40590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vector geometry"/>
          <p:cNvSpPr/>
          <p:nvPr/>
        </p:nvSpPr>
        <p:spPr>
          <a:xfrm>
            <a:off x="9741692" y="37558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vector geometry"/>
          <p:cNvSpPr/>
          <p:nvPr/>
        </p:nvSpPr>
        <p:spPr>
          <a:xfrm>
            <a:off x="9741692" y="3374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vector geometry"/>
          <p:cNvSpPr/>
          <p:nvPr/>
        </p:nvSpPr>
        <p:spPr>
          <a:xfrm>
            <a:off x="9741692" y="32856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vector geometry"/>
          <p:cNvSpPr/>
          <p:nvPr/>
        </p:nvSpPr>
        <p:spPr>
          <a:xfrm>
            <a:off x="9741692" y="354111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vector geometry"/>
          <p:cNvSpPr/>
          <p:nvPr/>
        </p:nvSpPr>
        <p:spPr>
          <a:xfrm>
            <a:off x="9741692" y="36961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vector geometry"/>
          <p:cNvSpPr/>
          <p:nvPr/>
        </p:nvSpPr>
        <p:spPr>
          <a:xfrm>
            <a:off x="9741692" y="37845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vector geometry"/>
          <p:cNvSpPr/>
          <p:nvPr/>
        </p:nvSpPr>
        <p:spPr>
          <a:xfrm>
            <a:off x="9741692" y="35403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vector geometry"/>
          <p:cNvSpPr/>
          <p:nvPr/>
        </p:nvSpPr>
        <p:spPr>
          <a:xfrm>
            <a:off x="9741692" y="403887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vector geometry"/>
          <p:cNvSpPr/>
          <p:nvPr/>
        </p:nvSpPr>
        <p:spPr>
          <a:xfrm>
            <a:off x="9741692" y="36658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vector geometry"/>
          <p:cNvSpPr/>
          <p:nvPr/>
        </p:nvSpPr>
        <p:spPr>
          <a:xfrm>
            <a:off x="9741692" y="38997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vector geometry"/>
          <p:cNvSpPr/>
          <p:nvPr/>
        </p:nvSpPr>
        <p:spPr>
          <a:xfrm>
            <a:off x="9741692" y="38889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vector geometry"/>
          <p:cNvSpPr/>
          <p:nvPr/>
        </p:nvSpPr>
        <p:spPr>
          <a:xfrm>
            <a:off x="9741692" y="392796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vector geometry"/>
          <p:cNvSpPr/>
          <p:nvPr/>
        </p:nvSpPr>
        <p:spPr>
          <a:xfrm>
            <a:off x="9741692" y="425709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vector geometry"/>
          <p:cNvSpPr/>
          <p:nvPr/>
        </p:nvSpPr>
        <p:spPr>
          <a:xfrm>
            <a:off x="9741692" y="40929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vector geometry"/>
          <p:cNvSpPr/>
          <p:nvPr/>
        </p:nvSpPr>
        <p:spPr>
          <a:xfrm>
            <a:off x="9741692" y="407589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Editable vector geometry"/>
          <p:cNvSpPr/>
          <p:nvPr/>
        </p:nvSpPr>
        <p:spPr>
          <a:xfrm>
            <a:off x="9741692" y="3935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vector geometry"/>
          <p:cNvSpPr/>
          <p:nvPr/>
        </p:nvSpPr>
        <p:spPr>
          <a:xfrm>
            <a:off x="9741692" y="35257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vector geometry"/>
          <p:cNvSpPr/>
          <p:nvPr/>
        </p:nvSpPr>
        <p:spPr>
          <a:xfrm>
            <a:off x="9741692" y="40811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vector geometry"/>
          <p:cNvSpPr/>
          <p:nvPr/>
        </p:nvSpPr>
        <p:spPr>
          <a:xfrm>
            <a:off x="9741692" y="325901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vector geometry"/>
          <p:cNvSpPr/>
          <p:nvPr/>
        </p:nvSpPr>
        <p:spPr>
          <a:xfrm>
            <a:off x="9741692" y="36293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vector geometry"/>
          <p:cNvSpPr/>
          <p:nvPr/>
        </p:nvSpPr>
        <p:spPr>
          <a:xfrm>
            <a:off x="9741692" y="353834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vector geometry"/>
          <p:cNvSpPr/>
          <p:nvPr/>
        </p:nvSpPr>
        <p:spPr>
          <a:xfrm>
            <a:off x="9741692" y="370807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vector geometry"/>
          <p:cNvSpPr/>
          <p:nvPr/>
        </p:nvSpPr>
        <p:spPr>
          <a:xfrm>
            <a:off x="9741692" y="352139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vector geometry"/>
          <p:cNvSpPr/>
          <p:nvPr/>
        </p:nvSpPr>
        <p:spPr>
          <a:xfrm>
            <a:off x="9741692" y="382133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vector geometry"/>
          <p:cNvSpPr/>
          <p:nvPr/>
        </p:nvSpPr>
        <p:spPr>
          <a:xfrm>
            <a:off x="10946548" y="358948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vector geometry"/>
          <p:cNvSpPr/>
          <p:nvPr/>
        </p:nvSpPr>
        <p:spPr>
          <a:xfrm>
            <a:off x="10946548" y="324741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vector geometry"/>
          <p:cNvSpPr/>
          <p:nvPr/>
        </p:nvSpPr>
        <p:spPr>
          <a:xfrm>
            <a:off x="10946548" y="363564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vector geometry"/>
          <p:cNvSpPr/>
          <p:nvPr/>
        </p:nvSpPr>
        <p:spPr>
          <a:xfrm>
            <a:off x="10946548" y="361041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vector geometry"/>
          <p:cNvSpPr/>
          <p:nvPr/>
        </p:nvSpPr>
        <p:spPr>
          <a:xfrm>
            <a:off x="10946548" y="347184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vector geometry"/>
          <p:cNvSpPr/>
          <p:nvPr/>
        </p:nvSpPr>
        <p:spPr>
          <a:xfrm>
            <a:off x="10946548" y="305414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vector geometry"/>
          <p:cNvSpPr/>
          <p:nvPr/>
        </p:nvSpPr>
        <p:spPr>
          <a:xfrm>
            <a:off x="10946548" y="33196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ditable vector geometry"/>
          <p:cNvSpPr/>
          <p:nvPr/>
        </p:nvSpPr>
        <p:spPr>
          <a:xfrm>
            <a:off x="10946548" y="346226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vector geometry"/>
          <p:cNvSpPr/>
          <p:nvPr/>
        </p:nvSpPr>
        <p:spPr>
          <a:xfrm>
            <a:off x="10946548" y="399756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vector geometry"/>
          <p:cNvSpPr/>
          <p:nvPr/>
        </p:nvSpPr>
        <p:spPr>
          <a:xfrm>
            <a:off x="10946548" y="35807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vector geometry"/>
          <p:cNvSpPr/>
          <p:nvPr/>
        </p:nvSpPr>
        <p:spPr>
          <a:xfrm>
            <a:off x="10946548" y="326207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vector geometry"/>
          <p:cNvSpPr/>
          <p:nvPr/>
        </p:nvSpPr>
        <p:spPr>
          <a:xfrm>
            <a:off x="10946548" y="41873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vector geometry"/>
          <p:cNvSpPr/>
          <p:nvPr/>
        </p:nvSpPr>
        <p:spPr>
          <a:xfrm>
            <a:off x="10946548" y="34051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vector geometry"/>
          <p:cNvSpPr/>
          <p:nvPr/>
        </p:nvSpPr>
        <p:spPr>
          <a:xfrm>
            <a:off x="10946548" y="360852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vector geometry"/>
          <p:cNvSpPr/>
          <p:nvPr/>
        </p:nvSpPr>
        <p:spPr>
          <a:xfrm>
            <a:off x="10946548" y="345415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vector geometry"/>
          <p:cNvSpPr/>
          <p:nvPr/>
        </p:nvSpPr>
        <p:spPr>
          <a:xfrm>
            <a:off x="10946548" y="305931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vector geometry"/>
          <p:cNvSpPr/>
          <p:nvPr/>
        </p:nvSpPr>
        <p:spPr>
          <a:xfrm>
            <a:off x="10946548" y="36548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vector geometry"/>
          <p:cNvSpPr/>
          <p:nvPr/>
        </p:nvSpPr>
        <p:spPr>
          <a:xfrm>
            <a:off x="10946548" y="325501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vector geometry"/>
          <p:cNvSpPr/>
          <p:nvPr/>
        </p:nvSpPr>
        <p:spPr>
          <a:xfrm>
            <a:off x="10946548" y="367896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vector geometry"/>
          <p:cNvSpPr/>
          <p:nvPr/>
        </p:nvSpPr>
        <p:spPr>
          <a:xfrm>
            <a:off x="10946548" y="39605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vector geometry"/>
          <p:cNvSpPr/>
          <p:nvPr/>
        </p:nvSpPr>
        <p:spPr>
          <a:xfrm>
            <a:off x="10946548" y="30436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vector geometry"/>
          <p:cNvSpPr/>
          <p:nvPr/>
        </p:nvSpPr>
        <p:spPr>
          <a:xfrm>
            <a:off x="10946548" y="331524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vector geometry"/>
          <p:cNvSpPr/>
          <p:nvPr/>
        </p:nvSpPr>
        <p:spPr>
          <a:xfrm>
            <a:off x="10946548" y="35562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Editable vector geometry"/>
          <p:cNvSpPr/>
          <p:nvPr/>
        </p:nvSpPr>
        <p:spPr>
          <a:xfrm>
            <a:off x="10946548" y="333530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vector geometry"/>
          <p:cNvSpPr/>
          <p:nvPr/>
        </p:nvSpPr>
        <p:spPr>
          <a:xfrm>
            <a:off x="10946548" y="3794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vector geometry"/>
          <p:cNvSpPr/>
          <p:nvPr/>
        </p:nvSpPr>
        <p:spPr>
          <a:xfrm>
            <a:off x="10946548" y="369913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vector geometry"/>
          <p:cNvSpPr/>
          <p:nvPr/>
        </p:nvSpPr>
        <p:spPr>
          <a:xfrm>
            <a:off x="10946548" y="401159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vector geometry"/>
          <p:cNvSpPr/>
          <p:nvPr/>
        </p:nvSpPr>
        <p:spPr>
          <a:xfrm>
            <a:off x="10946548" y="355423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vector geometry"/>
          <p:cNvSpPr/>
          <p:nvPr/>
        </p:nvSpPr>
        <p:spPr>
          <a:xfrm>
            <a:off x="10946548" y="36789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vector geometry"/>
          <p:cNvSpPr/>
          <p:nvPr/>
        </p:nvSpPr>
        <p:spPr>
          <a:xfrm>
            <a:off x="10946548" y="388507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vector geometry"/>
          <p:cNvSpPr/>
          <p:nvPr/>
        </p:nvSpPr>
        <p:spPr>
          <a:xfrm>
            <a:off x="10946548" y="372115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vector geometry"/>
          <p:cNvSpPr/>
          <p:nvPr/>
        </p:nvSpPr>
        <p:spPr>
          <a:xfrm>
            <a:off x="10946548" y="357033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vector geometry"/>
          <p:cNvSpPr/>
          <p:nvPr/>
        </p:nvSpPr>
        <p:spPr>
          <a:xfrm>
            <a:off x="10946548" y="387607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vector geometry"/>
          <p:cNvSpPr/>
          <p:nvPr/>
        </p:nvSpPr>
        <p:spPr>
          <a:xfrm>
            <a:off x="10946548" y="299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vector geometry"/>
          <p:cNvSpPr/>
          <p:nvPr/>
        </p:nvSpPr>
        <p:spPr>
          <a:xfrm>
            <a:off x="10946548" y="384575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vector geometry"/>
          <p:cNvSpPr/>
          <p:nvPr/>
        </p:nvSpPr>
        <p:spPr>
          <a:xfrm>
            <a:off x="10946548" y="33932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vector geometry"/>
          <p:cNvSpPr/>
          <p:nvPr/>
        </p:nvSpPr>
        <p:spPr>
          <a:xfrm>
            <a:off x="10946548" y="353146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vector geometry"/>
          <p:cNvSpPr/>
          <p:nvPr/>
        </p:nvSpPr>
        <p:spPr>
          <a:xfrm>
            <a:off x="10946548" y="336592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vector geometry"/>
          <p:cNvSpPr/>
          <p:nvPr/>
        </p:nvSpPr>
        <p:spPr>
          <a:xfrm>
            <a:off x="10946548" y="348579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Editable vector geometry"/>
          <p:cNvSpPr/>
          <p:nvPr/>
        </p:nvSpPr>
        <p:spPr>
          <a:xfrm>
            <a:off x="10946548" y="366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vector geometry"/>
          <p:cNvSpPr/>
          <p:nvPr/>
        </p:nvSpPr>
        <p:spPr>
          <a:xfrm>
            <a:off x="10946548" y="32904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vector geometry"/>
          <p:cNvSpPr/>
          <p:nvPr/>
        </p:nvSpPr>
        <p:spPr>
          <a:xfrm>
            <a:off x="10946548" y="3853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vector geometry"/>
          <p:cNvSpPr/>
          <p:nvPr/>
        </p:nvSpPr>
        <p:spPr>
          <a:xfrm>
            <a:off x="10946548" y="325825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vector geometry"/>
          <p:cNvSpPr/>
          <p:nvPr/>
        </p:nvSpPr>
        <p:spPr>
          <a:xfrm>
            <a:off x="9339072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vector geometry"/>
          <p:cNvSpPr/>
          <p:nvPr/>
        </p:nvSpPr>
        <p:spPr>
          <a:xfrm>
            <a:off x="9339072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vector geometry"/>
          <p:cNvSpPr/>
          <p:nvPr/>
        </p:nvSpPr>
        <p:spPr>
          <a:xfrm>
            <a:off x="9592092" y="379687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vector geometry"/>
          <p:cNvSpPr/>
          <p:nvPr/>
        </p:nvSpPr>
        <p:spPr>
          <a:xfrm>
            <a:off x="10796948" y="3559099"/>
            <a:ext cx="337360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vector geometry"/>
          <p:cNvSpPr/>
          <p:nvPr/>
        </p:nvSpPr>
        <p:spPr>
          <a:xfrm>
            <a:off x="3413759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vector geometry"/>
          <p:cNvSpPr/>
          <p:nvPr/>
        </p:nvSpPr>
        <p:spPr>
          <a:xfrm>
            <a:off x="6230111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vector geometry"/>
          <p:cNvSpPr/>
          <p:nvPr/>
        </p:nvSpPr>
        <p:spPr>
          <a:xfrm>
            <a:off x="9046463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vector geometry"/>
          <p:cNvSpPr/>
          <p:nvPr/>
        </p:nvSpPr>
        <p:spPr>
          <a:xfrm>
            <a:off x="609599" y="591845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text: 正常"/>
          <p:cNvSpPr txBox="1"/>
          <p:nvPr/>
        </p:nvSpPr>
        <p:spPr>
          <a:xfrm>
            <a:off x="1184715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51" name="Editable text: 肿瘤"/>
          <p:cNvSpPr txBox="1"/>
          <p:nvPr/>
        </p:nvSpPr>
        <p:spPr>
          <a:xfrm>
            <a:off x="2389572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52" name="Editable text: 8.0"/>
          <p:cNvSpPr txBox="1"/>
          <p:nvPr/>
        </p:nvSpPr>
        <p:spPr>
          <a:xfrm>
            <a:off x="671734" y="4314506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8.0</a:t>
            </a:r>
          </a:p>
        </p:txBody>
      </p:sp>
      <p:sp>
        <p:nvSpPr>
          <p:cNvPr id="453" name="Editable text: 8.5"/>
          <p:cNvSpPr txBox="1"/>
          <p:nvPr/>
        </p:nvSpPr>
        <p:spPr>
          <a:xfrm>
            <a:off x="671734" y="4000930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8.5</a:t>
            </a:r>
          </a:p>
        </p:txBody>
      </p:sp>
      <p:sp>
        <p:nvSpPr>
          <p:cNvPr id="454" name="Editable text: 9.0"/>
          <p:cNvSpPr txBox="1"/>
          <p:nvPr/>
        </p:nvSpPr>
        <p:spPr>
          <a:xfrm>
            <a:off x="671734" y="36873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9.0</a:t>
            </a:r>
          </a:p>
        </p:txBody>
      </p:sp>
      <p:sp>
        <p:nvSpPr>
          <p:cNvPr id="455" name="Editable text: 9.5"/>
          <p:cNvSpPr txBox="1"/>
          <p:nvPr/>
        </p:nvSpPr>
        <p:spPr>
          <a:xfrm>
            <a:off x="671734" y="337377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9.5</a:t>
            </a:r>
          </a:p>
        </p:txBody>
      </p:sp>
      <p:sp>
        <p:nvSpPr>
          <p:cNvPr id="456" name="Editable text: 10.0"/>
          <p:cNvSpPr txBox="1"/>
          <p:nvPr/>
        </p:nvSpPr>
        <p:spPr>
          <a:xfrm>
            <a:off x="609723" y="306020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10.0</a:t>
            </a:r>
          </a:p>
        </p:txBody>
      </p:sp>
      <p:sp>
        <p:nvSpPr>
          <p:cNvPr id="457" name="Editable text: LYPLA1 表达（作者处理尺度）"/>
          <p:cNvSpPr txBox="1"/>
          <p:nvPr/>
        </p:nvSpPr>
        <p:spPr>
          <a:xfrm rot="16200000">
            <a:off x="-336724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58" name="Editable text: 正常"/>
          <p:cNvSpPr txBox="1"/>
          <p:nvPr/>
        </p:nvSpPr>
        <p:spPr>
          <a:xfrm>
            <a:off x="4001067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59" name="Editable text: 肿瘤"/>
          <p:cNvSpPr txBox="1"/>
          <p:nvPr/>
        </p:nvSpPr>
        <p:spPr>
          <a:xfrm>
            <a:off x="5205924" y="4709982"/>
            <a:ext cx="3111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60" name="Editable text: 11.0"/>
          <p:cNvSpPr txBox="1"/>
          <p:nvPr/>
        </p:nvSpPr>
        <p:spPr>
          <a:xfrm>
            <a:off x="3426075" y="452890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11.0</a:t>
            </a:r>
          </a:p>
        </p:txBody>
      </p:sp>
      <p:sp>
        <p:nvSpPr>
          <p:cNvPr id="461" name="Editable text: 11.5"/>
          <p:cNvSpPr txBox="1"/>
          <p:nvPr/>
        </p:nvSpPr>
        <p:spPr>
          <a:xfrm>
            <a:off x="3426075" y="425652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11.5</a:t>
            </a:r>
          </a:p>
        </p:txBody>
      </p:sp>
      <p:sp>
        <p:nvSpPr>
          <p:cNvPr id="462" name="Editable text: 12.0"/>
          <p:cNvSpPr txBox="1"/>
          <p:nvPr/>
        </p:nvSpPr>
        <p:spPr>
          <a:xfrm>
            <a:off x="3426075" y="398413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12.0</a:t>
            </a:r>
          </a:p>
        </p:txBody>
      </p:sp>
      <p:sp>
        <p:nvSpPr>
          <p:cNvPr id="463" name="Editable text: 12.5"/>
          <p:cNvSpPr txBox="1"/>
          <p:nvPr/>
        </p:nvSpPr>
        <p:spPr>
          <a:xfrm>
            <a:off x="3426075" y="371175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12.5</a:t>
            </a:r>
          </a:p>
        </p:txBody>
      </p:sp>
      <p:sp>
        <p:nvSpPr>
          <p:cNvPr id="464" name="Editable text: 13.0"/>
          <p:cNvSpPr txBox="1"/>
          <p:nvPr/>
        </p:nvSpPr>
        <p:spPr>
          <a:xfrm>
            <a:off x="3426075" y="343936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13.0</a:t>
            </a:r>
          </a:p>
        </p:txBody>
      </p:sp>
      <p:sp>
        <p:nvSpPr>
          <p:cNvPr id="465" name="Editable text: 13.5"/>
          <p:cNvSpPr txBox="1"/>
          <p:nvPr/>
        </p:nvSpPr>
        <p:spPr>
          <a:xfrm>
            <a:off x="3426075" y="316698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13.5</a:t>
            </a:r>
          </a:p>
        </p:txBody>
      </p:sp>
      <p:sp>
        <p:nvSpPr>
          <p:cNvPr id="466" name="Editable text: 14.0"/>
          <p:cNvSpPr txBox="1"/>
          <p:nvPr/>
        </p:nvSpPr>
        <p:spPr>
          <a:xfrm>
            <a:off x="3426075" y="2894598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14.0</a:t>
            </a:r>
          </a:p>
        </p:txBody>
      </p:sp>
      <p:sp>
        <p:nvSpPr>
          <p:cNvPr id="467" name="Editable text: LYPLA1 表达（作者处理尺度）"/>
          <p:cNvSpPr txBox="1"/>
          <p:nvPr/>
        </p:nvSpPr>
        <p:spPr>
          <a:xfrm rot="16200000">
            <a:off x="2479627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68" name="Editable text: 正常"/>
          <p:cNvSpPr txBox="1"/>
          <p:nvPr/>
        </p:nvSpPr>
        <p:spPr>
          <a:xfrm>
            <a:off x="6817419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69" name="Editable text: 肿瘤"/>
          <p:cNvSpPr txBox="1"/>
          <p:nvPr/>
        </p:nvSpPr>
        <p:spPr>
          <a:xfrm>
            <a:off x="8022276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70" name="Editable text: 5.5"/>
          <p:cNvSpPr txBox="1"/>
          <p:nvPr/>
        </p:nvSpPr>
        <p:spPr>
          <a:xfrm>
            <a:off x="6304438" y="4287705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5.5</a:t>
            </a:r>
          </a:p>
        </p:txBody>
      </p:sp>
      <p:sp>
        <p:nvSpPr>
          <p:cNvPr id="471" name="Editable text: 6.0"/>
          <p:cNvSpPr txBox="1"/>
          <p:nvPr/>
        </p:nvSpPr>
        <p:spPr>
          <a:xfrm>
            <a:off x="6304438" y="3935443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6.0</a:t>
            </a:r>
          </a:p>
        </p:txBody>
      </p:sp>
      <p:sp>
        <p:nvSpPr>
          <p:cNvPr id="472" name="Editable text: 6.5"/>
          <p:cNvSpPr txBox="1"/>
          <p:nvPr/>
        </p:nvSpPr>
        <p:spPr>
          <a:xfrm>
            <a:off x="6304438" y="3583180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6.5</a:t>
            </a:r>
          </a:p>
        </p:txBody>
      </p:sp>
      <p:sp>
        <p:nvSpPr>
          <p:cNvPr id="473" name="Editable text: 7.0"/>
          <p:cNvSpPr txBox="1"/>
          <p:nvPr/>
        </p:nvSpPr>
        <p:spPr>
          <a:xfrm>
            <a:off x="6304438" y="3230917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7.0</a:t>
            </a:r>
          </a:p>
        </p:txBody>
      </p:sp>
      <p:sp>
        <p:nvSpPr>
          <p:cNvPr id="474" name="Editable text: 7.5"/>
          <p:cNvSpPr txBox="1"/>
          <p:nvPr/>
        </p:nvSpPr>
        <p:spPr>
          <a:xfrm>
            <a:off x="6304438" y="28786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7.5</a:t>
            </a:r>
          </a:p>
        </p:txBody>
      </p:sp>
      <p:sp>
        <p:nvSpPr>
          <p:cNvPr id="475" name="Editable text: LYPLA1 表达（作者处理尺度）"/>
          <p:cNvSpPr txBox="1"/>
          <p:nvPr/>
        </p:nvSpPr>
        <p:spPr>
          <a:xfrm rot="16200000">
            <a:off x="5357991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76" name="Editable text: 正常"/>
          <p:cNvSpPr txBox="1"/>
          <p:nvPr/>
        </p:nvSpPr>
        <p:spPr>
          <a:xfrm>
            <a:off x="9633771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77" name="Editable text: 肿瘤"/>
          <p:cNvSpPr txBox="1"/>
          <p:nvPr/>
        </p:nvSpPr>
        <p:spPr>
          <a:xfrm>
            <a:off x="10838627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78" name="Editable text: 5.5"/>
          <p:cNvSpPr txBox="1"/>
          <p:nvPr/>
        </p:nvSpPr>
        <p:spPr>
          <a:xfrm>
            <a:off x="9120790" y="4502822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5.5</a:t>
            </a:r>
          </a:p>
        </p:txBody>
      </p:sp>
      <p:sp>
        <p:nvSpPr>
          <p:cNvPr id="479" name="Editable text: 6.0"/>
          <p:cNvSpPr txBox="1"/>
          <p:nvPr/>
        </p:nvSpPr>
        <p:spPr>
          <a:xfrm>
            <a:off x="9120790" y="423854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6.0</a:t>
            </a:r>
          </a:p>
        </p:txBody>
      </p:sp>
      <p:sp>
        <p:nvSpPr>
          <p:cNvPr id="480" name="Editable text: 6.5"/>
          <p:cNvSpPr txBox="1"/>
          <p:nvPr/>
        </p:nvSpPr>
        <p:spPr>
          <a:xfrm>
            <a:off x="9120790" y="3974275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6.5</a:t>
            </a:r>
          </a:p>
        </p:txBody>
      </p:sp>
      <p:sp>
        <p:nvSpPr>
          <p:cNvPr id="481" name="Editable text: 7.0"/>
          <p:cNvSpPr txBox="1"/>
          <p:nvPr/>
        </p:nvSpPr>
        <p:spPr>
          <a:xfrm>
            <a:off x="9120790" y="3710001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7.0</a:t>
            </a:r>
          </a:p>
        </p:txBody>
      </p:sp>
      <p:sp>
        <p:nvSpPr>
          <p:cNvPr id="482" name="Editable text: 7.5"/>
          <p:cNvSpPr txBox="1"/>
          <p:nvPr/>
        </p:nvSpPr>
        <p:spPr>
          <a:xfrm>
            <a:off x="9120790" y="344572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7.5</a:t>
            </a:r>
          </a:p>
        </p:txBody>
      </p:sp>
      <p:sp>
        <p:nvSpPr>
          <p:cNvPr id="483" name="Editable text: 8.0"/>
          <p:cNvSpPr txBox="1"/>
          <p:nvPr/>
        </p:nvSpPr>
        <p:spPr>
          <a:xfrm>
            <a:off x="9120790" y="31814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8.0</a:t>
            </a:r>
          </a:p>
        </p:txBody>
      </p:sp>
      <p:sp>
        <p:nvSpPr>
          <p:cNvPr id="484" name="Editable text: 8.5"/>
          <p:cNvSpPr txBox="1"/>
          <p:nvPr/>
        </p:nvSpPr>
        <p:spPr>
          <a:xfrm>
            <a:off x="9120790" y="2917181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8.5</a:t>
            </a:r>
          </a:p>
        </p:txBody>
      </p:sp>
      <p:sp>
        <p:nvSpPr>
          <p:cNvPr id="485" name="Editable text: LYPLA1 表达（作者处理尺度）"/>
          <p:cNvSpPr txBox="1"/>
          <p:nvPr/>
        </p:nvSpPr>
        <p:spPr>
          <a:xfrm rot="16200000">
            <a:off x="8174343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87" name="Editable text: LYPLA1：四癌组织表达与患者方向一致性"/>
          <p:cNvSpPr txBox="1"/>
          <p:nvPr/>
        </p:nvSpPr>
        <p:spPr>
          <a:xfrm>
            <a:off x="609599" y="1020128"/>
            <a:ext cx="8508470" cy="4986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LYPLA1：四癌组织表达与患者方向一致性</a:t>
            </a:r>
          </a:p>
        </p:txBody>
      </p:sp>
      <p:sp>
        <p:nvSpPr>
          <p:cNvPr id="488" name="Editable text: 来自 CAMP 代谢物直接关系候选池  ·  四癌 RNA 平均变化均为上调，其"/>
          <p:cNvSpPr txBox="1"/>
          <p:nvPr/>
        </p:nvSpPr>
        <p:spPr>
          <a:xfrm>
            <a:off x="633983" y="1567381"/>
            <a:ext cx="5313663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来自 CAMP 代谢物直接关系候选池  ·  四癌 RNA 平均变化均为上调，其中三癌显著</a:t>
            </a:r>
          </a:p>
        </p:txBody>
      </p:sp>
      <p:sp>
        <p:nvSpPr>
          <p:cNvPr id="489" name="Editable text: BRCA"/>
          <p:cNvSpPr txBox="1"/>
          <p:nvPr/>
        </p:nvSpPr>
        <p:spPr>
          <a:xfrm>
            <a:off x="1560120" y="2047508"/>
            <a:ext cx="65261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490" name="Editable text: 45 组配对  |  P = 1.19e-05"/>
          <p:cNvSpPr txBox="1"/>
          <p:nvPr/>
        </p:nvSpPr>
        <p:spPr>
          <a:xfrm>
            <a:off x="1108013" y="2388139"/>
            <a:ext cx="1519893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45 组配对  |  P = 1.19e-05</a:t>
            </a:r>
          </a:p>
        </p:txBody>
      </p:sp>
      <p:sp>
        <p:nvSpPr>
          <p:cNvPr id="491" name="Editable text: 34 / 45 位患者上调"/>
          <p:cNvSpPr txBox="1"/>
          <p:nvPr/>
        </p:nvSpPr>
        <p:spPr>
          <a:xfrm>
            <a:off x="1233359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34 / 45 位患者上调</a:t>
            </a:r>
          </a:p>
        </p:txBody>
      </p:sp>
      <p:sp>
        <p:nvSpPr>
          <p:cNvPr id="492" name="Editable text: 平均差值  +0.482"/>
          <p:cNvSpPr txBox="1"/>
          <p:nvPr/>
        </p:nvSpPr>
        <p:spPr>
          <a:xfrm>
            <a:off x="1379955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+0.482</a:t>
            </a:r>
          </a:p>
        </p:txBody>
      </p:sp>
      <p:sp>
        <p:nvSpPr>
          <p:cNvPr id="493" name="Editable text: COAD"/>
          <p:cNvSpPr txBox="1"/>
          <p:nvPr/>
        </p:nvSpPr>
        <p:spPr>
          <a:xfrm>
            <a:off x="4354809" y="2047508"/>
            <a:ext cx="694987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494" name="Editable text: 33 组配对  |  P = 0.000358"/>
          <p:cNvSpPr txBox="1"/>
          <p:nvPr/>
        </p:nvSpPr>
        <p:spPr>
          <a:xfrm>
            <a:off x="3913782" y="2388139"/>
            <a:ext cx="15408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33 组配对  |  P = 0.000358</a:t>
            </a:r>
          </a:p>
        </p:txBody>
      </p:sp>
      <p:sp>
        <p:nvSpPr>
          <p:cNvPr id="495" name="Editable text: 26 / 33 位患者上调"/>
          <p:cNvSpPr txBox="1"/>
          <p:nvPr/>
        </p:nvSpPr>
        <p:spPr>
          <a:xfrm>
            <a:off x="4049711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26 / 33 位患者上调</a:t>
            </a:r>
          </a:p>
        </p:txBody>
      </p:sp>
      <p:sp>
        <p:nvSpPr>
          <p:cNvPr id="496" name="Editable text: 平均差值  +0.414"/>
          <p:cNvSpPr txBox="1"/>
          <p:nvPr/>
        </p:nvSpPr>
        <p:spPr>
          <a:xfrm>
            <a:off x="4196307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+0.414</a:t>
            </a:r>
          </a:p>
        </p:txBody>
      </p:sp>
      <p:sp>
        <p:nvSpPr>
          <p:cNvPr id="497" name="Editable text: PDAC"/>
          <p:cNvSpPr txBox="1"/>
          <p:nvPr/>
        </p:nvSpPr>
        <p:spPr>
          <a:xfrm>
            <a:off x="7187367" y="2047508"/>
            <a:ext cx="662117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498" name="Editable text: 11 组配对  |  P = 0.0777"/>
          <p:cNvSpPr txBox="1"/>
          <p:nvPr/>
        </p:nvSpPr>
        <p:spPr>
          <a:xfrm>
            <a:off x="6801571" y="2388139"/>
            <a:ext cx="1398185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 组配对  |  P = 0.0777</a:t>
            </a:r>
          </a:p>
        </p:txBody>
      </p:sp>
      <p:sp>
        <p:nvSpPr>
          <p:cNvPr id="499" name="Editable text: 8 / 11 位患者上调"/>
          <p:cNvSpPr txBox="1"/>
          <p:nvPr/>
        </p:nvSpPr>
        <p:spPr>
          <a:xfrm>
            <a:off x="6908480" y="4999176"/>
            <a:ext cx="119257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8 / 11 位患者上调</a:t>
            </a:r>
          </a:p>
        </p:txBody>
      </p:sp>
      <p:sp>
        <p:nvSpPr>
          <p:cNvPr id="500" name="Editable text: 平均差值  +0.408  ·  未显著"/>
          <p:cNvSpPr txBox="1"/>
          <p:nvPr/>
        </p:nvSpPr>
        <p:spPr>
          <a:xfrm>
            <a:off x="6755187" y="5290462"/>
            <a:ext cx="1489434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+0.408  ·  未显著</a:t>
            </a:r>
          </a:p>
        </p:txBody>
      </p:sp>
      <p:sp>
        <p:nvSpPr>
          <p:cNvPr id="501" name="Editable text: PRAD"/>
          <p:cNvSpPr txBox="1"/>
          <p:nvPr/>
        </p:nvSpPr>
        <p:spPr>
          <a:xfrm>
            <a:off x="9998593" y="2047508"/>
            <a:ext cx="673428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502" name="Editable text: 43 组配对  |  P = 1.92e-05"/>
          <p:cNvSpPr txBox="1"/>
          <p:nvPr/>
        </p:nvSpPr>
        <p:spPr>
          <a:xfrm>
            <a:off x="9557069" y="2388139"/>
            <a:ext cx="151989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43 组配对  |  P = 1.92e-05</a:t>
            </a:r>
          </a:p>
        </p:txBody>
      </p:sp>
      <p:sp>
        <p:nvSpPr>
          <p:cNvPr id="503" name="Editable text: 33 / 43 位患者上调"/>
          <p:cNvSpPr txBox="1"/>
          <p:nvPr/>
        </p:nvSpPr>
        <p:spPr>
          <a:xfrm>
            <a:off x="9682416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33 / 43 位患者上调</a:t>
            </a:r>
          </a:p>
        </p:txBody>
      </p:sp>
      <p:sp>
        <p:nvSpPr>
          <p:cNvPr id="504" name="Editable text: 平均差值  +0.450"/>
          <p:cNvSpPr txBox="1"/>
          <p:nvPr/>
        </p:nvSpPr>
        <p:spPr>
          <a:xfrm>
            <a:off x="9829011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+0.450</a:t>
            </a:r>
          </a:p>
        </p:txBody>
      </p:sp>
      <p:sp>
        <p:nvSpPr>
          <p:cNvPr id="505" name="Editable text: 连线：同一患者的正常与肿瘤组织；暖色为升高、蓝色为降低；深色短横线为组均值。"/>
          <p:cNvSpPr txBox="1"/>
          <p:nvPr/>
        </p:nvSpPr>
        <p:spPr>
          <a:xfrm>
            <a:off x="633983" y="5653286"/>
            <a:ext cx="4150678" cy="1640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连线：同一患者的正常与肿瘤组织；暖色为升高、蓝色为降低；深色短横线为组均值。</a:t>
            </a:r>
          </a:p>
        </p:txBody>
      </p:sp>
      <p:sp>
        <p:nvSpPr>
          <p:cNvPr id="506" name="Editable text: 关注理由"/>
          <p:cNvSpPr txBox="1"/>
          <p:nvPr/>
        </p:nvSpPr>
        <p:spPr>
          <a:xfrm>
            <a:off x="609599" y="6027876"/>
            <a:ext cx="61224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关注理由</a:t>
            </a:r>
          </a:p>
        </p:txBody>
      </p:sp>
      <p:sp>
        <p:nvSpPr>
          <p:cNvPr id="507" name="Editable text: 代谢关系候选 + 四癌同向表达背景"/>
          <p:cNvSpPr txBox="1"/>
          <p:nvPr/>
        </p:nvSpPr>
        <p:spPr>
          <a:xfrm>
            <a:off x="1828800" y="6027876"/>
            <a:ext cx="217161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代谢关系候选 + 四癌同向表达背景</a:t>
            </a:r>
          </a:p>
        </p:txBody>
      </p:sp>
      <p:sp>
        <p:nvSpPr>
          <p:cNvPr id="508" name="Editable text: 下一问：上调来自恶性上皮吗？"/>
          <p:cNvSpPr txBox="1"/>
          <p:nvPr/>
        </p:nvSpPr>
        <p:spPr>
          <a:xfrm>
            <a:off x="7437119" y="6027876"/>
            <a:ext cx="1988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下一问：上调来自恶性上皮吗？</a:t>
            </a:r>
          </a:p>
        </p:txBody>
      </p:sp>
      <p:sp>
        <p:nvSpPr>
          <p:cNvPr id="509" name="Editable text: PDAC P = 0.0777；不称“四癌均显著”。这是同一 CAMP 队列的表"/>
          <p:cNvSpPr txBox="1"/>
          <p:nvPr/>
        </p:nvSpPr>
        <p:spPr>
          <a:xfrm>
            <a:off x="609599" y="6361935"/>
            <a:ext cx="498821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PDAC P = 0.0777；不称“四癌均显著”。这是同一 CAMP 队列的表达支持，不是独立验证或机制证明。</a:t>
            </a:r>
          </a:p>
        </p:txBody>
      </p:sp>
      <p:sp>
        <p:nvSpPr>
          <p:cNvPr id="510" name="Editable text: 各面板保留队列原始处理尺度，不能跨癌比较绝对表达量；配对依据来自既有作者身份审计"/>
          <p:cNvSpPr txBox="1"/>
          <p:nvPr/>
        </p:nvSpPr>
        <p:spPr>
          <a:xfrm>
            <a:off x="609599" y="6564667"/>
            <a:ext cx="4123582" cy="151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各面板保留队列原始处理尺度，不能跨癌比较绝对表达量；配对依据来自既有作者身份审计。</a:t>
            </a:r>
          </a:p>
        </p:txBody>
      </p:sp>
      <p:sp>
        <p:nvSpPr>
          <p:cNvPr id="511" name="Editable text: 10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</a:t>
            </a:r>
          </a:p>
        </p:txBody>
      </p:sp>
      <p:pic>
        <p:nvPicPr>
          <p:cNvPr id="512" name="Picture 51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13" name="TextBox 51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27" y="2299854"/>
            <a:ext cx="2663536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2104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43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766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90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142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563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196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5828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4610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0935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8725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578708"/>
            <a:ext cx="830579" cy="269042"/>
          </a:xfrm>
          <a:custGeom>
            <a:avLst/>
            <a:gdLst/>
            <a:ahLst/>
            <a:cxnLst/>
            <a:rect l="0" t="0" r="r" b="b"/>
            <a:pathLst>
              <a:path w="78480" h="25421">
                <a:moveTo>
                  <a:pt x="0" y="2542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371335"/>
            <a:ext cx="830579" cy="166522"/>
          </a:xfrm>
          <a:custGeom>
            <a:avLst/>
            <a:gdLst/>
            <a:ahLst/>
            <a:cxnLst/>
            <a:rect l="0" t="0" r="r" b="b"/>
            <a:pathLst>
              <a:path w="78480" h="15734">
                <a:moveTo>
                  <a:pt x="0" y="0"/>
                </a:moveTo>
                <a:lnTo>
                  <a:pt x="78480" y="157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761587"/>
            <a:ext cx="830579" cy="119840"/>
          </a:xfrm>
          <a:custGeom>
            <a:avLst/>
            <a:gdLst/>
            <a:ahLst/>
            <a:cxnLst/>
            <a:rect l="0" t="0" r="r" b="b"/>
            <a:pathLst>
              <a:path w="78480" h="11323">
                <a:moveTo>
                  <a:pt x="0" y="113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52041"/>
            <a:ext cx="830579" cy="276466"/>
          </a:xfrm>
          <a:custGeom>
            <a:avLst/>
            <a:gdLst/>
            <a:ahLst/>
            <a:cxnLst/>
            <a:rect l="0" t="0" r="r" b="b"/>
            <a:pathLst>
              <a:path w="78480" h="26123">
                <a:moveTo>
                  <a:pt x="0" y="261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4046608"/>
            <a:ext cx="830579" cy="65917"/>
          </a:xfrm>
          <a:custGeom>
            <a:avLst/>
            <a:gdLst/>
            <a:ahLst/>
            <a:cxnLst/>
            <a:rect l="0" t="0" r="r" b="b"/>
            <a:pathLst>
              <a:path w="78480" h="6228">
                <a:moveTo>
                  <a:pt x="0" y="62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53469"/>
            <a:ext cx="830579" cy="458313"/>
          </a:xfrm>
          <a:custGeom>
            <a:avLst/>
            <a:gdLst/>
            <a:ahLst/>
            <a:cxnLst/>
            <a:rect l="0" t="0" r="r" b="b"/>
            <a:pathLst>
              <a:path w="78480" h="43305">
                <a:moveTo>
                  <a:pt x="0" y="4330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93709"/>
            <a:ext cx="830579" cy="376505"/>
          </a:xfrm>
          <a:custGeom>
            <a:avLst/>
            <a:gdLst/>
            <a:ahLst/>
            <a:cxnLst/>
            <a:rect l="0" t="0" r="r" b="b"/>
            <a:pathLst>
              <a:path w="78480" h="35575">
                <a:moveTo>
                  <a:pt x="0" y="355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015292"/>
            <a:ext cx="830579" cy="639653"/>
          </a:xfrm>
          <a:custGeom>
            <a:avLst/>
            <a:gdLst/>
            <a:ahLst/>
            <a:cxnLst/>
            <a:rect l="0" t="0" r="r" b="b"/>
            <a:pathLst>
              <a:path w="78480" h="60440">
                <a:moveTo>
                  <a:pt x="0" y="6044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2468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482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583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8054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8946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887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6471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631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555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1479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385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289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40235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5304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70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598048" y="379731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428627" y="35424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26504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7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8" name="Editable text: UMAP 2"/>
          <p:cNvSpPr txBox="1"/>
          <p:nvPr/>
        </p:nvSpPr>
        <p:spPr>
          <a:xfrm rot="16200000">
            <a:off x="4093336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0" name="Editable text: 0.5"/>
          <p:cNvSpPr txBox="1"/>
          <p:nvPr/>
        </p:nvSpPr>
        <p:spPr>
          <a:xfrm>
            <a:off x="3825536" y="4263842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1" name="Editable text: 1.0"/>
          <p:cNvSpPr txBox="1"/>
          <p:nvPr/>
        </p:nvSpPr>
        <p:spPr>
          <a:xfrm>
            <a:off x="3825536" y="388715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2" name="Editable text: 1.5"/>
          <p:cNvSpPr txBox="1"/>
          <p:nvPr/>
        </p:nvSpPr>
        <p:spPr>
          <a:xfrm>
            <a:off x="3825536" y="351046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3" name="Editable text: 2.0"/>
          <p:cNvSpPr txBox="1"/>
          <p:nvPr/>
        </p:nvSpPr>
        <p:spPr>
          <a:xfrm>
            <a:off x="3825536" y="313377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84" name="Editable text: 2.5"/>
          <p:cNvSpPr txBox="1"/>
          <p:nvPr/>
        </p:nvSpPr>
        <p:spPr>
          <a:xfrm>
            <a:off x="3825536" y="275708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85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86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87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9" name="Editable text: 0.2"/>
          <p:cNvSpPr txBox="1"/>
          <p:nvPr/>
        </p:nvSpPr>
        <p:spPr>
          <a:xfrm>
            <a:off x="10270776" y="399915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0" name="Editable text: 0.4"/>
          <p:cNvSpPr txBox="1"/>
          <p:nvPr/>
        </p:nvSpPr>
        <p:spPr>
          <a:xfrm>
            <a:off x="10270776" y="376240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1" name="Editable text: 0.6"/>
          <p:cNvSpPr txBox="1"/>
          <p:nvPr/>
        </p:nvSpPr>
        <p:spPr>
          <a:xfrm>
            <a:off x="10270776" y="352565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92" name="Editable text: 0.8"/>
          <p:cNvSpPr txBox="1"/>
          <p:nvPr/>
        </p:nvSpPr>
        <p:spPr>
          <a:xfrm>
            <a:off x="10270776" y="328890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93" name="Editable text: 1.0"/>
          <p:cNvSpPr txBox="1"/>
          <p:nvPr/>
        </p:nvSpPr>
        <p:spPr>
          <a:xfrm>
            <a:off x="10270776" y="305215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4" name="Editable text: 1.2"/>
          <p:cNvSpPr txBox="1"/>
          <p:nvPr/>
        </p:nvSpPr>
        <p:spPr>
          <a:xfrm>
            <a:off x="10270776" y="281539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1.2</a:t>
            </a:r>
          </a:p>
        </p:txBody>
      </p:sp>
      <p:sp>
        <p:nvSpPr>
          <p:cNvPr id="95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97" name="Editable text: BRCA：从全细胞表达定位到同患者证据"/>
          <p:cNvSpPr txBox="1"/>
          <p:nvPr/>
        </p:nvSpPr>
        <p:spPr>
          <a:xfrm>
            <a:off x="609599" y="951108"/>
            <a:ext cx="5213630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BRCA：从全细胞表达定位到同患者证据</a:t>
            </a:r>
          </a:p>
        </p:txBody>
      </p:sp>
      <p:sp>
        <p:nvSpPr>
          <p:cNvPr id="98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Wu 2021 · GSE176078 · 全部细胞 · 100,064 个细胞</a:t>
            </a:r>
          </a:p>
        </p:txBody>
      </p:sp>
      <p:sp>
        <p:nvSpPr>
          <p:cNvPr id="99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0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1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2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03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</a:t>
            </a:r>
          </a:p>
        </p:txBody>
      </p:sp>
      <p:sp>
        <p:nvSpPr>
          <p:cNvPr id="104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24,489</a:t>
            </a:r>
          </a:p>
        </p:txBody>
      </p:sp>
      <p:sp>
        <p:nvSpPr>
          <p:cNvPr id="105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06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3,206</a:t>
            </a:r>
          </a:p>
        </p:txBody>
      </p:sp>
      <p:sp>
        <p:nvSpPr>
          <p:cNvPr id="107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08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6,573</a:t>
            </a:r>
          </a:p>
        </p:txBody>
      </p:sp>
      <p:sp>
        <p:nvSpPr>
          <p:cNvPr id="109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10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7,605</a:t>
            </a:r>
          </a:p>
        </p:txBody>
      </p:sp>
      <p:sp>
        <p:nvSpPr>
          <p:cNvPr id="111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12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9,675</a:t>
            </a:r>
          </a:p>
        </p:txBody>
      </p:sp>
      <p:sp>
        <p:nvSpPr>
          <p:cNvPr id="113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14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4,355</a:t>
            </a:r>
          </a:p>
        </p:txBody>
      </p:sp>
      <p:sp>
        <p:nvSpPr>
          <p:cNvPr id="115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PVL</a:t>
            </a:r>
          </a:p>
        </p:txBody>
      </p:sp>
      <p:sp>
        <p:nvSpPr>
          <p:cNvPr id="116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5,423</a:t>
            </a:r>
          </a:p>
        </p:txBody>
      </p:sp>
      <p:sp>
        <p:nvSpPr>
          <p:cNvPr id="117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Plasmablasts</a:t>
            </a:r>
          </a:p>
        </p:txBody>
      </p:sp>
      <p:sp>
        <p:nvSpPr>
          <p:cNvPr id="118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3,524</a:t>
            </a:r>
          </a:p>
        </p:txBody>
      </p:sp>
      <p:sp>
        <p:nvSpPr>
          <p:cNvPr id="119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20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35,214</a:t>
            </a:r>
          </a:p>
        </p:txBody>
      </p:sp>
      <p:sp>
        <p:nvSpPr>
          <p:cNvPr id="121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epithelial：红圈仅作位置提示</a:t>
            </a:r>
          </a:p>
        </p:txBody>
      </p:sp>
      <p:sp>
        <p:nvSpPr>
          <p:cNvPr id="122" name="Editable text: 色标上限 2.6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2.60 · 阳性值第99百分位</a:t>
            </a:r>
          </a:p>
        </p:txBody>
      </p:sp>
      <p:sp>
        <p:nvSpPr>
          <p:cNvPr id="123" name="Editable text: 配对 P = 0.03906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0.03906</a:t>
            </a:r>
          </a:p>
        </p:txBody>
      </p:sp>
      <p:sp>
        <p:nvSpPr>
          <p:cNvPr id="124" name="Editable text: 7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7 / 8</a:t>
            </a:r>
          </a:p>
        </p:txBody>
      </p:sp>
      <p:sp>
        <p:nvSpPr>
          <p:cNvPr id="125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26" name="Editable text: 平均差 +0.215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+0.215</a:t>
            </a:r>
          </a:p>
        </p:txBody>
      </p:sp>
      <p:sp>
        <p:nvSpPr>
          <p:cNvPr id="127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28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29" name="Editable text: 同患者比较支持恶性上皮上调。"/>
          <p:cNvSpPr txBox="1"/>
          <p:nvPr/>
        </p:nvSpPr>
        <p:spPr>
          <a:xfrm>
            <a:off x="609599" y="6115405"/>
            <a:ext cx="2141008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同患者比较支持恶性上皮上调。</a:t>
            </a:r>
          </a:p>
        </p:txBody>
      </p:sp>
      <p:sp>
        <p:nvSpPr>
          <p:cNvPr id="130" name="Editable text: 参照为肿瘤内非恶性上皮；Naive 子集 6/7 同向，P=0.078。"/>
          <p:cNvSpPr txBox="1"/>
          <p:nvPr/>
        </p:nvSpPr>
        <p:spPr>
          <a:xfrm>
            <a:off x="609599" y="6417173"/>
            <a:ext cx="248235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参照为肿瘤内非恶性上皮；Naive 子集 6/7 同向，P=0.078。</a:t>
            </a:r>
          </a:p>
        </p:txBody>
      </p:sp>
      <p:sp>
        <p:nvSpPr>
          <p:cNvPr id="131" name="Editable text: 11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11</a:t>
            </a:r>
          </a:p>
        </p:txBody>
      </p:sp>
      <p:pic>
        <p:nvPicPr>
          <p:cNvPr id="132" name="Picture 131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09" y="2299854"/>
            <a:ext cx="2317172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1246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271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419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5665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77138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998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706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4133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1201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28268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547319"/>
            <a:ext cx="830579" cy="358482"/>
          </a:xfrm>
          <a:custGeom>
            <a:avLst/>
            <a:gdLst/>
            <a:ahLst/>
            <a:cxnLst/>
            <a:rect l="0" t="0" r="r" b="b"/>
            <a:pathLst>
              <a:path w="78480" h="33872">
                <a:moveTo>
                  <a:pt x="0" y="3387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090660"/>
            <a:ext cx="830579" cy="809484"/>
          </a:xfrm>
          <a:custGeom>
            <a:avLst/>
            <a:gdLst/>
            <a:ahLst/>
            <a:cxnLst/>
            <a:rect l="0" t="0" r="r" b="b"/>
            <a:pathLst>
              <a:path w="78480" h="76487">
                <a:moveTo>
                  <a:pt x="0" y="764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883825"/>
          </a:xfrm>
          <a:custGeom>
            <a:avLst/>
            <a:gdLst/>
            <a:ahLst/>
            <a:cxnLst/>
            <a:rect l="0" t="0" r="r" b="b"/>
            <a:pathLst>
              <a:path w="78480" h="83511">
                <a:moveTo>
                  <a:pt x="0" y="8351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21793"/>
            <a:ext cx="830579" cy="800230"/>
          </a:xfrm>
          <a:custGeom>
            <a:avLst/>
            <a:gdLst/>
            <a:ahLst/>
            <a:cxnLst/>
            <a:rect l="0" t="0" r="r" b="b"/>
            <a:pathLst>
              <a:path w="78480" h="75612">
                <a:moveTo>
                  <a:pt x="0" y="7561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455461"/>
            <a:ext cx="830579" cy="393941"/>
          </a:xfrm>
          <a:custGeom>
            <a:avLst/>
            <a:gdLst/>
            <a:ahLst/>
            <a:cxnLst/>
            <a:rect l="0" t="0" r="r" b="b"/>
            <a:pathLst>
              <a:path w="78480" h="37223">
                <a:moveTo>
                  <a:pt x="0" y="372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765784"/>
            <a:ext cx="830579" cy="167652"/>
          </a:xfrm>
          <a:custGeom>
            <a:avLst/>
            <a:gdLst/>
            <a:ahLst/>
            <a:cxnLst/>
            <a:rect l="0" t="0" r="r" b="b"/>
            <a:pathLst>
              <a:path w="78480" h="15841">
                <a:moveTo>
                  <a:pt x="0" y="1584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376280"/>
            <a:ext cx="830579" cy="684315"/>
          </a:xfrm>
          <a:custGeom>
            <a:avLst/>
            <a:gdLst/>
            <a:ahLst/>
            <a:cxnLst/>
            <a:rect l="0" t="0" r="r" b="b"/>
            <a:pathLst>
              <a:path w="78480" h="64660">
                <a:moveTo>
                  <a:pt x="0" y="6466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913523"/>
            <a:ext cx="830579" cy="113269"/>
          </a:xfrm>
          <a:custGeom>
            <a:avLst/>
            <a:gdLst/>
            <a:ahLst/>
            <a:cxnLst/>
            <a:rect l="0" t="0" r="r" b="b"/>
            <a:pathLst>
              <a:path w="78480" h="10703">
                <a:moveTo>
                  <a:pt x="0" y="1070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427801"/>
            <a:ext cx="830579" cy="577959"/>
          </a:xfrm>
          <a:custGeom>
            <a:avLst/>
            <a:gdLst/>
            <a:ahLst/>
            <a:cxnLst/>
            <a:rect l="0" t="0" r="r" b="b"/>
            <a:pathLst>
              <a:path w="78480" h="54610">
                <a:moveTo>
                  <a:pt x="0" y="5461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8273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8770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760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7989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26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103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40375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03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9826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24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0675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8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4323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7427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532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8904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0473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598048" y="3933675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428627" y="34015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49917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5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4278205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8" name="Editable text: 0.5"/>
          <p:cNvSpPr txBox="1"/>
          <p:nvPr/>
        </p:nvSpPr>
        <p:spPr>
          <a:xfrm>
            <a:off x="3825536" y="4255261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9" name="Editable text: 1.0"/>
          <p:cNvSpPr txBox="1"/>
          <p:nvPr/>
        </p:nvSpPr>
        <p:spPr>
          <a:xfrm>
            <a:off x="3825536" y="386999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0" name="Editable text: 1.5"/>
          <p:cNvSpPr txBox="1"/>
          <p:nvPr/>
        </p:nvSpPr>
        <p:spPr>
          <a:xfrm>
            <a:off x="3825536" y="348472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91" name="Editable text: 2.0"/>
          <p:cNvSpPr txBox="1"/>
          <p:nvPr/>
        </p:nvSpPr>
        <p:spPr>
          <a:xfrm>
            <a:off x="3825536" y="309945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2" name="Editable text: 2.5"/>
          <p:cNvSpPr txBox="1"/>
          <p:nvPr/>
        </p:nvSpPr>
        <p:spPr>
          <a:xfrm>
            <a:off x="3825536" y="2714187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3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94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5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6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7" name="Editable text: 0.2"/>
          <p:cNvSpPr txBox="1"/>
          <p:nvPr/>
        </p:nvSpPr>
        <p:spPr>
          <a:xfrm>
            <a:off x="10270776" y="394266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8" name="Editable text: 0.4"/>
          <p:cNvSpPr txBox="1"/>
          <p:nvPr/>
        </p:nvSpPr>
        <p:spPr>
          <a:xfrm>
            <a:off x="10270776" y="364942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9" name="Editable text: 0.6"/>
          <p:cNvSpPr txBox="1"/>
          <p:nvPr/>
        </p:nvSpPr>
        <p:spPr>
          <a:xfrm>
            <a:off x="10270776" y="335617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0" name="Editable text: 0.8"/>
          <p:cNvSpPr txBox="1"/>
          <p:nvPr/>
        </p:nvSpPr>
        <p:spPr>
          <a:xfrm>
            <a:off x="10270776" y="306293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01" name="Editable text: 1.0"/>
          <p:cNvSpPr txBox="1"/>
          <p:nvPr/>
        </p:nvSpPr>
        <p:spPr>
          <a:xfrm>
            <a:off x="10270776" y="276969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4" name="Editable text: COAD：从全细胞表达定位到同患者证据"/>
          <p:cNvSpPr txBox="1"/>
          <p:nvPr/>
        </p:nvSpPr>
        <p:spPr>
          <a:xfrm>
            <a:off x="609599" y="951108"/>
            <a:ext cx="5273985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COAD：从全细胞表达定位到同患者证据</a:t>
            </a:r>
          </a:p>
        </p:txBody>
      </p:sp>
      <p:sp>
        <p:nvSpPr>
          <p:cNvPr id="105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6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0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</a:t>
            </a:r>
          </a:p>
        </p:txBody>
      </p:sp>
      <p:sp>
        <p:nvSpPr>
          <p:cNvPr id="111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4,477</a:t>
            </a:r>
          </a:p>
        </p:txBody>
      </p:sp>
      <p:sp>
        <p:nvSpPr>
          <p:cNvPr id="112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13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3,553</a:t>
            </a:r>
          </a:p>
        </p:txBody>
      </p:sp>
      <p:sp>
        <p:nvSpPr>
          <p:cNvPr id="114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CD8+ T cells</a:t>
            </a:r>
          </a:p>
        </p:txBody>
      </p:sp>
      <p:sp>
        <p:nvSpPr>
          <p:cNvPr id="115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5,904</a:t>
            </a:r>
          </a:p>
        </p:txBody>
      </p:sp>
      <p:sp>
        <p:nvSpPr>
          <p:cNvPr id="116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CNN epithelial</a:t>
            </a:r>
          </a:p>
        </p:txBody>
      </p:sp>
      <p:sp>
        <p:nvSpPr>
          <p:cNvPr id="117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7,885</a:t>
            </a:r>
          </a:p>
        </p:txBody>
      </p:sp>
      <p:sp>
        <p:nvSpPr>
          <p:cNvPr id="118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Conventional T</a:t>
            </a:r>
          </a:p>
        </p:txBody>
      </p:sp>
      <p:sp>
        <p:nvSpPr>
          <p:cNvPr id="119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6,806</a:t>
            </a:r>
          </a:p>
        </p:txBody>
      </p:sp>
      <p:sp>
        <p:nvSpPr>
          <p:cNvPr id="120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 cells</a:t>
            </a:r>
          </a:p>
        </p:txBody>
      </p:sp>
      <p:sp>
        <p:nvSpPr>
          <p:cNvPr id="121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636</a:t>
            </a:r>
          </a:p>
        </p:txBody>
      </p:sp>
      <p:sp>
        <p:nvSpPr>
          <p:cNvPr id="122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Epithelial (unclassified)</a:t>
            </a:r>
          </a:p>
        </p:txBody>
      </p:sp>
      <p:sp>
        <p:nvSpPr>
          <p:cNvPr id="123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2,747</a:t>
            </a:r>
          </a:p>
        </p:txBody>
      </p:sp>
      <p:sp>
        <p:nvSpPr>
          <p:cNvPr id="124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Fibroblasts</a:t>
            </a:r>
          </a:p>
        </p:txBody>
      </p:sp>
      <p:sp>
        <p:nvSpPr>
          <p:cNvPr id="125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1,986</a:t>
            </a:r>
          </a:p>
        </p:txBody>
      </p:sp>
      <p:sp>
        <p:nvSpPr>
          <p:cNvPr id="126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Glial cells</a:t>
            </a:r>
          </a:p>
        </p:txBody>
      </p:sp>
      <p:sp>
        <p:nvSpPr>
          <p:cNvPr id="127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115</a:t>
            </a:r>
          </a:p>
        </p:txBody>
      </p:sp>
      <p:sp>
        <p:nvSpPr>
          <p:cNvPr id="128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Mast cells</a:t>
            </a:r>
          </a:p>
        </p:txBody>
      </p:sp>
      <p:sp>
        <p:nvSpPr>
          <p:cNvPr id="129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513</a:t>
            </a:r>
          </a:p>
        </p:txBody>
      </p:sp>
      <p:sp>
        <p:nvSpPr>
          <p:cNvPr id="130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Monocytes</a:t>
            </a:r>
          </a:p>
        </p:txBody>
      </p:sp>
      <p:sp>
        <p:nvSpPr>
          <p:cNvPr id="131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3,291</a:t>
            </a:r>
          </a:p>
        </p:txBody>
      </p:sp>
      <p:sp>
        <p:nvSpPr>
          <p:cNvPr id="132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3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16,138</a:t>
            </a:r>
          </a:p>
        </p:txBody>
      </p:sp>
      <p:sp>
        <p:nvSpPr>
          <p:cNvPr id="134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Pericytes</a:t>
            </a:r>
          </a:p>
        </p:txBody>
      </p:sp>
      <p:sp>
        <p:nvSpPr>
          <p:cNvPr id="135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266</a:t>
            </a:r>
          </a:p>
        </p:txBody>
      </p:sp>
      <p:sp>
        <p:nvSpPr>
          <p:cNvPr id="136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7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12,161</a:t>
            </a:r>
          </a:p>
        </p:txBody>
      </p:sp>
      <p:sp>
        <p:nvSpPr>
          <p:cNvPr id="138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Regulatory T</a:t>
            </a:r>
          </a:p>
        </p:txBody>
      </p:sp>
      <p:sp>
        <p:nvSpPr>
          <p:cNvPr id="139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2,224</a:t>
            </a:r>
          </a:p>
        </p:txBody>
      </p:sp>
      <p:sp>
        <p:nvSpPr>
          <p:cNvPr id="140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epithelial：红圈仅作位置提示</a:t>
            </a:r>
          </a:p>
        </p:txBody>
      </p:sp>
      <p:sp>
        <p:nvSpPr>
          <p:cNvPr id="141" name="Editable text: 色标上限 2.54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2.54 · 阳性值第99百分位</a:t>
            </a:r>
          </a:p>
        </p:txBody>
      </p:sp>
      <p:sp>
        <p:nvSpPr>
          <p:cNvPr id="142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43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 / 9</a:t>
            </a:r>
          </a:p>
        </p:txBody>
      </p:sp>
      <p:sp>
        <p:nvSpPr>
          <p:cNvPr id="144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5" name="Editable text: 平均差 +0.36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+0.363</a:t>
            </a:r>
          </a:p>
        </p:txBody>
      </p:sp>
      <p:sp>
        <p:nvSpPr>
          <p:cNvPr id="146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参照：正常组织上皮</a:t>
            </a:r>
          </a:p>
        </p:txBody>
      </p:sp>
      <p:sp>
        <p:nvSpPr>
          <p:cNvPr id="147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目标：肿瘤 CNA 上皮</a:t>
            </a:r>
          </a:p>
        </p:txBody>
      </p:sp>
      <p:sp>
        <p:nvSpPr>
          <p:cNvPr id="148" name="Editable text: 同患者描述：9/9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同患者描述：9/9 位目标上皮表达更高；尚未作显著性检验。</a:t>
            </a:r>
          </a:p>
        </p:txBody>
      </p:sp>
      <p:sp>
        <p:nvSpPr>
          <p:cNvPr id="149" name="Editable text: CNA 为作者拷贝数异常标签；CNN 不等于已证实非恶性。患者图为描述性比较，未"/>
          <p:cNvSpPr txBox="1"/>
          <p:nvPr/>
        </p:nvSpPr>
        <p:spPr>
          <a:xfrm>
            <a:off x="609599" y="6417173"/>
            <a:ext cx="382529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CNA 为作者拷贝数异常标签；CNN 不等于已证实非恶性。患者图为描述性比较，未新增检验。</a:t>
            </a:r>
          </a:p>
        </p:txBody>
      </p:sp>
      <p:sp>
        <p:nvSpPr>
          <p:cNvPr id="150" name="Editable text: 12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12</a:t>
            </a:r>
          </a:p>
        </p:txBody>
      </p:sp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90" y="2299854"/>
            <a:ext cx="2199408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048786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877074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6533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03293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7005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36814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0357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381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58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2835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8734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276166"/>
            <a:ext cx="830579" cy="407252"/>
          </a:xfrm>
          <a:custGeom>
            <a:avLst/>
            <a:gdLst/>
            <a:ahLst/>
            <a:cxnLst/>
            <a:rect l="0" t="0" r="r" b="b"/>
            <a:pathLst>
              <a:path w="78480" h="38481">
                <a:moveTo>
                  <a:pt x="0" y="384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288485"/>
            <a:ext cx="830579" cy="842686"/>
          </a:xfrm>
          <a:custGeom>
            <a:avLst/>
            <a:gdLst/>
            <a:ahLst/>
            <a:cxnLst/>
            <a:rect l="0" t="0" r="r" b="b"/>
            <a:pathLst>
              <a:path w="78480" h="79624">
                <a:moveTo>
                  <a:pt x="0" y="7962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655398"/>
            <a:ext cx="830579" cy="277005"/>
          </a:xfrm>
          <a:custGeom>
            <a:avLst/>
            <a:gdLst/>
            <a:ahLst/>
            <a:cxnLst/>
            <a:rect l="0" t="0" r="r" b="b"/>
            <a:pathLst>
              <a:path w="78480" h="26174">
                <a:moveTo>
                  <a:pt x="0" y="2617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93879"/>
            <a:ext cx="830579" cy="667454"/>
          </a:xfrm>
          <a:custGeom>
            <a:avLst/>
            <a:gdLst/>
            <a:ahLst/>
            <a:cxnLst/>
            <a:rect l="0" t="0" r="r" b="b"/>
            <a:pathLst>
              <a:path w="78480" h="63067">
                <a:moveTo>
                  <a:pt x="0" y="6306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15292"/>
            <a:ext cx="830579" cy="1151285"/>
          </a:xfrm>
          <a:custGeom>
            <a:avLst/>
            <a:gdLst/>
            <a:ahLst/>
            <a:cxnLst/>
            <a:rect l="0" t="0" r="r" b="b"/>
            <a:pathLst>
              <a:path w="78480" h="108783">
                <a:moveTo>
                  <a:pt x="0" y="108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56983"/>
            <a:ext cx="830579" cy="348501"/>
          </a:xfrm>
          <a:custGeom>
            <a:avLst/>
            <a:gdLst/>
            <a:ahLst/>
            <a:cxnLst/>
            <a:rect l="0" t="0" r="r" b="b"/>
            <a:pathLst>
              <a:path w="78480" h="32929">
                <a:moveTo>
                  <a:pt x="0" y="32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89521"/>
            <a:ext cx="830579" cy="946666"/>
          </a:xfrm>
          <a:custGeom>
            <a:avLst/>
            <a:gdLst/>
            <a:ahLst/>
            <a:cxnLst/>
            <a:rect l="0" t="0" r="r" b="b"/>
            <a:pathLst>
              <a:path w="78480" h="89449">
                <a:moveTo>
                  <a:pt x="0" y="8944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86620"/>
            <a:ext cx="830579" cy="417602"/>
          </a:xfrm>
          <a:custGeom>
            <a:avLst/>
            <a:gdLst/>
            <a:ahLst/>
            <a:cxnLst/>
            <a:rect l="0" t="0" r="r" b="b"/>
            <a:pathLst>
              <a:path w="78480" h="39458">
                <a:moveTo>
                  <a:pt x="0" y="3945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4081142"/>
            <a:ext cx="830579" cy="211966"/>
          </a:xfrm>
          <a:custGeom>
            <a:avLst/>
            <a:gdLst/>
            <a:ahLst/>
            <a:cxnLst/>
            <a:rect l="0" t="0" r="r" b="b"/>
            <a:pathLst>
              <a:path w="78480" h="20028">
                <a:moveTo>
                  <a:pt x="0" y="200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36603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41081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09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93826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41435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6824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01312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9811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2531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265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323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2708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3339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0664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563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40580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598048" y="399043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428627" y="340483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2" name="Editable text: UMAP 2"/>
          <p:cNvSpPr txBox="1"/>
          <p:nvPr/>
        </p:nvSpPr>
        <p:spPr>
          <a:xfrm rot="16200000">
            <a:off x="51360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3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34188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5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6" name="Editable text: 0.5"/>
          <p:cNvSpPr txBox="1"/>
          <p:nvPr/>
        </p:nvSpPr>
        <p:spPr>
          <a:xfrm>
            <a:off x="3825536" y="430813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7" name="Editable text: 1.0"/>
          <p:cNvSpPr txBox="1"/>
          <p:nvPr/>
        </p:nvSpPr>
        <p:spPr>
          <a:xfrm>
            <a:off x="3825536" y="397573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8" name="Editable text: 1.5"/>
          <p:cNvSpPr txBox="1"/>
          <p:nvPr/>
        </p:nvSpPr>
        <p:spPr>
          <a:xfrm>
            <a:off x="3825536" y="364334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9" name="Editable text: 2.0"/>
          <p:cNvSpPr txBox="1"/>
          <p:nvPr/>
        </p:nvSpPr>
        <p:spPr>
          <a:xfrm>
            <a:off x="3825536" y="331094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0" name="Editable text: 2.5"/>
          <p:cNvSpPr txBox="1"/>
          <p:nvPr/>
        </p:nvSpPr>
        <p:spPr>
          <a:xfrm>
            <a:off x="3825536" y="297855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1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92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3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4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5" name="Editable text: 0.2"/>
          <p:cNvSpPr txBox="1"/>
          <p:nvPr/>
        </p:nvSpPr>
        <p:spPr>
          <a:xfrm>
            <a:off x="10270776" y="388098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6" name="Editable text: 0.4"/>
          <p:cNvSpPr txBox="1"/>
          <p:nvPr/>
        </p:nvSpPr>
        <p:spPr>
          <a:xfrm>
            <a:off x="10270776" y="352607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7" name="Editable text: 0.6"/>
          <p:cNvSpPr txBox="1"/>
          <p:nvPr/>
        </p:nvSpPr>
        <p:spPr>
          <a:xfrm>
            <a:off x="10270776" y="317115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98" name="Editable text: 0.8"/>
          <p:cNvSpPr txBox="1"/>
          <p:nvPr/>
        </p:nvSpPr>
        <p:spPr>
          <a:xfrm>
            <a:off x="10270776" y="281623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9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1" name="Editable text: PDAC：从全细胞表达定位到同患者证据"/>
          <p:cNvSpPr txBox="1"/>
          <p:nvPr/>
        </p:nvSpPr>
        <p:spPr>
          <a:xfrm>
            <a:off x="609599" y="951108"/>
            <a:ext cx="5227153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PDAC：从全细胞表达定位到同患者证据</a:t>
            </a:r>
          </a:p>
        </p:txBody>
      </p:sp>
      <p:sp>
        <p:nvSpPr>
          <p:cNvPr id="102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0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0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08" name="Editable text: 52,99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52,999</a:t>
            </a:r>
          </a:p>
        </p:txBody>
      </p:sp>
      <p:sp>
        <p:nvSpPr>
          <p:cNvPr id="109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Adipocyte</a:t>
            </a:r>
          </a:p>
        </p:txBody>
      </p:sp>
      <p:sp>
        <p:nvSpPr>
          <p:cNvPr id="110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45</a:t>
            </a:r>
          </a:p>
        </p:txBody>
      </p:sp>
      <p:sp>
        <p:nvSpPr>
          <p:cNvPr id="111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Atypical ductal</a:t>
            </a:r>
          </a:p>
        </p:txBody>
      </p:sp>
      <p:sp>
        <p:nvSpPr>
          <p:cNvPr id="112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1,518</a:t>
            </a:r>
          </a:p>
        </p:txBody>
      </p:sp>
      <p:sp>
        <p:nvSpPr>
          <p:cNvPr id="113" name="Editable text: CAFs"/>
          <p:cNvSpPr txBox="1"/>
          <p:nvPr/>
        </p:nvSpPr>
        <p:spPr>
          <a:xfrm>
            <a:off x="7827263" y="3110998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14" name="Editable text: 20,801"/>
          <p:cNvSpPr txBox="1"/>
          <p:nvPr/>
        </p:nvSpPr>
        <p:spPr>
          <a:xfrm>
            <a:off x="9553900" y="311327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20,801</a:t>
            </a:r>
          </a:p>
        </p:txBody>
      </p:sp>
      <p:sp>
        <p:nvSpPr>
          <p:cNvPr id="115" name="Editable text: Ductal"/>
          <p:cNvSpPr txBox="1"/>
          <p:nvPr/>
        </p:nvSpPr>
        <p:spPr>
          <a:xfrm>
            <a:off x="7827263" y="3316738"/>
            <a:ext cx="30929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Ductal</a:t>
            </a:r>
          </a:p>
        </p:txBody>
      </p:sp>
      <p:sp>
        <p:nvSpPr>
          <p:cNvPr id="116" name="Editable text: 6,75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6,755</a:t>
            </a:r>
          </a:p>
        </p:txBody>
      </p:sp>
      <p:sp>
        <p:nvSpPr>
          <p:cNvPr id="117" name="Editable text: Endocrine"/>
          <p:cNvSpPr txBox="1"/>
          <p:nvPr/>
        </p:nvSpPr>
        <p:spPr>
          <a:xfrm>
            <a:off x="7827263" y="3522478"/>
            <a:ext cx="45888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Endocrine</a:t>
            </a:r>
          </a:p>
        </p:txBody>
      </p:sp>
      <p:sp>
        <p:nvSpPr>
          <p:cNvPr id="118" name="Editable text: 1,865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1,865</a:t>
            </a:r>
          </a:p>
        </p:txBody>
      </p:sp>
      <p:sp>
        <p:nvSpPr>
          <p:cNvPr id="119" name="Editable text: Endothelial"/>
          <p:cNvSpPr txBox="1"/>
          <p:nvPr/>
        </p:nvSpPr>
        <p:spPr>
          <a:xfrm>
            <a:off x="7827263" y="372821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0" name="Editable text: 6,668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6,668</a:t>
            </a:r>
          </a:p>
        </p:txBody>
      </p:sp>
      <p:sp>
        <p:nvSpPr>
          <p:cNvPr id="121" name="Editable text: Lymphoid"/>
          <p:cNvSpPr txBox="1"/>
          <p:nvPr/>
        </p:nvSpPr>
        <p:spPr>
          <a:xfrm>
            <a:off x="7827263" y="3933710"/>
            <a:ext cx="45558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Lymphoid</a:t>
            </a:r>
          </a:p>
        </p:txBody>
      </p:sp>
      <p:sp>
        <p:nvSpPr>
          <p:cNvPr id="122" name="Editable text: 4,631"/>
          <p:cNvSpPr txBox="1"/>
          <p:nvPr/>
        </p:nvSpPr>
        <p:spPr>
          <a:xfrm>
            <a:off x="9604336" y="39362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4,631</a:t>
            </a:r>
          </a:p>
        </p:txBody>
      </p:sp>
      <p:sp>
        <p:nvSpPr>
          <p:cNvPr id="123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24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4,999</a:t>
            </a:r>
          </a:p>
        </p:txBody>
      </p:sp>
      <p:sp>
        <p:nvSpPr>
          <p:cNvPr id="125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Other nonmalignant epi.</a:t>
            </a:r>
          </a:p>
        </p:txBody>
      </p:sp>
      <p:sp>
        <p:nvSpPr>
          <p:cNvPr id="126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2,369</a:t>
            </a:r>
          </a:p>
        </p:txBody>
      </p:sp>
      <p:sp>
        <p:nvSpPr>
          <p:cNvPr id="127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Pancreatic neurons</a:t>
            </a:r>
          </a:p>
        </p:txBody>
      </p:sp>
      <p:sp>
        <p:nvSpPr>
          <p:cNvPr id="128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</a:t>
            </a:r>
          </a:p>
        </p:txBody>
      </p:sp>
      <p:sp>
        <p:nvSpPr>
          <p:cNvPr id="129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</a:t>
            </a:r>
          </a:p>
        </p:txBody>
      </p:sp>
      <p:sp>
        <p:nvSpPr>
          <p:cNvPr id="130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3,043</a:t>
            </a:r>
          </a:p>
        </p:txBody>
      </p:sp>
      <p:sp>
        <p:nvSpPr>
          <p:cNvPr id="131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Schwann</a:t>
            </a:r>
          </a:p>
        </p:txBody>
      </p:sp>
      <p:sp>
        <p:nvSpPr>
          <p:cNvPr id="132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807</a:t>
            </a:r>
          </a:p>
        </p:txBody>
      </p:sp>
      <p:sp>
        <p:nvSpPr>
          <p:cNvPr id="133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Vascular smooth muscle</a:t>
            </a:r>
          </a:p>
        </p:txBody>
      </p:sp>
      <p:sp>
        <p:nvSpPr>
          <p:cNvPr id="134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2,456</a:t>
            </a:r>
          </a:p>
        </p:txBody>
      </p:sp>
      <p:sp>
        <p:nvSpPr>
          <p:cNvPr id="135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epithelial：红圈仅作位置提示</a:t>
            </a:r>
          </a:p>
        </p:txBody>
      </p:sp>
      <p:sp>
        <p:nvSpPr>
          <p:cNvPr id="136" name="Editable text: 色标上限 2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2.95 · 阳性值第99百分位</a:t>
            </a:r>
          </a:p>
        </p:txBody>
      </p:sp>
      <p:sp>
        <p:nvSpPr>
          <p:cNvPr id="137" name="Editable text: 配对 P = 0.00348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0.00348</a:t>
            </a:r>
          </a:p>
        </p:txBody>
      </p:sp>
      <p:sp>
        <p:nvSpPr>
          <p:cNvPr id="138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 / 9</a:t>
            </a:r>
          </a:p>
        </p:txBody>
      </p:sp>
      <p:sp>
        <p:nvSpPr>
          <p:cNvPr id="139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0" name="Editable text: 平均差 +0.330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+0.330</a:t>
            </a:r>
          </a:p>
        </p:txBody>
      </p:sp>
      <p:sp>
        <p:nvSpPr>
          <p:cNvPr id="141" name="Editable text: 参照：非恶性导管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参照：非恶性导管</a:t>
            </a:r>
          </a:p>
        </p:txBody>
      </p:sp>
      <p:sp>
        <p:nvSpPr>
          <p:cNvPr id="142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43" name="Editable text: 未治疗样本的全核均值支持恶性上皮上调。"/>
          <p:cNvSpPr txBox="1"/>
          <p:nvPr/>
        </p:nvSpPr>
        <p:spPr>
          <a:xfrm>
            <a:off x="609599" y="6115405"/>
            <a:ext cx="28818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未治疗样本的全核均值支持恶性上皮上调。</a:t>
            </a:r>
          </a:p>
        </p:txBody>
      </p:sp>
      <p:sp>
        <p:nvSpPr>
          <p:cNvPr id="144" name="Editable text: 9 位同患者比较；全部细胞核均纳入均值。仅阳性核的既有敏感性分析不支持同向升高。"/>
          <p:cNvSpPr txBox="1"/>
          <p:nvPr/>
        </p:nvSpPr>
        <p:spPr>
          <a:xfrm>
            <a:off x="609599" y="6417173"/>
            <a:ext cx="3538241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 位同患者比较；全部细胞核均纳入均值。仅阳性核的既有敏感性分析不支持同向升高。</a:t>
            </a:r>
          </a:p>
        </p:txBody>
      </p:sp>
      <p:sp>
        <p:nvSpPr>
          <p:cNvPr id="145" name="Editable text: 13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13</a:t>
            </a:r>
          </a:p>
        </p:txBody>
      </p:sp>
      <p:pic>
        <p:nvPicPr>
          <p:cNvPr id="146" name="Picture 145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4" y="2303318"/>
            <a:ext cx="2573481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863159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2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2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2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691447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3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3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3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46702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3631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40056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7490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54419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31348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30827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767327" y="285207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40412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78941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3757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28572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0338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06946"/>
            <a:ext cx="830579" cy="793629"/>
          </a:xfrm>
          <a:custGeom>
            <a:avLst/>
            <a:gdLst/>
            <a:ahLst/>
            <a:cxnLst/>
            <a:rect l="0" t="0" r="r" b="b"/>
            <a:pathLst>
              <a:path w="78480" h="74989">
                <a:moveTo>
                  <a:pt x="0" y="7498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65163"/>
            <a:ext cx="830579" cy="489977"/>
          </a:xfrm>
          <a:custGeom>
            <a:avLst/>
            <a:gdLst/>
            <a:ahLst/>
            <a:cxnLst/>
            <a:rect l="0" t="0" r="r" b="b"/>
            <a:pathLst>
              <a:path w="78480" h="46297">
                <a:moveTo>
                  <a:pt x="0" y="4629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38754"/>
            <a:ext cx="830579" cy="583592"/>
          </a:xfrm>
          <a:custGeom>
            <a:avLst/>
            <a:gdLst/>
            <a:ahLst/>
            <a:cxnLst/>
            <a:rect l="0" t="0" r="r" b="b"/>
            <a:pathLst>
              <a:path w="78480" h="55143">
                <a:moveTo>
                  <a:pt x="0" y="5514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480770"/>
            <a:ext cx="830579" cy="566361"/>
          </a:xfrm>
          <a:custGeom>
            <a:avLst/>
            <a:gdLst/>
            <a:ahLst/>
            <a:cxnLst/>
            <a:rect l="0" t="0" r="r" b="b"/>
            <a:pathLst>
              <a:path w="78480" h="53514">
                <a:moveTo>
                  <a:pt x="0" y="5351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308142"/>
            <a:ext cx="830579" cy="751177"/>
          </a:xfrm>
          <a:custGeom>
            <a:avLst/>
            <a:gdLst/>
            <a:ahLst/>
            <a:cxnLst/>
            <a:rect l="0" t="0" r="r" b="b"/>
            <a:pathLst>
              <a:path w="78480" h="70977">
                <a:moveTo>
                  <a:pt x="0" y="7097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376708"/>
            <a:ext cx="830579" cy="564736"/>
          </a:xfrm>
          <a:custGeom>
            <a:avLst/>
            <a:gdLst/>
            <a:ahLst/>
            <a:cxnLst/>
            <a:rect l="0" t="0" r="r" b="b"/>
            <a:pathLst>
              <a:path w="78480" h="53361">
                <a:moveTo>
                  <a:pt x="0" y="5336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313569"/>
            <a:ext cx="830579" cy="669941"/>
          </a:xfrm>
          <a:custGeom>
            <a:avLst/>
            <a:gdLst/>
            <a:ahLst/>
            <a:cxnLst/>
            <a:rect l="0" t="0" r="r" b="b"/>
            <a:pathLst>
              <a:path w="78480" h="63302">
                <a:moveTo>
                  <a:pt x="0" y="6330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636831"/>
            <a:ext cx="830579" cy="403808"/>
          </a:xfrm>
          <a:custGeom>
            <a:avLst/>
            <a:gdLst/>
            <a:ahLst/>
            <a:cxnLst/>
            <a:rect l="0" t="0" r="r" b="b"/>
            <a:pathLst>
              <a:path w="78480" h="38155">
                <a:moveTo>
                  <a:pt x="0" y="3815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194742"/>
            <a:ext cx="830579" cy="1098366"/>
          </a:xfrm>
          <a:custGeom>
            <a:avLst/>
            <a:gdLst/>
            <a:ahLst/>
            <a:cxnLst/>
            <a:rect l="0" t="0" r="r" b="b"/>
            <a:pathLst>
              <a:path w="78480" h="103783">
                <a:moveTo>
                  <a:pt x="0" y="103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015292"/>
            <a:ext cx="830579" cy="950948"/>
          </a:xfrm>
          <a:custGeom>
            <a:avLst/>
            <a:gdLst/>
            <a:ahLst/>
            <a:cxnLst/>
            <a:rect l="0" t="0" r="r" b="b"/>
            <a:pathLst>
              <a:path w="78480" h="89853">
                <a:moveTo>
                  <a:pt x="0" y="898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7751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83207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79928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240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4036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91837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9604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674652" y="4017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43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83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420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156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577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28507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3536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905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6137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1505231" y="31716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598048" y="40109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1428627" y="332369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31382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9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90" name="Editable text: UMAP 2"/>
          <p:cNvSpPr txBox="1"/>
          <p:nvPr/>
        </p:nvSpPr>
        <p:spPr>
          <a:xfrm rot="16200000">
            <a:off x="414210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91" name="Editable text: 0.00"/>
          <p:cNvSpPr txBox="1"/>
          <p:nvPr/>
        </p:nvSpPr>
        <p:spPr>
          <a:xfrm>
            <a:off x="3825536" y="4640530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0.00</a:t>
            </a:r>
          </a:p>
        </p:txBody>
      </p:sp>
      <p:sp>
        <p:nvSpPr>
          <p:cNvPr id="92" name="Editable text: 0.25"/>
          <p:cNvSpPr txBox="1"/>
          <p:nvPr/>
        </p:nvSpPr>
        <p:spPr>
          <a:xfrm>
            <a:off x="3825536" y="4409822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0.25</a:t>
            </a:r>
          </a:p>
        </p:txBody>
      </p:sp>
      <p:sp>
        <p:nvSpPr>
          <p:cNvPr id="93" name="Editable text: 0.50"/>
          <p:cNvSpPr txBox="1"/>
          <p:nvPr/>
        </p:nvSpPr>
        <p:spPr>
          <a:xfrm>
            <a:off x="3825536" y="4179115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0.50</a:t>
            </a:r>
          </a:p>
        </p:txBody>
      </p:sp>
      <p:sp>
        <p:nvSpPr>
          <p:cNvPr id="94" name="Editable text: 0.75"/>
          <p:cNvSpPr txBox="1"/>
          <p:nvPr/>
        </p:nvSpPr>
        <p:spPr>
          <a:xfrm>
            <a:off x="3825536" y="3948408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0.75</a:t>
            </a:r>
          </a:p>
        </p:txBody>
      </p:sp>
      <p:sp>
        <p:nvSpPr>
          <p:cNvPr id="95" name="Editable text: 1.00"/>
          <p:cNvSpPr txBox="1"/>
          <p:nvPr/>
        </p:nvSpPr>
        <p:spPr>
          <a:xfrm>
            <a:off x="3825536" y="3717701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1.00</a:t>
            </a:r>
          </a:p>
        </p:txBody>
      </p:sp>
      <p:sp>
        <p:nvSpPr>
          <p:cNvPr id="96" name="Editable text: 1.25"/>
          <p:cNvSpPr txBox="1"/>
          <p:nvPr/>
        </p:nvSpPr>
        <p:spPr>
          <a:xfrm>
            <a:off x="3825536" y="3486993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1.25</a:t>
            </a:r>
          </a:p>
        </p:txBody>
      </p:sp>
      <p:sp>
        <p:nvSpPr>
          <p:cNvPr id="97" name="Editable text: 1.50"/>
          <p:cNvSpPr txBox="1"/>
          <p:nvPr/>
        </p:nvSpPr>
        <p:spPr>
          <a:xfrm>
            <a:off x="3825536" y="3256286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1.50</a:t>
            </a:r>
          </a:p>
        </p:txBody>
      </p:sp>
      <p:sp>
        <p:nvSpPr>
          <p:cNvPr id="98" name="Editable text: 1.75"/>
          <p:cNvSpPr txBox="1"/>
          <p:nvPr/>
        </p:nvSpPr>
        <p:spPr>
          <a:xfrm>
            <a:off x="3825536" y="3025579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1.75</a:t>
            </a:r>
          </a:p>
        </p:txBody>
      </p:sp>
      <p:sp>
        <p:nvSpPr>
          <p:cNvPr id="99" name="Editable text: 2.00"/>
          <p:cNvSpPr txBox="1"/>
          <p:nvPr/>
        </p:nvSpPr>
        <p:spPr>
          <a:xfrm>
            <a:off x="3825536" y="2794871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2.00</a:t>
            </a:r>
          </a:p>
        </p:txBody>
      </p:sp>
      <p:sp>
        <p:nvSpPr>
          <p:cNvPr id="100" name="Editable text: LYPLA1 · log1p(CP10K)"/>
          <p:cNvSpPr txBox="1"/>
          <p:nvPr/>
        </p:nvSpPr>
        <p:spPr>
          <a:xfrm rot="16200000">
            <a:off x="358168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101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102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103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104" name="Editable text: 0.2"/>
          <p:cNvSpPr txBox="1"/>
          <p:nvPr/>
        </p:nvSpPr>
        <p:spPr>
          <a:xfrm>
            <a:off x="10270776" y="398406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05" name="Editable text: 0.4"/>
          <p:cNvSpPr txBox="1"/>
          <p:nvPr/>
        </p:nvSpPr>
        <p:spPr>
          <a:xfrm>
            <a:off x="10270776" y="373221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06" name="Editable text: 0.6"/>
          <p:cNvSpPr txBox="1"/>
          <p:nvPr/>
        </p:nvSpPr>
        <p:spPr>
          <a:xfrm>
            <a:off x="10270776" y="348037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7" name="Editable text: 0.8"/>
          <p:cNvSpPr txBox="1"/>
          <p:nvPr/>
        </p:nvSpPr>
        <p:spPr>
          <a:xfrm>
            <a:off x="10270776" y="322852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08" name="Editable text: 1.0"/>
          <p:cNvSpPr txBox="1"/>
          <p:nvPr/>
        </p:nvSpPr>
        <p:spPr>
          <a:xfrm>
            <a:off x="10270776" y="297668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0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11" name="Editable text: PRAD：从全细胞表达定位到同患者证据"/>
          <p:cNvSpPr txBox="1"/>
          <p:nvPr/>
        </p:nvSpPr>
        <p:spPr>
          <a:xfrm>
            <a:off x="609599" y="951108"/>
            <a:ext cx="5243226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PRAD：从全细胞表达定位到同患者证据</a:t>
            </a:r>
          </a:p>
        </p:txBody>
      </p:sp>
      <p:sp>
        <p:nvSpPr>
          <p:cNvPr id="112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1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1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1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1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18" name="Editable text: 3,802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3,802</a:t>
            </a:r>
          </a:p>
        </p:txBody>
      </p:sp>
      <p:sp>
        <p:nvSpPr>
          <p:cNvPr id="119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Altered benign epi.</a:t>
            </a:r>
          </a:p>
        </p:txBody>
      </p:sp>
      <p:sp>
        <p:nvSpPr>
          <p:cNvPr id="120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10,920</a:t>
            </a:r>
          </a:p>
        </p:txBody>
      </p:sp>
      <p:sp>
        <p:nvSpPr>
          <p:cNvPr id="121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22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706</a:t>
            </a:r>
          </a:p>
        </p:txBody>
      </p:sp>
      <p:sp>
        <p:nvSpPr>
          <p:cNvPr id="123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24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2,552</a:t>
            </a:r>
          </a:p>
        </p:txBody>
      </p:sp>
      <p:sp>
        <p:nvSpPr>
          <p:cNvPr id="125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Cycling</a:t>
            </a:r>
          </a:p>
        </p:txBody>
      </p:sp>
      <p:sp>
        <p:nvSpPr>
          <p:cNvPr id="126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268</a:t>
            </a:r>
          </a:p>
        </p:txBody>
      </p:sp>
      <p:sp>
        <p:nvSpPr>
          <p:cNvPr id="127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8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14,177</a:t>
            </a:r>
          </a:p>
        </p:txBody>
      </p:sp>
      <p:sp>
        <p:nvSpPr>
          <p:cNvPr id="129" name="Editable text: Myeloid"/>
          <p:cNvSpPr txBox="1"/>
          <p:nvPr/>
        </p:nvSpPr>
        <p:spPr>
          <a:xfrm>
            <a:off x="7827263" y="3810266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30" name="Editable text: 2,74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2,743</a:t>
            </a:r>
          </a:p>
        </p:txBody>
      </p:sp>
      <p:sp>
        <p:nvSpPr>
          <p:cNvPr id="131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2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6,136</a:t>
            </a:r>
          </a:p>
        </p:txBody>
      </p:sp>
      <p:sp>
        <p:nvSpPr>
          <p:cNvPr id="133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PNS glial</a:t>
            </a:r>
          </a:p>
        </p:txBody>
      </p:sp>
      <p:sp>
        <p:nvSpPr>
          <p:cNvPr id="134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1,096</a:t>
            </a:r>
          </a:p>
        </p:txBody>
      </p:sp>
      <p:sp>
        <p:nvSpPr>
          <p:cNvPr id="135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6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91</a:t>
            </a:r>
          </a:p>
        </p:txBody>
      </p:sp>
      <p:sp>
        <p:nvSpPr>
          <p:cNvPr id="137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SMCs</a:t>
            </a:r>
          </a:p>
        </p:txBody>
      </p:sp>
      <p:sp>
        <p:nvSpPr>
          <p:cNvPr id="138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6,709</a:t>
            </a:r>
          </a:p>
        </p:txBody>
      </p:sp>
      <p:sp>
        <p:nvSpPr>
          <p:cNvPr id="139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40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19,033</a:t>
            </a:r>
          </a:p>
        </p:txBody>
      </p:sp>
      <p:sp>
        <p:nvSpPr>
          <p:cNvPr id="141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Unassigned</a:t>
            </a:r>
          </a:p>
        </p:txBody>
      </p:sp>
      <p:sp>
        <p:nvSpPr>
          <p:cNvPr id="142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89</a:t>
            </a:r>
          </a:p>
        </p:txBody>
      </p:sp>
      <p:sp>
        <p:nvSpPr>
          <p:cNvPr id="143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epithelial：红圈仅作位置提示</a:t>
            </a:r>
          </a:p>
        </p:txBody>
      </p:sp>
      <p:sp>
        <p:nvSpPr>
          <p:cNvPr id="144" name="Editable text: 色标上限 2.12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2.12 · 阳性值第99百分位</a:t>
            </a:r>
          </a:p>
        </p:txBody>
      </p:sp>
      <p:sp>
        <p:nvSpPr>
          <p:cNvPr id="145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46" name="Editable text: 10 / 10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 / 10</a:t>
            </a:r>
          </a:p>
        </p:txBody>
      </p:sp>
      <p:sp>
        <p:nvSpPr>
          <p:cNvPr id="147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8" name="Editable text: 平均差 +0.54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+0.546</a:t>
            </a:r>
          </a:p>
        </p:txBody>
      </p:sp>
      <p:sp>
        <p:nvSpPr>
          <p:cNvPr id="149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50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51" name="Editable text: 同患者描述：10/10 位目标上皮表达更高；尚未作显著性检验。"/>
          <p:cNvSpPr txBox="1"/>
          <p:nvPr/>
        </p:nvSpPr>
        <p:spPr>
          <a:xfrm>
            <a:off x="609599" y="6115405"/>
            <a:ext cx="4250753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同患者描述：10/10 位目标上皮表达更高；尚未作显著性检验。</a:t>
            </a:r>
          </a:p>
        </p:txBody>
      </p:sp>
      <p:sp>
        <p:nvSpPr>
          <p:cNvPr id="152" name="Editable text: 患者比较仅用肿瘤组织内上皮；altered benign 不纳入两组比较。描述性"/>
          <p:cNvSpPr txBox="1"/>
          <p:nvPr/>
        </p:nvSpPr>
        <p:spPr>
          <a:xfrm>
            <a:off x="609599" y="6418743"/>
            <a:ext cx="3932419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患者比较仅用肿瘤组织内上皮；altered benign 不纳入两组比较。描述性配对展示，未新增检验。</a:t>
            </a:r>
          </a:p>
        </p:txBody>
      </p:sp>
      <p:sp>
        <p:nvSpPr>
          <p:cNvPr id="153" name="Editable text: 14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</a:t>
            </a:r>
          </a:p>
        </p:txBody>
      </p:sp>
      <p:pic>
        <p:nvPicPr>
          <p:cNvPr id="154" name="Picture 153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5797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970" y="2016251"/>
            <a:ext cx="1928698" cy="195975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2789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890" y="2016251"/>
            <a:ext cx="1928698" cy="1959753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1" y="2343911"/>
            <a:ext cx="1557527" cy="1453896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9781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810" y="2016251"/>
            <a:ext cx="1928698" cy="1959753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631" y="2343911"/>
            <a:ext cx="1557527" cy="1453896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625" y="4258817"/>
            <a:ext cx="1959864" cy="1959753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546" y="4258817"/>
            <a:ext cx="1959864" cy="1959753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2368" y="4504943"/>
            <a:ext cx="1027176" cy="1243583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466" y="4258817"/>
            <a:ext cx="1959864" cy="1959753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2288" y="4504943"/>
            <a:ext cx="1027176" cy="1243583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34653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43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</a:t>
            </a:r>
          </a:p>
        </p:txBody>
      </p:sp>
      <p:sp>
        <p:nvSpPr>
          <p:cNvPr id="44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</a:t>
            </a:r>
          </a:p>
        </p:txBody>
      </p:sp>
      <p:sp>
        <p:nvSpPr>
          <p:cNvPr id="45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</a:t>
            </a:r>
          </a:p>
        </p:txBody>
      </p:sp>
      <p:sp>
        <p:nvSpPr>
          <p:cNvPr id="46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48" name="Editable text: BRCA：LYPLA1 在病理癌区中的空间分布"/>
          <p:cNvSpPr txBox="1"/>
          <p:nvPr/>
        </p:nvSpPr>
        <p:spPr>
          <a:xfrm>
            <a:off x="609599" y="959508"/>
            <a:ext cx="5299847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BRCA：LYPLA1 在病理癌区中的空间分布</a:t>
            </a:r>
          </a:p>
        </p:txBody>
      </p:sp>
      <p:sp>
        <p:nvSpPr>
          <p:cNvPr id="49" name="Editable text: CTA · 两位患者各一张代表切片 · 癌区与免疫区采用作者病理标注"/>
          <p:cNvSpPr txBox="1"/>
          <p:nvPr/>
        </p:nvSpPr>
        <p:spPr>
          <a:xfrm>
            <a:off x="609599" y="1440330"/>
            <a:ext cx="3527331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CTA · 两位患者各一张代表切片 · 癌区与免疫区采用作者病理标注</a:t>
            </a:r>
          </a:p>
        </p:txBody>
      </p:sp>
      <p:sp>
        <p:nvSpPr>
          <p:cNvPr id="50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H&amp;E</a:t>
            </a:r>
          </a:p>
        </p:txBody>
      </p:sp>
      <p:sp>
        <p:nvSpPr>
          <p:cNvPr id="51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病理区域</a:t>
            </a:r>
          </a:p>
        </p:txBody>
      </p:sp>
      <p:sp>
        <p:nvSpPr>
          <p:cNvPr id="52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 实测表达</a:t>
            </a:r>
          </a:p>
        </p:txBody>
      </p:sp>
      <p:sp>
        <p:nvSpPr>
          <p:cNvPr id="53" name="Editable text: 012_B1"/>
          <p:cNvSpPr txBox="1"/>
          <p:nvPr/>
        </p:nvSpPr>
        <p:spPr>
          <a:xfrm>
            <a:off x="609599" y="2098213"/>
            <a:ext cx="5143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012_B1</a:t>
            </a:r>
          </a:p>
        </p:txBody>
      </p:sp>
      <p:sp>
        <p:nvSpPr>
          <p:cNvPr id="54" name="Editable text: BCSA1"/>
          <p:cNvSpPr txBox="1"/>
          <p:nvPr/>
        </p:nvSpPr>
        <p:spPr>
          <a:xfrm>
            <a:off x="609599" y="2343147"/>
            <a:ext cx="38237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BCSA1</a:t>
            </a:r>
          </a:p>
        </p:txBody>
      </p:sp>
      <p:sp>
        <p:nvSpPr>
          <p:cNvPr id="55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56" name="Editable text: 免疫区"/>
          <p:cNvSpPr txBox="1"/>
          <p:nvPr/>
        </p:nvSpPr>
        <p:spPr>
          <a:xfrm>
            <a:off x="829055" y="285904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免疫区</a:t>
            </a:r>
          </a:p>
        </p:txBody>
      </p:sp>
      <p:sp>
        <p:nvSpPr>
          <p:cNvPr id="57" name="Editable text: 原位癌"/>
          <p:cNvSpPr txBox="1"/>
          <p:nvPr/>
        </p:nvSpPr>
        <p:spPr>
          <a:xfrm>
            <a:off x="829055" y="3044206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原位癌</a:t>
            </a:r>
          </a:p>
        </p:txBody>
      </p:sp>
      <p:sp>
        <p:nvSpPr>
          <p:cNvPr id="58" name="Editable text: 未标注区"/>
          <p:cNvSpPr txBox="1"/>
          <p:nvPr/>
        </p:nvSpPr>
        <p:spPr>
          <a:xfrm>
            <a:off x="829055" y="3229372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</a:t>
            </a:r>
          </a:p>
        </p:txBody>
      </p:sp>
      <p:sp>
        <p:nvSpPr>
          <p:cNvPr id="59" name="Editable text: 混合区"/>
          <p:cNvSpPr txBox="1"/>
          <p:nvPr/>
        </p:nvSpPr>
        <p:spPr>
          <a:xfrm>
            <a:off x="829055" y="3414538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混合区</a:t>
            </a:r>
          </a:p>
        </p:txBody>
      </p:sp>
      <p:sp>
        <p:nvSpPr>
          <p:cNvPr id="60" name="Editable text: 032_B1"/>
          <p:cNvSpPr txBox="1"/>
          <p:nvPr/>
        </p:nvSpPr>
        <p:spPr>
          <a:xfrm>
            <a:off x="609599" y="4340779"/>
            <a:ext cx="5143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032_B1</a:t>
            </a:r>
          </a:p>
        </p:txBody>
      </p:sp>
      <p:sp>
        <p:nvSpPr>
          <p:cNvPr id="61" name="Editable text: BCSA3"/>
          <p:cNvSpPr txBox="1"/>
          <p:nvPr/>
        </p:nvSpPr>
        <p:spPr>
          <a:xfrm>
            <a:off x="609599" y="4585713"/>
            <a:ext cx="38237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BCSA3</a:t>
            </a:r>
          </a:p>
        </p:txBody>
      </p:sp>
      <p:sp>
        <p:nvSpPr>
          <p:cNvPr id="62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63" name="Editable text: 免疫区"/>
          <p:cNvSpPr txBox="1"/>
          <p:nvPr/>
        </p:nvSpPr>
        <p:spPr>
          <a:xfrm>
            <a:off x="829055" y="5101606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免疫区</a:t>
            </a:r>
          </a:p>
        </p:txBody>
      </p:sp>
      <p:sp>
        <p:nvSpPr>
          <p:cNvPr id="64" name="Editable text: 原位癌"/>
          <p:cNvSpPr txBox="1"/>
          <p:nvPr/>
        </p:nvSpPr>
        <p:spPr>
          <a:xfrm>
            <a:off x="829055" y="5286772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原位癌</a:t>
            </a:r>
          </a:p>
        </p:txBody>
      </p:sp>
      <p:sp>
        <p:nvSpPr>
          <p:cNvPr id="65" name="Editable text: 未标注区"/>
          <p:cNvSpPr txBox="1"/>
          <p:nvPr/>
        </p:nvSpPr>
        <p:spPr>
          <a:xfrm>
            <a:off x="829055" y="5471938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</a:t>
            </a:r>
          </a:p>
        </p:txBody>
      </p:sp>
      <p:sp>
        <p:nvSpPr>
          <p:cNvPr id="66" name="Editable text: 混合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混合区</a:t>
            </a:r>
          </a:p>
        </p:txBody>
      </p:sp>
      <p:sp>
        <p:nvSpPr>
          <p:cNvPr id="67" name="Editable text: 血管"/>
          <p:cNvSpPr txBox="1"/>
          <p:nvPr/>
        </p:nvSpPr>
        <p:spPr>
          <a:xfrm>
            <a:off x="829055" y="584227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血管</a:t>
            </a:r>
          </a:p>
        </p:txBody>
      </p:sp>
      <p:sp>
        <p:nvSpPr>
          <p:cNvPr id="68" name="Editable text: 未标注区不等于正常上皮；代表切片用于定位，不替代完整患者汇总。"/>
          <p:cNvSpPr txBox="1"/>
          <p:nvPr/>
        </p:nvSpPr>
        <p:spPr>
          <a:xfrm>
            <a:off x="609599" y="6430515"/>
            <a:ext cx="3328458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未标注区不等于正常上皮；代表切片用于定位，不替代完整患者汇总。</a:t>
            </a:r>
          </a:p>
        </p:txBody>
      </p:sp>
      <p:sp>
        <p:nvSpPr>
          <p:cNvPr id="69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70" name="Editable text: 15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</a:t>
            </a:r>
          </a:p>
        </p:txBody>
      </p:sp>
      <p:pic>
        <p:nvPicPr>
          <p:cNvPr id="71" name="Picture 70" descr="image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41625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625" y="2016251"/>
            <a:ext cx="1961387" cy="196089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1154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546" y="2016251"/>
            <a:ext cx="1961388" cy="1960897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536" y="2526791"/>
            <a:ext cx="1267967" cy="1191768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8146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466" y="2016251"/>
            <a:ext cx="1961388" cy="1960897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456" y="2526791"/>
            <a:ext cx="1267967" cy="1191768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625" y="4258817"/>
            <a:ext cx="1961387" cy="1960898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546" y="4258817"/>
            <a:ext cx="1961388" cy="1960898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0615" y="4684776"/>
            <a:ext cx="1371600" cy="1036319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466" y="4258817"/>
            <a:ext cx="1961388" cy="1960898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7487" y="4684776"/>
            <a:ext cx="1374648" cy="1036319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A98C24">
              <a:alpha val="100000"/>
            </a:srgbClr>
          </a:solidFill>
          <a:ln w="10583">
            <a:solidFill>
              <a:srgbClr val="A98C2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4AE94">
              <a:alpha val="100000"/>
            </a:srgbClr>
          </a:solidFill>
          <a:ln w="10583">
            <a:solidFill>
              <a:srgbClr val="C4AE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749487">
              <a:alpha val="100000"/>
            </a:srgbClr>
          </a:solidFill>
          <a:ln w="10583">
            <a:solidFill>
              <a:srgbClr val="74948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42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</a:t>
            </a:r>
          </a:p>
        </p:txBody>
      </p:sp>
      <p:sp>
        <p:nvSpPr>
          <p:cNvPr id="43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</a:t>
            </a:r>
          </a:p>
        </p:txBody>
      </p:sp>
      <p:sp>
        <p:nvSpPr>
          <p:cNvPr id="44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</a:t>
            </a:r>
          </a:p>
        </p:txBody>
      </p:sp>
      <p:sp>
        <p:nvSpPr>
          <p:cNvPr id="45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47" name="Editable text: PRAD：对照癌区与良性腺体的 LYPLA1 表达"/>
          <p:cNvSpPr txBox="1"/>
          <p:nvPr/>
        </p:nvSpPr>
        <p:spPr>
          <a:xfrm>
            <a:off x="609599" y="959508"/>
            <a:ext cx="5685471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PRAD：对照癌区与良性腺体的 LYPLA1 表达</a:t>
            </a:r>
          </a:p>
        </p:txBody>
      </p:sp>
      <p:sp>
        <p:nvSpPr>
          <p:cNvPr id="48" name="Editable text: Erickson 2022 · 同一患者的两张代表切片 · 作者病理共识标注"/>
          <p:cNvSpPr txBox="1"/>
          <p:nvPr/>
        </p:nvSpPr>
        <p:spPr>
          <a:xfrm>
            <a:off x="609599" y="1440330"/>
            <a:ext cx="337302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Erickson 2022 · 同一患者的两张代表切片 · 作者病理共识标注</a:t>
            </a:r>
          </a:p>
        </p:txBody>
      </p:sp>
      <p:sp>
        <p:nvSpPr>
          <p:cNvPr id="49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H&amp;E</a:t>
            </a:r>
          </a:p>
        </p:txBody>
      </p:sp>
      <p:sp>
        <p:nvSpPr>
          <p:cNvPr id="50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病理区域</a:t>
            </a:r>
          </a:p>
        </p:txBody>
      </p:sp>
      <p:sp>
        <p:nvSpPr>
          <p:cNvPr id="51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 实测表达</a:t>
            </a:r>
          </a:p>
        </p:txBody>
      </p:sp>
      <p:sp>
        <p:nvSpPr>
          <p:cNvPr id="52" name="Editable text: H2_5"/>
          <p:cNvSpPr txBox="1"/>
          <p:nvPr/>
        </p:nvSpPr>
        <p:spPr>
          <a:xfrm>
            <a:off x="609599" y="2098213"/>
            <a:ext cx="37503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H2_5</a:t>
            </a:r>
          </a:p>
        </p:txBody>
      </p:sp>
      <p:sp>
        <p:nvSpPr>
          <p:cNvPr id="53" name="Editable text: Patient 1"/>
          <p:cNvSpPr txBox="1"/>
          <p:nvPr/>
        </p:nvSpPr>
        <p:spPr>
          <a:xfrm>
            <a:off x="609599" y="2343147"/>
            <a:ext cx="492932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Patient 1</a:t>
            </a:r>
          </a:p>
        </p:txBody>
      </p:sp>
      <p:sp>
        <p:nvSpPr>
          <p:cNvPr id="54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55" name="Editable text: 良性腺体"/>
          <p:cNvSpPr txBox="1"/>
          <p:nvPr/>
        </p:nvSpPr>
        <p:spPr>
          <a:xfrm>
            <a:off x="829055" y="2859040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良性腺体</a:t>
            </a:r>
          </a:p>
        </p:txBody>
      </p:sp>
      <p:sp>
        <p:nvSpPr>
          <p:cNvPr id="56" name="Editable text: 间质"/>
          <p:cNvSpPr txBox="1"/>
          <p:nvPr/>
        </p:nvSpPr>
        <p:spPr>
          <a:xfrm>
            <a:off x="829055" y="3044206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间质</a:t>
            </a:r>
          </a:p>
        </p:txBody>
      </p:sp>
      <p:sp>
        <p:nvSpPr>
          <p:cNvPr id="57" name="Editable text: 过渡区"/>
          <p:cNvSpPr txBox="1"/>
          <p:nvPr/>
        </p:nvSpPr>
        <p:spPr>
          <a:xfrm>
            <a:off x="829055" y="3229372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过渡区</a:t>
            </a:r>
          </a:p>
        </p:txBody>
      </p:sp>
      <p:sp>
        <p:nvSpPr>
          <p:cNvPr id="58" name="Editable text: H2_1"/>
          <p:cNvSpPr txBox="1"/>
          <p:nvPr/>
        </p:nvSpPr>
        <p:spPr>
          <a:xfrm>
            <a:off x="609599" y="4340779"/>
            <a:ext cx="37503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H2_1</a:t>
            </a:r>
          </a:p>
        </p:txBody>
      </p:sp>
      <p:sp>
        <p:nvSpPr>
          <p:cNvPr id="59" name="Editable text: Patient 1"/>
          <p:cNvSpPr txBox="1"/>
          <p:nvPr/>
        </p:nvSpPr>
        <p:spPr>
          <a:xfrm>
            <a:off x="609599" y="4585713"/>
            <a:ext cx="492932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Patient 1</a:t>
            </a:r>
          </a:p>
        </p:txBody>
      </p:sp>
      <p:sp>
        <p:nvSpPr>
          <p:cNvPr id="60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61" name="Editable text: 良性腺体"/>
          <p:cNvSpPr txBox="1"/>
          <p:nvPr/>
        </p:nvSpPr>
        <p:spPr>
          <a:xfrm>
            <a:off x="829055" y="5101606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良性腺体</a:t>
            </a:r>
          </a:p>
        </p:txBody>
      </p:sp>
      <p:sp>
        <p:nvSpPr>
          <p:cNvPr id="62" name="Editable text: 间质"/>
          <p:cNvSpPr txBox="1"/>
          <p:nvPr/>
        </p:nvSpPr>
        <p:spPr>
          <a:xfrm>
            <a:off x="829055" y="5286772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间质</a:t>
            </a:r>
          </a:p>
        </p:txBody>
      </p:sp>
      <p:sp>
        <p:nvSpPr>
          <p:cNvPr id="63" name="Editable text: PIN"/>
          <p:cNvSpPr txBox="1"/>
          <p:nvPr/>
        </p:nvSpPr>
        <p:spPr>
          <a:xfrm>
            <a:off x="829055" y="5471938"/>
            <a:ext cx="20659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PIN</a:t>
            </a:r>
          </a:p>
        </p:txBody>
      </p:sp>
      <p:sp>
        <p:nvSpPr>
          <p:cNvPr id="64" name="Editable text: 脂肪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脂肪区</a:t>
            </a:r>
          </a:p>
        </p:txBody>
      </p:sp>
      <p:sp>
        <p:nvSpPr>
          <p:cNvPr id="65" name="Editable text: 神经区"/>
          <p:cNvSpPr txBox="1"/>
          <p:nvPr/>
        </p:nvSpPr>
        <p:spPr>
          <a:xfrm>
            <a:off x="829055" y="584227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神经区</a:t>
            </a:r>
          </a:p>
        </p:txBody>
      </p:sp>
      <p:sp>
        <p:nvSpPr>
          <p:cNvPr id="66" name="Editable text: 两张切片均来自 Patient 1，不代表两位患者；多细胞 spot 不等于纯癌"/>
          <p:cNvSpPr txBox="1"/>
          <p:nvPr/>
        </p:nvSpPr>
        <p:spPr>
          <a:xfrm>
            <a:off x="609599" y="6432582"/>
            <a:ext cx="3709716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两张切片均来自 Patient 1，不代表两位患者；多细胞 spot 不等于纯癌细胞。</a:t>
            </a:r>
          </a:p>
        </p:txBody>
      </p:sp>
      <p:sp>
        <p:nvSpPr>
          <p:cNvPr id="67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68" name="Editable text: 16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16</a:t>
            </a:r>
          </a:p>
        </p:txBody>
      </p:sp>
      <p:pic>
        <p:nvPicPr>
          <p:cNvPr id="69" name="Picture 68" descr="image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389120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168640" y="3449574"/>
            <a:ext cx="3413759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6110477"/>
            <a:ext cx="10972800" cy="425196"/>
          </a:xfrm>
          <a:custGeom>
            <a:avLst/>
            <a:gdLst/>
            <a:ahLst/>
            <a:cxnLst/>
            <a:rect l="0" t="0" r="r" b="b"/>
            <a:pathLst>
              <a:path w="1036800" h="40176">
                <a:moveTo>
                  <a:pt x="0" y="0"/>
                </a:moveTo>
                <a:lnTo>
                  <a:pt x="1036800" y="0"/>
                </a:lnTo>
                <a:lnTo>
                  <a:pt x="1036800" y="40176"/>
                </a:lnTo>
                <a:lnTo>
                  <a:pt x="0" y="40176"/>
                </a:lnTo>
                <a:close/>
              </a:path>
            </a:pathLst>
          </a:custGeom>
          <a:solidFill>
            <a:srgbClr val="EAF2E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31648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29319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231648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229319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600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07271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600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7271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9875519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985223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9875519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985223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09599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4389120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8168640" y="2400299"/>
            <a:ext cx="3413759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text: LYPLA1：近期研究已提供肿瘤功能与机制线索"/>
          <p:cNvSpPr txBox="1"/>
          <p:nvPr/>
        </p:nvSpPr>
        <p:spPr>
          <a:xfrm>
            <a:off x="609599" y="973224"/>
            <a:ext cx="5824430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LYPLA1：近期研究已提供肿瘤功能与机制线索</a:t>
            </a:r>
          </a:p>
        </p:txBody>
      </p:sp>
      <p:sp>
        <p:nvSpPr>
          <p:cNvPr id="27" name="Editable text: 2025–2026 原始研究  ·  APT1 即 LYPLA1  ·  文献支"/>
          <p:cNvSpPr txBox="1"/>
          <p:nvPr/>
        </p:nvSpPr>
        <p:spPr>
          <a:xfrm>
            <a:off x="609599" y="1427783"/>
            <a:ext cx="512909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2025–2026 原始研究  ·  APT1 即 LYPLA1  ·  文献支持研究价值，跨癌共性仍需用数据检验</a:t>
            </a:r>
          </a:p>
        </p:txBody>
      </p:sp>
      <p:sp>
        <p:nvSpPr>
          <p:cNvPr id="28" name="Editable text: Journal of Lipid Research"/>
          <p:cNvSpPr txBox="1"/>
          <p:nvPr/>
        </p:nvSpPr>
        <p:spPr>
          <a:xfrm>
            <a:off x="609599" y="1886958"/>
            <a:ext cx="1674081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Journal of Lipid Research</a:t>
            </a:r>
          </a:p>
        </p:txBody>
      </p:sp>
      <p:sp>
        <p:nvSpPr>
          <p:cNvPr id="29" name="Editable text: 2026"/>
          <p:cNvSpPr txBox="1"/>
          <p:nvPr/>
        </p:nvSpPr>
        <p:spPr>
          <a:xfrm>
            <a:off x="3605318" y="1846561"/>
            <a:ext cx="49411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2026</a:t>
            </a:r>
          </a:p>
        </p:txBody>
      </p:sp>
      <p:sp>
        <p:nvSpPr>
          <p:cNvPr id="30" name="Editable text: 乳腺癌 · MDA-MB-231 / MCF7"/>
          <p:cNvSpPr txBox="1"/>
          <p:nvPr/>
        </p:nvSpPr>
        <p:spPr>
          <a:xfrm>
            <a:off x="609599" y="2142640"/>
            <a:ext cx="171353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 · MDA-MB-231 / MCF7</a:t>
            </a:r>
          </a:p>
        </p:txBody>
      </p:sp>
      <p:sp>
        <p:nvSpPr>
          <p:cNvPr id="31" name="Editable text: S-palmitoylation of MTDH regulates"/>
          <p:cNvSpPr txBox="1"/>
          <p:nvPr/>
        </p:nvSpPr>
        <p:spPr>
          <a:xfrm>
            <a:off x="609599" y="2531327"/>
            <a:ext cx="1834894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S-palmitoylation of MTDH regulates</a:t>
            </a:r>
          </a:p>
        </p:txBody>
      </p:sp>
      <p:sp>
        <p:nvSpPr>
          <p:cNvPr id="32" name="Editable text: ferroptosis resistance in breast cancer "/>
          <p:cNvSpPr txBox="1"/>
          <p:nvPr/>
        </p:nvSpPr>
        <p:spPr>
          <a:xfrm>
            <a:off x="609599" y="2695600"/>
            <a:ext cx="211247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ferroptosis resistance in breast cancer cell</a:t>
            </a:r>
          </a:p>
        </p:txBody>
      </p:sp>
      <p:sp>
        <p:nvSpPr>
          <p:cNvPr id="33" name="Editable text: 连接脂质代谢与铁死亡"/>
          <p:cNvSpPr txBox="1"/>
          <p:nvPr/>
        </p:nvSpPr>
        <p:spPr>
          <a:xfrm>
            <a:off x="609599" y="3045169"/>
            <a:ext cx="1880129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连接脂质代谢与铁死亡</a:t>
            </a:r>
          </a:p>
        </p:txBody>
      </p:sp>
      <p:sp>
        <p:nvSpPr>
          <p:cNvPr id="34" name="Editable text: APT1 / LYPLA1"/>
          <p:cNvSpPr txBox="1"/>
          <p:nvPr/>
        </p:nvSpPr>
        <p:spPr>
          <a:xfrm>
            <a:off x="1844116" y="3526331"/>
            <a:ext cx="100167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APT1 / LYPLA1</a:t>
            </a:r>
          </a:p>
        </p:txBody>
      </p:sp>
      <p:sp>
        <p:nvSpPr>
          <p:cNvPr id="35" name="Editable text: MTDH 去棕榈酰化"/>
          <p:cNvSpPr txBox="1"/>
          <p:nvPr/>
        </p:nvSpPr>
        <p:spPr>
          <a:xfrm>
            <a:off x="1784336" y="3930953"/>
            <a:ext cx="112153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MTDH 去棕榈酰化</a:t>
            </a:r>
          </a:p>
        </p:txBody>
      </p:sp>
      <p:sp>
        <p:nvSpPr>
          <p:cNvPr id="36" name="Editable text: ACSL4 互作 / 铁死亡敏感性"/>
          <p:cNvSpPr txBox="1"/>
          <p:nvPr/>
        </p:nvSpPr>
        <p:spPr>
          <a:xfrm>
            <a:off x="1532155" y="4335575"/>
            <a:ext cx="1625724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ACSL4 互作 / 铁死亡敏感性</a:t>
            </a:r>
          </a:p>
        </p:txBody>
      </p:sp>
      <p:sp>
        <p:nvSpPr>
          <p:cNvPr id="37" name="Editable text: 鉴定 APT1 为 MTDH 去棕榈酰化酶；"/>
          <p:cNvSpPr txBox="1"/>
          <p:nvPr/>
        </p:nvSpPr>
        <p:spPr>
          <a:xfrm>
            <a:off x="609599" y="4775179"/>
            <a:ext cx="2019865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鉴定 APT1 为 MTDH 去棕榈酰化酶；</a:t>
            </a:r>
          </a:p>
        </p:txBody>
      </p:sp>
      <p:sp>
        <p:nvSpPr>
          <p:cNvPr id="38" name="Editable text: MTDH 修饰状态关联脂质组成与铁死亡。"/>
          <p:cNvSpPr txBox="1"/>
          <p:nvPr/>
        </p:nvSpPr>
        <p:spPr>
          <a:xfrm>
            <a:off x="609599" y="4953078"/>
            <a:ext cx="2212171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MTDH 修饰状态关联脂质组成与铁死亡。</a:t>
            </a:r>
          </a:p>
        </p:txBody>
      </p:sp>
      <p:sp>
        <p:nvSpPr>
          <p:cNvPr id="39" name="Editable text: 研究中心为 MTDH；不能将全部表型"/>
          <p:cNvSpPr txBox="1"/>
          <p:nvPr/>
        </p:nvSpPr>
        <p:spPr>
          <a:xfrm>
            <a:off x="609599" y="5264902"/>
            <a:ext cx="1692216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研究中心为 MTDH；不能将全部表型</a:t>
            </a:r>
          </a:p>
        </p:txBody>
      </p:sp>
      <p:sp>
        <p:nvSpPr>
          <p:cNvPr id="40" name="Editable text: 归因于 LYPLA1。"/>
          <p:cNvSpPr txBox="1"/>
          <p:nvPr/>
        </p:nvSpPr>
        <p:spPr>
          <a:xfrm>
            <a:off x="609599" y="5426662"/>
            <a:ext cx="828645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归因于 LYPLA1。</a:t>
            </a:r>
          </a:p>
        </p:txBody>
      </p:sp>
      <p:sp>
        <p:nvSpPr>
          <p:cNvPr id="41" name="Editable text: 2026 年卷期 · 2025 年底在线"/>
          <p:cNvSpPr txBox="1"/>
          <p:nvPr/>
        </p:nvSpPr>
        <p:spPr>
          <a:xfrm>
            <a:off x="609599" y="5703940"/>
            <a:ext cx="122010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2026 年卷期 · 2025 年底在线</a:t>
            </a:r>
          </a:p>
        </p:txBody>
      </p:sp>
      <p:sp>
        <p:nvSpPr>
          <p:cNvPr id="42" name="Editable text: [1] doi: 10.1016/j.jlr.2025.100953"/>
          <p:cNvSpPr txBox="1"/>
          <p:nvPr/>
        </p:nvSpPr>
        <p:spPr>
          <a:xfrm>
            <a:off x="609599" y="5897374"/>
            <a:ext cx="1366393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[1] doi: 10.1016/j.jlr.2025.100953</a:t>
            </a:r>
          </a:p>
        </p:txBody>
      </p:sp>
      <p:sp>
        <p:nvSpPr>
          <p:cNvPr id="43" name="Editable text: Biochemistry and Cell Biology"/>
          <p:cNvSpPr txBox="1"/>
          <p:nvPr/>
        </p:nvSpPr>
        <p:spPr>
          <a:xfrm>
            <a:off x="4389120" y="1885801"/>
            <a:ext cx="1987415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Biochemistry and Cell Biology</a:t>
            </a:r>
          </a:p>
        </p:txBody>
      </p:sp>
      <p:sp>
        <p:nvSpPr>
          <p:cNvPr id="44" name="Editable text: 2026"/>
          <p:cNvSpPr txBox="1"/>
          <p:nvPr/>
        </p:nvSpPr>
        <p:spPr>
          <a:xfrm>
            <a:off x="7384838" y="1846561"/>
            <a:ext cx="494115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2026</a:t>
            </a:r>
          </a:p>
        </p:txBody>
      </p:sp>
      <p:sp>
        <p:nvSpPr>
          <p:cNvPr id="45" name="Editable text: 乳腺癌 · MDA-MB-468"/>
          <p:cNvSpPr txBox="1"/>
          <p:nvPr/>
        </p:nvSpPr>
        <p:spPr>
          <a:xfrm>
            <a:off x="4389120" y="2142640"/>
            <a:ext cx="1273243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 · MDA-MB-468</a:t>
            </a:r>
          </a:p>
        </p:txBody>
      </p:sp>
      <p:sp>
        <p:nvSpPr>
          <p:cNvPr id="46" name="Editable text: Acyl-protein thioesterase 1 (LYPLA1)"/>
          <p:cNvSpPr txBox="1"/>
          <p:nvPr/>
        </p:nvSpPr>
        <p:spPr>
          <a:xfrm>
            <a:off x="4389120" y="2449207"/>
            <a:ext cx="1845807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Acyl-protein thioesterase 1 (LYPLA1)</a:t>
            </a:r>
          </a:p>
        </p:txBody>
      </p:sp>
      <p:sp>
        <p:nvSpPr>
          <p:cNvPr id="47" name="Editable text: activity promotes the growth of MDA-MB-4"/>
          <p:cNvSpPr txBox="1"/>
          <p:nvPr/>
        </p:nvSpPr>
        <p:spPr>
          <a:xfrm>
            <a:off x="4389120" y="2613480"/>
            <a:ext cx="233630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activity promotes the growth of MDA-MB-468</a:t>
            </a:r>
          </a:p>
        </p:txBody>
      </p:sp>
      <p:sp>
        <p:nvSpPr>
          <p:cNvPr id="48" name="Editable text: triple-negative breast cancer cells"/>
          <p:cNvSpPr txBox="1"/>
          <p:nvPr/>
        </p:nvSpPr>
        <p:spPr>
          <a:xfrm>
            <a:off x="4389120" y="2775901"/>
            <a:ext cx="171255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triple-negative breast cancer cells</a:t>
            </a:r>
          </a:p>
        </p:txBody>
      </p:sp>
      <p:sp>
        <p:nvSpPr>
          <p:cNvPr id="49" name="Editable text: 直接研究 LYPLA1 的功能"/>
          <p:cNvSpPr txBox="1"/>
          <p:nvPr/>
        </p:nvSpPr>
        <p:spPr>
          <a:xfrm>
            <a:off x="4389120" y="3045169"/>
            <a:ext cx="211644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直接研究 LYPLA1 的功能</a:t>
            </a:r>
          </a:p>
        </p:txBody>
      </p:sp>
      <p:sp>
        <p:nvSpPr>
          <p:cNvPr id="50" name="Editable text: 抑制 APT1（ML348）"/>
          <p:cNvSpPr txBox="1"/>
          <p:nvPr/>
        </p:nvSpPr>
        <p:spPr>
          <a:xfrm>
            <a:off x="5437022" y="3526331"/>
            <a:ext cx="137477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抑制 APT1（ML348）</a:t>
            </a:r>
          </a:p>
        </p:txBody>
      </p:sp>
      <p:sp>
        <p:nvSpPr>
          <p:cNvPr id="51" name="Editable text: 蛋白 S-酰化状态改变"/>
          <p:cNvSpPr txBox="1"/>
          <p:nvPr/>
        </p:nvSpPr>
        <p:spPr>
          <a:xfrm>
            <a:off x="5505152" y="3930953"/>
            <a:ext cx="123901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蛋白 S-酰化状态改变</a:t>
            </a:r>
          </a:p>
        </p:txBody>
      </p:sp>
      <p:sp>
        <p:nvSpPr>
          <p:cNvPr id="52" name="Editable text: 增殖降低 / G1 期积累"/>
          <p:cNvSpPr txBox="1"/>
          <p:nvPr/>
        </p:nvSpPr>
        <p:spPr>
          <a:xfrm>
            <a:off x="5483654" y="4335575"/>
            <a:ext cx="1282064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增殖降低 / G1 期积累</a:t>
            </a:r>
          </a:p>
        </p:txBody>
      </p:sp>
      <p:sp>
        <p:nvSpPr>
          <p:cNvPr id="53" name="Editable text: 整合患者数据、CRISPR 依赖性与体外实验；"/>
          <p:cNvSpPr txBox="1"/>
          <p:nvPr/>
        </p:nvSpPr>
        <p:spPr>
          <a:xfrm>
            <a:off x="4389120" y="4775179"/>
            <a:ext cx="2373464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整合患者数据、CRISPR 依赖性与体外实验；</a:t>
            </a:r>
          </a:p>
        </p:txBody>
      </p:sp>
      <p:sp>
        <p:nvSpPr>
          <p:cNvPr id="54" name="Editable text: 摘要报告 APT1 抑制使细胞生长受限。"/>
          <p:cNvSpPr txBox="1"/>
          <p:nvPr/>
        </p:nvSpPr>
        <p:spPr>
          <a:xfrm>
            <a:off x="4389120" y="4953078"/>
            <a:ext cx="2057809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摘要报告 APT1 抑制使细胞生长受限。</a:t>
            </a:r>
          </a:p>
        </p:txBody>
      </p:sp>
      <p:sp>
        <p:nvSpPr>
          <p:cNvPr id="55" name="Editable text: 目前依据摘要；效应具有模型依赖性，"/>
          <p:cNvSpPr txBox="1"/>
          <p:nvPr/>
        </p:nvSpPr>
        <p:spPr>
          <a:xfrm>
            <a:off x="4389120" y="5264902"/>
            <a:ext cx="175445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目前依据摘要；效应具有模型依赖性，</a:t>
            </a:r>
          </a:p>
        </p:txBody>
      </p:sp>
      <p:sp>
        <p:nvSpPr>
          <p:cNvPr id="56" name="Editable text: 表达丰度不等于酶活性。"/>
          <p:cNvSpPr txBox="1"/>
          <p:nvPr/>
        </p:nvSpPr>
        <p:spPr>
          <a:xfrm>
            <a:off x="4389120" y="5426662"/>
            <a:ext cx="115120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表达丰度不等于酶活性。</a:t>
            </a:r>
          </a:p>
        </p:txBody>
      </p:sp>
      <p:sp>
        <p:nvSpPr>
          <p:cNvPr id="57" name="Editable text: 摘要核对"/>
          <p:cNvSpPr txBox="1"/>
          <p:nvPr/>
        </p:nvSpPr>
        <p:spPr>
          <a:xfrm>
            <a:off x="4389120" y="5703940"/>
            <a:ext cx="40031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摘要核对</a:t>
            </a:r>
          </a:p>
        </p:txBody>
      </p:sp>
      <p:sp>
        <p:nvSpPr>
          <p:cNvPr id="58" name="Editable text: [2] doi: 10.1139/bcb-2025-0446"/>
          <p:cNvSpPr txBox="1"/>
          <p:nvPr/>
        </p:nvSpPr>
        <p:spPr>
          <a:xfrm>
            <a:off x="4389120" y="5897622"/>
            <a:ext cx="1336966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[2] doi: 10.1139/bcb-2025-0446</a:t>
            </a:r>
          </a:p>
        </p:txBody>
      </p:sp>
      <p:sp>
        <p:nvSpPr>
          <p:cNvPr id="59" name="Editable text: npj Precision Oncology"/>
          <p:cNvSpPr txBox="1"/>
          <p:nvPr/>
        </p:nvSpPr>
        <p:spPr>
          <a:xfrm>
            <a:off x="8168640" y="1885801"/>
            <a:ext cx="1544527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npj Precision Oncology</a:t>
            </a:r>
          </a:p>
        </p:txBody>
      </p:sp>
      <p:sp>
        <p:nvSpPr>
          <p:cNvPr id="60" name="Editable text: 2025"/>
          <p:cNvSpPr txBox="1"/>
          <p:nvPr/>
        </p:nvSpPr>
        <p:spPr>
          <a:xfrm>
            <a:off x="11164358" y="1846561"/>
            <a:ext cx="494113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2025</a:t>
            </a:r>
          </a:p>
        </p:txBody>
      </p:sp>
      <p:sp>
        <p:nvSpPr>
          <p:cNvPr id="61" name="Editable text: 肺癌 · 奥希替尼耐药模型"/>
          <p:cNvSpPr txBox="1"/>
          <p:nvPr/>
        </p:nvSpPr>
        <p:spPr>
          <a:xfrm>
            <a:off x="8168640" y="2142640"/>
            <a:ext cx="1313529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肺癌 · 奥希替尼耐药模型</a:t>
            </a:r>
          </a:p>
        </p:txBody>
      </p:sp>
      <p:sp>
        <p:nvSpPr>
          <p:cNvPr id="62" name="Editable text: Restoration of Osimertinib sensitivity i"/>
          <p:cNvSpPr txBox="1"/>
          <p:nvPr/>
        </p:nvSpPr>
        <p:spPr>
          <a:xfrm>
            <a:off x="8168640" y="2449786"/>
            <a:ext cx="2252984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Restoration of Osimertinib sensitivity in lung</a:t>
            </a:r>
          </a:p>
        </p:txBody>
      </p:sp>
      <p:sp>
        <p:nvSpPr>
          <p:cNvPr id="63" name="Editable text: cancer through BRD4 inhibitor-mediated"/>
          <p:cNvSpPr txBox="1"/>
          <p:nvPr/>
        </p:nvSpPr>
        <p:spPr>
          <a:xfrm>
            <a:off x="8168640" y="2612207"/>
            <a:ext cx="2064515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through BRD4 inhibitor-mediated</a:t>
            </a:r>
          </a:p>
        </p:txBody>
      </p:sp>
      <p:sp>
        <p:nvSpPr>
          <p:cNvPr id="64" name="Editable text: depalmitoylation of mutant EGFR via APT1"/>
          <p:cNvSpPr txBox="1"/>
          <p:nvPr/>
        </p:nvSpPr>
        <p:spPr>
          <a:xfrm>
            <a:off x="8168640" y="2776480"/>
            <a:ext cx="2152551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depalmitoylation of mutant EGFR via APT1</a:t>
            </a:r>
          </a:p>
        </p:txBody>
      </p:sp>
      <p:sp>
        <p:nvSpPr>
          <p:cNvPr id="65" name="Editable text: 参与治疗耐药机制"/>
          <p:cNvSpPr txBox="1"/>
          <p:nvPr/>
        </p:nvSpPr>
        <p:spPr>
          <a:xfrm>
            <a:off x="8168640" y="3045169"/>
            <a:ext cx="1520295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参与治疗耐药机制</a:t>
            </a:r>
          </a:p>
        </p:txBody>
      </p:sp>
      <p:sp>
        <p:nvSpPr>
          <p:cNvPr id="66" name="Editable text: APT1 / LYPLA1"/>
          <p:cNvSpPr txBox="1"/>
          <p:nvPr/>
        </p:nvSpPr>
        <p:spPr>
          <a:xfrm>
            <a:off x="9403156" y="3526331"/>
            <a:ext cx="100167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APT1 / LYPLA1</a:t>
            </a:r>
          </a:p>
        </p:txBody>
      </p:sp>
      <p:sp>
        <p:nvSpPr>
          <p:cNvPr id="67" name="Editable text: EGFR 去棕榈酰化 / 核转位"/>
          <p:cNvSpPr txBox="1"/>
          <p:nvPr/>
        </p:nvSpPr>
        <p:spPr>
          <a:xfrm>
            <a:off x="9126831" y="3930953"/>
            <a:ext cx="155486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EGFR 去棕榈酰化 / 核转位</a:t>
            </a:r>
          </a:p>
        </p:txBody>
      </p:sp>
      <p:sp>
        <p:nvSpPr>
          <p:cNvPr id="68" name="Editable text: CMPK2 / 奥希替尼耐药"/>
          <p:cNvSpPr txBox="1"/>
          <p:nvPr/>
        </p:nvSpPr>
        <p:spPr>
          <a:xfrm>
            <a:off x="9208935" y="4335575"/>
            <a:ext cx="139039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CMPK2 / 奥希替尼耐药</a:t>
            </a:r>
          </a:p>
        </p:txBody>
      </p:sp>
      <p:sp>
        <p:nvSpPr>
          <p:cNvPr id="69" name="Editable text: 敲低 APT1 降低耐药细胞 EGFR 核转位，"/>
          <p:cNvSpPr txBox="1"/>
          <p:nvPr/>
        </p:nvSpPr>
        <p:spPr>
          <a:xfrm>
            <a:off x="8168640" y="4775179"/>
            <a:ext cx="2183508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敲低 APT1 降低耐药细胞 EGFR 核转位，</a:t>
            </a:r>
          </a:p>
        </p:txBody>
      </p:sp>
      <p:sp>
        <p:nvSpPr>
          <p:cNvPr id="70" name="Editable text: 并部分恢复对奥希替尼的敏感性。"/>
          <p:cNvSpPr txBox="1"/>
          <p:nvPr/>
        </p:nvSpPr>
        <p:spPr>
          <a:xfrm>
            <a:off x="8168640" y="4953078"/>
            <a:ext cx="1814988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并部分恢复对奥希替尼的敏感性。</a:t>
            </a:r>
          </a:p>
        </p:txBody>
      </p:sp>
      <p:sp>
        <p:nvSpPr>
          <p:cNvPr id="71" name="Editable text: 来自肺癌耐药情境，不能直接外推至"/>
          <p:cNvSpPr txBox="1"/>
          <p:nvPr/>
        </p:nvSpPr>
        <p:spPr>
          <a:xfrm>
            <a:off x="8168640" y="5264902"/>
            <a:ext cx="1653910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来自肺癌耐药情境，不能直接外推至</a:t>
            </a:r>
          </a:p>
        </p:txBody>
      </p:sp>
      <p:sp>
        <p:nvSpPr>
          <p:cNvPr id="72" name="Editable text: 本项目四癌或未经治疗的肿瘤。"/>
          <p:cNvSpPr txBox="1"/>
          <p:nvPr/>
        </p:nvSpPr>
        <p:spPr>
          <a:xfrm>
            <a:off x="8168640" y="5426662"/>
            <a:ext cx="1452827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本项目四癌或未经治疗的肿瘤。</a:t>
            </a:r>
          </a:p>
        </p:txBody>
      </p:sp>
      <p:sp>
        <p:nvSpPr>
          <p:cNvPr id="73" name="Editable text: 全文核对"/>
          <p:cNvSpPr txBox="1"/>
          <p:nvPr/>
        </p:nvSpPr>
        <p:spPr>
          <a:xfrm>
            <a:off x="8168640" y="5703940"/>
            <a:ext cx="40031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全文核对</a:t>
            </a:r>
          </a:p>
        </p:txBody>
      </p:sp>
      <p:sp>
        <p:nvSpPr>
          <p:cNvPr id="74" name="Editable text: [3] doi: 10.1038/s41698-025-01048-8"/>
          <p:cNvSpPr txBox="1"/>
          <p:nvPr/>
        </p:nvSpPr>
        <p:spPr>
          <a:xfrm>
            <a:off x="8168640" y="5897622"/>
            <a:ext cx="15626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[3] doi: 10.1038/s41698-025-01048-8</a:t>
            </a:r>
          </a:p>
        </p:txBody>
      </p:sp>
      <p:sp>
        <p:nvSpPr>
          <p:cNvPr id="75" name="Editable text: 本项目切入点"/>
          <p:cNvSpPr txBox="1"/>
          <p:nvPr/>
        </p:nvSpPr>
        <p:spPr>
          <a:xfrm>
            <a:off x="780287" y="6213042"/>
            <a:ext cx="887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本项目切入点</a:t>
            </a:r>
          </a:p>
        </p:txBody>
      </p:sp>
      <p:sp>
        <p:nvSpPr>
          <p:cNvPr id="76" name="Editable text: 从 CAMP 代谢关联出发，检验四癌中患者方向、恶性上皮表达与空间定位是否一致。"/>
          <p:cNvSpPr txBox="1"/>
          <p:nvPr/>
        </p:nvSpPr>
        <p:spPr>
          <a:xfrm>
            <a:off x="2365248" y="6221525"/>
            <a:ext cx="482650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 CAMP 代谢关联出发，检验四癌中患者方向、恶性上皮表达与空间定位是否一致。</a:t>
            </a:r>
          </a:p>
        </p:txBody>
      </p:sp>
      <p:sp>
        <p:nvSpPr>
          <p:cNvPr id="77" name="Editable text: 机制链为原文结果概括；本项目尚未验证上述底物、酶活或因果机制。"/>
          <p:cNvSpPr txBox="1"/>
          <p:nvPr/>
        </p:nvSpPr>
        <p:spPr>
          <a:xfrm>
            <a:off x="609599" y="6614298"/>
            <a:ext cx="2795904" cy="1351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机制链为原文结果概括；本项目尚未验证上述底物、酶活或因果机制。</a:t>
            </a:r>
          </a:p>
        </p:txBody>
      </p:sp>
      <p:sp>
        <p:nvSpPr>
          <p:cNvPr id="78" name="Editable text: 17"/>
          <p:cNvSpPr txBox="1"/>
          <p:nvPr/>
        </p:nvSpPr>
        <p:spPr>
          <a:xfrm>
            <a:off x="11201400" y="6610366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17</a:t>
            </a:r>
          </a:p>
        </p:txBody>
      </p:sp>
      <p:pic>
        <p:nvPicPr>
          <p:cNvPr id="79" name="Picture 7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9204960" y="2194559"/>
            <a:ext cx="2377440" cy="2948940"/>
          </a:xfrm>
          <a:custGeom>
            <a:avLst/>
            <a:gdLst/>
            <a:ahLst/>
            <a:cxnLst/>
            <a:rect l="0" t="0" r="r" b="b"/>
            <a:pathLst>
              <a:path w="224640" h="278640">
                <a:moveTo>
                  <a:pt x="0" y="0"/>
                </a:moveTo>
                <a:lnTo>
                  <a:pt x="224640" y="0"/>
                </a:lnTo>
                <a:lnTo>
                  <a:pt x="224640" y="278640"/>
                </a:lnTo>
                <a:lnTo>
                  <a:pt x="0" y="278640"/>
                </a:lnTo>
                <a:close/>
              </a:path>
            </a:pathLst>
          </a:custGeom>
          <a:solidFill>
            <a:srgbClr val="00553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640917" y="3669029"/>
            <a:ext cx="391032" cy="105"/>
          </a:xfrm>
          <a:custGeom>
            <a:avLst/>
            <a:gdLst/>
            <a:ahLst/>
            <a:cxnLst/>
            <a:rect l="0" t="0" r="r" b="b"/>
            <a:pathLst>
              <a:path w="36948" h="10">
                <a:moveTo>
                  <a:pt x="0" y="0"/>
                </a:moveTo>
                <a:cubicBezTo>
                  <a:pt x="12875" y="0"/>
                  <a:pt x="25191" y="0"/>
                  <a:pt x="36948" y="0"/>
                </a:cubicBez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8955749" y="3630929"/>
            <a:ext cx="76200" cy="76200"/>
          </a:xfrm>
          <a:custGeom>
            <a:avLst/>
            <a:gdLst/>
            <a:ahLst/>
            <a:cxnLst/>
            <a:rect l="0" t="0" r="r" b="b"/>
            <a:pathLst>
              <a:path w="7200" h="7200">
                <a:moveTo>
                  <a:pt x="0" y="0"/>
                </a:moveTo>
                <a:lnTo>
                  <a:pt x="7200" y="3600"/>
                </a:lnTo>
                <a:lnTo>
                  <a:pt x="0" y="7200"/>
                </a:lnTo>
                <a:lnTo>
                  <a:pt x="0" y="0"/>
                </a:lnTo>
              </a:path>
            </a:pathLst>
          </a:custGeom>
          <a:solidFill>
            <a:srgbClr val="91AD9C">
              <a:alpha val="100000"/>
            </a:srgbClr>
          </a:solidFill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04543" y="2873501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04543" y="3854195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04543" y="4834889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8375904" y="2064258"/>
            <a:ext cx="243839" cy="3216402"/>
          </a:xfrm>
          <a:custGeom>
            <a:avLst/>
            <a:gdLst/>
            <a:ahLst/>
            <a:cxnLst/>
            <a:rect l="0" t="0" r="r" b="b"/>
            <a:pathLst>
              <a:path w="23040" h="303912">
                <a:moveTo>
                  <a:pt x="0" y="0"/>
                </a:moveTo>
                <a:lnTo>
                  <a:pt x="23040" y="0"/>
                </a:lnTo>
                <a:lnTo>
                  <a:pt x="23040" y="303912"/>
                </a:lnTo>
                <a:lnTo>
                  <a:pt x="0" y="303912"/>
                </a:ln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9570720" y="3134105"/>
            <a:ext cx="1645919" cy="105"/>
          </a:xfrm>
          <a:custGeom>
            <a:avLst/>
            <a:gdLst/>
            <a:ahLst/>
            <a:cxnLst/>
            <a:rect l="0" t="0" r="r" b="b"/>
            <a:pathLst>
              <a:path w="155520" h="10">
                <a:moveTo>
                  <a:pt x="0" y="0"/>
                </a:moveTo>
                <a:lnTo>
                  <a:pt x="155520" y="0"/>
                </a:lnTo>
              </a:path>
            </a:pathLst>
          </a:custGeom>
          <a:noFill/>
          <a:ln w="10583">
            <a:solidFill>
              <a:srgbClr val="679A8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5945885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LYPLA1：从代谢候选到多层表达证据"/>
          <p:cNvSpPr txBox="1"/>
          <p:nvPr/>
        </p:nvSpPr>
        <p:spPr>
          <a:xfrm>
            <a:off x="609599" y="999114"/>
            <a:ext cx="4905491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LYPLA1：从代谢候选到多层表达证据</a:t>
            </a:r>
          </a:p>
        </p:txBody>
      </p:sp>
      <p:sp>
        <p:nvSpPr>
          <p:cNvPr id="17" name="Editable text: 01"/>
          <p:cNvSpPr txBox="1"/>
          <p:nvPr/>
        </p:nvSpPr>
        <p:spPr>
          <a:xfrm>
            <a:off x="731520" y="1972510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18" name="Editable text: 代谢发现"/>
          <p:cNvSpPr txBox="1"/>
          <p:nvPr/>
        </p:nvSpPr>
        <p:spPr>
          <a:xfrm>
            <a:off x="1304543" y="1997877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代谢发现</a:t>
            </a:r>
          </a:p>
        </p:txBody>
      </p:sp>
      <p:sp>
        <p:nvSpPr>
          <p:cNvPr id="19" name="Editable text: 四癌异常代谢物经关系映射，均指向 LYPLA1"/>
          <p:cNvSpPr txBox="1"/>
          <p:nvPr/>
        </p:nvSpPr>
        <p:spPr>
          <a:xfrm>
            <a:off x="1304543" y="2416667"/>
            <a:ext cx="3041988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四癌异常代谢物经关系映射，均指向 LYPLA1</a:t>
            </a:r>
          </a:p>
        </p:txBody>
      </p:sp>
      <p:sp>
        <p:nvSpPr>
          <p:cNvPr id="20" name="Editable text: 02"/>
          <p:cNvSpPr txBox="1"/>
          <p:nvPr/>
        </p:nvSpPr>
        <p:spPr>
          <a:xfrm>
            <a:off x="731520" y="2953204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21" name="Editable text: 组织表达"/>
          <p:cNvSpPr txBox="1"/>
          <p:nvPr/>
        </p:nvSpPr>
        <p:spPr>
          <a:xfrm>
            <a:off x="1304543" y="2978571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组织表达</a:t>
            </a:r>
          </a:p>
        </p:txBody>
      </p:sp>
      <p:sp>
        <p:nvSpPr>
          <p:cNvPr id="22" name="Editable text: 四癌平均上调，其中 BRCA、COAD、PRAD 显著"/>
          <p:cNvSpPr txBox="1"/>
          <p:nvPr/>
        </p:nvSpPr>
        <p:spPr>
          <a:xfrm>
            <a:off x="1304543" y="3397361"/>
            <a:ext cx="3356621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四癌平均上调，其中 BRCA、COAD、PRAD 显著</a:t>
            </a:r>
          </a:p>
        </p:txBody>
      </p:sp>
      <p:sp>
        <p:nvSpPr>
          <p:cNvPr id="23" name="Editable text: 03"/>
          <p:cNvSpPr txBox="1"/>
          <p:nvPr/>
        </p:nvSpPr>
        <p:spPr>
          <a:xfrm>
            <a:off x="731520" y="3933898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24" name="Editable text: 患者重复"/>
          <p:cNvSpPr txBox="1"/>
          <p:nvPr/>
        </p:nvSpPr>
        <p:spPr>
          <a:xfrm>
            <a:off x="1304543" y="3959265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患者重复</a:t>
            </a:r>
          </a:p>
        </p:txBody>
      </p:sp>
      <p:sp>
        <p:nvSpPr>
          <p:cNvPr id="25" name="Editable text: 四癌上皮比较中，多数患者呈同向升高"/>
          <p:cNvSpPr txBox="1"/>
          <p:nvPr/>
        </p:nvSpPr>
        <p:spPr>
          <a:xfrm>
            <a:off x="1304543" y="4378055"/>
            <a:ext cx="2622443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四癌上皮比较中，多数患者呈同向升高</a:t>
            </a:r>
          </a:p>
        </p:txBody>
      </p:sp>
      <p:sp>
        <p:nvSpPr>
          <p:cNvPr id="26" name="Editable text: 04"/>
          <p:cNvSpPr txBox="1"/>
          <p:nvPr/>
        </p:nvSpPr>
        <p:spPr>
          <a:xfrm>
            <a:off x="731520" y="4914592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04</a:t>
            </a:r>
          </a:p>
        </p:txBody>
      </p:sp>
      <p:sp>
        <p:nvSpPr>
          <p:cNvPr id="27" name="Editable text: 空间定位"/>
          <p:cNvSpPr txBox="1"/>
          <p:nvPr/>
        </p:nvSpPr>
        <p:spPr>
          <a:xfrm>
            <a:off x="1304543" y="4939959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空间定位</a:t>
            </a:r>
          </a:p>
        </p:txBody>
      </p:sp>
      <p:sp>
        <p:nvSpPr>
          <p:cNvPr id="28" name="Editable text: BRCA、PRAD 代表切片提供癌区定位补充"/>
          <p:cNvSpPr txBox="1"/>
          <p:nvPr/>
        </p:nvSpPr>
        <p:spPr>
          <a:xfrm>
            <a:off x="1304543" y="5358749"/>
            <a:ext cx="2872770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BRCA、PRAD 代表切片提供癌区定位补充</a:t>
            </a:r>
          </a:p>
        </p:txBody>
      </p:sp>
      <p:sp>
        <p:nvSpPr>
          <p:cNvPr id="29" name="Editable text: LYPLA1"/>
          <p:cNvSpPr txBox="1"/>
          <p:nvPr/>
        </p:nvSpPr>
        <p:spPr>
          <a:xfrm>
            <a:off x="9803411" y="2509939"/>
            <a:ext cx="1322843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30" name="Editable text: 跨癌反复出现"/>
          <p:cNvSpPr txBox="1"/>
          <p:nvPr/>
        </p:nvSpPr>
        <p:spPr>
          <a:xfrm>
            <a:off x="9885680" y="3376852"/>
            <a:ext cx="109220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跨癌反复出现</a:t>
            </a:r>
          </a:p>
        </p:txBody>
      </p:sp>
      <p:sp>
        <p:nvSpPr>
          <p:cNvPr id="31" name="Editable text: 具有上皮表达支持"/>
          <p:cNvSpPr txBox="1"/>
          <p:nvPr/>
        </p:nvSpPr>
        <p:spPr>
          <a:xfrm>
            <a:off x="9716346" y="3649258"/>
            <a:ext cx="143086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具有上皮表达支持</a:t>
            </a:r>
          </a:p>
        </p:txBody>
      </p:sp>
      <p:sp>
        <p:nvSpPr>
          <p:cNvPr id="32" name="Editable text: 值得继续关注的候选"/>
          <p:cNvSpPr txBox="1"/>
          <p:nvPr/>
        </p:nvSpPr>
        <p:spPr>
          <a:xfrm>
            <a:off x="9726930" y="4448911"/>
            <a:ext cx="140017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E0EEE5"/>
                </a:solidFill>
                <a:latin typeface="Microsoft YaHei"/>
                <a:ea typeface="微软雅黑"/>
                <a:cs typeface="Microsoft YaHei"/>
              </a:defRPr>
            </a:pPr>
            <a:r>
              <a:t>值得继续关注的候选</a:t>
            </a:r>
          </a:p>
        </p:txBody>
      </p:sp>
      <p:sp>
        <p:nvSpPr>
          <p:cNvPr id="33" name="Editable text: 现阶段：多层证据支持候选价值，共同代谢机制尚未建立。"/>
          <p:cNvSpPr txBox="1"/>
          <p:nvPr/>
        </p:nvSpPr>
        <p:spPr>
          <a:xfrm>
            <a:off x="609599" y="6132811"/>
            <a:ext cx="4478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现阶段：多层证据支持候选价值，共同代谢机制尚未建立。</a:t>
            </a:r>
          </a:p>
        </p:txBody>
      </p:sp>
      <p:sp>
        <p:nvSpPr>
          <p:cNvPr id="34" name="Editable text: 18"/>
          <p:cNvSpPr txBox="1"/>
          <p:nvPr/>
        </p:nvSpPr>
        <p:spPr>
          <a:xfrm>
            <a:off x="11159066" y="6512811"/>
            <a:ext cx="470958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18</a:t>
            </a:r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pic>
        <p:nvPicPr>
          <p:cNvPr id="9" name="Illustration crop: cover_reference.png" descr="cover_reference.png"/>
          <p:cNvPicPr>
            <a:picLocks noChangeAspect="1"/>
          </p:cNvPicPr>
          <p:nvPr/>
        </p:nvPicPr>
        <p:blipFill>
          <a:blip r:embed="rId3"/>
          <a:srcRect t="73220"/>
          <a:stretch>
            <a:fillRect/>
          </a:stretch>
        </p:blipFill>
        <p:spPr>
          <a:xfrm>
            <a:off x="0" y="5020275"/>
            <a:ext cx="12191695" cy="1837504"/>
          </a:xfrm>
          <a:prstGeom prst="rect">
            <a:avLst/>
          </a:prstGeom>
        </p:spPr>
      </p:pic>
      <p:pic>
        <p:nvPicPr>
          <p:cNvPr id="10" name="Illustration crop: cover_reference.png" descr="cover_reference.png"/>
          <p:cNvPicPr>
            <a:picLocks noChangeAspect="1"/>
          </p:cNvPicPr>
          <p:nvPr/>
        </p:nvPicPr>
        <p:blipFill>
          <a:blip r:embed="rId3"/>
          <a:srcRect l="71172" b="75770"/>
          <a:stretch>
            <a:fillRect/>
          </a:stretch>
        </p:blipFill>
        <p:spPr>
          <a:xfrm>
            <a:off x="8750808" y="3054"/>
            <a:ext cx="3447287" cy="16306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508760"/>
            <a:ext cx="1938528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59051"/>
            <a:ext cx="17922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CAMP · 多组学研究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0552"/>
            <a:ext cx="106984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基于 CAMP 多组学的</a:t>
            </a:r>
          </a:p>
          <a:p>
            <a:pPr algn="l">
              <a:spcAft>
                <a:spcPts val="700"/>
              </a:spcAft>
              <a:defRPr sz="3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泛癌潜在代谢靶点筛选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730752"/>
            <a:ext cx="9966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3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以 LYPLA1 为重点的跨癌种证据分析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97840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患者匹配  /  代谢物—基因关系  /  细胞与空间背景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CAMP 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Cancer Atlas of Metabolic Profiles · 将代谢组与转录组放到同一研究框架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276856"/>
            <a:ext cx="4992624" cy="3648456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276856"/>
            <a:ext cx="41148" cy="3648456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llustration crop: paper_real.png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655" y="2496312"/>
            <a:ext cx="4616608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983480"/>
            <a:ext cx="45445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9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Nature Metabolism ·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477256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Benedetti et al. · 原始论文截图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313432"/>
            <a:ext cx="5248656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整合肿瘤及参照组织的两种组学，</a:t>
            </a:r>
          </a:p>
          <a:p>
            <a:pPr algn="l">
              <a:spcAft>
                <a:spcPts val="700"/>
              </a:spcAft>
              <a:defRPr sz="2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研究代谢物与基因表达的共同变化。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538728"/>
            <a:ext cx="1463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4133087"/>
            <a:ext cx="1554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类癌症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38728"/>
            <a:ext cx="1463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4133087"/>
            <a:ext cx="1554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个数据集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538728"/>
            <a:ext cx="1463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133087"/>
            <a:ext cx="1554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份组织标本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4"/>
          <a:srcRect l="40039" r="34375" t="12695" b="52148"/>
          <a:stretch>
            <a:fillRect/>
          </a:stretch>
        </p:blipFill>
        <p:spPr>
          <a:xfrm>
            <a:off x="6232017" y="4645152"/>
            <a:ext cx="1297686" cy="1188720"/>
          </a:xfrm>
          <a:prstGeom prst="rect">
            <a:avLst/>
          </a:prstGeom>
        </p:spPr>
      </p:pic>
      <p:pic>
        <p:nvPicPr>
          <p:cNvPr id="22" name="Illustration crop: artwork.png" descr="artwork.png"/>
          <p:cNvPicPr>
            <a:picLocks noChangeAspect="1"/>
          </p:cNvPicPr>
          <p:nvPr/>
        </p:nvPicPr>
        <p:blipFill>
          <a:blip r:embed="rId4"/>
          <a:srcRect l="72266" r="3646" t="5859" b="42871"/>
          <a:stretch>
            <a:fillRect/>
          </a:stretch>
        </p:blipFill>
        <p:spPr>
          <a:xfrm>
            <a:off x="9909048" y="4590288"/>
            <a:ext cx="902207" cy="128016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7680960" y="5230368"/>
            <a:ext cx="1901952" cy="0"/>
          </a:xfrm>
          <a:prstGeom prst="line">
            <a:avLst/>
          </a:prstGeom>
          <a:ln w="19050">
            <a:solidFill>
              <a:srgbClr val="89A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17536" y="4700016"/>
            <a:ext cx="19568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对应标本匹配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431536"/>
            <a:ext cx="200253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代谢水平 ↔ 基因表达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来源：Nature Metabolism 5, 1029–1044 (2023) · doi:10.1038/s42255-023-00817-8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为什么选择 CAMP？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患者内配对减少个体差异；对应标本匹配连接代谢物与基因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4871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患者内组织配对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4871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对应标本组学匹配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跨癌种覆盖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3"/>
          <a:srcRect l="781" r="63867" t="1953" b="46289"/>
          <a:stretch>
            <a:fillRect/>
          </a:stretch>
        </p:blipFill>
        <p:spPr>
          <a:xfrm>
            <a:off x="1149435" y="3017520"/>
            <a:ext cx="2135969" cy="208483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19072" y="51023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肿瘤组织 / 参照组织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486400"/>
            <a:ext cx="27614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以同一患者为自身参照</a:t>
            </a:r>
          </a:p>
        </p:txBody>
      </p:sp>
      <p:pic>
        <p:nvPicPr>
          <p:cNvPr id="24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49043" r="40730" t="34857" b="53348"/>
          <a:stretch>
            <a:fillRect/>
          </a:stretch>
        </p:blipFill>
        <p:spPr>
          <a:xfrm>
            <a:off x="5504688" y="3080004"/>
            <a:ext cx="1216152" cy="78943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 flipH="1">
            <a:off x="5330952" y="3877056"/>
            <a:ext cx="786384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17336" y="3877056"/>
            <a:ext cx="795528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4804371" y="4160520"/>
            <a:ext cx="1108024" cy="1014984"/>
          </a:xfrm>
          <a:prstGeom prst="rect">
            <a:avLst/>
          </a:prstGeom>
        </p:spPr>
      </p:pic>
      <p:pic>
        <p:nvPicPr>
          <p:cNvPr id="28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r="3646" t="5859" b="42871"/>
          <a:stretch>
            <a:fillRect/>
          </a:stretch>
        </p:blipFill>
        <p:spPr>
          <a:xfrm>
            <a:off x="6501384" y="4069265"/>
            <a:ext cx="850392" cy="12066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5152" y="5166360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66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4864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匹配肿瘤标本中的实测关联</a:t>
            </a:r>
          </a:p>
        </p:txBody>
      </p:sp>
      <p:pic>
        <p:nvPicPr>
          <p:cNvPr id="32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76854" r="17464" t="29224" b="60680"/>
          <a:stretch>
            <a:fillRect/>
          </a:stretch>
        </p:blipFill>
        <p:spPr>
          <a:xfrm>
            <a:off x="8842248" y="2980944"/>
            <a:ext cx="539496" cy="5394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95360" y="3538727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pic>
        <p:nvPicPr>
          <p:cNvPr id="34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87919" r="4904" t="29224" b="60680"/>
          <a:stretch>
            <a:fillRect/>
          </a:stretch>
        </p:blipFill>
        <p:spPr>
          <a:xfrm>
            <a:off x="10206869" y="2980944"/>
            <a:ext cx="681468" cy="539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30968" y="3538727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pic>
        <p:nvPicPr>
          <p:cNvPr id="36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76555" r="16268" t="45165" b="44208"/>
          <a:stretch>
            <a:fillRect/>
          </a:stretch>
        </p:blipFill>
        <p:spPr>
          <a:xfrm>
            <a:off x="8788298" y="3730752"/>
            <a:ext cx="647395" cy="5394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95360" y="4288536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pic>
        <p:nvPicPr>
          <p:cNvPr id="38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87919" r="4306" t="45590" b="45271"/>
          <a:stretch>
            <a:fillRect/>
          </a:stretch>
        </p:blipFill>
        <p:spPr>
          <a:xfrm>
            <a:off x="10139845" y="3730752"/>
            <a:ext cx="815517" cy="5394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30968" y="4288536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pic>
        <p:nvPicPr>
          <p:cNvPr id="40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77751" r="16866" t="61105" b="30287"/>
          <a:stretch>
            <a:fillRect/>
          </a:stretch>
        </p:blipFill>
        <p:spPr>
          <a:xfrm>
            <a:off x="8812276" y="4480559"/>
            <a:ext cx="599440" cy="5394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95360" y="5038344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pic>
        <p:nvPicPr>
          <p:cNvPr id="42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89354" r="5742" t="61105" b="30181"/>
          <a:stretch>
            <a:fillRect/>
          </a:stretch>
        </p:blipFill>
        <p:spPr>
          <a:xfrm>
            <a:off x="10277856" y="4480559"/>
            <a:ext cx="539496" cy="5394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30968" y="5038344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5486400"/>
            <a:ext cx="28529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比较共同方向与背景差异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两类匹配分别核对；GBM 的跨来源参照单独解释。插图均为示意。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六癌种、七队列：按真实设计分别分析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本项目使用 CAMP 子集；保留各队列的配对、参照与治疗背景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854" r="17464" t="29224" b="60680"/>
          <a:stretch>
            <a:fillRect/>
          </a:stretch>
        </p:blipFill>
        <p:spPr>
          <a:xfrm>
            <a:off x="813815" y="2569464"/>
            <a:ext cx="1033271" cy="10332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9967" y="256032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301752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46557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4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r="4904" t="29224" b="60680"/>
          <a:stretch>
            <a:fillRect/>
          </a:stretch>
        </p:blipFill>
        <p:spPr>
          <a:xfrm>
            <a:off x="4654296" y="2662618"/>
            <a:ext cx="1069848" cy="8469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8736" y="256032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1752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结肠癌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46557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1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r="4306" t="45590" b="45271"/>
          <a:stretch>
            <a:fillRect/>
          </a:stretch>
        </p:blipFill>
        <p:spPr>
          <a:xfrm>
            <a:off x="8513063" y="2732227"/>
            <a:ext cx="1069848" cy="7077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503" y="256032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301752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胰腺导管癌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7" y="346557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7751" r="16866" t="61105" b="30287"/>
          <a:stretch>
            <a:fillRect/>
          </a:stretch>
        </p:blipFill>
        <p:spPr>
          <a:xfrm>
            <a:off x="795527" y="4296308"/>
            <a:ext cx="1069848" cy="9628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29967" y="425196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470916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前列腺癌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515721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9704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9354" r="5742" t="61105" b="30181"/>
          <a:stretch>
            <a:fillRect/>
          </a:stretch>
        </p:blipFill>
        <p:spPr>
          <a:xfrm>
            <a:off x="4672583" y="4261104"/>
            <a:ext cx="1033271" cy="10332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425196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70916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肾透明细胞癌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15721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两个队列，分别分析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1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555" r="16268" t="45165" b="44208"/>
          <a:stretch>
            <a:fillRect/>
          </a:stretch>
        </p:blipFill>
        <p:spPr>
          <a:xfrm>
            <a:off x="8513063" y="4331970"/>
            <a:ext cx="1069848" cy="8915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47503" y="425196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7" y="470916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胶质母细胞瘤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515721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非配对 · 跨来源参照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ccRCC 两队列在癌种计数时仅计一次；LYPLA1 专题聚焦 BRCA、COAD、PDAC、PRAD。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从代谢物到候选基因：映射与证据并行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生化知识提出候选，患者数据与细胞背景检验其研究价值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差异代谢物</a:t>
            </a:r>
          </a:p>
        </p:txBody>
      </p:sp>
      <p:pic>
        <p:nvPicPr>
          <p:cNvPr id="11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1435607" y="2879487"/>
            <a:ext cx="850392" cy="778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癌种内肿瘤—参照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名义 P &lt; 0.05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身份与注释核对</a:t>
            </a:r>
          </a:p>
        </p:txBody>
      </p:sp>
      <p:pic>
        <p:nvPicPr>
          <p:cNvPr id="16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3707168" y="2889504"/>
            <a:ext cx="888415" cy="813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81728" y="3154680"/>
            <a:ext cx="1060704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4972"/>
            <a:ext cx="91439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化学标识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名称、化学标识对齐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异构体 / 混合峰另列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直接生化关系</a:t>
            </a:r>
          </a:p>
        </p:txBody>
      </p:sp>
      <p:pic>
        <p:nvPicPr>
          <p:cNvPr id="23" name="Illustration crop: artwork.png" descr="artwork.png"/>
          <p:cNvPicPr>
            <a:picLocks noChangeAspect="1"/>
          </p:cNvPicPr>
          <p:nvPr/>
        </p:nvPicPr>
        <p:blipFill>
          <a:blip r:embed="rId3"/>
          <a:srcRect l="651" r="67578" t="57324" b="1367"/>
          <a:stretch>
            <a:fillRect/>
          </a:stretch>
        </p:blipFill>
        <p:spPr>
          <a:xfrm>
            <a:off x="6580588" y="2880360"/>
            <a:ext cx="938870" cy="813815"/>
          </a:xfrm>
          <a:prstGeom prst="rect">
            <a:avLst/>
          </a:prstGeom>
        </p:spPr>
      </p:pic>
      <p:pic>
        <p:nvPicPr>
          <p:cNvPr id="24" name="Illustration crop: artwork.png" descr="artwork.png"/>
          <p:cNvPicPr>
            <a:picLocks noChangeAspect="1"/>
          </p:cNvPicPr>
          <p:nvPr/>
        </p:nvPicPr>
        <p:blipFill>
          <a:blip r:embed="rId3"/>
          <a:srcRect l="35677" r="33268" t="55957" b="1172"/>
          <a:stretch>
            <a:fillRect/>
          </a:stretch>
        </p:blipFill>
        <p:spPr>
          <a:xfrm>
            <a:off x="7823254" y="2862072"/>
            <a:ext cx="904131" cy="832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92824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反应底物 / 产物 · 转运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必要复合体成员另注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34272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54312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代谢物—基因候选池</a:t>
            </a:r>
          </a:p>
        </p:txBody>
      </p:sp>
      <p:pic>
        <p:nvPicPr>
          <p:cNvPr id="29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9539020" y="2944368"/>
            <a:ext cx="718718" cy="658368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10360152" y="3200400"/>
            <a:ext cx="320040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r="3646" t="5859" b="42871"/>
          <a:stretch>
            <a:fillRect/>
          </a:stretch>
        </p:blipFill>
        <p:spPr>
          <a:xfrm>
            <a:off x="10860894" y="2825496"/>
            <a:ext cx="644434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0616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按特征 × 基因去重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条件性关系单列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07040" y="4416552"/>
            <a:ext cx="0" cy="27432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76272" y="4690872"/>
            <a:ext cx="8430768" cy="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57984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0080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r="3646" t="5859" b="42871"/>
          <a:stretch>
            <a:fillRect/>
          </a:stretch>
        </p:blipFill>
        <p:spPr>
          <a:xfrm>
            <a:off x="847518" y="5047488"/>
            <a:ext cx="444659" cy="6309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7904" y="509320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4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RNA 是否改变？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7904" y="555040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组织表达 · 同患者方向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62472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44568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4636007" y="5053037"/>
            <a:ext cx="676656" cy="61983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22392" y="509320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4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代谢与 RNA 是否关联？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555040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匹配肿瘤标本 · 实测关联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449056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llustration crop: artwork.png" descr="artwork.png"/>
          <p:cNvPicPr>
            <a:picLocks noChangeAspect="1"/>
          </p:cNvPicPr>
          <p:nvPr/>
        </p:nvPicPr>
        <p:blipFill>
          <a:blip r:embed="rId3"/>
          <a:srcRect l="67188" r="260" t="60352" b="1172"/>
          <a:stretch>
            <a:fillRect/>
          </a:stretch>
        </p:blipFill>
        <p:spPr>
          <a:xfrm>
            <a:off x="8540496" y="5096353"/>
            <a:ext cx="676656" cy="5332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509320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4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候选在哪里表达？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55040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单细胞定位 · 空间背景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三类证据并行检查；不以相关显著作为唯一入场条件。插图为关系示意，不是实验数据。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