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4" r:id="rId26"/>
    <p:sldId id="275" r:id="rId27"/>
    <p:sldId id="276" r:id="rId28"/>
    <p:sldId id="277" r:id="rId29"/>
    <p:sldId id="278" r:id="rId30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9" r:id="rId12"/>
    <p:sldId id="280" r:id="rId11"/>
    <p:sldId id="281" r:id="rId10"/>
    <p:sldId id="282" r:id="rId9"/>
    <p:sldId id="283" r:id="rId7"/>
    <p:sldId id="284" r:id="rId31"/>
    <p:sldId id="285" r:id="rId3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3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2.xml"/><Relationship Id="rId10" Type="http://schemas.openxmlformats.org/officeDocument/2006/relationships/slide" Target="slides/slide21.xml"/><Relationship Id="rId11" Type="http://schemas.openxmlformats.org/officeDocument/2006/relationships/slide" Target="slides/slide20.xml"/><Relationship Id="rId12" Type="http://schemas.openxmlformats.org/officeDocument/2006/relationships/slide" Target="slides/slide19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.xml"/><Relationship Id="rId27" Type="http://schemas.openxmlformats.org/officeDocument/2006/relationships/slide" Target="slides/slide2.xml"/><Relationship Id="rId28" Type="http://schemas.openxmlformats.org/officeDocument/2006/relationships/slide" Target="slides/slide3.xml"/><Relationship Id="rId29" Type="http://schemas.openxmlformats.org/officeDocument/2006/relationships/slide" Target="slides/slide4.xml"/><Relationship Id="rId30" Type="http://schemas.openxmlformats.org/officeDocument/2006/relationships/slide" Target="slides/slide5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来源：D:\CodexData\visualizations\2026\09\25\01a0d8cd-4545-75b0-ba43-922588deea1a\CAMP_representative_cases_v3\06_PRAD_SLC6A6_全细胞与患者.pdf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来源：D:\CodexData\visualizations\2026\09\25\01a0d8cd-4545-75b0-ba43-922588deea1a\CAMP_representative_cases_v3\05_PDAC_SLC6A6_全细胞与患者.pdf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来源：D:\CodexData\visualizations\2026\09\25\01a0d8cd-4545-75b0-ba43-922588deea1a\CAMP_representative_cases_v3\04_PDAC_PRAD_SLC6A6_CAMP.pdf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  <a:p>
            <a:r>
              <a:t>插图由内置image_gen生成，仅为概念图，不是实际分子结构、蛋白结构或本队列机制证据。图片保留透明度并使用PPT原生裁剪，文字与箭头独立可编辑。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来源：D:\CodexData\visualizations\2026\09\25\01a0d8cd-4545-75b0-ba43-922588deea1a\CAMP_representative_cases_v3\02_BRCA_ASNS_全细胞与患者.pdf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来源：D:\CodexData\visualizations\2026\09\25\01a0d8cd-4545-75b0-ba43-922588deea1a\CAMP_representative_cases_v3\01_BRCA_ASNS_CAMP.pdf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  <a:p>
            <a:r>
              <a:t>插图由内置image_gen生成，仅为概念图，不是实际分子结构、蛋白结构或本队列机制证据。图片保留透明度并使用PPT原生裁剪，文字与箭头独立可编辑。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来源：D:\CodexData\visualizations\2026\09\25\01a0d8cd-4545-75b0-ba43-922588deea1a\CAMP_pages_06_07_v2\06_代谢异常到候选基因_v2.pdf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来源：D:\CodexData\visualizations\2026\09\25\01a0d8cd-4545-75b0-ba43-922588deea1a\CAMP_page07_patient_consistency_v4\07_代谢物同向与患者一致性.pdf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来源：D:\CodexData\visualizations\2026\09\25\01a0d8cd-4545-75b0-ba43-922588deea1a\CAMP_page08_patient_consistency_v3\08_候选基因同向与患者一致性.pdf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来源：D:\CodexData\visualizations\2026\09\25\01a0d8cd-4545-75b0-ba43-922588deea1a\CAMP_LYPLA1_metabolite_bridge_v2\09_代谢物如何指向LYPLA1.pdf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来源：D:\CodexData\visualizations\2026\09\25\01a0d8cd-4545-75b0-ba43-922588deea1a\CAMP_page09_LYPLA1_paired_v1\09_LYPLA1_四癌患者配对.pdf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来源：D:\CodexData\visualizations\2026\09\25\01a0d8cd-4545-75b0-ba43-922588deea1a\CAMP_four_cancer_singlecell_v3\11_BRCA_LYPLA1_全细胞与患者.pdf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来源：D:\CodexData\visualizations\2026\09\25\01a0d8cd-4545-75b0-ba43-922588deea1a\CAMP_four_cancer_singlecell_v3\12_COAD_LYPLA1_全细胞与患者.pdf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来源：D:\CodexData\visualizations\2026\09\25\01a0d8cd-4545-75b0-ba43-922588deea1a\CAMP_four_cancer_singlecell_v3\13_PDAC_LYPLA1_全细胞与患者.pdf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来源：D:\CodexData\visualizations\2026\09\25\01a0d8cd-4545-75b0-ba43-922588deea1a\CAMP_four_cancer_singlecell_v3\14_PRAD_LYPLA1_全细胞与患者.pdf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来源：D:\CodexData\visualizations\2026\09\25\01a0d8cd-4545-75b0-ba43-922588deea1a\CAMP_selected_spatial_v1\15_BRCA_LYPLA1_空间切片统一版.pdf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来源：D:\CodexData\visualizations\2026\09\25\01a0d8cd-4545-75b0-ba43-922588deea1a\CAMP_selected_spatial_v1\16_PRAD_LYPLA1_空间切片统一版.pdf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来源：D:\CodexData\visualizations\2026\09\25\01a0d8cd-4545-75b0-ba43-922588deea1a\CAMP_LYPLA1_recent_literature_v1\LYPLA1_近期研究进展.pdf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来源：D:\CodexData\visualizations\2026\09\25\01a0d8cd-4545-75b0-ba43-922588deea1a\CAMP_LYPLA1_evidence_summary_v2\LYPLA1_多层证据收拢.pdf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插图背景沿用用户认可的IMAGE封面下方校景意象及叶片，为装饰性插画，不是真实校园摄影。全部标题、副标题和标签为可编辑文字。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CAMP包含11癌种15数据集988组织标本。组学标本匹配与同患者肿瘤—正常配对分开核对。左侧为原文截图，右侧分子与DNA仅为组学示意，不表示数据或特定分子结构。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患者组织配对、对应标本的组学匹配分别成立才使用相应分析。示意组织使用非写实绘图。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队列和研究范围不变。器官图仅示意癌种；未修改原始科学数据或肿瘤亚型判断。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完整流程沿用前版：差异代谢物、身份核对、生化关系映射、候选池，后接三个并行证据模块。相关性不等于因果；同通路不等于直接关系。所有文字、箭头和卡片原生可编辑，插图为独立裁剪对象。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来源：D:\CodexData\visualizations\2026\09\25\01a0d8cd-4545-75b0-ba43-922588deea1a\CAMP_representative_cases_v3\11_COAD_UCKL1_CAMP.pdf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  <a:p>
            <a:r>
              <a:t>插图由内置image_gen生成，仅为概念图，不是实际分子结构、蛋白结构或本队列机制证据。图片保留透明度并使用PPT原生裁剪，文字与箭头独立可编辑。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来源：D:\CodexData\visualizations\2026\09\25\01a0d8cd-4545-75b0-ba43-922588deea1a\CAMP_representative_cases_v3\09_COAD_UCKL1_全细胞与患者.pdf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3.png"/><Relationship Id="rId4" Type="http://schemas.openxmlformats.org/officeDocument/2006/relationships/notesSlide" Target="../notesSlides/notesSlide1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4.png"/><Relationship Id="rId5" Type="http://schemas.openxmlformats.org/officeDocument/2006/relationships/notesSlide" Target="../notesSlides/notesSlide2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notesSlide" Target="../notesSlides/notesSlide2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5.png"/><Relationship Id="rId4" Type="http://schemas.openxmlformats.org/officeDocument/2006/relationships/notesSlide" Target="../notesSlides/notesSlide2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4.png"/><Relationship Id="rId4" Type="http://schemas.openxmlformats.org/officeDocument/2006/relationships/notesSlide" Target="../notesSlides/notesSlide2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11.xml"/><Relationship Id="rId7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12.xml"/><Relationship Id="rId7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13.xml"/><Relationship Id="rId7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14.xml"/><Relationship Id="rId7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image" Target="../media/image23.png"/><Relationship Id="rId12" Type="http://schemas.openxmlformats.org/officeDocument/2006/relationships/notesSlide" Target="../notesSlides/notesSlide15.xml"/><Relationship Id="rId1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31.png"/><Relationship Id="rId11" Type="http://schemas.openxmlformats.org/officeDocument/2006/relationships/image" Target="../media/image23.png"/><Relationship Id="rId12" Type="http://schemas.openxmlformats.org/officeDocument/2006/relationships/notesSlide" Target="../notesSlides/notesSlide16.xml"/><Relationship Id="rId1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18.xml"/><Relationship Id="rId4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1.png"/><Relationship Id="rId5" Type="http://schemas.openxmlformats.org/officeDocument/2006/relationships/image" Target="../media/image4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7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4.xml"/><Relationship Id="rId7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1.png"/><Relationship Id="rId5" Type="http://schemas.openxmlformats.org/officeDocument/2006/relationships/image" Target="../media/image4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8.png"/><Relationship Id="rId4" Type="http://schemas.openxmlformats.org/officeDocument/2006/relationships/image" Target="../media/image11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2.xml"/><Relationship Id="rId7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9.png"/><Relationship Id="rId4" Type="http://schemas.openxmlformats.org/officeDocument/2006/relationships/image" Target="../media/image13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1.xml"/><Relationship Id="rId7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24.xml"/><Relationship Id="rId4" Type="http://schemas.openxmlformats.org/officeDocument/2006/relationships/image" Target="../media/image1.png"/><Relationship Id="rId5" Type="http://schemas.openxmlformats.org/officeDocument/2006/relationships/image" Target="../media/image4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40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25.xml"/><Relationship Id="rId7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18872"/>
            <a:ext cx="1764792" cy="68580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1069848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27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621792" y="1691640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3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01</a:t>
            </a:r>
          </a:p>
        </p:txBody>
      </p:sp>
      <p:pic>
        <p:nvPicPr>
          <p:cNvPr id="9" name="Illustration crop: cover_reference.png" descr="cover_reference.png"/>
          <p:cNvPicPr>
            <a:picLocks noChangeAspect="1"/>
          </p:cNvPicPr>
          <p:nvPr/>
        </p:nvPicPr>
        <p:blipFill>
          <a:blip r:embed="rId3"/>
          <a:srcRect t="73220"/>
          <a:stretch>
            <a:fillRect/>
          </a:stretch>
        </p:blipFill>
        <p:spPr>
          <a:xfrm>
            <a:off x="0" y="5020275"/>
            <a:ext cx="12191695" cy="1837504"/>
          </a:xfrm>
          <a:prstGeom prst="rect">
            <a:avLst/>
          </a:prstGeom>
        </p:spPr>
      </p:pic>
      <p:pic>
        <p:nvPicPr>
          <p:cNvPr id="10" name="Illustration crop: cover_reference.png" descr="cover_reference.png"/>
          <p:cNvPicPr>
            <a:picLocks noChangeAspect="1"/>
          </p:cNvPicPr>
          <p:nvPr/>
        </p:nvPicPr>
        <p:blipFill>
          <a:blip r:embed="rId3"/>
          <a:srcRect l="71172" b="75770"/>
          <a:stretch>
            <a:fillRect/>
          </a:stretch>
        </p:blipFill>
        <p:spPr>
          <a:xfrm>
            <a:off x="8750808" y="3054"/>
            <a:ext cx="3447287" cy="163066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76656" y="1508760"/>
            <a:ext cx="1938528" cy="301752"/>
          </a:xfrm>
          <a:prstGeom prst="rect">
            <a:avLst/>
          </a:prstGeom>
          <a:solidFill>
            <a:srgbClr val="E7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559051"/>
            <a:ext cx="17922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1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CAMP · 多组学研究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2130552"/>
            <a:ext cx="1069848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35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基于 CAMP 多组学的</a:t>
            </a:r>
          </a:p>
          <a:p>
            <a:pPr algn="l">
              <a:spcAft>
                <a:spcPts val="700"/>
              </a:spcAft>
              <a:defRPr sz="35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泛癌潜在代谢靶点筛选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3730752"/>
            <a:ext cx="996696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23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以 LYPLA1 为重点的跨癌种证据分析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80560"/>
            <a:ext cx="978408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4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患者匹配  /  代谢物—基因关系  /  细胞与空间背景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18872"/>
            <a:ext cx="1764792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35440" y="384048"/>
            <a:ext cx="232257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1069848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27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CAMP 是什么？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91640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3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Cancer Atlas of Metabolic Profiles · 将代谢组与转录组放到同一研究框架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2276856"/>
            <a:ext cx="4992624" cy="3648456"/>
          </a:xfrm>
          <a:prstGeom prst="rect">
            <a:avLst/>
          </a:prstGeom>
          <a:solidFill>
            <a:srgbClr val="F3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2276856"/>
            <a:ext cx="41148" cy="3648456"/>
          </a:xfrm>
          <a:prstGeom prst="rect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llustration crop: paper_real.png" descr="imag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00655" y="2496312"/>
            <a:ext cx="4616608" cy="22128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41248" y="4983480"/>
            <a:ext cx="454456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9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Nature Metabolism · 2023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5477256"/>
            <a:ext cx="4526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2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Benedetti et al. · 原始论文截图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16752" y="2313432"/>
            <a:ext cx="5248656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20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整合肿瘤及参照组织的两种组学，</a:t>
            </a:r>
          </a:p>
          <a:p>
            <a:pPr algn="l">
              <a:spcAft>
                <a:spcPts val="700"/>
              </a:spcAft>
              <a:defRPr sz="20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研究代谢物与基因表达的共同变化。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3328" y="3538728"/>
            <a:ext cx="146304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32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53328" y="4133087"/>
            <a:ext cx="155448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3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类癌症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38728"/>
            <a:ext cx="146304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32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2127" y="4133087"/>
            <a:ext cx="155448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3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个数据集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38360" y="3538728"/>
            <a:ext cx="146304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32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988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4133087"/>
            <a:ext cx="155448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3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份组织标本</a:t>
            </a:r>
          </a:p>
        </p:txBody>
      </p:sp>
      <p:pic>
        <p:nvPicPr>
          <p:cNvPr id="21" name="Illustration crop: artwork.png" descr="artwork.png"/>
          <p:cNvPicPr>
            <a:picLocks noChangeAspect="1"/>
          </p:cNvPicPr>
          <p:nvPr/>
        </p:nvPicPr>
        <p:blipFill>
          <a:blip r:embed="rId4"/>
          <a:srcRect l="40039" r="34375" t="12695" b="52148"/>
          <a:stretch>
            <a:fillRect/>
          </a:stretch>
        </p:blipFill>
        <p:spPr>
          <a:xfrm>
            <a:off x="6232017" y="4645152"/>
            <a:ext cx="1297686" cy="1188720"/>
          </a:xfrm>
          <a:prstGeom prst="rect">
            <a:avLst/>
          </a:prstGeom>
        </p:spPr>
      </p:pic>
      <p:pic>
        <p:nvPicPr>
          <p:cNvPr id="22" name="Illustration crop: artwork.png" descr="artwork.png"/>
          <p:cNvPicPr>
            <a:picLocks noChangeAspect="1"/>
          </p:cNvPicPr>
          <p:nvPr/>
        </p:nvPicPr>
        <p:blipFill>
          <a:blip r:embed="rId4"/>
          <a:srcRect l="72266" r="3646" t="5859" b="42871"/>
          <a:stretch>
            <a:fillRect/>
          </a:stretch>
        </p:blipFill>
        <p:spPr>
          <a:xfrm>
            <a:off x="9909048" y="4590288"/>
            <a:ext cx="902207" cy="1280160"/>
          </a:xfrm>
          <a:prstGeom prst="rect">
            <a:avLst/>
          </a:prstGeom>
        </p:spPr>
      </p:pic>
      <p:cxnSp>
        <p:nvCxnSpPr>
          <p:cNvPr id="23" name="Connector 22"/>
          <p:cNvCxnSpPr/>
          <p:nvPr/>
        </p:nvCxnSpPr>
        <p:spPr>
          <a:xfrm>
            <a:off x="7680960" y="5230368"/>
            <a:ext cx="1901952" cy="0"/>
          </a:xfrm>
          <a:prstGeom prst="line">
            <a:avLst/>
          </a:prstGeom>
          <a:ln w="19050">
            <a:solidFill>
              <a:srgbClr val="89A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17536" y="4700016"/>
            <a:ext cx="19568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5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对应标本匹配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9248" y="5431536"/>
            <a:ext cx="2002536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2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代谢水平 ↔ 基因表达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12648" y="6300216"/>
            <a:ext cx="10972800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21792" y="6428232"/>
            <a:ext cx="101498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9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来源：Nature Metabolism 5, 1029–1044 (2023) · doi:10.1038/s42255-023-00817-8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18872"/>
            <a:ext cx="1764792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35440" y="384048"/>
            <a:ext cx="232257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1069848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27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为什么选择 CAMP？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91640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3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患者内配对减少个体差异；对应标本匹配连接代谢物与基因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2350008"/>
            <a:ext cx="3246120" cy="3593592"/>
          </a:xfrm>
          <a:prstGeom prst="rect">
            <a:avLst/>
          </a:prstGeom>
          <a:solidFill>
            <a:srgbClr val="F8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2350008"/>
            <a:ext cx="3246120" cy="530352"/>
          </a:xfrm>
          <a:prstGeom prst="rect">
            <a:avLst/>
          </a:prstGeom>
          <a:solidFill>
            <a:srgbClr val="E7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468880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8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7592" y="2487168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7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患者内组织配对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71416" y="2350008"/>
            <a:ext cx="3246120" cy="3593592"/>
          </a:xfrm>
          <a:prstGeom prst="rect">
            <a:avLst/>
          </a:prstGeom>
          <a:solidFill>
            <a:srgbClr val="F8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71416" y="2350008"/>
            <a:ext cx="3246120" cy="530352"/>
          </a:xfrm>
          <a:prstGeom prst="rect">
            <a:avLst/>
          </a:prstGeom>
          <a:solidFill>
            <a:srgbClr val="E7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2468880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8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2487168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7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对应标本组学匹配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2350008"/>
            <a:ext cx="3246120" cy="3593592"/>
          </a:xfrm>
          <a:prstGeom prst="rect">
            <a:avLst/>
          </a:prstGeom>
          <a:solidFill>
            <a:srgbClr val="F8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2350008"/>
            <a:ext cx="3246120" cy="530352"/>
          </a:xfrm>
          <a:prstGeom prst="rect">
            <a:avLst/>
          </a:prstGeom>
          <a:solidFill>
            <a:srgbClr val="E7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2468880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8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2487168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7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跨癌种覆盖</a:t>
            </a:r>
          </a:p>
        </p:txBody>
      </p:sp>
      <p:pic>
        <p:nvPicPr>
          <p:cNvPr id="21" name="Illustration crop: artwork.png" descr="artwork.png"/>
          <p:cNvPicPr>
            <a:picLocks noChangeAspect="1"/>
          </p:cNvPicPr>
          <p:nvPr/>
        </p:nvPicPr>
        <p:blipFill>
          <a:blip r:embed="rId3"/>
          <a:srcRect l="781" r="63867" t="1953" b="46289"/>
          <a:stretch>
            <a:fillRect/>
          </a:stretch>
        </p:blipFill>
        <p:spPr>
          <a:xfrm>
            <a:off x="1149435" y="3017520"/>
            <a:ext cx="2135969" cy="208483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719072" y="510235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2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肿瘤组织 / 参照组织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5486400"/>
            <a:ext cx="276148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5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以同一患者为自身参照</a:t>
            </a:r>
          </a:p>
        </p:txBody>
      </p:sp>
      <p:pic>
        <p:nvPicPr>
          <p:cNvPr id="24" name="Illustration crop: matching_reference.png" descr="matching_reference.png"/>
          <p:cNvPicPr>
            <a:picLocks noChangeAspect="1"/>
          </p:cNvPicPr>
          <p:nvPr/>
        </p:nvPicPr>
        <p:blipFill>
          <a:blip r:embed="rId4"/>
          <a:srcRect l="49043" r="40730" t="34857" b="53348"/>
          <a:stretch>
            <a:fillRect/>
          </a:stretch>
        </p:blipFill>
        <p:spPr>
          <a:xfrm>
            <a:off x="5504688" y="3080004"/>
            <a:ext cx="1216152" cy="789432"/>
          </a:xfrm>
          <a:prstGeom prst="rect">
            <a:avLst/>
          </a:prstGeom>
        </p:spPr>
      </p:pic>
      <p:cxnSp>
        <p:nvCxnSpPr>
          <p:cNvPr id="25" name="Connector 24"/>
          <p:cNvCxnSpPr/>
          <p:nvPr/>
        </p:nvCxnSpPr>
        <p:spPr>
          <a:xfrm flipH="1">
            <a:off x="5330952" y="3877056"/>
            <a:ext cx="786384" cy="310896"/>
          </a:xfrm>
          <a:prstGeom prst="line">
            <a:avLst/>
          </a:prstGeom>
          <a:ln w="1524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117336" y="3877056"/>
            <a:ext cx="795528" cy="310896"/>
          </a:xfrm>
          <a:prstGeom prst="line">
            <a:avLst/>
          </a:prstGeom>
          <a:ln w="1524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Illustration crop: artwork.png" descr="artwork.png"/>
          <p:cNvPicPr>
            <a:picLocks noChangeAspect="1"/>
          </p:cNvPicPr>
          <p:nvPr/>
        </p:nvPicPr>
        <p:blipFill>
          <a:blip r:embed="rId3"/>
          <a:srcRect l="40039" r="34375" t="12695" b="52148"/>
          <a:stretch>
            <a:fillRect/>
          </a:stretch>
        </p:blipFill>
        <p:spPr>
          <a:xfrm>
            <a:off x="4804371" y="4160520"/>
            <a:ext cx="1108024" cy="1014984"/>
          </a:xfrm>
          <a:prstGeom prst="rect">
            <a:avLst/>
          </a:prstGeom>
        </p:spPr>
      </p:pic>
      <p:pic>
        <p:nvPicPr>
          <p:cNvPr id="28" name="Illustration crop: artwork.png" descr="artwork.png"/>
          <p:cNvPicPr>
            <a:picLocks noChangeAspect="1"/>
          </p:cNvPicPr>
          <p:nvPr/>
        </p:nvPicPr>
        <p:blipFill>
          <a:blip r:embed="rId3"/>
          <a:srcRect l="72266" r="3646" t="5859" b="42871"/>
          <a:stretch>
            <a:fillRect/>
          </a:stretch>
        </p:blipFill>
        <p:spPr>
          <a:xfrm>
            <a:off x="6501384" y="4069265"/>
            <a:ext cx="850392" cy="120663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645152" y="5166360"/>
            <a:ext cx="13990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2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代谢组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51663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2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RNA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54296" y="5486400"/>
            <a:ext cx="2880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4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匹配肿瘤标本中的实测关联</a:t>
            </a:r>
          </a:p>
        </p:txBody>
      </p:sp>
      <p:pic>
        <p:nvPicPr>
          <p:cNvPr id="32" name="Illustration crop: matching_reference.png" descr="matching_reference.png"/>
          <p:cNvPicPr>
            <a:picLocks noChangeAspect="1"/>
          </p:cNvPicPr>
          <p:nvPr/>
        </p:nvPicPr>
        <p:blipFill>
          <a:blip r:embed="rId4"/>
          <a:srcRect l="76854" r="17464" t="29224" b="60680"/>
          <a:stretch>
            <a:fillRect/>
          </a:stretch>
        </p:blipFill>
        <p:spPr>
          <a:xfrm>
            <a:off x="8842248" y="2980944"/>
            <a:ext cx="539496" cy="53949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595360" y="3538727"/>
            <a:ext cx="103327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08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BRCA</a:t>
            </a:r>
          </a:p>
        </p:txBody>
      </p:sp>
      <p:pic>
        <p:nvPicPr>
          <p:cNvPr id="34" name="Illustration crop: matching_reference.png" descr="matching_reference.png"/>
          <p:cNvPicPr>
            <a:picLocks noChangeAspect="1"/>
          </p:cNvPicPr>
          <p:nvPr/>
        </p:nvPicPr>
        <p:blipFill>
          <a:blip r:embed="rId4"/>
          <a:srcRect l="87919" r="4904" t="29224" b="60680"/>
          <a:stretch>
            <a:fillRect/>
          </a:stretch>
        </p:blipFill>
        <p:spPr>
          <a:xfrm>
            <a:off x="10206869" y="2980944"/>
            <a:ext cx="681468" cy="53949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030968" y="3538727"/>
            <a:ext cx="103327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08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COAD</a:t>
            </a:r>
          </a:p>
        </p:txBody>
      </p:sp>
      <p:pic>
        <p:nvPicPr>
          <p:cNvPr id="36" name="Illustration crop: matching_reference.png" descr="matching_reference.png"/>
          <p:cNvPicPr>
            <a:picLocks noChangeAspect="1"/>
          </p:cNvPicPr>
          <p:nvPr/>
        </p:nvPicPr>
        <p:blipFill>
          <a:blip r:embed="rId4"/>
          <a:srcRect l="76555" r="16268" t="45165" b="44208"/>
          <a:stretch>
            <a:fillRect/>
          </a:stretch>
        </p:blipFill>
        <p:spPr>
          <a:xfrm>
            <a:off x="8788298" y="3730752"/>
            <a:ext cx="647395" cy="53949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595360" y="4288536"/>
            <a:ext cx="103327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08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GBM</a:t>
            </a:r>
          </a:p>
        </p:txBody>
      </p:sp>
      <p:pic>
        <p:nvPicPr>
          <p:cNvPr id="38" name="Illustration crop: matching_reference.png" descr="matching_reference.png"/>
          <p:cNvPicPr>
            <a:picLocks noChangeAspect="1"/>
          </p:cNvPicPr>
          <p:nvPr/>
        </p:nvPicPr>
        <p:blipFill>
          <a:blip r:embed="rId4"/>
          <a:srcRect l="87919" r="4306" t="45590" b="45271"/>
          <a:stretch>
            <a:fillRect/>
          </a:stretch>
        </p:blipFill>
        <p:spPr>
          <a:xfrm>
            <a:off x="10139845" y="3730752"/>
            <a:ext cx="815517" cy="539496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0030968" y="4288536"/>
            <a:ext cx="103327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08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PDAC</a:t>
            </a:r>
          </a:p>
        </p:txBody>
      </p:sp>
      <p:pic>
        <p:nvPicPr>
          <p:cNvPr id="40" name="Illustration crop: matching_reference.png" descr="matching_reference.png"/>
          <p:cNvPicPr>
            <a:picLocks noChangeAspect="1"/>
          </p:cNvPicPr>
          <p:nvPr/>
        </p:nvPicPr>
        <p:blipFill>
          <a:blip r:embed="rId4"/>
          <a:srcRect l="77751" r="16866" t="61105" b="30287"/>
          <a:stretch>
            <a:fillRect/>
          </a:stretch>
        </p:blipFill>
        <p:spPr>
          <a:xfrm>
            <a:off x="8812276" y="4480559"/>
            <a:ext cx="599440" cy="53949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595360" y="5038344"/>
            <a:ext cx="103327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08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PRAD</a:t>
            </a:r>
          </a:p>
        </p:txBody>
      </p:sp>
      <p:pic>
        <p:nvPicPr>
          <p:cNvPr id="42" name="Illustration crop: matching_reference.png" descr="matching_reference.png"/>
          <p:cNvPicPr>
            <a:picLocks noChangeAspect="1"/>
          </p:cNvPicPr>
          <p:nvPr/>
        </p:nvPicPr>
        <p:blipFill>
          <a:blip r:embed="rId4"/>
          <a:srcRect l="89354" r="5742" t="61105" b="30181"/>
          <a:stretch>
            <a:fillRect/>
          </a:stretch>
        </p:blipFill>
        <p:spPr>
          <a:xfrm>
            <a:off x="10277856" y="4480559"/>
            <a:ext cx="539496" cy="53949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030968" y="5038344"/>
            <a:ext cx="103327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08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ccRCC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94776" y="5486400"/>
            <a:ext cx="285292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4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比较共同方向与背景差异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12648" y="6300216"/>
            <a:ext cx="10972800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21792" y="6428232"/>
            <a:ext cx="101498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9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两类匹配分别核对；GBM 的跨来源参照单独解释。插图均为示意。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18872"/>
            <a:ext cx="1764792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35440" y="384048"/>
            <a:ext cx="232257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1069848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27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六癌种、七队列：按真实设计分别分析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91640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3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本项目使用 CAMP 子集；保留各队列的配对、参照与治疗背景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" y="2395728"/>
            <a:ext cx="3355848" cy="1435608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llustration crop: matching_reference.png" descr="matching_reference.png"/>
          <p:cNvPicPr>
            <a:picLocks noChangeAspect="1"/>
          </p:cNvPicPr>
          <p:nvPr/>
        </p:nvPicPr>
        <p:blipFill>
          <a:blip r:embed="rId3"/>
          <a:srcRect l="76854" r="17464" t="29224" b="60680"/>
          <a:stretch>
            <a:fillRect/>
          </a:stretch>
        </p:blipFill>
        <p:spPr>
          <a:xfrm>
            <a:off x="813815" y="2569464"/>
            <a:ext cx="1033271" cy="103327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029967" y="2560320"/>
            <a:ext cx="1810512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22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BRCA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2" y="3017520"/>
            <a:ext cx="17647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4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乳腺癌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9112" y="3465576"/>
            <a:ext cx="18105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019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患者内配对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9704" y="2395728"/>
            <a:ext cx="3355848" cy="1435608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Illustration crop: matching_reference.png" descr="matching_reference.png"/>
          <p:cNvPicPr>
            <a:picLocks noChangeAspect="1"/>
          </p:cNvPicPr>
          <p:nvPr/>
        </p:nvPicPr>
        <p:blipFill>
          <a:blip r:embed="rId3"/>
          <a:srcRect l="87919" r="4904" t="29224" b="60680"/>
          <a:stretch>
            <a:fillRect/>
          </a:stretch>
        </p:blipFill>
        <p:spPr>
          <a:xfrm>
            <a:off x="4654296" y="2662618"/>
            <a:ext cx="1069848" cy="84696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88736" y="2560320"/>
            <a:ext cx="1810512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22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3017520"/>
            <a:ext cx="17647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4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结肠癌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3465576"/>
            <a:ext cx="18105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019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患者内配对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48471" y="2395728"/>
            <a:ext cx="3355848" cy="1435608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Illustration crop: matching_reference.png" descr="matching_reference.png"/>
          <p:cNvPicPr>
            <a:picLocks noChangeAspect="1"/>
          </p:cNvPicPr>
          <p:nvPr/>
        </p:nvPicPr>
        <p:blipFill>
          <a:blip r:embed="rId3"/>
          <a:srcRect l="87919" r="4306" t="45590" b="45271"/>
          <a:stretch>
            <a:fillRect/>
          </a:stretch>
        </p:blipFill>
        <p:spPr>
          <a:xfrm>
            <a:off x="8513063" y="2732227"/>
            <a:ext cx="1069848" cy="70774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747503" y="2560320"/>
            <a:ext cx="1810512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22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PDAC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56647" y="3017520"/>
            <a:ext cx="17647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4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胰腺导管癌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6647" y="3465576"/>
            <a:ext cx="18105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019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患者内配对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" y="4087368"/>
            <a:ext cx="3355848" cy="1435608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Illustration crop: matching_reference.png" descr="matching_reference.png"/>
          <p:cNvPicPr>
            <a:picLocks noChangeAspect="1"/>
          </p:cNvPicPr>
          <p:nvPr/>
        </p:nvPicPr>
        <p:blipFill>
          <a:blip r:embed="rId3"/>
          <a:srcRect l="77751" r="16866" t="61105" b="30287"/>
          <a:stretch>
            <a:fillRect/>
          </a:stretch>
        </p:blipFill>
        <p:spPr>
          <a:xfrm>
            <a:off x="795527" y="4296308"/>
            <a:ext cx="1069848" cy="96286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029967" y="4251960"/>
            <a:ext cx="1810512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22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PRAD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39112" y="4709160"/>
            <a:ext cx="17647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4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前列腺癌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39112" y="5157216"/>
            <a:ext cx="18105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019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患者内配对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9704" y="4087368"/>
            <a:ext cx="3355848" cy="1435608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Illustration crop: matching_reference.png" descr="matching_reference.png"/>
          <p:cNvPicPr>
            <a:picLocks noChangeAspect="1"/>
          </p:cNvPicPr>
          <p:nvPr/>
        </p:nvPicPr>
        <p:blipFill>
          <a:blip r:embed="rId3"/>
          <a:srcRect l="89354" r="5742" t="61105" b="30181"/>
          <a:stretch>
            <a:fillRect/>
          </a:stretch>
        </p:blipFill>
        <p:spPr>
          <a:xfrm>
            <a:off x="4672583" y="4261104"/>
            <a:ext cx="1033271" cy="103327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888736" y="4251960"/>
            <a:ext cx="1810512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22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ccRCC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7880" y="4709160"/>
            <a:ext cx="17647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4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肾透明细胞癌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97880" y="5157216"/>
            <a:ext cx="18105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019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两个队列，分别分析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48471" y="4087368"/>
            <a:ext cx="3355848" cy="1435608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Illustration crop: matching_reference.png" descr="matching_reference.png"/>
          <p:cNvPicPr>
            <a:picLocks noChangeAspect="1"/>
          </p:cNvPicPr>
          <p:nvPr/>
        </p:nvPicPr>
        <p:blipFill>
          <a:blip r:embed="rId3"/>
          <a:srcRect l="76555" r="16268" t="45165" b="44208"/>
          <a:stretch>
            <a:fillRect/>
          </a:stretch>
        </p:blipFill>
        <p:spPr>
          <a:xfrm>
            <a:off x="8513063" y="4331970"/>
            <a:ext cx="1069848" cy="8915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747503" y="4251960"/>
            <a:ext cx="1810512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22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GBM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56647" y="4709160"/>
            <a:ext cx="17647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4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胶质母细胞瘤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56647" y="5157216"/>
            <a:ext cx="18105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019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非配对 · 跨来源参照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12648" y="6300216"/>
            <a:ext cx="10972800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21792" y="6428232"/>
            <a:ext cx="101498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9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ccRCC 两队列在癌种计数时仅计一次；LYPLA1 专题聚焦 BRCA、COAD、PDAC、PRAD。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18872"/>
            <a:ext cx="1764792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35440" y="384048"/>
            <a:ext cx="232257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1069848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27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从代谢物到候选基因：映射与证据并行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91640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3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生化知识提出候选，患者数据与细胞背景检验其研究价值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" y="2304288"/>
            <a:ext cx="2505456" cy="2093976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450592"/>
            <a:ext cx="222199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6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差异代谢物</a:t>
            </a:r>
          </a:p>
        </p:txBody>
      </p:sp>
      <p:pic>
        <p:nvPicPr>
          <p:cNvPr id="11" name="Illustration crop: artwork.png" descr="artwork.png"/>
          <p:cNvPicPr>
            <a:picLocks noChangeAspect="1"/>
          </p:cNvPicPr>
          <p:nvPr/>
        </p:nvPicPr>
        <p:blipFill>
          <a:blip r:embed="rId3"/>
          <a:srcRect l="40039" r="34375" t="12695" b="52148"/>
          <a:stretch>
            <a:fillRect/>
          </a:stretch>
        </p:blipFill>
        <p:spPr>
          <a:xfrm>
            <a:off x="1435607" y="2879487"/>
            <a:ext cx="850392" cy="7789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3822191"/>
            <a:ext cx="222199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17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癌种内肿瘤—参照</a:t>
            </a:r>
          </a:p>
          <a:p>
            <a:pPr algn="l">
              <a:spcAft>
                <a:spcPts val="700"/>
              </a:spcAft>
              <a:defRPr sz="117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名义 P &lt; 0.05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18688" y="3209544"/>
            <a:ext cx="237744" cy="192024"/>
          </a:xfrm>
          <a:prstGeom prst="rightArrow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8728" y="2304288"/>
            <a:ext cx="2505456" cy="2093976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5888" y="2450592"/>
            <a:ext cx="222199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6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身份与注释核对</a:t>
            </a:r>
          </a:p>
        </p:txBody>
      </p:sp>
      <p:pic>
        <p:nvPicPr>
          <p:cNvPr id="16" name="Illustration crop: artwork.png" descr="artwork.png"/>
          <p:cNvPicPr>
            <a:picLocks noChangeAspect="1"/>
          </p:cNvPicPr>
          <p:nvPr/>
        </p:nvPicPr>
        <p:blipFill>
          <a:blip r:embed="rId3"/>
          <a:srcRect l="40039" r="34375" t="12695" b="52148"/>
          <a:stretch>
            <a:fillRect/>
          </a:stretch>
        </p:blipFill>
        <p:spPr>
          <a:xfrm>
            <a:off x="3707168" y="2889504"/>
            <a:ext cx="888415" cy="813816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681728" y="3154680"/>
            <a:ext cx="1060704" cy="301752"/>
          </a:xfrm>
          <a:prstGeom prst="rect">
            <a:avLst/>
          </a:prstGeom>
          <a:solidFill>
            <a:srgbClr val="E7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3204972"/>
            <a:ext cx="914399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1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化学标识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5032" y="3822191"/>
            <a:ext cx="222199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17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名称、化学标识对齐</a:t>
            </a:r>
          </a:p>
          <a:p>
            <a:pPr algn="l">
              <a:spcAft>
                <a:spcPts val="700"/>
              </a:spcAft>
              <a:defRPr sz="117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异构体 / 混合峰另列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126480" y="3209544"/>
            <a:ext cx="237744" cy="192024"/>
          </a:xfrm>
          <a:prstGeom prst="rightArrow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46520" y="2304288"/>
            <a:ext cx="2505456" cy="2093976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2450592"/>
            <a:ext cx="222199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6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直接生化关系</a:t>
            </a:r>
          </a:p>
        </p:txBody>
      </p:sp>
      <p:pic>
        <p:nvPicPr>
          <p:cNvPr id="23" name="Illustration crop: artwork.png" descr="artwork.png"/>
          <p:cNvPicPr>
            <a:picLocks noChangeAspect="1"/>
          </p:cNvPicPr>
          <p:nvPr/>
        </p:nvPicPr>
        <p:blipFill>
          <a:blip r:embed="rId3"/>
          <a:srcRect l="651" r="67578" t="57324" b="1367"/>
          <a:stretch>
            <a:fillRect/>
          </a:stretch>
        </p:blipFill>
        <p:spPr>
          <a:xfrm>
            <a:off x="6580588" y="2880360"/>
            <a:ext cx="938870" cy="813815"/>
          </a:xfrm>
          <a:prstGeom prst="rect">
            <a:avLst/>
          </a:prstGeom>
        </p:spPr>
      </p:pic>
      <p:pic>
        <p:nvPicPr>
          <p:cNvPr id="24" name="Illustration crop: artwork.png" descr="artwork.png"/>
          <p:cNvPicPr>
            <a:picLocks noChangeAspect="1"/>
          </p:cNvPicPr>
          <p:nvPr/>
        </p:nvPicPr>
        <p:blipFill>
          <a:blip r:embed="rId3"/>
          <a:srcRect l="35677" r="33268" t="55957" b="1172"/>
          <a:stretch>
            <a:fillRect/>
          </a:stretch>
        </p:blipFill>
        <p:spPr>
          <a:xfrm>
            <a:off x="7823254" y="2862072"/>
            <a:ext cx="904131" cy="83210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592824" y="3822191"/>
            <a:ext cx="222199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17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反应底物 / 产物 · 转运</a:t>
            </a:r>
          </a:p>
          <a:p>
            <a:pPr algn="l">
              <a:spcAft>
                <a:spcPts val="700"/>
              </a:spcAft>
              <a:defRPr sz="117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必要复合体成员另注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034272" y="3209544"/>
            <a:ext cx="237744" cy="192024"/>
          </a:xfrm>
          <a:prstGeom prst="rightArrow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354312" y="2304288"/>
            <a:ext cx="2505456" cy="2093976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91472" y="2450592"/>
            <a:ext cx="222199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6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代谢物—基因候选池</a:t>
            </a:r>
          </a:p>
        </p:txBody>
      </p:sp>
      <p:pic>
        <p:nvPicPr>
          <p:cNvPr id="29" name="Illustration crop: artwork.png" descr="artwork.png"/>
          <p:cNvPicPr>
            <a:picLocks noChangeAspect="1"/>
          </p:cNvPicPr>
          <p:nvPr/>
        </p:nvPicPr>
        <p:blipFill>
          <a:blip r:embed="rId3"/>
          <a:srcRect l="40039" r="34375" t="12695" b="52148"/>
          <a:stretch>
            <a:fillRect/>
          </a:stretch>
        </p:blipFill>
        <p:spPr>
          <a:xfrm>
            <a:off x="9539020" y="2944368"/>
            <a:ext cx="718718" cy="658368"/>
          </a:xfrm>
          <a:prstGeom prst="rect">
            <a:avLst/>
          </a:prstGeom>
        </p:spPr>
      </p:pic>
      <p:sp>
        <p:nvSpPr>
          <p:cNvPr id="30" name="Right Arrow 29"/>
          <p:cNvSpPr/>
          <p:nvPr/>
        </p:nvSpPr>
        <p:spPr>
          <a:xfrm>
            <a:off x="10360152" y="3200400"/>
            <a:ext cx="320040" cy="192024"/>
          </a:xfrm>
          <a:prstGeom prst="rightArrow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Illustration crop: artwork.png" descr="artwork.png"/>
          <p:cNvPicPr>
            <a:picLocks noChangeAspect="1"/>
          </p:cNvPicPr>
          <p:nvPr/>
        </p:nvPicPr>
        <p:blipFill>
          <a:blip r:embed="rId3"/>
          <a:srcRect l="72266" r="3646" t="5859" b="42871"/>
          <a:stretch>
            <a:fillRect/>
          </a:stretch>
        </p:blipFill>
        <p:spPr>
          <a:xfrm>
            <a:off x="10860894" y="2825496"/>
            <a:ext cx="644434" cy="9144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500616" y="3822191"/>
            <a:ext cx="222199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17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按特征 × 基因去重</a:t>
            </a:r>
          </a:p>
          <a:p>
            <a:pPr algn="l">
              <a:spcAft>
                <a:spcPts val="700"/>
              </a:spcAft>
              <a:defRPr sz="117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条件性关系单列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607040" y="4416552"/>
            <a:ext cx="0" cy="274320"/>
          </a:xfrm>
          <a:prstGeom prst="line">
            <a:avLst/>
          </a:prstGeom>
          <a:ln w="1651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176272" y="4690872"/>
            <a:ext cx="8430768" cy="0"/>
          </a:xfrm>
          <a:prstGeom prst="line">
            <a:avLst/>
          </a:prstGeom>
          <a:ln w="1651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157984" y="4690872"/>
            <a:ext cx="0" cy="228600"/>
          </a:xfrm>
          <a:prstGeom prst="line">
            <a:avLst/>
          </a:prstGeom>
          <a:ln w="1651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40080" y="4928616"/>
            <a:ext cx="3108960" cy="941832"/>
          </a:xfrm>
          <a:prstGeom prst="rect">
            <a:avLst/>
          </a:prstGeom>
          <a:solidFill>
            <a:srgbClr val="FA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Illustration crop: artwork.png" descr="artwork.png"/>
          <p:cNvPicPr>
            <a:picLocks noChangeAspect="1"/>
          </p:cNvPicPr>
          <p:nvPr/>
        </p:nvPicPr>
        <p:blipFill>
          <a:blip r:embed="rId3"/>
          <a:srcRect l="72266" r="3646" t="5859" b="42871"/>
          <a:stretch>
            <a:fillRect/>
          </a:stretch>
        </p:blipFill>
        <p:spPr>
          <a:xfrm>
            <a:off x="847518" y="5047488"/>
            <a:ext cx="444659" cy="63093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517904" y="5093208"/>
            <a:ext cx="21671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34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RNA 是否改变？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17904" y="5550408"/>
            <a:ext cx="21031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05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组织表达 · 同患者方向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062472" y="4690872"/>
            <a:ext cx="0" cy="228600"/>
          </a:xfrm>
          <a:prstGeom prst="line">
            <a:avLst/>
          </a:prstGeom>
          <a:ln w="1651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4544568" y="4928616"/>
            <a:ext cx="3108960" cy="941832"/>
          </a:xfrm>
          <a:prstGeom prst="rect">
            <a:avLst/>
          </a:prstGeom>
          <a:solidFill>
            <a:srgbClr val="FA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Illustration crop: artwork.png" descr="artwork.png"/>
          <p:cNvPicPr>
            <a:picLocks noChangeAspect="1"/>
          </p:cNvPicPr>
          <p:nvPr/>
        </p:nvPicPr>
        <p:blipFill>
          <a:blip r:embed="rId3"/>
          <a:srcRect l="40039" r="34375" t="12695" b="52148"/>
          <a:stretch>
            <a:fillRect/>
          </a:stretch>
        </p:blipFill>
        <p:spPr>
          <a:xfrm>
            <a:off x="4636007" y="5053037"/>
            <a:ext cx="676656" cy="61983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422392" y="5093208"/>
            <a:ext cx="21671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34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代谢与 RNA 是否关联？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22392" y="5550408"/>
            <a:ext cx="21031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05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匹配肿瘤标本 · 实测关联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966960" y="4690872"/>
            <a:ext cx="0" cy="228600"/>
          </a:xfrm>
          <a:prstGeom prst="line">
            <a:avLst/>
          </a:prstGeom>
          <a:ln w="1651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8449056" y="4928616"/>
            <a:ext cx="3108960" cy="941832"/>
          </a:xfrm>
          <a:prstGeom prst="rect">
            <a:avLst/>
          </a:prstGeom>
          <a:solidFill>
            <a:srgbClr val="FA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Illustration crop: artwork.png" descr="artwork.png"/>
          <p:cNvPicPr>
            <a:picLocks noChangeAspect="1"/>
          </p:cNvPicPr>
          <p:nvPr/>
        </p:nvPicPr>
        <p:blipFill>
          <a:blip r:embed="rId3"/>
          <a:srcRect l="67188" r="260" t="60352" b="1172"/>
          <a:stretch>
            <a:fillRect/>
          </a:stretch>
        </p:blipFill>
        <p:spPr>
          <a:xfrm>
            <a:off x="8540496" y="5096353"/>
            <a:ext cx="676656" cy="53320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326880" y="5093208"/>
            <a:ext cx="21671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34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候选在哪里表达？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0" y="5550408"/>
            <a:ext cx="21031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05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单细胞定位 · 空间背景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12648" y="6300216"/>
            <a:ext cx="10972800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21792" y="6428232"/>
            <a:ext cx="101498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9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三类证据并行检查；不以相关显著作为唯一入场条件。插图为关系示意，不是实验数据。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able vector geometry"/>
          <p:cNvSpPr/>
          <p:nvPr/>
        </p:nvSpPr>
        <p:spPr>
          <a:xfrm>
            <a:off x="573024" y="2811779"/>
            <a:ext cx="11094719" cy="342899"/>
          </a:xfrm>
          <a:custGeom>
            <a:avLst/>
            <a:gdLst/>
            <a:ahLst/>
            <a:cxnLst/>
            <a:rect l="0" t="0" r="r" b="b"/>
            <a:pathLst>
              <a:path w="1048320" h="32400">
                <a:moveTo>
                  <a:pt x="0" y="0"/>
                </a:moveTo>
                <a:lnTo>
                  <a:pt x="1048320" y="0"/>
                </a:lnTo>
                <a:lnTo>
                  <a:pt x="1048320" y="32400"/>
                </a:lnTo>
                <a:lnTo>
                  <a:pt x="0" y="32400"/>
                </a:lnTo>
                <a:close/>
              </a:path>
            </a:pathLst>
          </a:custGeom>
          <a:solidFill>
            <a:srgbClr val="F7F9F7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4608575" y="2900934"/>
            <a:ext cx="402335" cy="150875"/>
          </a:xfrm>
          <a:custGeom>
            <a:avLst/>
            <a:gdLst/>
            <a:ahLst/>
            <a:cxnLst/>
            <a:rect l="0" t="0" r="r" b="b"/>
            <a:pathLst>
              <a:path w="38016" h="14256">
                <a:moveTo>
                  <a:pt x="0" y="0"/>
                </a:moveTo>
                <a:lnTo>
                  <a:pt x="38016" y="0"/>
                </a:lnTo>
                <a:lnTo>
                  <a:pt x="38016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468B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5010911" y="2900934"/>
            <a:ext cx="1335024" cy="150875"/>
          </a:xfrm>
          <a:custGeom>
            <a:avLst/>
            <a:gdLst/>
            <a:ahLst/>
            <a:cxnLst/>
            <a:rect l="0" t="0" r="r" b="b"/>
            <a:pathLst>
              <a:path w="126144" h="14256">
                <a:moveTo>
                  <a:pt x="0" y="0"/>
                </a:moveTo>
                <a:lnTo>
                  <a:pt x="126144" y="0"/>
                </a:lnTo>
                <a:lnTo>
                  <a:pt x="126144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C7746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4507991" y="3292983"/>
            <a:ext cx="502919" cy="150875"/>
          </a:xfrm>
          <a:custGeom>
            <a:avLst/>
            <a:gdLst/>
            <a:ahLst/>
            <a:cxnLst/>
            <a:rect l="0" t="0" r="r" b="b"/>
            <a:pathLst>
              <a:path w="47520" h="14256">
                <a:moveTo>
                  <a:pt x="0" y="0"/>
                </a:moveTo>
                <a:lnTo>
                  <a:pt x="47520" y="0"/>
                </a:lnTo>
                <a:lnTo>
                  <a:pt x="47520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468B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5010911" y="3292983"/>
            <a:ext cx="420624" cy="150875"/>
          </a:xfrm>
          <a:custGeom>
            <a:avLst/>
            <a:gdLst/>
            <a:ahLst/>
            <a:cxnLst/>
            <a:rect l="0" t="0" r="r" b="b"/>
            <a:pathLst>
              <a:path w="39744" h="14256">
                <a:moveTo>
                  <a:pt x="0" y="0"/>
                </a:moveTo>
                <a:lnTo>
                  <a:pt x="39744" y="0"/>
                </a:lnTo>
                <a:lnTo>
                  <a:pt x="39744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C7746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573024" y="3595878"/>
            <a:ext cx="11094719" cy="342899"/>
          </a:xfrm>
          <a:custGeom>
            <a:avLst/>
            <a:gdLst/>
            <a:ahLst/>
            <a:cxnLst/>
            <a:rect l="0" t="0" r="r" b="b"/>
            <a:pathLst>
              <a:path w="1048320" h="32400">
                <a:moveTo>
                  <a:pt x="0" y="0"/>
                </a:moveTo>
                <a:lnTo>
                  <a:pt x="1048320" y="0"/>
                </a:lnTo>
                <a:lnTo>
                  <a:pt x="1048320" y="32400"/>
                </a:lnTo>
                <a:lnTo>
                  <a:pt x="0" y="32400"/>
                </a:lnTo>
                <a:close/>
              </a:path>
            </a:pathLst>
          </a:custGeom>
          <a:solidFill>
            <a:srgbClr val="F7F9F7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2487167" y="3685031"/>
            <a:ext cx="2523743" cy="150876"/>
          </a:xfrm>
          <a:custGeom>
            <a:avLst/>
            <a:gdLst/>
            <a:ahLst/>
            <a:cxnLst/>
            <a:rect l="0" t="0" r="r" b="b"/>
            <a:pathLst>
              <a:path w="238464" h="14256">
                <a:moveTo>
                  <a:pt x="0" y="0"/>
                </a:moveTo>
                <a:lnTo>
                  <a:pt x="238464" y="0"/>
                </a:lnTo>
                <a:lnTo>
                  <a:pt x="238464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468B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vector geometry"/>
          <p:cNvSpPr/>
          <p:nvPr/>
        </p:nvSpPr>
        <p:spPr>
          <a:xfrm>
            <a:off x="5010911" y="3685031"/>
            <a:ext cx="1865376" cy="150876"/>
          </a:xfrm>
          <a:custGeom>
            <a:avLst/>
            <a:gdLst/>
            <a:ahLst/>
            <a:cxnLst/>
            <a:rect l="0" t="0" r="r" b="b"/>
            <a:pathLst>
              <a:path w="176256" h="14256">
                <a:moveTo>
                  <a:pt x="0" y="0"/>
                </a:moveTo>
                <a:lnTo>
                  <a:pt x="176256" y="0"/>
                </a:lnTo>
                <a:lnTo>
                  <a:pt x="176256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C7746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4654296" y="4077080"/>
            <a:ext cx="356615" cy="150876"/>
          </a:xfrm>
          <a:custGeom>
            <a:avLst/>
            <a:gdLst/>
            <a:ahLst/>
            <a:cxnLst/>
            <a:rect l="0" t="0" r="r" b="b"/>
            <a:pathLst>
              <a:path w="33696" h="14256">
                <a:moveTo>
                  <a:pt x="0" y="0"/>
                </a:moveTo>
                <a:lnTo>
                  <a:pt x="33696" y="0"/>
                </a:lnTo>
                <a:lnTo>
                  <a:pt x="33696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468B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5010911" y="4077080"/>
            <a:ext cx="109728" cy="150876"/>
          </a:xfrm>
          <a:custGeom>
            <a:avLst/>
            <a:gdLst/>
            <a:ahLst/>
            <a:cxnLst/>
            <a:rect l="0" t="0" r="r" b="b"/>
            <a:pathLst>
              <a:path w="10368" h="14256">
                <a:moveTo>
                  <a:pt x="0" y="0"/>
                </a:moveTo>
                <a:lnTo>
                  <a:pt x="10368" y="0"/>
                </a:lnTo>
                <a:lnTo>
                  <a:pt x="10368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C7746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573024" y="4379976"/>
            <a:ext cx="11094719" cy="342899"/>
          </a:xfrm>
          <a:custGeom>
            <a:avLst/>
            <a:gdLst/>
            <a:ahLst/>
            <a:cxnLst/>
            <a:rect l="0" t="0" r="r" b="b"/>
            <a:pathLst>
              <a:path w="1048320" h="32400">
                <a:moveTo>
                  <a:pt x="0" y="0"/>
                </a:moveTo>
                <a:lnTo>
                  <a:pt x="1048320" y="0"/>
                </a:lnTo>
                <a:lnTo>
                  <a:pt x="1048320" y="32400"/>
                </a:lnTo>
                <a:lnTo>
                  <a:pt x="0" y="32400"/>
                </a:lnTo>
                <a:close/>
              </a:path>
            </a:pathLst>
          </a:custGeom>
          <a:solidFill>
            <a:srgbClr val="F7F9F7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4617720" y="4469129"/>
            <a:ext cx="393191" cy="150876"/>
          </a:xfrm>
          <a:custGeom>
            <a:avLst/>
            <a:gdLst/>
            <a:ahLst/>
            <a:cxnLst/>
            <a:rect l="0" t="0" r="r" b="b"/>
            <a:pathLst>
              <a:path w="37152" h="14256">
                <a:moveTo>
                  <a:pt x="0" y="0"/>
                </a:moveTo>
                <a:lnTo>
                  <a:pt x="37152" y="0"/>
                </a:lnTo>
                <a:lnTo>
                  <a:pt x="37152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468B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5010911" y="4469129"/>
            <a:ext cx="237744" cy="150876"/>
          </a:xfrm>
          <a:custGeom>
            <a:avLst/>
            <a:gdLst/>
            <a:ahLst/>
            <a:cxnLst/>
            <a:rect l="0" t="0" r="r" b="b"/>
            <a:pathLst>
              <a:path w="22464" h="14256">
                <a:moveTo>
                  <a:pt x="0" y="0"/>
                </a:moveTo>
                <a:lnTo>
                  <a:pt x="22464" y="0"/>
                </a:lnTo>
                <a:lnTo>
                  <a:pt x="22464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C7746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2651759" y="4861179"/>
            <a:ext cx="2359151" cy="150876"/>
          </a:xfrm>
          <a:custGeom>
            <a:avLst/>
            <a:gdLst/>
            <a:ahLst/>
            <a:cxnLst/>
            <a:rect l="0" t="0" r="r" b="b"/>
            <a:pathLst>
              <a:path w="222912" h="14256">
                <a:moveTo>
                  <a:pt x="0" y="0"/>
                </a:moveTo>
                <a:lnTo>
                  <a:pt x="222912" y="0"/>
                </a:lnTo>
                <a:lnTo>
                  <a:pt x="222912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468B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vector geometry"/>
          <p:cNvSpPr/>
          <p:nvPr/>
        </p:nvSpPr>
        <p:spPr>
          <a:xfrm>
            <a:off x="5010911" y="4861179"/>
            <a:ext cx="1929384" cy="150876"/>
          </a:xfrm>
          <a:custGeom>
            <a:avLst/>
            <a:gdLst/>
            <a:ahLst/>
            <a:cxnLst/>
            <a:rect l="0" t="0" r="r" b="b"/>
            <a:pathLst>
              <a:path w="182304" h="14256">
                <a:moveTo>
                  <a:pt x="0" y="0"/>
                </a:moveTo>
                <a:lnTo>
                  <a:pt x="182304" y="0"/>
                </a:lnTo>
                <a:lnTo>
                  <a:pt x="182304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C7746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573024" y="5164074"/>
            <a:ext cx="11094719" cy="342899"/>
          </a:xfrm>
          <a:custGeom>
            <a:avLst/>
            <a:gdLst/>
            <a:ahLst/>
            <a:cxnLst/>
            <a:rect l="0" t="0" r="r" b="b"/>
            <a:pathLst>
              <a:path w="1048320" h="32400">
                <a:moveTo>
                  <a:pt x="0" y="0"/>
                </a:moveTo>
                <a:lnTo>
                  <a:pt x="1048320" y="0"/>
                </a:lnTo>
                <a:lnTo>
                  <a:pt x="1048320" y="32400"/>
                </a:lnTo>
                <a:lnTo>
                  <a:pt x="0" y="32400"/>
                </a:lnTo>
                <a:close/>
              </a:path>
            </a:pathLst>
          </a:custGeom>
          <a:solidFill>
            <a:srgbClr val="F7F9F7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2450592" y="5253227"/>
            <a:ext cx="2560319" cy="150876"/>
          </a:xfrm>
          <a:custGeom>
            <a:avLst/>
            <a:gdLst/>
            <a:ahLst/>
            <a:cxnLst/>
            <a:rect l="0" t="0" r="r" b="b"/>
            <a:pathLst>
              <a:path w="241920" h="14256">
                <a:moveTo>
                  <a:pt x="0" y="0"/>
                </a:moveTo>
                <a:lnTo>
                  <a:pt x="241920" y="0"/>
                </a:lnTo>
                <a:lnTo>
                  <a:pt x="241920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468B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5010911" y="5253227"/>
            <a:ext cx="1389888" cy="150876"/>
          </a:xfrm>
          <a:custGeom>
            <a:avLst/>
            <a:gdLst/>
            <a:ahLst/>
            <a:cxnLst/>
            <a:rect l="0" t="0" r="r" b="b"/>
            <a:pathLst>
              <a:path w="131328" h="14256">
                <a:moveTo>
                  <a:pt x="0" y="0"/>
                </a:moveTo>
                <a:lnTo>
                  <a:pt x="131328" y="0"/>
                </a:lnTo>
                <a:lnTo>
                  <a:pt x="131328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C7746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609599" y="2324861"/>
            <a:ext cx="7510271" cy="105"/>
          </a:xfrm>
          <a:custGeom>
            <a:avLst/>
            <a:gdLst/>
            <a:ahLst/>
            <a:cxnLst/>
            <a:rect l="0" t="0" r="r" b="b"/>
            <a:pathLst>
              <a:path w="709632" h="10">
                <a:moveTo>
                  <a:pt x="0" y="0"/>
                </a:moveTo>
                <a:lnTo>
                  <a:pt x="709632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8778240" y="2324861"/>
            <a:ext cx="2804160" cy="105"/>
          </a:xfrm>
          <a:custGeom>
            <a:avLst/>
            <a:gdLst/>
            <a:ahLst/>
            <a:cxnLst/>
            <a:rect l="0" t="0" r="r" b="b"/>
            <a:pathLst>
              <a:path w="264960" h="10">
                <a:moveTo>
                  <a:pt x="0" y="0"/>
                </a:moveTo>
                <a:lnTo>
                  <a:pt x="26496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5010911" y="2798064"/>
            <a:ext cx="105" cy="2695193"/>
          </a:xfrm>
          <a:custGeom>
            <a:avLst/>
            <a:gdLst/>
            <a:ahLst/>
            <a:cxnLst/>
            <a:rect l="0" t="0" r="r" b="b"/>
            <a:pathLst>
              <a:path w="10" h="254664">
                <a:moveTo>
                  <a:pt x="0" y="254664"/>
                </a:moveTo>
                <a:lnTo>
                  <a:pt x="0" y="0"/>
                </a:lnTo>
              </a:path>
            </a:pathLst>
          </a:custGeom>
          <a:noFill/>
          <a:ln w="9524">
            <a:solidFill>
              <a:srgbClr val="CDDAD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609599" y="6089904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text: 从代谢异常，走向候选基因"/>
          <p:cNvSpPr txBox="1"/>
          <p:nvPr/>
        </p:nvSpPr>
        <p:spPr>
          <a:xfrm>
            <a:off x="609599" y="1020128"/>
            <a:ext cx="4084637" cy="4986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5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从代谢异常，走向候选基因</a:t>
            </a:r>
          </a:p>
        </p:txBody>
      </p:sp>
      <p:sp>
        <p:nvSpPr>
          <p:cNvPr id="30" name="Editable text: 六癌七队列概况  ·  差异代谢特征 → 已映射特征 → 候选基因"/>
          <p:cNvSpPr txBox="1"/>
          <p:nvPr/>
        </p:nvSpPr>
        <p:spPr>
          <a:xfrm>
            <a:off x="633983" y="1567381"/>
            <a:ext cx="3866054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六癌七队列概况  ·  差异代谢特征 → 已映射特征 → 候选基因</a:t>
            </a:r>
          </a:p>
        </p:txBody>
      </p:sp>
      <p:sp>
        <p:nvSpPr>
          <p:cNvPr id="31" name="Editable text: 06"/>
          <p:cNvSpPr txBox="1"/>
          <p:nvPr/>
        </p:nvSpPr>
        <p:spPr>
          <a:xfrm>
            <a:off x="11399507" y="6478878"/>
            <a:ext cx="249512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06</a:t>
            </a:r>
          </a:p>
        </p:txBody>
      </p:sp>
      <p:sp>
        <p:nvSpPr>
          <p:cNvPr id="32" name="Editable text: 01"/>
          <p:cNvSpPr txBox="1"/>
          <p:nvPr/>
        </p:nvSpPr>
        <p:spPr>
          <a:xfrm>
            <a:off x="609599" y="2017571"/>
            <a:ext cx="213867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01</a:t>
            </a:r>
          </a:p>
        </p:txBody>
      </p:sp>
      <p:sp>
        <p:nvSpPr>
          <p:cNvPr id="33" name="Editable text: 代谢变化"/>
          <p:cNvSpPr txBox="1"/>
          <p:nvPr/>
        </p:nvSpPr>
        <p:spPr>
          <a:xfrm>
            <a:off x="1036319" y="1966837"/>
            <a:ext cx="847725" cy="289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代谢变化</a:t>
            </a:r>
          </a:p>
        </p:txBody>
      </p:sp>
      <p:sp>
        <p:nvSpPr>
          <p:cNvPr id="34" name="Editable text: 02"/>
          <p:cNvSpPr txBox="1"/>
          <p:nvPr/>
        </p:nvSpPr>
        <p:spPr>
          <a:xfrm>
            <a:off x="8778240" y="2017571"/>
            <a:ext cx="213867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02</a:t>
            </a:r>
          </a:p>
        </p:txBody>
      </p:sp>
      <p:sp>
        <p:nvSpPr>
          <p:cNvPr id="35" name="Editable text: 生化映射"/>
          <p:cNvSpPr txBox="1"/>
          <p:nvPr/>
        </p:nvSpPr>
        <p:spPr>
          <a:xfrm>
            <a:off x="9192767" y="1966837"/>
            <a:ext cx="847725" cy="289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生化映射</a:t>
            </a:r>
          </a:p>
        </p:txBody>
      </p:sp>
      <p:sp>
        <p:nvSpPr>
          <p:cNvPr id="36" name="Editable text: 癌种 / 可评估特征"/>
          <p:cNvSpPr txBox="1"/>
          <p:nvPr/>
        </p:nvSpPr>
        <p:spPr>
          <a:xfrm>
            <a:off x="609599" y="2484371"/>
            <a:ext cx="941117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癌种 / 可评估特征</a:t>
            </a:r>
          </a:p>
        </p:txBody>
      </p:sp>
      <p:sp>
        <p:nvSpPr>
          <p:cNvPr id="37" name="Editable text: 降低"/>
          <p:cNvSpPr txBox="1"/>
          <p:nvPr/>
        </p:nvSpPr>
        <p:spPr>
          <a:xfrm>
            <a:off x="3469639" y="2470199"/>
            <a:ext cx="31115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降低</a:t>
            </a:r>
          </a:p>
        </p:txBody>
      </p:sp>
      <p:sp>
        <p:nvSpPr>
          <p:cNvPr id="38" name="Editable text: 升高"/>
          <p:cNvSpPr txBox="1"/>
          <p:nvPr/>
        </p:nvSpPr>
        <p:spPr>
          <a:xfrm>
            <a:off x="6090920" y="2470199"/>
            <a:ext cx="31115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升高</a:t>
            </a:r>
          </a:p>
        </p:txBody>
      </p:sp>
      <p:sp>
        <p:nvSpPr>
          <p:cNvPr id="39" name="Editable text: 已映射特征"/>
          <p:cNvSpPr txBox="1"/>
          <p:nvPr/>
        </p:nvSpPr>
        <p:spPr>
          <a:xfrm>
            <a:off x="8999262" y="2478682"/>
            <a:ext cx="634470" cy="176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已映射特征</a:t>
            </a:r>
          </a:p>
        </p:txBody>
      </p:sp>
      <p:sp>
        <p:nvSpPr>
          <p:cNvPr id="40" name="Editable text: 候选基因"/>
          <p:cNvSpPr txBox="1"/>
          <p:nvPr/>
        </p:nvSpPr>
        <p:spPr>
          <a:xfrm>
            <a:off x="10813118" y="2478682"/>
            <a:ext cx="518053" cy="176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候选基因</a:t>
            </a:r>
          </a:p>
        </p:txBody>
      </p:sp>
      <p:sp>
        <p:nvSpPr>
          <p:cNvPr id="41" name="Editable text: BRCA"/>
          <p:cNvSpPr txBox="1"/>
          <p:nvPr/>
        </p:nvSpPr>
        <p:spPr>
          <a:xfrm>
            <a:off x="670560" y="2806681"/>
            <a:ext cx="549534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BRCA</a:t>
            </a:r>
          </a:p>
        </p:txBody>
      </p:sp>
      <p:sp>
        <p:nvSpPr>
          <p:cNvPr id="42" name="Editable text: 318 项可评估"/>
          <p:cNvSpPr txBox="1"/>
          <p:nvPr/>
        </p:nvSpPr>
        <p:spPr>
          <a:xfrm>
            <a:off x="670560" y="3014062"/>
            <a:ext cx="653923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318 项可评估</a:t>
            </a:r>
          </a:p>
        </p:txBody>
      </p:sp>
      <p:sp>
        <p:nvSpPr>
          <p:cNvPr id="43" name="Editable text: 44"/>
          <p:cNvSpPr txBox="1"/>
          <p:nvPr/>
        </p:nvSpPr>
        <p:spPr>
          <a:xfrm>
            <a:off x="4329184" y="2866338"/>
            <a:ext cx="231690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44</a:t>
            </a:r>
          </a:p>
        </p:txBody>
      </p:sp>
      <p:sp>
        <p:nvSpPr>
          <p:cNvPr id="44" name="Editable text: 146"/>
          <p:cNvSpPr txBox="1"/>
          <p:nvPr/>
        </p:nvSpPr>
        <p:spPr>
          <a:xfrm>
            <a:off x="6455664" y="2866338"/>
            <a:ext cx="31657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146</a:t>
            </a:r>
          </a:p>
        </p:txBody>
      </p:sp>
      <p:sp>
        <p:nvSpPr>
          <p:cNvPr id="45" name="Editable text: 93"/>
          <p:cNvSpPr txBox="1"/>
          <p:nvPr/>
        </p:nvSpPr>
        <p:spPr>
          <a:xfrm>
            <a:off x="9166280" y="2801888"/>
            <a:ext cx="338624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93</a:t>
            </a:r>
          </a:p>
        </p:txBody>
      </p:sp>
      <p:sp>
        <p:nvSpPr>
          <p:cNvPr id="46" name="Editable text: 150"/>
          <p:cNvSpPr txBox="1"/>
          <p:nvPr/>
        </p:nvSpPr>
        <p:spPr>
          <a:xfrm>
            <a:off x="10859917" y="2801888"/>
            <a:ext cx="462693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150</a:t>
            </a:r>
          </a:p>
        </p:txBody>
      </p:sp>
      <p:sp>
        <p:nvSpPr>
          <p:cNvPr id="47" name="Editable text: →"/>
          <p:cNvSpPr txBox="1"/>
          <p:nvPr/>
        </p:nvSpPr>
        <p:spPr>
          <a:xfrm>
            <a:off x="10088753" y="2835656"/>
            <a:ext cx="2301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B2C5B7"/>
                </a:solidFill>
                <a:latin typeface="Microsoft YaHei"/>
                <a:ea typeface="微软雅黑"/>
                <a:cs typeface="Microsoft YaHei"/>
              </a:defRPr>
            </a:pPr>
            <a:r>
              <a:t>→</a:t>
            </a:r>
          </a:p>
        </p:txBody>
      </p:sp>
      <p:sp>
        <p:nvSpPr>
          <p:cNvPr id="48" name="Editable text: COAD"/>
          <p:cNvSpPr txBox="1"/>
          <p:nvPr/>
        </p:nvSpPr>
        <p:spPr>
          <a:xfrm>
            <a:off x="670560" y="3198730"/>
            <a:ext cx="585331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COAD</a:t>
            </a:r>
          </a:p>
        </p:txBody>
      </p:sp>
      <p:sp>
        <p:nvSpPr>
          <p:cNvPr id="49" name="Editable text: 159 项可评估"/>
          <p:cNvSpPr txBox="1"/>
          <p:nvPr/>
        </p:nvSpPr>
        <p:spPr>
          <a:xfrm>
            <a:off x="670560" y="3406111"/>
            <a:ext cx="653923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159 项可评估</a:t>
            </a:r>
          </a:p>
        </p:txBody>
      </p:sp>
      <p:sp>
        <p:nvSpPr>
          <p:cNvPr id="50" name="Editable text: 55"/>
          <p:cNvSpPr txBox="1"/>
          <p:nvPr/>
        </p:nvSpPr>
        <p:spPr>
          <a:xfrm>
            <a:off x="4228600" y="3258387"/>
            <a:ext cx="231690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55</a:t>
            </a:r>
          </a:p>
        </p:txBody>
      </p:sp>
      <p:sp>
        <p:nvSpPr>
          <p:cNvPr id="51" name="Editable text: 46"/>
          <p:cNvSpPr txBox="1"/>
          <p:nvPr/>
        </p:nvSpPr>
        <p:spPr>
          <a:xfrm>
            <a:off x="5541263" y="3258387"/>
            <a:ext cx="231690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46</a:t>
            </a:r>
          </a:p>
        </p:txBody>
      </p:sp>
      <p:sp>
        <p:nvSpPr>
          <p:cNvPr id="52" name="Editable text: 78"/>
          <p:cNvSpPr txBox="1"/>
          <p:nvPr/>
        </p:nvSpPr>
        <p:spPr>
          <a:xfrm>
            <a:off x="9166280" y="3193937"/>
            <a:ext cx="338624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78</a:t>
            </a:r>
          </a:p>
        </p:txBody>
      </p:sp>
      <p:sp>
        <p:nvSpPr>
          <p:cNvPr id="53" name="Editable text: 526"/>
          <p:cNvSpPr txBox="1"/>
          <p:nvPr/>
        </p:nvSpPr>
        <p:spPr>
          <a:xfrm>
            <a:off x="10859917" y="3193937"/>
            <a:ext cx="462693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526</a:t>
            </a:r>
          </a:p>
        </p:txBody>
      </p:sp>
      <p:sp>
        <p:nvSpPr>
          <p:cNvPr id="54" name="Editable text: →"/>
          <p:cNvSpPr txBox="1"/>
          <p:nvPr/>
        </p:nvSpPr>
        <p:spPr>
          <a:xfrm>
            <a:off x="10088753" y="3227705"/>
            <a:ext cx="2301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B2C5B7"/>
                </a:solidFill>
                <a:latin typeface="Microsoft YaHei"/>
                <a:ea typeface="微软雅黑"/>
                <a:cs typeface="Microsoft YaHei"/>
              </a:defRPr>
            </a:pPr>
            <a:r>
              <a:t>→</a:t>
            </a:r>
          </a:p>
        </p:txBody>
      </p:sp>
      <p:sp>
        <p:nvSpPr>
          <p:cNvPr id="55" name="Editable text: GBM"/>
          <p:cNvSpPr txBox="1"/>
          <p:nvPr/>
        </p:nvSpPr>
        <p:spPr>
          <a:xfrm>
            <a:off x="670560" y="3590779"/>
            <a:ext cx="495638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GBM</a:t>
            </a:r>
          </a:p>
        </p:txBody>
      </p:sp>
      <p:sp>
        <p:nvSpPr>
          <p:cNvPr id="56" name="Editable text: 697 项可评估"/>
          <p:cNvSpPr txBox="1"/>
          <p:nvPr/>
        </p:nvSpPr>
        <p:spPr>
          <a:xfrm>
            <a:off x="670560" y="3798160"/>
            <a:ext cx="653923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697 项可评估</a:t>
            </a:r>
          </a:p>
        </p:txBody>
      </p:sp>
      <p:sp>
        <p:nvSpPr>
          <p:cNvPr id="57" name="Editable text: 276"/>
          <p:cNvSpPr txBox="1"/>
          <p:nvPr/>
        </p:nvSpPr>
        <p:spPr>
          <a:xfrm>
            <a:off x="2122943" y="3650436"/>
            <a:ext cx="31657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276</a:t>
            </a:r>
          </a:p>
        </p:txBody>
      </p:sp>
      <p:sp>
        <p:nvSpPr>
          <p:cNvPr id="58" name="Editable text: 204"/>
          <p:cNvSpPr txBox="1"/>
          <p:nvPr/>
        </p:nvSpPr>
        <p:spPr>
          <a:xfrm>
            <a:off x="6986016" y="3650436"/>
            <a:ext cx="31657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204</a:t>
            </a:r>
          </a:p>
        </p:txBody>
      </p:sp>
      <p:sp>
        <p:nvSpPr>
          <p:cNvPr id="59" name="Editable text: 23"/>
          <p:cNvSpPr txBox="1"/>
          <p:nvPr/>
        </p:nvSpPr>
        <p:spPr>
          <a:xfrm>
            <a:off x="9166280" y="3585986"/>
            <a:ext cx="338624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23</a:t>
            </a:r>
          </a:p>
        </p:txBody>
      </p:sp>
      <p:sp>
        <p:nvSpPr>
          <p:cNvPr id="60" name="Editable text: 142"/>
          <p:cNvSpPr txBox="1"/>
          <p:nvPr/>
        </p:nvSpPr>
        <p:spPr>
          <a:xfrm>
            <a:off x="10859917" y="3585986"/>
            <a:ext cx="462693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142</a:t>
            </a:r>
          </a:p>
        </p:txBody>
      </p:sp>
      <p:sp>
        <p:nvSpPr>
          <p:cNvPr id="61" name="Editable text: →"/>
          <p:cNvSpPr txBox="1"/>
          <p:nvPr/>
        </p:nvSpPr>
        <p:spPr>
          <a:xfrm>
            <a:off x="10088753" y="3619753"/>
            <a:ext cx="2301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B2C5B7"/>
                </a:solidFill>
                <a:latin typeface="Microsoft YaHei"/>
                <a:ea typeface="微软雅黑"/>
                <a:cs typeface="Microsoft YaHei"/>
              </a:defRPr>
            </a:pPr>
            <a:r>
              <a:t>→</a:t>
            </a:r>
          </a:p>
        </p:txBody>
      </p:sp>
      <p:sp>
        <p:nvSpPr>
          <p:cNvPr id="62" name="Editable text: PDAC"/>
          <p:cNvSpPr txBox="1"/>
          <p:nvPr/>
        </p:nvSpPr>
        <p:spPr>
          <a:xfrm>
            <a:off x="670560" y="3982828"/>
            <a:ext cx="557572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PDAC</a:t>
            </a:r>
          </a:p>
        </p:txBody>
      </p:sp>
      <p:sp>
        <p:nvSpPr>
          <p:cNvPr id="63" name="Editable text: 307 项可评估"/>
          <p:cNvSpPr txBox="1"/>
          <p:nvPr/>
        </p:nvSpPr>
        <p:spPr>
          <a:xfrm>
            <a:off x="670560" y="4190209"/>
            <a:ext cx="653923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307 项可评估</a:t>
            </a:r>
          </a:p>
        </p:txBody>
      </p:sp>
      <p:sp>
        <p:nvSpPr>
          <p:cNvPr id="64" name="Editable text: 39"/>
          <p:cNvSpPr txBox="1"/>
          <p:nvPr/>
        </p:nvSpPr>
        <p:spPr>
          <a:xfrm>
            <a:off x="4374903" y="4042485"/>
            <a:ext cx="231690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39</a:t>
            </a:r>
          </a:p>
        </p:txBody>
      </p:sp>
      <p:sp>
        <p:nvSpPr>
          <p:cNvPr id="65" name="Editable text: 12"/>
          <p:cNvSpPr txBox="1"/>
          <p:nvPr/>
        </p:nvSpPr>
        <p:spPr>
          <a:xfrm>
            <a:off x="5230368" y="4042485"/>
            <a:ext cx="231690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12</a:t>
            </a:r>
          </a:p>
        </p:txBody>
      </p:sp>
      <p:sp>
        <p:nvSpPr>
          <p:cNvPr id="66" name="Editable text: 30"/>
          <p:cNvSpPr txBox="1"/>
          <p:nvPr/>
        </p:nvSpPr>
        <p:spPr>
          <a:xfrm>
            <a:off x="9166280" y="3978035"/>
            <a:ext cx="338624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30</a:t>
            </a:r>
          </a:p>
        </p:txBody>
      </p:sp>
      <p:sp>
        <p:nvSpPr>
          <p:cNvPr id="67" name="Editable text: 250"/>
          <p:cNvSpPr txBox="1"/>
          <p:nvPr/>
        </p:nvSpPr>
        <p:spPr>
          <a:xfrm>
            <a:off x="10859917" y="3978035"/>
            <a:ext cx="462693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250</a:t>
            </a:r>
          </a:p>
        </p:txBody>
      </p:sp>
      <p:sp>
        <p:nvSpPr>
          <p:cNvPr id="68" name="Editable text: →"/>
          <p:cNvSpPr txBox="1"/>
          <p:nvPr/>
        </p:nvSpPr>
        <p:spPr>
          <a:xfrm>
            <a:off x="10088753" y="4011802"/>
            <a:ext cx="2301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B2C5B7"/>
                </a:solidFill>
                <a:latin typeface="Microsoft YaHei"/>
                <a:ea typeface="微软雅黑"/>
                <a:cs typeface="Microsoft YaHei"/>
              </a:defRPr>
            </a:pPr>
            <a:r>
              <a:t>→</a:t>
            </a:r>
          </a:p>
        </p:txBody>
      </p:sp>
      <p:sp>
        <p:nvSpPr>
          <p:cNvPr id="69" name="Editable text: PRAD"/>
          <p:cNvSpPr txBox="1"/>
          <p:nvPr/>
        </p:nvSpPr>
        <p:spPr>
          <a:xfrm>
            <a:off x="670560" y="4374877"/>
            <a:ext cx="567097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PRAD</a:t>
            </a:r>
          </a:p>
        </p:txBody>
      </p:sp>
      <p:sp>
        <p:nvSpPr>
          <p:cNvPr id="70" name="Editable text: 361 项可评估"/>
          <p:cNvSpPr txBox="1"/>
          <p:nvPr/>
        </p:nvSpPr>
        <p:spPr>
          <a:xfrm>
            <a:off x="670560" y="4582258"/>
            <a:ext cx="653923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361 项可评估</a:t>
            </a:r>
          </a:p>
        </p:txBody>
      </p:sp>
      <p:sp>
        <p:nvSpPr>
          <p:cNvPr id="71" name="Editable text: 43"/>
          <p:cNvSpPr txBox="1"/>
          <p:nvPr/>
        </p:nvSpPr>
        <p:spPr>
          <a:xfrm>
            <a:off x="4338327" y="4434534"/>
            <a:ext cx="231690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43</a:t>
            </a:r>
          </a:p>
        </p:txBody>
      </p:sp>
      <p:sp>
        <p:nvSpPr>
          <p:cNvPr id="72" name="Editable text: 26"/>
          <p:cNvSpPr txBox="1"/>
          <p:nvPr/>
        </p:nvSpPr>
        <p:spPr>
          <a:xfrm>
            <a:off x="5358383" y="4434534"/>
            <a:ext cx="231690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26</a:t>
            </a:r>
          </a:p>
        </p:txBody>
      </p:sp>
      <p:sp>
        <p:nvSpPr>
          <p:cNvPr id="73" name="Editable text: 48"/>
          <p:cNvSpPr txBox="1"/>
          <p:nvPr/>
        </p:nvSpPr>
        <p:spPr>
          <a:xfrm>
            <a:off x="9166280" y="4370084"/>
            <a:ext cx="338624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48</a:t>
            </a:r>
          </a:p>
        </p:txBody>
      </p:sp>
      <p:sp>
        <p:nvSpPr>
          <p:cNvPr id="74" name="Editable text: 101"/>
          <p:cNvSpPr txBox="1"/>
          <p:nvPr/>
        </p:nvSpPr>
        <p:spPr>
          <a:xfrm>
            <a:off x="10859917" y="4370084"/>
            <a:ext cx="462693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101</a:t>
            </a:r>
          </a:p>
        </p:txBody>
      </p:sp>
      <p:sp>
        <p:nvSpPr>
          <p:cNvPr id="75" name="Editable text: →"/>
          <p:cNvSpPr txBox="1"/>
          <p:nvPr/>
        </p:nvSpPr>
        <p:spPr>
          <a:xfrm>
            <a:off x="10088753" y="4403851"/>
            <a:ext cx="2301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B2C5B7"/>
                </a:solidFill>
                <a:latin typeface="Microsoft YaHei"/>
                <a:ea typeface="微软雅黑"/>
                <a:cs typeface="Microsoft YaHei"/>
              </a:defRPr>
            </a:pPr>
            <a:r>
              <a:t>→</a:t>
            </a:r>
          </a:p>
        </p:txBody>
      </p:sp>
      <p:sp>
        <p:nvSpPr>
          <p:cNvPr id="76" name="Editable text: ccRCC3"/>
          <p:cNvSpPr txBox="1"/>
          <p:nvPr/>
        </p:nvSpPr>
        <p:spPr>
          <a:xfrm>
            <a:off x="670560" y="4766926"/>
            <a:ext cx="694610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ccRCC3</a:t>
            </a:r>
          </a:p>
        </p:txBody>
      </p:sp>
      <p:sp>
        <p:nvSpPr>
          <p:cNvPr id="77" name="Editable text: 711 项可评估"/>
          <p:cNvSpPr txBox="1"/>
          <p:nvPr/>
        </p:nvSpPr>
        <p:spPr>
          <a:xfrm>
            <a:off x="670560" y="4974307"/>
            <a:ext cx="653923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711 项可评估</a:t>
            </a:r>
          </a:p>
        </p:txBody>
      </p:sp>
      <p:sp>
        <p:nvSpPr>
          <p:cNvPr id="78" name="Editable text: 258"/>
          <p:cNvSpPr txBox="1"/>
          <p:nvPr/>
        </p:nvSpPr>
        <p:spPr>
          <a:xfrm>
            <a:off x="2287535" y="4826583"/>
            <a:ext cx="31657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258</a:t>
            </a:r>
          </a:p>
        </p:txBody>
      </p:sp>
      <p:sp>
        <p:nvSpPr>
          <p:cNvPr id="79" name="Editable text: 211"/>
          <p:cNvSpPr txBox="1"/>
          <p:nvPr/>
        </p:nvSpPr>
        <p:spPr>
          <a:xfrm>
            <a:off x="7050023" y="4826583"/>
            <a:ext cx="31657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211</a:t>
            </a:r>
          </a:p>
        </p:txBody>
      </p:sp>
      <p:sp>
        <p:nvSpPr>
          <p:cNvPr id="80" name="Editable text: 68"/>
          <p:cNvSpPr txBox="1"/>
          <p:nvPr/>
        </p:nvSpPr>
        <p:spPr>
          <a:xfrm>
            <a:off x="9166280" y="4762133"/>
            <a:ext cx="338624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68</a:t>
            </a:r>
          </a:p>
        </p:txBody>
      </p:sp>
      <p:sp>
        <p:nvSpPr>
          <p:cNvPr id="81" name="Editable text: 144"/>
          <p:cNvSpPr txBox="1"/>
          <p:nvPr/>
        </p:nvSpPr>
        <p:spPr>
          <a:xfrm>
            <a:off x="10859917" y="4762133"/>
            <a:ext cx="462693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144</a:t>
            </a:r>
          </a:p>
        </p:txBody>
      </p:sp>
      <p:sp>
        <p:nvSpPr>
          <p:cNvPr id="82" name="Editable text: →"/>
          <p:cNvSpPr txBox="1"/>
          <p:nvPr/>
        </p:nvSpPr>
        <p:spPr>
          <a:xfrm>
            <a:off x="10088753" y="4795901"/>
            <a:ext cx="2301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B2C5B7"/>
                </a:solidFill>
                <a:latin typeface="Microsoft YaHei"/>
                <a:ea typeface="微软雅黑"/>
                <a:cs typeface="Microsoft YaHei"/>
              </a:defRPr>
            </a:pPr>
            <a:r>
              <a:t>→</a:t>
            </a:r>
          </a:p>
        </p:txBody>
      </p:sp>
      <p:sp>
        <p:nvSpPr>
          <p:cNvPr id="83" name="Editable text: ccRCC4"/>
          <p:cNvSpPr txBox="1"/>
          <p:nvPr/>
        </p:nvSpPr>
        <p:spPr>
          <a:xfrm>
            <a:off x="670560" y="5158975"/>
            <a:ext cx="694610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ccRCC4</a:t>
            </a:r>
          </a:p>
        </p:txBody>
      </p:sp>
      <p:sp>
        <p:nvSpPr>
          <p:cNvPr id="84" name="Editable text: 904 项可评估"/>
          <p:cNvSpPr txBox="1"/>
          <p:nvPr/>
        </p:nvSpPr>
        <p:spPr>
          <a:xfrm>
            <a:off x="670560" y="5366356"/>
            <a:ext cx="653923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904 项可评估</a:t>
            </a:r>
          </a:p>
        </p:txBody>
      </p:sp>
      <p:sp>
        <p:nvSpPr>
          <p:cNvPr id="85" name="Editable text: 280"/>
          <p:cNvSpPr txBox="1"/>
          <p:nvPr/>
        </p:nvSpPr>
        <p:spPr>
          <a:xfrm>
            <a:off x="2086367" y="5218632"/>
            <a:ext cx="31657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280</a:t>
            </a:r>
          </a:p>
        </p:txBody>
      </p:sp>
      <p:sp>
        <p:nvSpPr>
          <p:cNvPr id="86" name="Editable text: 152"/>
          <p:cNvSpPr txBox="1"/>
          <p:nvPr/>
        </p:nvSpPr>
        <p:spPr>
          <a:xfrm>
            <a:off x="6510528" y="5218632"/>
            <a:ext cx="31657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152</a:t>
            </a:r>
          </a:p>
        </p:txBody>
      </p:sp>
      <p:sp>
        <p:nvSpPr>
          <p:cNvPr id="87" name="Editable text: 44"/>
          <p:cNvSpPr txBox="1"/>
          <p:nvPr/>
        </p:nvSpPr>
        <p:spPr>
          <a:xfrm>
            <a:off x="9166280" y="5154182"/>
            <a:ext cx="338624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44</a:t>
            </a:r>
          </a:p>
        </p:txBody>
      </p:sp>
      <p:sp>
        <p:nvSpPr>
          <p:cNvPr id="88" name="Editable text: 95"/>
          <p:cNvSpPr txBox="1"/>
          <p:nvPr/>
        </p:nvSpPr>
        <p:spPr>
          <a:xfrm>
            <a:off x="10921928" y="5154182"/>
            <a:ext cx="338624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95</a:t>
            </a:r>
          </a:p>
        </p:txBody>
      </p:sp>
      <p:sp>
        <p:nvSpPr>
          <p:cNvPr id="89" name="Editable text: →"/>
          <p:cNvSpPr txBox="1"/>
          <p:nvPr/>
        </p:nvSpPr>
        <p:spPr>
          <a:xfrm>
            <a:off x="10088753" y="5187950"/>
            <a:ext cx="2301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B2C5B7"/>
                </a:solidFill>
                <a:latin typeface="Microsoft YaHei"/>
                <a:ea typeface="微软雅黑"/>
                <a:cs typeface="Microsoft YaHei"/>
              </a:defRPr>
            </a:pPr>
            <a:r>
              <a:t>→</a:t>
            </a:r>
          </a:p>
        </p:txBody>
      </p:sp>
      <p:sp>
        <p:nvSpPr>
          <p:cNvPr id="90" name="Editable text: 300"/>
          <p:cNvSpPr txBox="1"/>
          <p:nvPr/>
        </p:nvSpPr>
        <p:spPr>
          <a:xfrm>
            <a:off x="2174694" y="5566408"/>
            <a:ext cx="233680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300</a:t>
            </a:r>
          </a:p>
        </p:txBody>
      </p:sp>
      <p:sp>
        <p:nvSpPr>
          <p:cNvPr id="91" name="Editable text: 150"/>
          <p:cNvSpPr txBox="1"/>
          <p:nvPr/>
        </p:nvSpPr>
        <p:spPr>
          <a:xfrm>
            <a:off x="3546294" y="5566408"/>
            <a:ext cx="233679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150</a:t>
            </a:r>
          </a:p>
        </p:txBody>
      </p:sp>
      <p:sp>
        <p:nvSpPr>
          <p:cNvPr id="92" name="Editable text: 0"/>
          <p:cNvSpPr txBox="1"/>
          <p:nvPr/>
        </p:nvSpPr>
        <p:spPr>
          <a:xfrm>
            <a:off x="4979905" y="5566408"/>
            <a:ext cx="10964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</a:t>
            </a:r>
          </a:p>
        </p:txBody>
      </p:sp>
      <p:sp>
        <p:nvSpPr>
          <p:cNvPr id="93" name="Editable text: 150"/>
          <p:cNvSpPr txBox="1"/>
          <p:nvPr/>
        </p:nvSpPr>
        <p:spPr>
          <a:xfrm>
            <a:off x="6289494" y="5566408"/>
            <a:ext cx="233679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150</a:t>
            </a:r>
          </a:p>
        </p:txBody>
      </p:sp>
      <p:sp>
        <p:nvSpPr>
          <p:cNvPr id="94" name="Editable text: 300"/>
          <p:cNvSpPr txBox="1"/>
          <p:nvPr/>
        </p:nvSpPr>
        <p:spPr>
          <a:xfrm>
            <a:off x="7661094" y="5566408"/>
            <a:ext cx="233679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300</a:t>
            </a:r>
          </a:p>
        </p:txBody>
      </p:sp>
      <p:sp>
        <p:nvSpPr>
          <p:cNvPr id="95" name="Editable text: P &lt; 0.05 的代谢特征数"/>
          <p:cNvSpPr txBox="1"/>
          <p:nvPr/>
        </p:nvSpPr>
        <p:spPr>
          <a:xfrm>
            <a:off x="4414772" y="5777380"/>
            <a:ext cx="1244610" cy="176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P &lt; 0.05 的代谢特征数</a:t>
            </a:r>
          </a:p>
        </p:txBody>
      </p:sp>
      <p:sp>
        <p:nvSpPr>
          <p:cNvPr id="96" name="Editable text: 仅统计有直接生化关系的候选"/>
          <p:cNvSpPr txBox="1"/>
          <p:nvPr/>
        </p:nvSpPr>
        <p:spPr>
          <a:xfrm>
            <a:off x="8778240" y="5597903"/>
            <a:ext cx="1494631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仅统计有直接生化关系的候选</a:t>
            </a:r>
          </a:p>
        </p:txBody>
      </p:sp>
      <p:sp>
        <p:nvSpPr>
          <p:cNvPr id="97" name="Editable text: 队列覆盖与映射范围不同，数量不代表癌种异常程度。"/>
          <p:cNvSpPr txBox="1"/>
          <p:nvPr/>
        </p:nvSpPr>
        <p:spPr>
          <a:xfrm>
            <a:off x="609599" y="6235241"/>
            <a:ext cx="310515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队列覆盖与映射范围不同，数量不代表癌种异常程度。</a:t>
            </a:r>
          </a:p>
        </p:txBody>
      </p:sp>
      <p:sp>
        <p:nvSpPr>
          <p:cNvPr id="98" name="Editable text: 名义 P &lt; 0.05；GBM 非配对，其余按患者配对；ccRCC 两队列分列。"/>
          <p:cNvSpPr txBox="1"/>
          <p:nvPr/>
        </p:nvSpPr>
        <p:spPr>
          <a:xfrm>
            <a:off x="609599" y="6525358"/>
            <a:ext cx="3175230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名义 P &lt; 0.05；GBM 非配对，其余按患者配对；ccRCC 两队列分列。</a:t>
            </a:r>
          </a:p>
        </p:txBody>
      </p:sp>
      <p:pic>
        <p:nvPicPr>
          <p:cNvPr id="99" name="Picture 98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609599" y="2519110"/>
            <a:ext cx="10972800" cy="295185"/>
          </a:xfrm>
          <a:custGeom>
            <a:avLst/>
            <a:gdLst/>
            <a:ahLst/>
            <a:cxnLst/>
            <a:rect l="0" t="0" r="r" b="b"/>
            <a:pathLst>
              <a:path w="1036800" h="27892">
                <a:moveTo>
                  <a:pt x="0" y="0"/>
                </a:moveTo>
                <a:lnTo>
                  <a:pt x="0" y="27892"/>
                </a:lnTo>
                <a:lnTo>
                  <a:pt x="1036800" y="27892"/>
                </a:lnTo>
                <a:lnTo>
                  <a:pt x="1036800" y="0"/>
                </a:lnTo>
                <a:close/>
              </a:path>
            </a:pathLst>
          </a:custGeom>
          <a:solidFill>
            <a:srgbClr val="F5F8F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609599" y="3189986"/>
            <a:ext cx="10972800" cy="295185"/>
          </a:xfrm>
          <a:custGeom>
            <a:avLst/>
            <a:gdLst/>
            <a:ahLst/>
            <a:cxnLst/>
            <a:rect l="0" t="0" r="r" b="b"/>
            <a:pathLst>
              <a:path w="1036800" h="27892">
                <a:moveTo>
                  <a:pt x="0" y="0"/>
                </a:moveTo>
                <a:lnTo>
                  <a:pt x="0" y="27892"/>
                </a:lnTo>
                <a:lnTo>
                  <a:pt x="1036800" y="27892"/>
                </a:lnTo>
                <a:lnTo>
                  <a:pt x="1036800" y="0"/>
                </a:lnTo>
                <a:close/>
              </a:path>
            </a:pathLst>
          </a:custGeom>
          <a:solidFill>
            <a:srgbClr val="F5F8F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609599" y="3860862"/>
            <a:ext cx="10972800" cy="295185"/>
          </a:xfrm>
          <a:custGeom>
            <a:avLst/>
            <a:gdLst/>
            <a:ahLst/>
            <a:cxnLst/>
            <a:rect l="0" t="0" r="r" b="b"/>
            <a:pathLst>
              <a:path w="1036800" h="27892">
                <a:moveTo>
                  <a:pt x="0" y="0"/>
                </a:moveTo>
                <a:lnTo>
                  <a:pt x="0" y="27892"/>
                </a:lnTo>
                <a:lnTo>
                  <a:pt x="1036800" y="27892"/>
                </a:lnTo>
                <a:lnTo>
                  <a:pt x="1036800" y="0"/>
                </a:lnTo>
                <a:close/>
              </a:path>
            </a:pathLst>
          </a:custGeom>
          <a:solidFill>
            <a:srgbClr val="F5F8F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609599" y="4531737"/>
            <a:ext cx="10972800" cy="295185"/>
          </a:xfrm>
          <a:custGeom>
            <a:avLst/>
            <a:gdLst/>
            <a:ahLst/>
            <a:cxnLst/>
            <a:rect l="0" t="0" r="r" b="b"/>
            <a:pathLst>
              <a:path w="1036800" h="27892">
                <a:moveTo>
                  <a:pt x="0" y="0"/>
                </a:moveTo>
                <a:lnTo>
                  <a:pt x="0" y="27892"/>
                </a:lnTo>
                <a:lnTo>
                  <a:pt x="1036800" y="27892"/>
                </a:lnTo>
                <a:lnTo>
                  <a:pt x="1036800" y="0"/>
                </a:lnTo>
                <a:close/>
              </a:path>
            </a:pathLst>
          </a:custGeom>
          <a:solidFill>
            <a:srgbClr val="F5F8F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3075376" y="260873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3688024" y="260873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vector geometry"/>
          <p:cNvSpPr/>
          <p:nvPr/>
        </p:nvSpPr>
        <p:spPr>
          <a:xfrm>
            <a:off x="4300672" y="260873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4913320" y="260873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5525968" y="260873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6138616" y="260873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6751264" y="260873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075376" y="294417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3688024" y="294417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vector geometry"/>
          <p:cNvSpPr/>
          <p:nvPr/>
        </p:nvSpPr>
        <p:spPr>
          <a:xfrm>
            <a:off x="4300672" y="294417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5525968" y="294417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6138616" y="294417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6751264" y="294417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075376" y="327961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4913320" y="327961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5525968" y="327961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6138616" y="327961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6751264" y="327961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3075376" y="3615049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3688024" y="3615049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4913320" y="3615049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5525968" y="3615049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6138616" y="3615049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6751264" y="3615049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3075376" y="3950487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3688024" y="3950487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4300672" y="3950487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4913320" y="3950487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5525968" y="3950487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6138616" y="3950487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6751264" y="3950487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3075376" y="428592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4300672" y="428592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4913320" y="428592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5525968" y="428592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6138616" y="428592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6751264" y="428592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3075376" y="462136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3688024" y="462136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4913320" y="462136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5525968" y="462136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6138616" y="462136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6751264" y="462136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3075376" y="495680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3688024" y="495680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4913320" y="495680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5525968" y="495680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6138616" y="495680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6751264" y="495680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609599" y="2512401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7160361" y="2036079"/>
            <a:ext cx="105" cy="3086028"/>
          </a:xfrm>
          <a:custGeom>
            <a:avLst/>
            <a:gdLst/>
            <a:ahLst/>
            <a:cxnLst/>
            <a:rect l="0" t="0" r="r" b="b"/>
            <a:pathLst>
              <a:path w="10" h="291593">
                <a:moveTo>
                  <a:pt x="0" y="0"/>
                </a:moveTo>
                <a:lnTo>
                  <a:pt x="0" y="291593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8114994" y="2036079"/>
            <a:ext cx="105" cy="3086028"/>
          </a:xfrm>
          <a:custGeom>
            <a:avLst/>
            <a:gdLst/>
            <a:ahLst/>
            <a:cxnLst/>
            <a:rect l="0" t="0" r="r" b="b"/>
            <a:pathLst>
              <a:path w="10" h="291593">
                <a:moveTo>
                  <a:pt x="0" y="0"/>
                </a:moveTo>
                <a:lnTo>
                  <a:pt x="0" y="291593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742332" y="5468004"/>
            <a:ext cx="91654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9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9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C77462">
              <a:alpha val="100000"/>
            </a:srgbClr>
          </a:solidFill>
          <a:ln w="10583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2961532" y="5468004"/>
            <a:ext cx="91654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8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8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468B9E">
              <a:alpha val="100000"/>
            </a:srgbClr>
          </a:solidFill>
          <a:ln w="10583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4140092" y="5468004"/>
            <a:ext cx="91654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8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8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6A7973">
              <a:alpha val="100000"/>
            </a:srgbClr>
          </a:solidFill>
          <a:ln w="10583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6294013" y="5468004"/>
            <a:ext cx="91653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8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8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FFFFFF">
              <a:alpha val="100000"/>
            </a:srgbClr>
          </a:solidFill>
          <a:ln w="13758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609599" y="5829299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text: 代谢物"/>
          <p:cNvSpPr txBox="1"/>
          <p:nvPr/>
        </p:nvSpPr>
        <p:spPr>
          <a:xfrm>
            <a:off x="609599" y="2261678"/>
            <a:ext cx="401637" cy="176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代谢物</a:t>
            </a:r>
          </a:p>
        </p:txBody>
      </p:sp>
      <p:sp>
        <p:nvSpPr>
          <p:cNvPr id="68" name="Editable text: BRCA"/>
          <p:cNvSpPr txBox="1"/>
          <p:nvPr/>
        </p:nvSpPr>
        <p:spPr>
          <a:xfrm>
            <a:off x="2979885" y="2265610"/>
            <a:ext cx="357329" cy="167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BRCA</a:t>
            </a:r>
          </a:p>
        </p:txBody>
      </p:sp>
      <p:sp>
        <p:nvSpPr>
          <p:cNvPr id="69" name="Editable text: COAD"/>
          <p:cNvSpPr txBox="1"/>
          <p:nvPr/>
        </p:nvSpPr>
        <p:spPr>
          <a:xfrm>
            <a:off x="3580710" y="2265610"/>
            <a:ext cx="380605" cy="167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COAD</a:t>
            </a:r>
          </a:p>
        </p:txBody>
      </p:sp>
      <p:sp>
        <p:nvSpPr>
          <p:cNvPr id="70" name="Editable text: GBM"/>
          <p:cNvSpPr txBox="1"/>
          <p:nvPr/>
        </p:nvSpPr>
        <p:spPr>
          <a:xfrm>
            <a:off x="4222627" y="2265610"/>
            <a:ext cx="322165" cy="167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GBM</a:t>
            </a:r>
          </a:p>
        </p:txBody>
      </p:sp>
      <p:sp>
        <p:nvSpPr>
          <p:cNvPr id="71" name="Editable text: PDAC"/>
          <p:cNvSpPr txBox="1"/>
          <p:nvPr/>
        </p:nvSpPr>
        <p:spPr>
          <a:xfrm>
            <a:off x="4814853" y="2265610"/>
            <a:ext cx="362554" cy="167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PDAC</a:t>
            </a:r>
          </a:p>
        </p:txBody>
      </p:sp>
      <p:sp>
        <p:nvSpPr>
          <p:cNvPr id="72" name="Editable text: PRAD"/>
          <p:cNvSpPr txBox="1"/>
          <p:nvPr/>
        </p:nvSpPr>
        <p:spPr>
          <a:xfrm>
            <a:off x="5424772" y="2265610"/>
            <a:ext cx="368613" cy="167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PRAD</a:t>
            </a:r>
          </a:p>
        </p:txBody>
      </p:sp>
      <p:sp>
        <p:nvSpPr>
          <p:cNvPr id="73" name="Editable text: ccRCC3"/>
          <p:cNvSpPr txBox="1"/>
          <p:nvPr/>
        </p:nvSpPr>
        <p:spPr>
          <a:xfrm>
            <a:off x="5996327" y="2265610"/>
            <a:ext cx="451596" cy="167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ccRCC3</a:t>
            </a:r>
          </a:p>
        </p:txBody>
      </p:sp>
      <p:sp>
        <p:nvSpPr>
          <p:cNvPr id="74" name="Editable text: ccRCC4"/>
          <p:cNvSpPr txBox="1"/>
          <p:nvPr/>
        </p:nvSpPr>
        <p:spPr>
          <a:xfrm>
            <a:off x="6608975" y="2265610"/>
            <a:ext cx="451596" cy="167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ccRCC4</a:t>
            </a:r>
          </a:p>
        </p:txBody>
      </p:sp>
      <p:sp>
        <p:nvSpPr>
          <p:cNvPr id="75" name="Editable text: 同向显著 / 可评估"/>
          <p:cNvSpPr txBox="1"/>
          <p:nvPr/>
        </p:nvSpPr>
        <p:spPr>
          <a:xfrm>
            <a:off x="7187198" y="2219379"/>
            <a:ext cx="775370" cy="1383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1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同向显著 / 可评估</a:t>
            </a:r>
          </a:p>
        </p:txBody>
      </p:sp>
      <p:sp>
        <p:nvSpPr>
          <p:cNvPr id="76" name="Editable text: 癌种数"/>
          <p:cNvSpPr txBox="1"/>
          <p:nvPr/>
        </p:nvSpPr>
        <p:spPr>
          <a:xfrm>
            <a:off x="7412507" y="2345649"/>
            <a:ext cx="32861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癌种数</a:t>
            </a:r>
          </a:p>
        </p:txBody>
      </p:sp>
      <p:sp>
        <p:nvSpPr>
          <p:cNvPr id="77" name="Editable text: 患者一致性"/>
          <p:cNvSpPr txBox="1"/>
          <p:nvPr/>
        </p:nvSpPr>
        <p:spPr>
          <a:xfrm>
            <a:off x="9570576" y="2003196"/>
            <a:ext cx="74982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患者一致性</a:t>
            </a:r>
          </a:p>
        </p:txBody>
      </p:sp>
      <p:sp>
        <p:nvSpPr>
          <p:cNvPr id="78" name="Editable text: BRCA"/>
          <p:cNvSpPr txBox="1"/>
          <p:nvPr/>
        </p:nvSpPr>
        <p:spPr>
          <a:xfrm>
            <a:off x="8384232" y="2275149"/>
            <a:ext cx="319412" cy="1496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75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BRCA</a:t>
            </a:r>
          </a:p>
        </p:txBody>
      </p:sp>
      <p:sp>
        <p:nvSpPr>
          <p:cNvPr id="79" name="Editable text: COAD"/>
          <p:cNvSpPr txBox="1"/>
          <p:nvPr/>
        </p:nvSpPr>
        <p:spPr>
          <a:xfrm>
            <a:off x="8933261" y="2275149"/>
            <a:ext cx="340365" cy="1496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75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COAD</a:t>
            </a:r>
          </a:p>
        </p:txBody>
      </p:sp>
      <p:sp>
        <p:nvSpPr>
          <p:cNvPr id="80" name="Editable text: PDAC"/>
          <p:cNvSpPr txBox="1"/>
          <p:nvPr/>
        </p:nvSpPr>
        <p:spPr>
          <a:xfrm>
            <a:off x="9500812" y="2275149"/>
            <a:ext cx="324188" cy="1496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75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PDAC</a:t>
            </a:r>
          </a:p>
        </p:txBody>
      </p:sp>
      <p:sp>
        <p:nvSpPr>
          <p:cNvPr id="81" name="Editable text: PRAD"/>
          <p:cNvSpPr txBox="1"/>
          <p:nvPr/>
        </p:nvSpPr>
        <p:spPr>
          <a:xfrm>
            <a:off x="10057944" y="2275149"/>
            <a:ext cx="329625" cy="1496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75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PRAD</a:t>
            </a:r>
          </a:p>
        </p:txBody>
      </p:sp>
      <p:sp>
        <p:nvSpPr>
          <p:cNvPr id="82" name="Editable text: ccRCC3"/>
          <p:cNvSpPr txBox="1"/>
          <p:nvPr/>
        </p:nvSpPr>
        <p:spPr>
          <a:xfrm>
            <a:off x="10580515" y="2275149"/>
            <a:ext cx="403837" cy="1496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75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ccRCC3</a:t>
            </a:r>
          </a:p>
        </p:txBody>
      </p:sp>
      <p:sp>
        <p:nvSpPr>
          <p:cNvPr id="83" name="Editable text: ccRCC4"/>
          <p:cNvSpPr txBox="1"/>
          <p:nvPr/>
        </p:nvSpPr>
        <p:spPr>
          <a:xfrm>
            <a:off x="11140128" y="2275149"/>
            <a:ext cx="403837" cy="1496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75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ccRCC4</a:t>
            </a:r>
          </a:p>
        </p:txBody>
      </p:sp>
      <p:sp>
        <p:nvSpPr>
          <p:cNvPr id="84" name="Editable text: 肌酐"/>
          <p:cNvSpPr txBox="1"/>
          <p:nvPr/>
        </p:nvSpPr>
        <p:spPr>
          <a:xfrm>
            <a:off x="675436" y="2561739"/>
            <a:ext cx="318928" cy="197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5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肌酐</a:t>
            </a:r>
          </a:p>
        </p:txBody>
      </p:sp>
      <p:sp>
        <p:nvSpPr>
          <p:cNvPr id="85" name="Editable text: ↓"/>
          <p:cNvSpPr txBox="1"/>
          <p:nvPr/>
        </p:nvSpPr>
        <p:spPr>
          <a:xfrm>
            <a:off x="7249702" y="2531302"/>
            <a:ext cx="160866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↓</a:t>
            </a:r>
          </a:p>
        </p:txBody>
      </p:sp>
      <p:sp>
        <p:nvSpPr>
          <p:cNvPr id="86" name="Editable text: 5/6"/>
          <p:cNvSpPr txBox="1"/>
          <p:nvPr/>
        </p:nvSpPr>
        <p:spPr>
          <a:xfrm>
            <a:off x="7465718" y="2531302"/>
            <a:ext cx="365252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5/6</a:t>
            </a:r>
          </a:p>
        </p:txBody>
      </p:sp>
      <p:sp>
        <p:nvSpPr>
          <p:cNvPr id="87" name="Editable text: 37/45"/>
          <p:cNvSpPr txBox="1"/>
          <p:nvPr/>
        </p:nvSpPr>
        <p:spPr>
          <a:xfrm>
            <a:off x="8363065" y="2575911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37/45</a:t>
            </a:r>
          </a:p>
        </p:txBody>
      </p:sp>
      <p:sp>
        <p:nvSpPr>
          <p:cNvPr id="88" name="Editable text: 32/33"/>
          <p:cNvSpPr txBox="1"/>
          <p:nvPr/>
        </p:nvSpPr>
        <p:spPr>
          <a:xfrm>
            <a:off x="8922678" y="2575911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32/33</a:t>
            </a:r>
          </a:p>
        </p:txBody>
      </p:sp>
      <p:sp>
        <p:nvSpPr>
          <p:cNvPr id="89" name="Editable text: 5/11"/>
          <p:cNvSpPr txBox="1"/>
          <p:nvPr/>
        </p:nvSpPr>
        <p:spPr>
          <a:xfrm>
            <a:off x="9515695" y="2575911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5/11</a:t>
            </a:r>
          </a:p>
        </p:txBody>
      </p:sp>
      <p:sp>
        <p:nvSpPr>
          <p:cNvPr id="90" name="Editable text: 30/43"/>
          <p:cNvSpPr txBox="1"/>
          <p:nvPr/>
        </p:nvSpPr>
        <p:spPr>
          <a:xfrm>
            <a:off x="10041903" y="2575911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30/43</a:t>
            </a:r>
          </a:p>
        </p:txBody>
      </p:sp>
      <p:sp>
        <p:nvSpPr>
          <p:cNvPr id="91" name="Editable text: 16/17"/>
          <p:cNvSpPr txBox="1"/>
          <p:nvPr/>
        </p:nvSpPr>
        <p:spPr>
          <a:xfrm>
            <a:off x="10601516" y="2575911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16/17</a:t>
            </a:r>
          </a:p>
        </p:txBody>
      </p:sp>
      <p:sp>
        <p:nvSpPr>
          <p:cNvPr id="92" name="Editable text: 11/12"/>
          <p:cNvSpPr txBox="1"/>
          <p:nvPr/>
        </p:nvSpPr>
        <p:spPr>
          <a:xfrm>
            <a:off x="11161130" y="2575911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11/12</a:t>
            </a:r>
          </a:p>
        </p:txBody>
      </p:sp>
      <p:sp>
        <p:nvSpPr>
          <p:cNvPr id="93" name="Editable text: 2-羟基戊二酸¹"/>
          <p:cNvSpPr txBox="1"/>
          <p:nvPr/>
        </p:nvSpPr>
        <p:spPr>
          <a:xfrm>
            <a:off x="675436" y="2897177"/>
            <a:ext cx="901331" cy="197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5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2-羟基戊二酸¹</a:t>
            </a:r>
          </a:p>
        </p:txBody>
      </p:sp>
      <p:sp>
        <p:nvSpPr>
          <p:cNvPr id="94" name="Editable text: —"/>
          <p:cNvSpPr txBox="1"/>
          <p:nvPr/>
        </p:nvSpPr>
        <p:spPr>
          <a:xfrm>
            <a:off x="4885546" y="2875141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95" name="Editable text: ↑"/>
          <p:cNvSpPr txBox="1"/>
          <p:nvPr/>
        </p:nvSpPr>
        <p:spPr>
          <a:xfrm>
            <a:off x="7249702" y="2866740"/>
            <a:ext cx="160866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↑</a:t>
            </a:r>
          </a:p>
        </p:txBody>
      </p:sp>
      <p:sp>
        <p:nvSpPr>
          <p:cNvPr id="96" name="Editable text: 4/5"/>
          <p:cNvSpPr txBox="1"/>
          <p:nvPr/>
        </p:nvSpPr>
        <p:spPr>
          <a:xfrm>
            <a:off x="7465718" y="2866740"/>
            <a:ext cx="365252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4/5</a:t>
            </a:r>
          </a:p>
        </p:txBody>
      </p:sp>
      <p:sp>
        <p:nvSpPr>
          <p:cNvPr id="97" name="Editable text: 31/45"/>
          <p:cNvSpPr txBox="1"/>
          <p:nvPr/>
        </p:nvSpPr>
        <p:spPr>
          <a:xfrm>
            <a:off x="8363065" y="2911349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31/45</a:t>
            </a:r>
          </a:p>
        </p:txBody>
      </p:sp>
      <p:sp>
        <p:nvSpPr>
          <p:cNvPr id="98" name="Editable text: 24/33"/>
          <p:cNvSpPr txBox="1"/>
          <p:nvPr/>
        </p:nvSpPr>
        <p:spPr>
          <a:xfrm>
            <a:off x="8922678" y="2911349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24/33</a:t>
            </a:r>
          </a:p>
        </p:txBody>
      </p:sp>
      <p:sp>
        <p:nvSpPr>
          <p:cNvPr id="99" name="Editable text: —"/>
          <p:cNvSpPr txBox="1"/>
          <p:nvPr/>
        </p:nvSpPr>
        <p:spPr>
          <a:xfrm>
            <a:off x="9578781" y="2911349"/>
            <a:ext cx="174879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00" name="Editable text: 19/43"/>
          <p:cNvSpPr txBox="1"/>
          <p:nvPr/>
        </p:nvSpPr>
        <p:spPr>
          <a:xfrm>
            <a:off x="10041903" y="2911349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19/43</a:t>
            </a:r>
          </a:p>
        </p:txBody>
      </p:sp>
      <p:sp>
        <p:nvSpPr>
          <p:cNvPr id="101" name="Editable text: 13/17"/>
          <p:cNvSpPr txBox="1"/>
          <p:nvPr/>
        </p:nvSpPr>
        <p:spPr>
          <a:xfrm>
            <a:off x="10601516" y="2911349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13/17</a:t>
            </a:r>
          </a:p>
        </p:txBody>
      </p:sp>
      <p:sp>
        <p:nvSpPr>
          <p:cNvPr id="102" name="Editable text: 11/12"/>
          <p:cNvSpPr txBox="1"/>
          <p:nvPr/>
        </p:nvSpPr>
        <p:spPr>
          <a:xfrm>
            <a:off x="11161130" y="2911349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11/12</a:t>
            </a:r>
          </a:p>
        </p:txBody>
      </p:sp>
      <p:sp>
        <p:nvSpPr>
          <p:cNvPr id="103" name="Editable text: 丁酰肉碱"/>
          <p:cNvSpPr txBox="1"/>
          <p:nvPr/>
        </p:nvSpPr>
        <p:spPr>
          <a:xfrm>
            <a:off x="675436" y="3232615"/>
            <a:ext cx="579278" cy="197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5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丁酰肉碱</a:t>
            </a:r>
          </a:p>
        </p:txBody>
      </p:sp>
      <p:sp>
        <p:nvSpPr>
          <p:cNvPr id="104" name="Editable text: —"/>
          <p:cNvSpPr txBox="1"/>
          <p:nvPr/>
        </p:nvSpPr>
        <p:spPr>
          <a:xfrm>
            <a:off x="3660250" y="3210578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05" name="Editable text: —"/>
          <p:cNvSpPr txBox="1"/>
          <p:nvPr/>
        </p:nvSpPr>
        <p:spPr>
          <a:xfrm>
            <a:off x="4272898" y="3210578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06" name="Editable text: ↑"/>
          <p:cNvSpPr txBox="1"/>
          <p:nvPr/>
        </p:nvSpPr>
        <p:spPr>
          <a:xfrm>
            <a:off x="7249702" y="3202178"/>
            <a:ext cx="160866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↑</a:t>
            </a:r>
          </a:p>
        </p:txBody>
      </p:sp>
      <p:sp>
        <p:nvSpPr>
          <p:cNvPr id="107" name="Editable text: 4/4"/>
          <p:cNvSpPr txBox="1"/>
          <p:nvPr/>
        </p:nvSpPr>
        <p:spPr>
          <a:xfrm>
            <a:off x="7465718" y="3202178"/>
            <a:ext cx="365252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4/4</a:t>
            </a:r>
          </a:p>
        </p:txBody>
      </p:sp>
      <p:sp>
        <p:nvSpPr>
          <p:cNvPr id="108" name="Editable text: 34/45"/>
          <p:cNvSpPr txBox="1"/>
          <p:nvPr/>
        </p:nvSpPr>
        <p:spPr>
          <a:xfrm>
            <a:off x="8363065" y="3246787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34/45</a:t>
            </a:r>
          </a:p>
        </p:txBody>
      </p:sp>
      <p:sp>
        <p:nvSpPr>
          <p:cNvPr id="109" name="Editable text: —"/>
          <p:cNvSpPr txBox="1"/>
          <p:nvPr/>
        </p:nvSpPr>
        <p:spPr>
          <a:xfrm>
            <a:off x="9019168" y="3246787"/>
            <a:ext cx="174879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10" name="Editable text: 8/11"/>
          <p:cNvSpPr txBox="1"/>
          <p:nvPr/>
        </p:nvSpPr>
        <p:spPr>
          <a:xfrm>
            <a:off x="9515695" y="3246787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8/11</a:t>
            </a:r>
          </a:p>
        </p:txBody>
      </p:sp>
      <p:sp>
        <p:nvSpPr>
          <p:cNvPr id="111" name="Editable text: 30/43"/>
          <p:cNvSpPr txBox="1"/>
          <p:nvPr/>
        </p:nvSpPr>
        <p:spPr>
          <a:xfrm>
            <a:off x="10041903" y="3246787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30/43</a:t>
            </a:r>
          </a:p>
        </p:txBody>
      </p:sp>
      <p:sp>
        <p:nvSpPr>
          <p:cNvPr id="112" name="Editable text: 14/17"/>
          <p:cNvSpPr txBox="1"/>
          <p:nvPr/>
        </p:nvSpPr>
        <p:spPr>
          <a:xfrm>
            <a:off x="10601516" y="3246787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14/17</a:t>
            </a:r>
          </a:p>
        </p:txBody>
      </p:sp>
      <p:sp>
        <p:nvSpPr>
          <p:cNvPr id="113" name="Editable text: 5/12"/>
          <p:cNvSpPr txBox="1"/>
          <p:nvPr/>
        </p:nvSpPr>
        <p:spPr>
          <a:xfrm>
            <a:off x="11194533" y="3246787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5/12</a:t>
            </a:r>
          </a:p>
        </p:txBody>
      </p:sp>
      <p:sp>
        <p:nvSpPr>
          <p:cNvPr id="114" name="Editable text: 肌苷"/>
          <p:cNvSpPr txBox="1"/>
          <p:nvPr/>
        </p:nvSpPr>
        <p:spPr>
          <a:xfrm>
            <a:off x="675436" y="3568053"/>
            <a:ext cx="318928" cy="197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5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肌苷</a:t>
            </a:r>
          </a:p>
        </p:txBody>
      </p:sp>
      <p:sp>
        <p:nvSpPr>
          <p:cNvPr id="115" name="Editable text: —"/>
          <p:cNvSpPr txBox="1"/>
          <p:nvPr/>
        </p:nvSpPr>
        <p:spPr>
          <a:xfrm>
            <a:off x="4272898" y="3546016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16" name="Editable text: ↓"/>
          <p:cNvSpPr txBox="1"/>
          <p:nvPr/>
        </p:nvSpPr>
        <p:spPr>
          <a:xfrm>
            <a:off x="7249702" y="3537616"/>
            <a:ext cx="160866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↓</a:t>
            </a:r>
          </a:p>
        </p:txBody>
      </p:sp>
      <p:sp>
        <p:nvSpPr>
          <p:cNvPr id="117" name="Editable text: 4/5"/>
          <p:cNvSpPr txBox="1"/>
          <p:nvPr/>
        </p:nvSpPr>
        <p:spPr>
          <a:xfrm>
            <a:off x="7465718" y="3537616"/>
            <a:ext cx="365252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4/5</a:t>
            </a:r>
          </a:p>
        </p:txBody>
      </p:sp>
      <p:sp>
        <p:nvSpPr>
          <p:cNvPr id="118" name="Editable text: 29/45"/>
          <p:cNvSpPr txBox="1"/>
          <p:nvPr/>
        </p:nvSpPr>
        <p:spPr>
          <a:xfrm>
            <a:off x="8363065" y="3582224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29/45</a:t>
            </a:r>
          </a:p>
        </p:txBody>
      </p:sp>
      <p:sp>
        <p:nvSpPr>
          <p:cNvPr id="119" name="Editable text: 25/33"/>
          <p:cNvSpPr txBox="1"/>
          <p:nvPr/>
        </p:nvSpPr>
        <p:spPr>
          <a:xfrm>
            <a:off x="8922678" y="3582224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25/33</a:t>
            </a:r>
          </a:p>
        </p:txBody>
      </p:sp>
      <p:sp>
        <p:nvSpPr>
          <p:cNvPr id="120" name="Editable text: 10/11"/>
          <p:cNvSpPr txBox="1"/>
          <p:nvPr/>
        </p:nvSpPr>
        <p:spPr>
          <a:xfrm>
            <a:off x="9482291" y="3582224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10/11</a:t>
            </a:r>
          </a:p>
        </p:txBody>
      </p:sp>
      <p:sp>
        <p:nvSpPr>
          <p:cNvPr id="121" name="Editable text: 31/43"/>
          <p:cNvSpPr txBox="1"/>
          <p:nvPr/>
        </p:nvSpPr>
        <p:spPr>
          <a:xfrm>
            <a:off x="10041903" y="3582224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31/43</a:t>
            </a:r>
          </a:p>
        </p:txBody>
      </p:sp>
      <p:sp>
        <p:nvSpPr>
          <p:cNvPr id="122" name="Editable text: 3/17"/>
          <p:cNvSpPr txBox="1"/>
          <p:nvPr/>
        </p:nvSpPr>
        <p:spPr>
          <a:xfrm>
            <a:off x="10634920" y="3582224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3/17</a:t>
            </a:r>
          </a:p>
        </p:txBody>
      </p:sp>
      <p:sp>
        <p:nvSpPr>
          <p:cNvPr id="123" name="Editable text: 9/12"/>
          <p:cNvSpPr txBox="1"/>
          <p:nvPr/>
        </p:nvSpPr>
        <p:spPr>
          <a:xfrm>
            <a:off x="11194533" y="3582224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9/12</a:t>
            </a:r>
          </a:p>
        </p:txBody>
      </p:sp>
      <p:sp>
        <p:nvSpPr>
          <p:cNvPr id="124" name="Editable text: 甘氨酸"/>
          <p:cNvSpPr txBox="1"/>
          <p:nvPr/>
        </p:nvSpPr>
        <p:spPr>
          <a:xfrm>
            <a:off x="675436" y="3903491"/>
            <a:ext cx="449103" cy="197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5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甘氨酸</a:t>
            </a:r>
          </a:p>
        </p:txBody>
      </p:sp>
      <p:sp>
        <p:nvSpPr>
          <p:cNvPr id="125" name="Editable text: ↑"/>
          <p:cNvSpPr txBox="1"/>
          <p:nvPr/>
        </p:nvSpPr>
        <p:spPr>
          <a:xfrm>
            <a:off x="7249702" y="3873054"/>
            <a:ext cx="160866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↑</a:t>
            </a:r>
          </a:p>
        </p:txBody>
      </p:sp>
      <p:sp>
        <p:nvSpPr>
          <p:cNvPr id="126" name="Editable text: 3/6"/>
          <p:cNvSpPr txBox="1"/>
          <p:nvPr/>
        </p:nvSpPr>
        <p:spPr>
          <a:xfrm>
            <a:off x="7465718" y="3873054"/>
            <a:ext cx="365252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3/6</a:t>
            </a:r>
          </a:p>
        </p:txBody>
      </p:sp>
      <p:sp>
        <p:nvSpPr>
          <p:cNvPr id="127" name="Editable text: 38/45"/>
          <p:cNvSpPr txBox="1"/>
          <p:nvPr/>
        </p:nvSpPr>
        <p:spPr>
          <a:xfrm>
            <a:off x="8363065" y="3917663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38/45</a:t>
            </a:r>
          </a:p>
        </p:txBody>
      </p:sp>
      <p:sp>
        <p:nvSpPr>
          <p:cNvPr id="128" name="Editable text: 19/33"/>
          <p:cNvSpPr txBox="1"/>
          <p:nvPr/>
        </p:nvSpPr>
        <p:spPr>
          <a:xfrm>
            <a:off x="8922678" y="3917663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19/33</a:t>
            </a:r>
          </a:p>
        </p:txBody>
      </p:sp>
      <p:sp>
        <p:nvSpPr>
          <p:cNvPr id="129" name="Editable text: 7/11"/>
          <p:cNvSpPr txBox="1"/>
          <p:nvPr/>
        </p:nvSpPr>
        <p:spPr>
          <a:xfrm>
            <a:off x="9515695" y="3917663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7/11</a:t>
            </a:r>
          </a:p>
        </p:txBody>
      </p:sp>
      <p:sp>
        <p:nvSpPr>
          <p:cNvPr id="130" name="Editable text: 27/43"/>
          <p:cNvSpPr txBox="1"/>
          <p:nvPr/>
        </p:nvSpPr>
        <p:spPr>
          <a:xfrm>
            <a:off x="10041903" y="3917663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27/43</a:t>
            </a:r>
          </a:p>
        </p:txBody>
      </p:sp>
      <p:sp>
        <p:nvSpPr>
          <p:cNvPr id="131" name="Editable text: 11/17"/>
          <p:cNvSpPr txBox="1"/>
          <p:nvPr/>
        </p:nvSpPr>
        <p:spPr>
          <a:xfrm>
            <a:off x="10601516" y="3917663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11/17</a:t>
            </a:r>
          </a:p>
        </p:txBody>
      </p:sp>
      <p:sp>
        <p:nvSpPr>
          <p:cNvPr id="132" name="Editable text: 5/12"/>
          <p:cNvSpPr txBox="1"/>
          <p:nvPr/>
        </p:nvSpPr>
        <p:spPr>
          <a:xfrm>
            <a:off x="11194533" y="3917663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5/12</a:t>
            </a:r>
          </a:p>
        </p:txBody>
      </p:sp>
      <p:sp>
        <p:nvSpPr>
          <p:cNvPr id="133" name="Editable text: 麦芽糖"/>
          <p:cNvSpPr txBox="1"/>
          <p:nvPr/>
        </p:nvSpPr>
        <p:spPr>
          <a:xfrm>
            <a:off x="675436" y="4238929"/>
            <a:ext cx="449103" cy="197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5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麦芽糖</a:t>
            </a:r>
          </a:p>
        </p:txBody>
      </p:sp>
      <p:sp>
        <p:nvSpPr>
          <p:cNvPr id="134" name="Editable text: —"/>
          <p:cNvSpPr txBox="1"/>
          <p:nvPr/>
        </p:nvSpPr>
        <p:spPr>
          <a:xfrm>
            <a:off x="3660250" y="4216892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35" name="Editable text: ↑"/>
          <p:cNvSpPr txBox="1"/>
          <p:nvPr/>
        </p:nvSpPr>
        <p:spPr>
          <a:xfrm>
            <a:off x="7249702" y="4208492"/>
            <a:ext cx="160866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↑</a:t>
            </a:r>
          </a:p>
        </p:txBody>
      </p:sp>
      <p:sp>
        <p:nvSpPr>
          <p:cNvPr id="136" name="Editable text: 3/5"/>
          <p:cNvSpPr txBox="1"/>
          <p:nvPr/>
        </p:nvSpPr>
        <p:spPr>
          <a:xfrm>
            <a:off x="7465718" y="4208492"/>
            <a:ext cx="365252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3/5</a:t>
            </a:r>
          </a:p>
        </p:txBody>
      </p:sp>
      <p:sp>
        <p:nvSpPr>
          <p:cNvPr id="137" name="Editable text: 32/45"/>
          <p:cNvSpPr txBox="1"/>
          <p:nvPr/>
        </p:nvSpPr>
        <p:spPr>
          <a:xfrm>
            <a:off x="8363065" y="4253101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32/45</a:t>
            </a:r>
          </a:p>
        </p:txBody>
      </p:sp>
      <p:sp>
        <p:nvSpPr>
          <p:cNvPr id="138" name="Editable text: —"/>
          <p:cNvSpPr txBox="1"/>
          <p:nvPr/>
        </p:nvSpPr>
        <p:spPr>
          <a:xfrm>
            <a:off x="9019168" y="4253101"/>
            <a:ext cx="174879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39" name="Editable text: 6/11"/>
          <p:cNvSpPr txBox="1"/>
          <p:nvPr/>
        </p:nvSpPr>
        <p:spPr>
          <a:xfrm>
            <a:off x="9515695" y="4253101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6/11</a:t>
            </a:r>
          </a:p>
        </p:txBody>
      </p:sp>
      <p:sp>
        <p:nvSpPr>
          <p:cNvPr id="140" name="Editable text: 21/43"/>
          <p:cNvSpPr txBox="1"/>
          <p:nvPr/>
        </p:nvSpPr>
        <p:spPr>
          <a:xfrm>
            <a:off x="10041903" y="4253101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21/43</a:t>
            </a:r>
          </a:p>
        </p:txBody>
      </p:sp>
      <p:sp>
        <p:nvSpPr>
          <p:cNvPr id="141" name="Editable text: 16/17"/>
          <p:cNvSpPr txBox="1"/>
          <p:nvPr/>
        </p:nvSpPr>
        <p:spPr>
          <a:xfrm>
            <a:off x="10601516" y="4253101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16/17</a:t>
            </a:r>
          </a:p>
        </p:txBody>
      </p:sp>
      <p:sp>
        <p:nvSpPr>
          <p:cNvPr id="142" name="Editable text: 11/12"/>
          <p:cNvSpPr txBox="1"/>
          <p:nvPr/>
        </p:nvSpPr>
        <p:spPr>
          <a:xfrm>
            <a:off x="11161130" y="4253101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11/12</a:t>
            </a:r>
          </a:p>
        </p:txBody>
      </p:sp>
      <p:sp>
        <p:nvSpPr>
          <p:cNvPr id="143" name="Editable text: 犬尿氨酸"/>
          <p:cNvSpPr txBox="1"/>
          <p:nvPr/>
        </p:nvSpPr>
        <p:spPr>
          <a:xfrm>
            <a:off x="675436" y="4574367"/>
            <a:ext cx="579278" cy="197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5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犬尿氨酸</a:t>
            </a:r>
          </a:p>
        </p:txBody>
      </p:sp>
      <p:sp>
        <p:nvSpPr>
          <p:cNvPr id="144" name="Editable text: —"/>
          <p:cNvSpPr txBox="1"/>
          <p:nvPr/>
        </p:nvSpPr>
        <p:spPr>
          <a:xfrm>
            <a:off x="4272898" y="4552330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45" name="Editable text: ↑"/>
          <p:cNvSpPr txBox="1"/>
          <p:nvPr/>
        </p:nvSpPr>
        <p:spPr>
          <a:xfrm>
            <a:off x="7249702" y="4543930"/>
            <a:ext cx="160866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↑</a:t>
            </a:r>
          </a:p>
        </p:txBody>
      </p:sp>
      <p:sp>
        <p:nvSpPr>
          <p:cNvPr id="146" name="Editable text: 3/5"/>
          <p:cNvSpPr txBox="1"/>
          <p:nvPr/>
        </p:nvSpPr>
        <p:spPr>
          <a:xfrm>
            <a:off x="7465718" y="4543930"/>
            <a:ext cx="365252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3/5</a:t>
            </a:r>
          </a:p>
        </p:txBody>
      </p:sp>
      <p:sp>
        <p:nvSpPr>
          <p:cNvPr id="147" name="Editable text: 30/45"/>
          <p:cNvSpPr txBox="1"/>
          <p:nvPr/>
        </p:nvSpPr>
        <p:spPr>
          <a:xfrm>
            <a:off x="8363065" y="4588538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30/45</a:t>
            </a:r>
          </a:p>
        </p:txBody>
      </p:sp>
      <p:sp>
        <p:nvSpPr>
          <p:cNvPr id="148" name="Editable text: 28/33"/>
          <p:cNvSpPr txBox="1"/>
          <p:nvPr/>
        </p:nvSpPr>
        <p:spPr>
          <a:xfrm>
            <a:off x="8922678" y="4588538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28/33</a:t>
            </a:r>
          </a:p>
        </p:txBody>
      </p:sp>
      <p:sp>
        <p:nvSpPr>
          <p:cNvPr id="149" name="Editable text: 7/11"/>
          <p:cNvSpPr txBox="1"/>
          <p:nvPr/>
        </p:nvSpPr>
        <p:spPr>
          <a:xfrm>
            <a:off x="9515695" y="4588538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7/11</a:t>
            </a:r>
          </a:p>
        </p:txBody>
      </p:sp>
      <p:sp>
        <p:nvSpPr>
          <p:cNvPr id="150" name="Editable text: 24/43"/>
          <p:cNvSpPr txBox="1"/>
          <p:nvPr/>
        </p:nvSpPr>
        <p:spPr>
          <a:xfrm>
            <a:off x="10041903" y="4588538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24/43</a:t>
            </a:r>
          </a:p>
        </p:txBody>
      </p:sp>
      <p:sp>
        <p:nvSpPr>
          <p:cNvPr id="151" name="Editable text: 17/17"/>
          <p:cNvSpPr txBox="1"/>
          <p:nvPr/>
        </p:nvSpPr>
        <p:spPr>
          <a:xfrm>
            <a:off x="10601516" y="4588538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17/17</a:t>
            </a:r>
          </a:p>
        </p:txBody>
      </p:sp>
      <p:sp>
        <p:nvSpPr>
          <p:cNvPr id="152" name="Editable text: 12/12"/>
          <p:cNvSpPr txBox="1"/>
          <p:nvPr/>
        </p:nvSpPr>
        <p:spPr>
          <a:xfrm>
            <a:off x="11161130" y="4588538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12/12</a:t>
            </a:r>
          </a:p>
        </p:txBody>
      </p:sp>
      <p:sp>
        <p:nvSpPr>
          <p:cNvPr id="153" name="Editable text: N-乙酰甲硫氨酸"/>
          <p:cNvSpPr txBox="1"/>
          <p:nvPr/>
        </p:nvSpPr>
        <p:spPr>
          <a:xfrm>
            <a:off x="675436" y="4909804"/>
            <a:ext cx="1001826" cy="197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5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N-乙酰甲硫氨酸</a:t>
            </a:r>
          </a:p>
        </p:txBody>
      </p:sp>
      <p:sp>
        <p:nvSpPr>
          <p:cNvPr id="154" name="Editable text: —"/>
          <p:cNvSpPr txBox="1"/>
          <p:nvPr/>
        </p:nvSpPr>
        <p:spPr>
          <a:xfrm>
            <a:off x="4272898" y="4887768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55" name="Editable text: ↑"/>
          <p:cNvSpPr txBox="1"/>
          <p:nvPr/>
        </p:nvSpPr>
        <p:spPr>
          <a:xfrm>
            <a:off x="7249702" y="4879368"/>
            <a:ext cx="160866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↑</a:t>
            </a:r>
          </a:p>
        </p:txBody>
      </p:sp>
      <p:sp>
        <p:nvSpPr>
          <p:cNvPr id="156" name="Editable text: 3/5"/>
          <p:cNvSpPr txBox="1"/>
          <p:nvPr/>
        </p:nvSpPr>
        <p:spPr>
          <a:xfrm>
            <a:off x="7465718" y="4879368"/>
            <a:ext cx="365252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3/5</a:t>
            </a:r>
          </a:p>
        </p:txBody>
      </p:sp>
      <p:sp>
        <p:nvSpPr>
          <p:cNvPr id="157" name="Editable text: 41/45"/>
          <p:cNvSpPr txBox="1"/>
          <p:nvPr/>
        </p:nvSpPr>
        <p:spPr>
          <a:xfrm>
            <a:off x="8363065" y="4923977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41/45</a:t>
            </a:r>
          </a:p>
        </p:txBody>
      </p:sp>
      <p:sp>
        <p:nvSpPr>
          <p:cNvPr id="158" name="Editable text: 21/33"/>
          <p:cNvSpPr txBox="1"/>
          <p:nvPr/>
        </p:nvSpPr>
        <p:spPr>
          <a:xfrm>
            <a:off x="8922678" y="4923977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21/33</a:t>
            </a:r>
          </a:p>
        </p:txBody>
      </p:sp>
      <p:sp>
        <p:nvSpPr>
          <p:cNvPr id="159" name="Editable text: 3/11"/>
          <p:cNvSpPr txBox="1"/>
          <p:nvPr/>
        </p:nvSpPr>
        <p:spPr>
          <a:xfrm>
            <a:off x="9515695" y="4923977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3/11</a:t>
            </a:r>
          </a:p>
        </p:txBody>
      </p:sp>
      <p:sp>
        <p:nvSpPr>
          <p:cNvPr id="160" name="Editable text: 26/43"/>
          <p:cNvSpPr txBox="1"/>
          <p:nvPr/>
        </p:nvSpPr>
        <p:spPr>
          <a:xfrm>
            <a:off x="10041903" y="4923977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26/43</a:t>
            </a:r>
          </a:p>
        </p:txBody>
      </p:sp>
      <p:sp>
        <p:nvSpPr>
          <p:cNvPr id="161" name="Editable text: 15/17"/>
          <p:cNvSpPr txBox="1"/>
          <p:nvPr/>
        </p:nvSpPr>
        <p:spPr>
          <a:xfrm>
            <a:off x="10601516" y="4923977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15/17</a:t>
            </a:r>
          </a:p>
        </p:txBody>
      </p:sp>
      <p:sp>
        <p:nvSpPr>
          <p:cNvPr id="162" name="Editable text: 9/12"/>
          <p:cNvSpPr txBox="1"/>
          <p:nvPr/>
        </p:nvSpPr>
        <p:spPr>
          <a:xfrm>
            <a:off x="11194533" y="4923977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9/12</a:t>
            </a:r>
          </a:p>
        </p:txBody>
      </p:sp>
      <p:sp>
        <p:nvSpPr>
          <p:cNvPr id="163" name="Editable text: 升高"/>
          <p:cNvSpPr txBox="1"/>
          <p:nvPr/>
        </p:nvSpPr>
        <p:spPr>
          <a:xfrm>
            <a:off x="1966976" y="5426453"/>
            <a:ext cx="272256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升高</a:t>
            </a:r>
          </a:p>
        </p:txBody>
      </p:sp>
      <p:sp>
        <p:nvSpPr>
          <p:cNvPr id="164" name="Editable text: 降低"/>
          <p:cNvSpPr txBox="1"/>
          <p:nvPr/>
        </p:nvSpPr>
        <p:spPr>
          <a:xfrm>
            <a:off x="3186175" y="5426453"/>
            <a:ext cx="272256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降低</a:t>
            </a:r>
          </a:p>
        </p:txBody>
      </p:sp>
      <p:sp>
        <p:nvSpPr>
          <p:cNvPr id="165" name="Editable text: 实心 P &lt; 0.05"/>
          <p:cNvSpPr txBox="1"/>
          <p:nvPr/>
        </p:nvSpPr>
        <p:spPr>
          <a:xfrm>
            <a:off x="4372863" y="5426453"/>
            <a:ext cx="743537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实心 P &lt; 0.05</a:t>
            </a:r>
          </a:p>
        </p:txBody>
      </p:sp>
      <p:sp>
        <p:nvSpPr>
          <p:cNvPr id="166" name="Editable text: 空心 P ≥ 0.05"/>
          <p:cNvSpPr txBox="1"/>
          <p:nvPr/>
        </p:nvSpPr>
        <p:spPr>
          <a:xfrm>
            <a:off x="6526783" y="5426453"/>
            <a:ext cx="743537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空心 P ≥ 0.05</a:t>
            </a:r>
          </a:p>
        </p:txBody>
      </p:sp>
      <p:sp>
        <p:nvSpPr>
          <p:cNvPr id="167" name="Editable text: —"/>
          <p:cNvSpPr txBox="1"/>
          <p:nvPr/>
        </p:nvSpPr>
        <p:spPr>
          <a:xfrm>
            <a:off x="8737599" y="5386832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68" name="Editable text: 未覆盖"/>
          <p:cNvSpPr txBox="1"/>
          <p:nvPr/>
        </p:nvSpPr>
        <p:spPr>
          <a:xfrm>
            <a:off x="9046463" y="5426453"/>
            <a:ext cx="383381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未覆盖</a:t>
            </a:r>
          </a:p>
        </p:txBody>
      </p:sp>
      <p:sp>
        <p:nvSpPr>
          <p:cNvPr id="170" name="Editable text: 跨癌同向变化，在多少患者中重复？"/>
          <p:cNvSpPr txBox="1"/>
          <p:nvPr/>
        </p:nvSpPr>
        <p:spPr>
          <a:xfrm>
            <a:off x="609599" y="1028611"/>
            <a:ext cx="5222874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5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跨癌同向变化，在多少患者中重复？</a:t>
            </a:r>
          </a:p>
        </p:txBody>
      </p:sp>
      <p:sp>
        <p:nvSpPr>
          <p:cNvPr id="171" name="Editable text: 沿用同向显著癌种数排序  ·  右侧统计与每行主方向一致的患者数 / 可评估配对"/>
          <p:cNvSpPr txBox="1"/>
          <p:nvPr/>
        </p:nvSpPr>
        <p:spPr>
          <a:xfrm>
            <a:off x="633983" y="1570176"/>
            <a:ext cx="4938416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沿用同向显著癌种数排序  ·  右侧统计与每行主方向一致的患者数 / 可评估配对数</a:t>
            </a:r>
          </a:p>
        </p:txBody>
      </p:sp>
      <p:sp>
        <p:nvSpPr>
          <p:cNvPr id="172" name="Editable text: 同向患者数按本行 ↑ / ↓ 统计，与各队列是否显著无关。"/>
          <p:cNvSpPr txBox="1"/>
          <p:nvPr/>
        </p:nvSpPr>
        <p:spPr>
          <a:xfrm>
            <a:off x="609599" y="5960921"/>
            <a:ext cx="3189605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同向患者数按本行 ↑ / ↓ 统计，与各队列是否显著无关。</a:t>
            </a:r>
          </a:p>
        </p:txBody>
      </p:sp>
      <p:sp>
        <p:nvSpPr>
          <p:cNvPr id="173" name="Editable text: GBM 为非配对比较，不计算患者配对一致性；ccRCC 先汇总患者内多区域，各队"/>
          <p:cNvSpPr txBox="1"/>
          <p:nvPr/>
        </p:nvSpPr>
        <p:spPr>
          <a:xfrm>
            <a:off x="609599" y="6235697"/>
            <a:ext cx="4816140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GBM 为非配对比较，不计算患者配对一致性；ccRCC 先汇总患者内多区域，各队列人数不合并。</a:t>
            </a:r>
          </a:p>
        </p:txBody>
      </p:sp>
      <p:sp>
        <p:nvSpPr>
          <p:cNvPr id="174" name="Editable text: 分母包含升高、降低与不变的可评估配对；使用原处理矩阵。¹ 2-羟基戊二酸未区分 "/>
          <p:cNvSpPr txBox="1"/>
          <p:nvPr/>
        </p:nvSpPr>
        <p:spPr>
          <a:xfrm>
            <a:off x="609599" y="6498363"/>
            <a:ext cx="5097342" cy="1479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分母包含升高、降低与不变的可评估配对；使用原处理矩阵。¹ 2-羟基戊二酸未区分 D/L。原排序、效应与 P 值不变。</a:t>
            </a:r>
          </a:p>
        </p:txBody>
      </p:sp>
      <p:sp>
        <p:nvSpPr>
          <p:cNvPr id="175" name="Editable text: 07"/>
          <p:cNvSpPr txBox="1"/>
          <p:nvPr/>
        </p:nvSpPr>
        <p:spPr>
          <a:xfrm>
            <a:off x="11399507" y="6458305"/>
            <a:ext cx="249512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07</a:t>
            </a:r>
          </a:p>
        </p:txBody>
      </p:sp>
      <p:pic>
        <p:nvPicPr>
          <p:cNvPr id="176" name="Picture 175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77" name="TextBox 176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178" name="Connector 177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609599" y="2654162"/>
            <a:ext cx="10972800" cy="372358"/>
          </a:xfrm>
          <a:custGeom>
            <a:avLst/>
            <a:gdLst/>
            <a:ahLst/>
            <a:cxnLst/>
            <a:rect l="0" t="0" r="r" b="b"/>
            <a:pathLst>
              <a:path w="1036800" h="35183">
                <a:moveTo>
                  <a:pt x="0" y="0"/>
                </a:moveTo>
                <a:lnTo>
                  <a:pt x="0" y="35183"/>
                </a:lnTo>
                <a:lnTo>
                  <a:pt x="1036800" y="35183"/>
                </a:lnTo>
                <a:lnTo>
                  <a:pt x="1036800" y="0"/>
                </a:lnTo>
                <a:close/>
              </a:path>
            </a:pathLst>
          </a:custGeom>
          <a:solidFill>
            <a:srgbClr val="F5F8F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609599" y="3500430"/>
            <a:ext cx="10972800" cy="372358"/>
          </a:xfrm>
          <a:custGeom>
            <a:avLst/>
            <a:gdLst/>
            <a:ahLst/>
            <a:cxnLst/>
            <a:rect l="0" t="0" r="r" b="b"/>
            <a:pathLst>
              <a:path w="1036800" h="35183">
                <a:moveTo>
                  <a:pt x="0" y="0"/>
                </a:moveTo>
                <a:lnTo>
                  <a:pt x="0" y="35183"/>
                </a:lnTo>
                <a:lnTo>
                  <a:pt x="1036800" y="35183"/>
                </a:lnTo>
                <a:lnTo>
                  <a:pt x="1036800" y="0"/>
                </a:lnTo>
                <a:close/>
              </a:path>
            </a:pathLst>
          </a:custGeom>
          <a:solidFill>
            <a:srgbClr val="F5F8F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609599" y="4346699"/>
            <a:ext cx="10972800" cy="372357"/>
          </a:xfrm>
          <a:custGeom>
            <a:avLst/>
            <a:gdLst/>
            <a:ahLst/>
            <a:cxnLst/>
            <a:rect l="0" t="0" r="r" b="b"/>
            <a:pathLst>
              <a:path w="1036800" h="35183">
                <a:moveTo>
                  <a:pt x="0" y="0"/>
                </a:moveTo>
                <a:lnTo>
                  <a:pt x="0" y="35183"/>
                </a:lnTo>
                <a:lnTo>
                  <a:pt x="1036800" y="35183"/>
                </a:lnTo>
                <a:lnTo>
                  <a:pt x="1036800" y="0"/>
                </a:lnTo>
                <a:close/>
              </a:path>
            </a:pathLst>
          </a:custGeom>
          <a:solidFill>
            <a:srgbClr val="F5F8F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3075376" y="278237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4300672" y="278237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913320" y="278237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vector geometry"/>
          <p:cNvSpPr/>
          <p:nvPr/>
        </p:nvSpPr>
        <p:spPr>
          <a:xfrm>
            <a:off x="5525968" y="278237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6138616" y="278237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6751264" y="278237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3075376" y="3205508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88024" y="3205508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4300672" y="3205508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5525968" y="3205508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vector geometry"/>
          <p:cNvSpPr/>
          <p:nvPr/>
        </p:nvSpPr>
        <p:spPr>
          <a:xfrm>
            <a:off x="6138616" y="3205508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6751264" y="3205508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075376" y="3628642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4300672" y="3628642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5525968" y="3628642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6138616" y="3628642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3075376" y="4051776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4300672" y="4051776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5525968" y="4051776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6751264" y="4051776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3075376" y="4474910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3688024" y="4474910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4300672" y="4474910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4913320" y="4474910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5525968" y="4474910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6138616" y="4474910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6751264" y="4474910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3075376" y="489804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3688024" y="489804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4300672" y="489804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5525968" y="489804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6138616" y="489804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609599" y="2645699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7160361" y="2044849"/>
            <a:ext cx="105" cy="3046565"/>
          </a:xfrm>
          <a:custGeom>
            <a:avLst/>
            <a:gdLst/>
            <a:ahLst/>
            <a:cxnLst/>
            <a:rect l="0" t="0" r="r" b="b"/>
            <a:pathLst>
              <a:path w="10" h="287864">
                <a:moveTo>
                  <a:pt x="0" y="0"/>
                </a:moveTo>
                <a:lnTo>
                  <a:pt x="0" y="287864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8114994" y="2044849"/>
            <a:ext cx="105" cy="3046565"/>
          </a:xfrm>
          <a:custGeom>
            <a:avLst/>
            <a:gdLst/>
            <a:ahLst/>
            <a:cxnLst/>
            <a:rect l="0" t="0" r="r" b="b"/>
            <a:pathLst>
              <a:path w="10" h="287864">
                <a:moveTo>
                  <a:pt x="0" y="0"/>
                </a:moveTo>
                <a:lnTo>
                  <a:pt x="0" y="287864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742332" y="5468004"/>
            <a:ext cx="91654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9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9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C77462">
              <a:alpha val="100000"/>
            </a:srgbClr>
          </a:solidFill>
          <a:ln w="10583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2961532" y="5468004"/>
            <a:ext cx="91654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8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8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468B9E">
              <a:alpha val="100000"/>
            </a:srgbClr>
          </a:solidFill>
          <a:ln w="10583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4140092" y="5468004"/>
            <a:ext cx="91654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8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8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6A7973">
              <a:alpha val="100000"/>
            </a:srgbClr>
          </a:solidFill>
          <a:ln w="10583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6294013" y="5468004"/>
            <a:ext cx="91653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8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8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FFFFFF">
              <a:alpha val="100000"/>
            </a:srgbClr>
          </a:solidFill>
          <a:ln w="13758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609599" y="5829299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text: 候选基因"/>
          <p:cNvSpPr txBox="1"/>
          <p:nvPr/>
        </p:nvSpPr>
        <p:spPr>
          <a:xfrm>
            <a:off x="609599" y="2353759"/>
            <a:ext cx="518054" cy="176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候选基因</a:t>
            </a:r>
          </a:p>
        </p:txBody>
      </p:sp>
      <p:sp>
        <p:nvSpPr>
          <p:cNvPr id="50" name="Editable text: BRCA"/>
          <p:cNvSpPr txBox="1"/>
          <p:nvPr/>
        </p:nvSpPr>
        <p:spPr>
          <a:xfrm>
            <a:off x="2979885" y="2357691"/>
            <a:ext cx="357329" cy="167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BRCA</a:t>
            </a:r>
          </a:p>
        </p:txBody>
      </p:sp>
      <p:sp>
        <p:nvSpPr>
          <p:cNvPr id="51" name="Editable text: COAD"/>
          <p:cNvSpPr txBox="1"/>
          <p:nvPr/>
        </p:nvSpPr>
        <p:spPr>
          <a:xfrm>
            <a:off x="3580710" y="2357691"/>
            <a:ext cx="380605" cy="167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COAD</a:t>
            </a:r>
          </a:p>
        </p:txBody>
      </p:sp>
      <p:sp>
        <p:nvSpPr>
          <p:cNvPr id="52" name="Editable text: GBM"/>
          <p:cNvSpPr txBox="1"/>
          <p:nvPr/>
        </p:nvSpPr>
        <p:spPr>
          <a:xfrm>
            <a:off x="4222627" y="2357691"/>
            <a:ext cx="322165" cy="167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GBM</a:t>
            </a:r>
          </a:p>
        </p:txBody>
      </p:sp>
      <p:sp>
        <p:nvSpPr>
          <p:cNvPr id="53" name="Editable text: PDAC"/>
          <p:cNvSpPr txBox="1"/>
          <p:nvPr/>
        </p:nvSpPr>
        <p:spPr>
          <a:xfrm>
            <a:off x="4814853" y="2357691"/>
            <a:ext cx="362554" cy="167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PDAC</a:t>
            </a:r>
          </a:p>
        </p:txBody>
      </p:sp>
      <p:sp>
        <p:nvSpPr>
          <p:cNvPr id="54" name="Editable text: PRAD"/>
          <p:cNvSpPr txBox="1"/>
          <p:nvPr/>
        </p:nvSpPr>
        <p:spPr>
          <a:xfrm>
            <a:off x="5424772" y="2357691"/>
            <a:ext cx="368613" cy="167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PRAD</a:t>
            </a:r>
          </a:p>
        </p:txBody>
      </p:sp>
      <p:sp>
        <p:nvSpPr>
          <p:cNvPr id="55" name="Editable text: ccRCC3"/>
          <p:cNvSpPr txBox="1"/>
          <p:nvPr/>
        </p:nvSpPr>
        <p:spPr>
          <a:xfrm>
            <a:off x="5996327" y="2357691"/>
            <a:ext cx="451596" cy="167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ccRCC3</a:t>
            </a:r>
          </a:p>
        </p:txBody>
      </p:sp>
      <p:sp>
        <p:nvSpPr>
          <p:cNvPr id="56" name="Editable text: ccRCC4"/>
          <p:cNvSpPr txBox="1"/>
          <p:nvPr/>
        </p:nvSpPr>
        <p:spPr>
          <a:xfrm>
            <a:off x="6608975" y="2357691"/>
            <a:ext cx="451596" cy="167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ccRCC4</a:t>
            </a:r>
          </a:p>
        </p:txBody>
      </p:sp>
      <p:sp>
        <p:nvSpPr>
          <p:cNvPr id="57" name="Editable text: 同向显著 / 可评估"/>
          <p:cNvSpPr txBox="1"/>
          <p:nvPr/>
        </p:nvSpPr>
        <p:spPr>
          <a:xfrm>
            <a:off x="7187198" y="2294798"/>
            <a:ext cx="775370" cy="1383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1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同向显著 / 可评估</a:t>
            </a:r>
          </a:p>
        </p:txBody>
      </p:sp>
      <p:sp>
        <p:nvSpPr>
          <p:cNvPr id="58" name="Editable text: 癌种数"/>
          <p:cNvSpPr txBox="1"/>
          <p:nvPr/>
        </p:nvSpPr>
        <p:spPr>
          <a:xfrm>
            <a:off x="7412507" y="2455270"/>
            <a:ext cx="32861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癌种数</a:t>
            </a:r>
          </a:p>
        </p:txBody>
      </p:sp>
      <p:sp>
        <p:nvSpPr>
          <p:cNvPr id="59" name="Editable text: 患者一致性"/>
          <p:cNvSpPr txBox="1"/>
          <p:nvPr/>
        </p:nvSpPr>
        <p:spPr>
          <a:xfrm>
            <a:off x="9570576" y="2032136"/>
            <a:ext cx="74982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患者一致性</a:t>
            </a:r>
          </a:p>
        </p:txBody>
      </p:sp>
      <p:sp>
        <p:nvSpPr>
          <p:cNvPr id="60" name="Editable text: BRCA"/>
          <p:cNvSpPr txBox="1"/>
          <p:nvPr/>
        </p:nvSpPr>
        <p:spPr>
          <a:xfrm>
            <a:off x="8384232" y="2367230"/>
            <a:ext cx="319412" cy="1496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75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BRCA</a:t>
            </a:r>
          </a:p>
        </p:txBody>
      </p:sp>
      <p:sp>
        <p:nvSpPr>
          <p:cNvPr id="61" name="Editable text: COAD"/>
          <p:cNvSpPr txBox="1"/>
          <p:nvPr/>
        </p:nvSpPr>
        <p:spPr>
          <a:xfrm>
            <a:off x="8933261" y="2367230"/>
            <a:ext cx="340365" cy="1496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75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COAD</a:t>
            </a:r>
          </a:p>
        </p:txBody>
      </p:sp>
      <p:sp>
        <p:nvSpPr>
          <p:cNvPr id="62" name="Editable text: PDAC"/>
          <p:cNvSpPr txBox="1"/>
          <p:nvPr/>
        </p:nvSpPr>
        <p:spPr>
          <a:xfrm>
            <a:off x="9500812" y="2367230"/>
            <a:ext cx="324188" cy="1496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75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PDAC</a:t>
            </a:r>
          </a:p>
        </p:txBody>
      </p:sp>
      <p:sp>
        <p:nvSpPr>
          <p:cNvPr id="63" name="Editable text: PRAD"/>
          <p:cNvSpPr txBox="1"/>
          <p:nvPr/>
        </p:nvSpPr>
        <p:spPr>
          <a:xfrm>
            <a:off x="10057944" y="2367230"/>
            <a:ext cx="329625" cy="1496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75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PRAD</a:t>
            </a:r>
          </a:p>
        </p:txBody>
      </p:sp>
      <p:sp>
        <p:nvSpPr>
          <p:cNvPr id="64" name="Editable text: ccRCC3"/>
          <p:cNvSpPr txBox="1"/>
          <p:nvPr/>
        </p:nvSpPr>
        <p:spPr>
          <a:xfrm>
            <a:off x="10580515" y="2367230"/>
            <a:ext cx="403837" cy="1496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75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ccRCC3</a:t>
            </a:r>
          </a:p>
        </p:txBody>
      </p:sp>
      <p:sp>
        <p:nvSpPr>
          <p:cNvPr id="65" name="Editable text: ccRCC4"/>
          <p:cNvSpPr txBox="1"/>
          <p:nvPr/>
        </p:nvSpPr>
        <p:spPr>
          <a:xfrm>
            <a:off x="11140128" y="2367230"/>
            <a:ext cx="403837" cy="1496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75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ccRCC4</a:t>
            </a:r>
          </a:p>
        </p:txBody>
      </p:sp>
      <p:sp>
        <p:nvSpPr>
          <p:cNvPr id="66" name="Editable text: ABHD6"/>
          <p:cNvSpPr txBox="1"/>
          <p:nvPr/>
        </p:nvSpPr>
        <p:spPr>
          <a:xfrm>
            <a:off x="675436" y="2735377"/>
            <a:ext cx="535800" cy="197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5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ABHD6</a:t>
            </a:r>
          </a:p>
        </p:txBody>
      </p:sp>
      <p:sp>
        <p:nvSpPr>
          <p:cNvPr id="67" name="Editable text: —"/>
          <p:cNvSpPr txBox="1"/>
          <p:nvPr/>
        </p:nvSpPr>
        <p:spPr>
          <a:xfrm>
            <a:off x="3660250" y="2713341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68" name="Editable text: ↓"/>
          <p:cNvSpPr txBox="1"/>
          <p:nvPr/>
        </p:nvSpPr>
        <p:spPr>
          <a:xfrm>
            <a:off x="7249702" y="2704940"/>
            <a:ext cx="160866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↓</a:t>
            </a:r>
          </a:p>
        </p:txBody>
      </p:sp>
      <p:sp>
        <p:nvSpPr>
          <p:cNvPr id="69" name="Editable text: 4/5"/>
          <p:cNvSpPr txBox="1"/>
          <p:nvPr/>
        </p:nvSpPr>
        <p:spPr>
          <a:xfrm>
            <a:off x="7465718" y="2704940"/>
            <a:ext cx="365252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4/5</a:t>
            </a:r>
          </a:p>
        </p:txBody>
      </p:sp>
      <p:sp>
        <p:nvSpPr>
          <p:cNvPr id="70" name="Editable text: 41/45"/>
          <p:cNvSpPr txBox="1"/>
          <p:nvPr/>
        </p:nvSpPr>
        <p:spPr>
          <a:xfrm>
            <a:off x="8363065" y="2749549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41/45</a:t>
            </a:r>
          </a:p>
        </p:txBody>
      </p:sp>
      <p:sp>
        <p:nvSpPr>
          <p:cNvPr id="71" name="Editable text: —"/>
          <p:cNvSpPr txBox="1"/>
          <p:nvPr/>
        </p:nvSpPr>
        <p:spPr>
          <a:xfrm>
            <a:off x="9019168" y="2749549"/>
            <a:ext cx="174879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72" name="Editable text: 3/11"/>
          <p:cNvSpPr txBox="1"/>
          <p:nvPr/>
        </p:nvSpPr>
        <p:spPr>
          <a:xfrm>
            <a:off x="9515695" y="2749549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3/11</a:t>
            </a:r>
          </a:p>
        </p:txBody>
      </p:sp>
      <p:sp>
        <p:nvSpPr>
          <p:cNvPr id="73" name="Editable text: 27/43"/>
          <p:cNvSpPr txBox="1"/>
          <p:nvPr/>
        </p:nvSpPr>
        <p:spPr>
          <a:xfrm>
            <a:off x="10041903" y="2749549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27/43</a:t>
            </a:r>
          </a:p>
        </p:txBody>
      </p:sp>
      <p:sp>
        <p:nvSpPr>
          <p:cNvPr id="74" name="Editable text: 12/17"/>
          <p:cNvSpPr txBox="1"/>
          <p:nvPr/>
        </p:nvSpPr>
        <p:spPr>
          <a:xfrm>
            <a:off x="10601516" y="2749549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12/17</a:t>
            </a:r>
          </a:p>
        </p:txBody>
      </p:sp>
      <p:sp>
        <p:nvSpPr>
          <p:cNvPr id="75" name="Editable text: 9/12"/>
          <p:cNvSpPr txBox="1"/>
          <p:nvPr/>
        </p:nvSpPr>
        <p:spPr>
          <a:xfrm>
            <a:off x="11194533" y="2749549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9/12</a:t>
            </a:r>
          </a:p>
        </p:txBody>
      </p:sp>
      <p:sp>
        <p:nvSpPr>
          <p:cNvPr id="76" name="Editable text: ASNS"/>
          <p:cNvSpPr txBox="1"/>
          <p:nvPr/>
        </p:nvSpPr>
        <p:spPr>
          <a:xfrm>
            <a:off x="675436" y="3158512"/>
            <a:ext cx="423589" cy="197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5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ASNS</a:t>
            </a:r>
          </a:p>
        </p:txBody>
      </p:sp>
      <p:sp>
        <p:nvSpPr>
          <p:cNvPr id="77" name="Editable text: —"/>
          <p:cNvSpPr txBox="1"/>
          <p:nvPr/>
        </p:nvSpPr>
        <p:spPr>
          <a:xfrm>
            <a:off x="4885546" y="3136475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78" name="Editable text: ↑"/>
          <p:cNvSpPr txBox="1"/>
          <p:nvPr/>
        </p:nvSpPr>
        <p:spPr>
          <a:xfrm>
            <a:off x="7249702" y="3128075"/>
            <a:ext cx="160866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↑</a:t>
            </a:r>
          </a:p>
        </p:txBody>
      </p:sp>
      <p:sp>
        <p:nvSpPr>
          <p:cNvPr id="79" name="Editable text: 4/5"/>
          <p:cNvSpPr txBox="1"/>
          <p:nvPr/>
        </p:nvSpPr>
        <p:spPr>
          <a:xfrm>
            <a:off x="7465718" y="3128075"/>
            <a:ext cx="365252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4/5</a:t>
            </a:r>
          </a:p>
        </p:txBody>
      </p:sp>
      <p:sp>
        <p:nvSpPr>
          <p:cNvPr id="80" name="Editable text: 36/45"/>
          <p:cNvSpPr txBox="1"/>
          <p:nvPr/>
        </p:nvSpPr>
        <p:spPr>
          <a:xfrm>
            <a:off x="8363065" y="3172683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36/45</a:t>
            </a:r>
          </a:p>
        </p:txBody>
      </p:sp>
      <p:sp>
        <p:nvSpPr>
          <p:cNvPr id="81" name="Editable text: 31/33"/>
          <p:cNvSpPr txBox="1"/>
          <p:nvPr/>
        </p:nvSpPr>
        <p:spPr>
          <a:xfrm>
            <a:off x="8922678" y="3172683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31/33</a:t>
            </a:r>
          </a:p>
        </p:txBody>
      </p:sp>
      <p:sp>
        <p:nvSpPr>
          <p:cNvPr id="82" name="Editable text: —"/>
          <p:cNvSpPr txBox="1"/>
          <p:nvPr/>
        </p:nvSpPr>
        <p:spPr>
          <a:xfrm>
            <a:off x="9578781" y="3172683"/>
            <a:ext cx="174879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83" name="Editable text: 29/43"/>
          <p:cNvSpPr txBox="1"/>
          <p:nvPr/>
        </p:nvSpPr>
        <p:spPr>
          <a:xfrm>
            <a:off x="10041903" y="3172683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29/43</a:t>
            </a:r>
          </a:p>
        </p:txBody>
      </p:sp>
      <p:sp>
        <p:nvSpPr>
          <p:cNvPr id="84" name="Editable text: 15/17"/>
          <p:cNvSpPr txBox="1"/>
          <p:nvPr/>
        </p:nvSpPr>
        <p:spPr>
          <a:xfrm>
            <a:off x="10601516" y="3172683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15/17</a:t>
            </a:r>
          </a:p>
        </p:txBody>
      </p:sp>
      <p:sp>
        <p:nvSpPr>
          <p:cNvPr id="85" name="Editable text: 10/12"/>
          <p:cNvSpPr txBox="1"/>
          <p:nvPr/>
        </p:nvSpPr>
        <p:spPr>
          <a:xfrm>
            <a:off x="11161130" y="3172683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10/12</a:t>
            </a:r>
          </a:p>
        </p:txBody>
      </p:sp>
      <p:sp>
        <p:nvSpPr>
          <p:cNvPr id="86" name="Editable text: SHMT2"/>
          <p:cNvSpPr txBox="1"/>
          <p:nvPr/>
        </p:nvSpPr>
        <p:spPr>
          <a:xfrm>
            <a:off x="675436" y="3581646"/>
            <a:ext cx="539315" cy="197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5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SHMT2</a:t>
            </a:r>
          </a:p>
        </p:txBody>
      </p:sp>
      <p:sp>
        <p:nvSpPr>
          <p:cNvPr id="87" name="Editable text: —"/>
          <p:cNvSpPr txBox="1"/>
          <p:nvPr/>
        </p:nvSpPr>
        <p:spPr>
          <a:xfrm>
            <a:off x="3660250" y="3559609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88" name="Editable text: —"/>
          <p:cNvSpPr txBox="1"/>
          <p:nvPr/>
        </p:nvSpPr>
        <p:spPr>
          <a:xfrm>
            <a:off x="4885546" y="3559609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89" name="Editable text: —"/>
          <p:cNvSpPr txBox="1"/>
          <p:nvPr/>
        </p:nvSpPr>
        <p:spPr>
          <a:xfrm>
            <a:off x="6723490" y="3559609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90" name="Editable text: ↑"/>
          <p:cNvSpPr txBox="1"/>
          <p:nvPr/>
        </p:nvSpPr>
        <p:spPr>
          <a:xfrm>
            <a:off x="7249702" y="3551209"/>
            <a:ext cx="160866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↑</a:t>
            </a:r>
          </a:p>
        </p:txBody>
      </p:sp>
      <p:sp>
        <p:nvSpPr>
          <p:cNvPr id="91" name="Editable text: 4/4"/>
          <p:cNvSpPr txBox="1"/>
          <p:nvPr/>
        </p:nvSpPr>
        <p:spPr>
          <a:xfrm>
            <a:off x="7465718" y="3551209"/>
            <a:ext cx="365252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4/4</a:t>
            </a:r>
          </a:p>
        </p:txBody>
      </p:sp>
      <p:sp>
        <p:nvSpPr>
          <p:cNvPr id="92" name="Editable text: 40/45"/>
          <p:cNvSpPr txBox="1"/>
          <p:nvPr/>
        </p:nvSpPr>
        <p:spPr>
          <a:xfrm>
            <a:off x="8363065" y="3595818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40/45</a:t>
            </a:r>
          </a:p>
        </p:txBody>
      </p:sp>
      <p:sp>
        <p:nvSpPr>
          <p:cNvPr id="93" name="Editable text: —"/>
          <p:cNvSpPr txBox="1"/>
          <p:nvPr/>
        </p:nvSpPr>
        <p:spPr>
          <a:xfrm>
            <a:off x="9019168" y="3595818"/>
            <a:ext cx="174879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94" name="Editable text: —"/>
          <p:cNvSpPr txBox="1"/>
          <p:nvPr/>
        </p:nvSpPr>
        <p:spPr>
          <a:xfrm>
            <a:off x="9578781" y="3595818"/>
            <a:ext cx="174879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95" name="Editable text: 34/43"/>
          <p:cNvSpPr txBox="1"/>
          <p:nvPr/>
        </p:nvSpPr>
        <p:spPr>
          <a:xfrm>
            <a:off x="10041903" y="3595818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34/43</a:t>
            </a:r>
          </a:p>
        </p:txBody>
      </p:sp>
      <p:sp>
        <p:nvSpPr>
          <p:cNvPr id="96" name="Editable text: 17/17"/>
          <p:cNvSpPr txBox="1"/>
          <p:nvPr/>
        </p:nvSpPr>
        <p:spPr>
          <a:xfrm>
            <a:off x="10601516" y="3595818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17/17</a:t>
            </a:r>
          </a:p>
        </p:txBody>
      </p:sp>
      <p:sp>
        <p:nvSpPr>
          <p:cNvPr id="97" name="Editable text: —"/>
          <p:cNvSpPr txBox="1"/>
          <p:nvPr/>
        </p:nvSpPr>
        <p:spPr>
          <a:xfrm>
            <a:off x="11257620" y="3595818"/>
            <a:ext cx="174878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98" name="Editable text: SOAT1"/>
          <p:cNvSpPr txBox="1"/>
          <p:nvPr/>
        </p:nvSpPr>
        <p:spPr>
          <a:xfrm>
            <a:off x="675436" y="4004780"/>
            <a:ext cx="491255" cy="197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5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SOAT1</a:t>
            </a:r>
          </a:p>
        </p:txBody>
      </p:sp>
      <p:sp>
        <p:nvSpPr>
          <p:cNvPr id="99" name="Editable text: —"/>
          <p:cNvSpPr txBox="1"/>
          <p:nvPr/>
        </p:nvSpPr>
        <p:spPr>
          <a:xfrm>
            <a:off x="3660250" y="3982743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00" name="Editable text: —"/>
          <p:cNvSpPr txBox="1"/>
          <p:nvPr/>
        </p:nvSpPr>
        <p:spPr>
          <a:xfrm>
            <a:off x="4885546" y="3982743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01" name="Editable text: —"/>
          <p:cNvSpPr txBox="1"/>
          <p:nvPr/>
        </p:nvSpPr>
        <p:spPr>
          <a:xfrm>
            <a:off x="6110842" y="3982743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02" name="Editable text: ↑"/>
          <p:cNvSpPr txBox="1"/>
          <p:nvPr/>
        </p:nvSpPr>
        <p:spPr>
          <a:xfrm>
            <a:off x="7249702" y="3974343"/>
            <a:ext cx="160866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↑</a:t>
            </a:r>
          </a:p>
        </p:txBody>
      </p:sp>
      <p:sp>
        <p:nvSpPr>
          <p:cNvPr id="103" name="Editable text: 4/4"/>
          <p:cNvSpPr txBox="1"/>
          <p:nvPr/>
        </p:nvSpPr>
        <p:spPr>
          <a:xfrm>
            <a:off x="7465718" y="3974343"/>
            <a:ext cx="365252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4/4</a:t>
            </a:r>
          </a:p>
        </p:txBody>
      </p:sp>
      <p:sp>
        <p:nvSpPr>
          <p:cNvPr id="104" name="Editable text: 28/45"/>
          <p:cNvSpPr txBox="1"/>
          <p:nvPr/>
        </p:nvSpPr>
        <p:spPr>
          <a:xfrm>
            <a:off x="8363065" y="4018952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28/45</a:t>
            </a:r>
          </a:p>
        </p:txBody>
      </p:sp>
      <p:sp>
        <p:nvSpPr>
          <p:cNvPr id="105" name="Editable text: —"/>
          <p:cNvSpPr txBox="1"/>
          <p:nvPr/>
        </p:nvSpPr>
        <p:spPr>
          <a:xfrm>
            <a:off x="9019168" y="4018952"/>
            <a:ext cx="174879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06" name="Editable text: —"/>
          <p:cNvSpPr txBox="1"/>
          <p:nvPr/>
        </p:nvSpPr>
        <p:spPr>
          <a:xfrm>
            <a:off x="9578781" y="4018952"/>
            <a:ext cx="174879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07" name="Editable text: 25/43"/>
          <p:cNvSpPr txBox="1"/>
          <p:nvPr/>
        </p:nvSpPr>
        <p:spPr>
          <a:xfrm>
            <a:off x="10041903" y="4018952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25/43</a:t>
            </a:r>
          </a:p>
        </p:txBody>
      </p:sp>
      <p:sp>
        <p:nvSpPr>
          <p:cNvPr id="108" name="Editable text: —"/>
          <p:cNvSpPr txBox="1"/>
          <p:nvPr/>
        </p:nvSpPr>
        <p:spPr>
          <a:xfrm>
            <a:off x="10698007" y="4018952"/>
            <a:ext cx="174879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09" name="Editable text: 12/12"/>
          <p:cNvSpPr txBox="1"/>
          <p:nvPr/>
        </p:nvSpPr>
        <p:spPr>
          <a:xfrm>
            <a:off x="11161130" y="4018952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12/12</a:t>
            </a:r>
          </a:p>
        </p:txBody>
      </p:sp>
      <p:sp>
        <p:nvSpPr>
          <p:cNvPr id="110" name="Editable text: LYPLA1"/>
          <p:cNvSpPr txBox="1"/>
          <p:nvPr/>
        </p:nvSpPr>
        <p:spPr>
          <a:xfrm>
            <a:off x="675436" y="4427914"/>
            <a:ext cx="542463" cy="197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5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LYPLA1</a:t>
            </a:r>
          </a:p>
        </p:txBody>
      </p:sp>
      <p:sp>
        <p:nvSpPr>
          <p:cNvPr id="111" name="Editable text: ↑"/>
          <p:cNvSpPr txBox="1"/>
          <p:nvPr/>
        </p:nvSpPr>
        <p:spPr>
          <a:xfrm>
            <a:off x="7249702" y="4397477"/>
            <a:ext cx="160866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↑</a:t>
            </a:r>
          </a:p>
        </p:txBody>
      </p:sp>
      <p:sp>
        <p:nvSpPr>
          <p:cNvPr id="112" name="Editable text: 4/6"/>
          <p:cNvSpPr txBox="1"/>
          <p:nvPr/>
        </p:nvSpPr>
        <p:spPr>
          <a:xfrm>
            <a:off x="7465718" y="4397477"/>
            <a:ext cx="365252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4/6</a:t>
            </a:r>
          </a:p>
        </p:txBody>
      </p:sp>
      <p:sp>
        <p:nvSpPr>
          <p:cNvPr id="113" name="Editable text: 34/45"/>
          <p:cNvSpPr txBox="1"/>
          <p:nvPr/>
        </p:nvSpPr>
        <p:spPr>
          <a:xfrm>
            <a:off x="8363065" y="4442086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34/45</a:t>
            </a:r>
          </a:p>
        </p:txBody>
      </p:sp>
      <p:sp>
        <p:nvSpPr>
          <p:cNvPr id="114" name="Editable text: 26/33"/>
          <p:cNvSpPr txBox="1"/>
          <p:nvPr/>
        </p:nvSpPr>
        <p:spPr>
          <a:xfrm>
            <a:off x="8922678" y="4442086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26/33</a:t>
            </a:r>
          </a:p>
        </p:txBody>
      </p:sp>
      <p:sp>
        <p:nvSpPr>
          <p:cNvPr id="115" name="Editable text: 8/11"/>
          <p:cNvSpPr txBox="1"/>
          <p:nvPr/>
        </p:nvSpPr>
        <p:spPr>
          <a:xfrm>
            <a:off x="9515695" y="4442086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8/11</a:t>
            </a:r>
          </a:p>
        </p:txBody>
      </p:sp>
      <p:sp>
        <p:nvSpPr>
          <p:cNvPr id="116" name="Editable text: 33/43"/>
          <p:cNvSpPr txBox="1"/>
          <p:nvPr/>
        </p:nvSpPr>
        <p:spPr>
          <a:xfrm>
            <a:off x="10041903" y="4442086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33/43</a:t>
            </a:r>
          </a:p>
        </p:txBody>
      </p:sp>
      <p:sp>
        <p:nvSpPr>
          <p:cNvPr id="117" name="Editable text: 5/17"/>
          <p:cNvSpPr txBox="1"/>
          <p:nvPr/>
        </p:nvSpPr>
        <p:spPr>
          <a:xfrm>
            <a:off x="10634920" y="4442086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5/17</a:t>
            </a:r>
          </a:p>
        </p:txBody>
      </p:sp>
      <p:sp>
        <p:nvSpPr>
          <p:cNvPr id="118" name="Editable text: 3/12"/>
          <p:cNvSpPr txBox="1"/>
          <p:nvPr/>
        </p:nvSpPr>
        <p:spPr>
          <a:xfrm>
            <a:off x="11194533" y="4442086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3/12</a:t>
            </a:r>
          </a:p>
        </p:txBody>
      </p:sp>
      <p:sp>
        <p:nvSpPr>
          <p:cNvPr id="119" name="Editable text: SLC7A11"/>
          <p:cNvSpPr txBox="1"/>
          <p:nvPr/>
        </p:nvSpPr>
        <p:spPr>
          <a:xfrm>
            <a:off x="675436" y="4851048"/>
            <a:ext cx="631130" cy="197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5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SLC7A11</a:t>
            </a:r>
          </a:p>
        </p:txBody>
      </p:sp>
      <p:sp>
        <p:nvSpPr>
          <p:cNvPr id="120" name="Editable text: —"/>
          <p:cNvSpPr txBox="1"/>
          <p:nvPr/>
        </p:nvSpPr>
        <p:spPr>
          <a:xfrm>
            <a:off x="4885546" y="4829012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21" name="Editable text: —"/>
          <p:cNvSpPr txBox="1"/>
          <p:nvPr/>
        </p:nvSpPr>
        <p:spPr>
          <a:xfrm>
            <a:off x="6723490" y="4829012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22" name="Editable text: ↑"/>
          <p:cNvSpPr txBox="1"/>
          <p:nvPr/>
        </p:nvSpPr>
        <p:spPr>
          <a:xfrm>
            <a:off x="7249702" y="4820611"/>
            <a:ext cx="160866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↑</a:t>
            </a:r>
          </a:p>
        </p:txBody>
      </p:sp>
      <p:sp>
        <p:nvSpPr>
          <p:cNvPr id="123" name="Editable text: 4/5"/>
          <p:cNvSpPr txBox="1"/>
          <p:nvPr/>
        </p:nvSpPr>
        <p:spPr>
          <a:xfrm>
            <a:off x="7465718" y="4820611"/>
            <a:ext cx="365252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4/5</a:t>
            </a:r>
          </a:p>
        </p:txBody>
      </p:sp>
      <p:sp>
        <p:nvSpPr>
          <p:cNvPr id="124" name="Editable text: 44/45"/>
          <p:cNvSpPr txBox="1"/>
          <p:nvPr/>
        </p:nvSpPr>
        <p:spPr>
          <a:xfrm>
            <a:off x="8363065" y="4865220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44/45</a:t>
            </a:r>
          </a:p>
        </p:txBody>
      </p:sp>
      <p:sp>
        <p:nvSpPr>
          <p:cNvPr id="125" name="Editable text: 27/33"/>
          <p:cNvSpPr txBox="1"/>
          <p:nvPr/>
        </p:nvSpPr>
        <p:spPr>
          <a:xfrm>
            <a:off x="8922678" y="4865220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27/33</a:t>
            </a:r>
          </a:p>
        </p:txBody>
      </p:sp>
      <p:sp>
        <p:nvSpPr>
          <p:cNvPr id="126" name="Editable text: —"/>
          <p:cNvSpPr txBox="1"/>
          <p:nvPr/>
        </p:nvSpPr>
        <p:spPr>
          <a:xfrm>
            <a:off x="9578781" y="4865220"/>
            <a:ext cx="174879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27" name="Editable text: 34/43"/>
          <p:cNvSpPr txBox="1"/>
          <p:nvPr/>
        </p:nvSpPr>
        <p:spPr>
          <a:xfrm>
            <a:off x="10041903" y="4865220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34/43</a:t>
            </a:r>
          </a:p>
        </p:txBody>
      </p:sp>
      <p:sp>
        <p:nvSpPr>
          <p:cNvPr id="128" name="Editable text: 17/17"/>
          <p:cNvSpPr txBox="1"/>
          <p:nvPr/>
        </p:nvSpPr>
        <p:spPr>
          <a:xfrm>
            <a:off x="10601516" y="4865220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17/17</a:t>
            </a:r>
          </a:p>
        </p:txBody>
      </p:sp>
      <p:sp>
        <p:nvSpPr>
          <p:cNvPr id="129" name="Editable text: —"/>
          <p:cNvSpPr txBox="1"/>
          <p:nvPr/>
        </p:nvSpPr>
        <p:spPr>
          <a:xfrm>
            <a:off x="11257620" y="4865220"/>
            <a:ext cx="174878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30" name="Editable text: 升高"/>
          <p:cNvSpPr txBox="1"/>
          <p:nvPr/>
        </p:nvSpPr>
        <p:spPr>
          <a:xfrm>
            <a:off x="1966976" y="5426453"/>
            <a:ext cx="272256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升高</a:t>
            </a:r>
          </a:p>
        </p:txBody>
      </p:sp>
      <p:sp>
        <p:nvSpPr>
          <p:cNvPr id="131" name="Editable text: 降低"/>
          <p:cNvSpPr txBox="1"/>
          <p:nvPr/>
        </p:nvSpPr>
        <p:spPr>
          <a:xfrm>
            <a:off x="3186175" y="5426453"/>
            <a:ext cx="272256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降低</a:t>
            </a:r>
          </a:p>
        </p:txBody>
      </p:sp>
      <p:sp>
        <p:nvSpPr>
          <p:cNvPr id="132" name="Editable text: 实心 P &lt; 0.05"/>
          <p:cNvSpPr txBox="1"/>
          <p:nvPr/>
        </p:nvSpPr>
        <p:spPr>
          <a:xfrm>
            <a:off x="4372863" y="5426453"/>
            <a:ext cx="743537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实心 P &lt; 0.05</a:t>
            </a:r>
          </a:p>
        </p:txBody>
      </p:sp>
      <p:sp>
        <p:nvSpPr>
          <p:cNvPr id="133" name="Editable text: 空心 P ≥ 0.05"/>
          <p:cNvSpPr txBox="1"/>
          <p:nvPr/>
        </p:nvSpPr>
        <p:spPr>
          <a:xfrm>
            <a:off x="6526783" y="5426453"/>
            <a:ext cx="743537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空心 P ≥ 0.05</a:t>
            </a:r>
          </a:p>
        </p:txBody>
      </p:sp>
      <p:sp>
        <p:nvSpPr>
          <p:cNvPr id="134" name="Editable text: —"/>
          <p:cNvSpPr txBox="1"/>
          <p:nvPr/>
        </p:nvSpPr>
        <p:spPr>
          <a:xfrm>
            <a:off x="8737599" y="5386832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35" name="Editable text: 候选池未覆盖"/>
          <p:cNvSpPr txBox="1"/>
          <p:nvPr/>
        </p:nvSpPr>
        <p:spPr>
          <a:xfrm>
            <a:off x="9046463" y="5426453"/>
            <a:ext cx="716756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候选池未覆盖</a:t>
            </a:r>
          </a:p>
        </p:txBody>
      </p:sp>
      <p:sp>
        <p:nvSpPr>
          <p:cNvPr id="137" name="Editable text: 候选基因的同向变化，在多少患者中重复？"/>
          <p:cNvSpPr txBox="1"/>
          <p:nvPr/>
        </p:nvSpPr>
        <p:spPr>
          <a:xfrm>
            <a:off x="609599" y="1045495"/>
            <a:ext cx="5763683" cy="4504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3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候选基因的同向变化，在多少患者中重复？</a:t>
            </a:r>
          </a:p>
        </p:txBody>
      </p:sp>
      <p:sp>
        <p:nvSpPr>
          <p:cNvPr id="138" name="Editable text: RNA 肿瘤—参照比较  ·  右侧统计与每行主方向一致的患者数 / 可评估配对"/>
          <p:cNvSpPr txBox="1"/>
          <p:nvPr/>
        </p:nvSpPr>
        <p:spPr>
          <a:xfrm>
            <a:off x="633983" y="1570176"/>
            <a:ext cx="473836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RNA 肿瘤—参照比较  ·  右侧统计与每行主方向一致的患者数 / 可评估配对数</a:t>
            </a:r>
          </a:p>
        </p:txBody>
      </p:sp>
      <p:sp>
        <p:nvSpPr>
          <p:cNvPr id="139" name="Editable text: 同向患者数按本行 ↑ / ↓ 统计，与各队列是否显著无关。"/>
          <p:cNvSpPr txBox="1"/>
          <p:nvPr/>
        </p:nvSpPr>
        <p:spPr>
          <a:xfrm>
            <a:off x="609599" y="5960921"/>
            <a:ext cx="3189605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同向患者数按本行 ↑ / ↓ 统计，与各队列是否显著无关。</a:t>
            </a:r>
          </a:p>
        </p:txBody>
      </p:sp>
      <p:sp>
        <p:nvSpPr>
          <p:cNvPr id="140" name="Editable text: GBM 为非配对比较，不计算患者配对一致性；ccRCC 先汇总患者内多区域，各队"/>
          <p:cNvSpPr txBox="1"/>
          <p:nvPr/>
        </p:nvSpPr>
        <p:spPr>
          <a:xfrm>
            <a:off x="609599" y="6235697"/>
            <a:ext cx="4816140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GBM 为非配对比较，不计算患者配对一致性；ccRCC 先汇总患者内多区域，各队列人数不合并。</a:t>
            </a:r>
          </a:p>
        </p:txBody>
      </p:sp>
      <p:sp>
        <p:nvSpPr>
          <p:cNvPr id="141" name="Editable text: 范围：当前直接关系候选池，非全转录组；分母含升、降及不变的可评估配对。原排名、效"/>
          <p:cNvSpPr txBox="1"/>
          <p:nvPr/>
        </p:nvSpPr>
        <p:spPr>
          <a:xfrm>
            <a:off x="609599" y="6498363"/>
            <a:ext cx="4639913" cy="1479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范围：当前直接关系候选池，非全转录组；分母含升、降及不变的可评估配对。原排名、效应与 P 值不变。</a:t>
            </a:r>
          </a:p>
        </p:txBody>
      </p:sp>
      <p:sp>
        <p:nvSpPr>
          <p:cNvPr id="142" name="Editable text: 08"/>
          <p:cNvSpPr txBox="1"/>
          <p:nvPr/>
        </p:nvSpPr>
        <p:spPr>
          <a:xfrm>
            <a:off x="11399507" y="6458305"/>
            <a:ext cx="249512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08</a:t>
            </a:r>
          </a:p>
        </p:txBody>
      </p:sp>
      <p:pic>
        <p:nvPicPr>
          <p:cNvPr id="143" name="Picture 142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44" name="TextBox 143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145" name="Connector 144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able vector geometry"/>
          <p:cNvSpPr/>
          <p:nvPr/>
        </p:nvSpPr>
        <p:spPr>
          <a:xfrm>
            <a:off x="609599" y="2935223"/>
            <a:ext cx="5035295" cy="301751"/>
          </a:xfrm>
          <a:custGeom>
            <a:avLst/>
            <a:gdLst/>
            <a:ahLst/>
            <a:cxnLst/>
            <a:rect l="0" t="0" r="r" b="b"/>
            <a:pathLst>
              <a:path w="475776" h="28512">
                <a:moveTo>
                  <a:pt x="10368" y="28512"/>
                </a:moveTo>
                <a:lnTo>
                  <a:pt x="465408" y="28512"/>
                </a:lnTo>
                <a:cubicBezTo>
                  <a:pt x="472320" y="28512"/>
                  <a:pt x="475776" y="26568"/>
                  <a:pt x="475776" y="22680"/>
                </a:cubicBezTo>
                <a:lnTo>
                  <a:pt x="475776" y="5832"/>
                </a:lnTo>
                <a:cubicBezTo>
                  <a:pt x="475776" y="1944"/>
                  <a:pt x="472320" y="0"/>
                  <a:pt x="465408" y="0"/>
                </a:cubicBezTo>
                <a:lnTo>
                  <a:pt x="10368" y="0"/>
                </a:lnTo>
                <a:cubicBezTo>
                  <a:pt x="3456" y="0"/>
                  <a:pt x="0" y="1944"/>
                  <a:pt x="0" y="5832"/>
                </a:cubicBezTo>
                <a:lnTo>
                  <a:pt x="0" y="22680"/>
                </a:lnTo>
                <a:cubicBezTo>
                  <a:pt x="0" y="26568"/>
                  <a:pt x="3456" y="28512"/>
                  <a:pt x="10368" y="28512"/>
                </a:cubicBezTo>
              </a:path>
            </a:pathLst>
          </a:custGeom>
          <a:solidFill>
            <a:srgbClr val="F3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609599" y="3257549"/>
            <a:ext cx="5035295" cy="301752"/>
          </a:xfrm>
          <a:custGeom>
            <a:avLst/>
            <a:gdLst/>
            <a:ahLst/>
            <a:cxnLst/>
            <a:rect l="0" t="0" r="r" b="b"/>
            <a:pathLst>
              <a:path w="475776" h="28512">
                <a:moveTo>
                  <a:pt x="10368" y="28512"/>
                </a:moveTo>
                <a:lnTo>
                  <a:pt x="465408" y="28512"/>
                </a:lnTo>
                <a:cubicBezTo>
                  <a:pt x="472320" y="28512"/>
                  <a:pt x="475776" y="26568"/>
                  <a:pt x="475776" y="22680"/>
                </a:cubicBezTo>
                <a:lnTo>
                  <a:pt x="475776" y="5832"/>
                </a:lnTo>
                <a:cubicBezTo>
                  <a:pt x="475776" y="1944"/>
                  <a:pt x="472320" y="0"/>
                  <a:pt x="465408" y="0"/>
                </a:cubicBezTo>
                <a:lnTo>
                  <a:pt x="10368" y="0"/>
                </a:lnTo>
                <a:cubicBezTo>
                  <a:pt x="3456" y="0"/>
                  <a:pt x="0" y="1944"/>
                  <a:pt x="0" y="5832"/>
                </a:cubicBezTo>
                <a:lnTo>
                  <a:pt x="0" y="22680"/>
                </a:lnTo>
                <a:cubicBezTo>
                  <a:pt x="0" y="26568"/>
                  <a:pt x="3456" y="28512"/>
                  <a:pt x="10368" y="28512"/>
                </a:cubicBezTo>
              </a:path>
            </a:pathLst>
          </a:custGeom>
          <a:solidFill>
            <a:srgbClr val="F3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609599" y="3579876"/>
            <a:ext cx="5035295" cy="301751"/>
          </a:xfrm>
          <a:custGeom>
            <a:avLst/>
            <a:gdLst/>
            <a:ahLst/>
            <a:cxnLst/>
            <a:rect l="0" t="0" r="r" b="b"/>
            <a:pathLst>
              <a:path w="475776" h="28512">
                <a:moveTo>
                  <a:pt x="10368" y="28512"/>
                </a:moveTo>
                <a:lnTo>
                  <a:pt x="465408" y="28512"/>
                </a:lnTo>
                <a:cubicBezTo>
                  <a:pt x="472320" y="28512"/>
                  <a:pt x="475776" y="26568"/>
                  <a:pt x="475776" y="22680"/>
                </a:cubicBezTo>
                <a:lnTo>
                  <a:pt x="475776" y="5832"/>
                </a:lnTo>
                <a:cubicBezTo>
                  <a:pt x="475776" y="1944"/>
                  <a:pt x="472320" y="0"/>
                  <a:pt x="465408" y="0"/>
                </a:cubicBezTo>
                <a:lnTo>
                  <a:pt x="10368" y="0"/>
                </a:lnTo>
                <a:cubicBezTo>
                  <a:pt x="3456" y="0"/>
                  <a:pt x="0" y="1944"/>
                  <a:pt x="0" y="5832"/>
                </a:cubicBezTo>
                <a:lnTo>
                  <a:pt x="0" y="22680"/>
                </a:lnTo>
                <a:cubicBezTo>
                  <a:pt x="0" y="26568"/>
                  <a:pt x="3456" y="28512"/>
                  <a:pt x="10368" y="28512"/>
                </a:cubicBezTo>
              </a:path>
            </a:pathLst>
          </a:custGeom>
          <a:solidFill>
            <a:srgbClr val="F3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609599" y="4224527"/>
            <a:ext cx="5035295" cy="301751"/>
          </a:xfrm>
          <a:custGeom>
            <a:avLst/>
            <a:gdLst/>
            <a:ahLst/>
            <a:cxnLst/>
            <a:rect l="0" t="0" r="r" b="b"/>
            <a:pathLst>
              <a:path w="475776" h="28512">
                <a:moveTo>
                  <a:pt x="10368" y="28512"/>
                </a:moveTo>
                <a:lnTo>
                  <a:pt x="465408" y="28512"/>
                </a:lnTo>
                <a:cubicBezTo>
                  <a:pt x="472320" y="28512"/>
                  <a:pt x="475776" y="26568"/>
                  <a:pt x="475776" y="22680"/>
                </a:cubicBezTo>
                <a:lnTo>
                  <a:pt x="475776" y="5832"/>
                </a:lnTo>
                <a:cubicBezTo>
                  <a:pt x="475776" y="1944"/>
                  <a:pt x="472320" y="0"/>
                  <a:pt x="465408" y="0"/>
                </a:cubicBezTo>
                <a:lnTo>
                  <a:pt x="10368" y="0"/>
                </a:lnTo>
                <a:cubicBezTo>
                  <a:pt x="3456" y="0"/>
                  <a:pt x="0" y="1944"/>
                  <a:pt x="0" y="5832"/>
                </a:cubicBezTo>
                <a:lnTo>
                  <a:pt x="0" y="22680"/>
                </a:lnTo>
                <a:cubicBezTo>
                  <a:pt x="0" y="26568"/>
                  <a:pt x="3456" y="28512"/>
                  <a:pt x="10368" y="28512"/>
                </a:cubicBezTo>
              </a:path>
            </a:pathLst>
          </a:custGeom>
          <a:solidFill>
            <a:srgbClr val="F7F9F7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6364223" y="2393442"/>
            <a:ext cx="5230368" cy="1193291"/>
          </a:xfrm>
          <a:custGeom>
            <a:avLst/>
            <a:gdLst/>
            <a:ahLst/>
            <a:cxnLst/>
            <a:rect l="0" t="0" r="r" b="b"/>
            <a:pathLst>
              <a:path w="494208" h="112752">
                <a:moveTo>
                  <a:pt x="10368" y="112752"/>
                </a:moveTo>
                <a:lnTo>
                  <a:pt x="483840" y="112752"/>
                </a:lnTo>
                <a:cubicBezTo>
                  <a:pt x="490752" y="112752"/>
                  <a:pt x="494208" y="110808"/>
                  <a:pt x="494208" y="106920"/>
                </a:cubicBezTo>
                <a:lnTo>
                  <a:pt x="494208" y="5832"/>
                </a:lnTo>
                <a:cubicBezTo>
                  <a:pt x="494208" y="1944"/>
                  <a:pt x="490752" y="0"/>
                  <a:pt x="483840" y="0"/>
                </a:cubicBezTo>
                <a:lnTo>
                  <a:pt x="10368" y="0"/>
                </a:lnTo>
                <a:cubicBezTo>
                  <a:pt x="3456" y="0"/>
                  <a:pt x="0" y="1944"/>
                  <a:pt x="0" y="5832"/>
                </a:cubicBezTo>
                <a:lnTo>
                  <a:pt x="0" y="106920"/>
                </a:lnTo>
                <a:cubicBezTo>
                  <a:pt x="0" y="110808"/>
                  <a:pt x="3456" y="112752"/>
                  <a:pt x="10368" y="112752"/>
                </a:cubicBezTo>
              </a:path>
            </a:pathLst>
          </a:custGeom>
          <a:solidFill>
            <a:srgbClr val="F2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609599" y="5520690"/>
            <a:ext cx="10972800" cy="466343"/>
          </a:xfrm>
          <a:custGeom>
            <a:avLst/>
            <a:gdLst/>
            <a:ahLst/>
            <a:cxnLst/>
            <a:rect l="0" t="0" r="r" b="b"/>
            <a:pathLst>
              <a:path w="1036800" h="44064">
                <a:moveTo>
                  <a:pt x="10368" y="44064"/>
                </a:moveTo>
                <a:lnTo>
                  <a:pt x="1026432" y="44064"/>
                </a:lnTo>
                <a:cubicBezTo>
                  <a:pt x="1033344" y="44064"/>
                  <a:pt x="1036800" y="42120"/>
                  <a:pt x="1036800" y="38232"/>
                </a:cubicBezTo>
                <a:lnTo>
                  <a:pt x="1036800" y="5832"/>
                </a:lnTo>
                <a:cubicBezTo>
                  <a:pt x="1036800" y="1944"/>
                  <a:pt x="1033344" y="0"/>
                  <a:pt x="1026432" y="0"/>
                </a:cubicBezTo>
                <a:lnTo>
                  <a:pt x="10368" y="0"/>
                </a:lnTo>
                <a:cubicBezTo>
                  <a:pt x="3456" y="0"/>
                  <a:pt x="0" y="1944"/>
                  <a:pt x="0" y="5832"/>
                </a:cubicBezTo>
                <a:lnTo>
                  <a:pt x="0" y="38232"/>
                </a:lnTo>
                <a:cubicBezTo>
                  <a:pt x="0" y="42120"/>
                  <a:pt x="3456" y="44064"/>
                  <a:pt x="10368" y="44064"/>
                </a:cubicBezTo>
              </a:path>
            </a:pathLst>
          </a:custGeom>
          <a:solidFill>
            <a:srgbClr val="F2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vector geometry"/>
          <p:cNvSpPr/>
          <p:nvPr/>
        </p:nvSpPr>
        <p:spPr>
          <a:xfrm>
            <a:off x="5824594" y="3360419"/>
            <a:ext cx="353220" cy="105"/>
          </a:xfrm>
          <a:custGeom>
            <a:avLst/>
            <a:gdLst/>
            <a:ahLst/>
            <a:cxnLst/>
            <a:rect l="0" t="0" r="r" b="b"/>
            <a:pathLst>
              <a:path w="33375" h="10">
                <a:moveTo>
                  <a:pt x="0" y="0"/>
                </a:moveTo>
                <a:cubicBezTo>
                  <a:pt x="11721" y="0"/>
                  <a:pt x="22846" y="0"/>
                  <a:pt x="33375" y="0"/>
                </a:cubicBezTo>
              </a:path>
            </a:pathLst>
          </a:custGeom>
          <a:noFill/>
          <a:ln w="16933">
            <a:solidFill>
              <a:srgbClr val="9AB2A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6114314" y="3328669"/>
            <a:ext cx="63500" cy="63500"/>
          </a:xfrm>
          <a:custGeom>
            <a:avLst/>
            <a:gdLst/>
            <a:ahLst/>
            <a:cxnLst/>
            <a:rect l="0" t="0" r="r" b="b"/>
            <a:pathLst>
              <a:path w="6000" h="6000">
                <a:moveTo>
                  <a:pt x="0" y="0"/>
                </a:moveTo>
                <a:lnTo>
                  <a:pt x="6000" y="3000"/>
                </a:lnTo>
                <a:lnTo>
                  <a:pt x="0" y="6000"/>
                </a:lnTo>
                <a:lnTo>
                  <a:pt x="0" y="0"/>
                </a:lnTo>
              </a:path>
            </a:pathLst>
          </a:custGeom>
          <a:solidFill>
            <a:srgbClr val="9AB2A3">
              <a:alpha val="100000"/>
            </a:srgbClr>
          </a:solidFill>
          <a:ln w="16933">
            <a:solidFill>
              <a:srgbClr val="9AB2A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609599" y="2859786"/>
            <a:ext cx="5035295" cy="105"/>
          </a:xfrm>
          <a:custGeom>
            <a:avLst/>
            <a:gdLst/>
            <a:ahLst/>
            <a:cxnLst/>
            <a:rect l="0" t="0" r="r" b="b"/>
            <a:pathLst>
              <a:path w="475776" h="10">
                <a:moveTo>
                  <a:pt x="0" y="0"/>
                </a:moveTo>
                <a:lnTo>
                  <a:pt x="47577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609599" y="5390388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text: 从代谢物异常到 LYPLA1：为什么关注它？"/>
          <p:cNvSpPr txBox="1"/>
          <p:nvPr/>
        </p:nvSpPr>
        <p:spPr>
          <a:xfrm>
            <a:off x="609599" y="1037094"/>
            <a:ext cx="5974076" cy="4665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1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从代谢物异常到 LYPLA1：为什么关注它？</a:t>
            </a:r>
          </a:p>
        </p:txBody>
      </p:sp>
      <p:sp>
        <p:nvSpPr>
          <p:cNvPr id="18" name="Editable text: 四癌的差异代谢物关系反复涉及 LYPLA1，再检查患者关联与基因表达"/>
          <p:cNvSpPr txBox="1"/>
          <p:nvPr/>
        </p:nvSpPr>
        <p:spPr>
          <a:xfrm>
            <a:off x="633983" y="1567381"/>
            <a:ext cx="4463718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四癌的差异代谢物关系反复涉及 LYPLA1，再检查患者关联与基因表达</a:t>
            </a:r>
          </a:p>
        </p:txBody>
      </p:sp>
      <p:sp>
        <p:nvSpPr>
          <p:cNvPr id="19" name="Editable text: 01  先发现具体代谢物异常"/>
          <p:cNvSpPr txBox="1"/>
          <p:nvPr/>
        </p:nvSpPr>
        <p:spPr>
          <a:xfrm>
            <a:off x="633983" y="2011153"/>
            <a:ext cx="2079413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01  先发现具体代谢物异常</a:t>
            </a:r>
          </a:p>
        </p:txBody>
      </p:sp>
      <p:sp>
        <p:nvSpPr>
          <p:cNvPr id="20" name="Editable text: 肿瘤—正常配对比较；以下 6 项均 P &lt; 0.05"/>
          <p:cNvSpPr txBox="1"/>
          <p:nvPr/>
        </p:nvSpPr>
        <p:spPr>
          <a:xfrm>
            <a:off x="633983" y="2292347"/>
            <a:ext cx="2216832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肿瘤—正常配对比较；以下 6 项均 P &lt; 0.05</a:t>
            </a:r>
          </a:p>
        </p:txBody>
      </p:sp>
      <p:sp>
        <p:nvSpPr>
          <p:cNvPr id="21" name="Editable text: 癌种"/>
          <p:cNvSpPr txBox="1"/>
          <p:nvPr/>
        </p:nvSpPr>
        <p:spPr>
          <a:xfrm>
            <a:off x="961770" y="2607815"/>
            <a:ext cx="272256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癌种</a:t>
            </a:r>
          </a:p>
        </p:txBody>
      </p:sp>
      <p:sp>
        <p:nvSpPr>
          <p:cNvPr id="22" name="Editable text: 代谢物"/>
          <p:cNvSpPr txBox="1"/>
          <p:nvPr/>
        </p:nvSpPr>
        <p:spPr>
          <a:xfrm>
            <a:off x="2442400" y="2607815"/>
            <a:ext cx="383381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代谢物</a:t>
            </a:r>
          </a:p>
        </p:txBody>
      </p:sp>
      <p:sp>
        <p:nvSpPr>
          <p:cNvPr id="23" name="Editable text: 方向"/>
          <p:cNvSpPr txBox="1"/>
          <p:nvPr/>
        </p:nvSpPr>
        <p:spPr>
          <a:xfrm>
            <a:off x="3973195" y="2607815"/>
            <a:ext cx="272256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方向</a:t>
            </a:r>
          </a:p>
        </p:txBody>
      </p:sp>
      <p:sp>
        <p:nvSpPr>
          <p:cNvPr id="24" name="Editable text: P 值"/>
          <p:cNvSpPr txBox="1"/>
          <p:nvPr/>
        </p:nvSpPr>
        <p:spPr>
          <a:xfrm>
            <a:off x="4990257" y="2607815"/>
            <a:ext cx="262032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P 值</a:t>
            </a:r>
          </a:p>
        </p:txBody>
      </p:sp>
      <p:sp>
        <p:nvSpPr>
          <p:cNvPr id="25" name="Editable text: LPC(16:0)"/>
          <p:cNvSpPr txBox="1"/>
          <p:nvPr/>
        </p:nvSpPr>
        <p:spPr>
          <a:xfrm>
            <a:off x="2279433" y="2976066"/>
            <a:ext cx="721487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LPC(16:0)</a:t>
            </a:r>
          </a:p>
        </p:txBody>
      </p:sp>
      <p:sp>
        <p:nvSpPr>
          <p:cNvPr id="26" name="Editable text: ↑"/>
          <p:cNvSpPr txBox="1"/>
          <p:nvPr/>
        </p:nvSpPr>
        <p:spPr>
          <a:xfrm>
            <a:off x="4039340" y="2942299"/>
            <a:ext cx="170920" cy="2734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16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↑</a:t>
            </a:r>
          </a:p>
        </p:txBody>
      </p:sp>
      <p:sp>
        <p:nvSpPr>
          <p:cNvPr id="27" name="Editable text: 1.02e-05"/>
          <p:cNvSpPr txBox="1"/>
          <p:nvPr/>
        </p:nvSpPr>
        <p:spPr>
          <a:xfrm>
            <a:off x="4842173" y="2990238"/>
            <a:ext cx="562414" cy="1849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8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1.02e-05</a:t>
            </a:r>
          </a:p>
        </p:txBody>
      </p:sp>
      <p:sp>
        <p:nvSpPr>
          <p:cNvPr id="28" name="Editable text: BRCA"/>
          <p:cNvSpPr txBox="1"/>
          <p:nvPr/>
        </p:nvSpPr>
        <p:spPr>
          <a:xfrm>
            <a:off x="880411" y="3298392"/>
            <a:ext cx="446620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BRCA</a:t>
            </a:r>
          </a:p>
        </p:txBody>
      </p:sp>
      <p:sp>
        <p:nvSpPr>
          <p:cNvPr id="29" name="Editable text: GPC"/>
          <p:cNvSpPr txBox="1"/>
          <p:nvPr/>
        </p:nvSpPr>
        <p:spPr>
          <a:xfrm>
            <a:off x="2464890" y="3298392"/>
            <a:ext cx="35014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GPC</a:t>
            </a:r>
          </a:p>
        </p:txBody>
      </p:sp>
      <p:sp>
        <p:nvSpPr>
          <p:cNvPr id="30" name="Editable text: ↓"/>
          <p:cNvSpPr txBox="1"/>
          <p:nvPr/>
        </p:nvSpPr>
        <p:spPr>
          <a:xfrm>
            <a:off x="4039340" y="3264624"/>
            <a:ext cx="170920" cy="2734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16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↓</a:t>
            </a:r>
          </a:p>
        </p:txBody>
      </p:sp>
      <p:sp>
        <p:nvSpPr>
          <p:cNvPr id="31" name="Editable text: 0.00214"/>
          <p:cNvSpPr txBox="1"/>
          <p:nvPr/>
        </p:nvSpPr>
        <p:spPr>
          <a:xfrm>
            <a:off x="4867308" y="3312564"/>
            <a:ext cx="512027" cy="1849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8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0.00214</a:t>
            </a:r>
          </a:p>
        </p:txBody>
      </p:sp>
      <p:sp>
        <p:nvSpPr>
          <p:cNvPr id="32" name="Editable text: 油酸"/>
          <p:cNvSpPr txBox="1"/>
          <p:nvPr/>
        </p:nvSpPr>
        <p:spPr>
          <a:xfrm>
            <a:off x="2471504" y="3620718"/>
            <a:ext cx="33707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油酸</a:t>
            </a:r>
          </a:p>
        </p:txBody>
      </p:sp>
      <p:sp>
        <p:nvSpPr>
          <p:cNvPr id="33" name="Editable text: ↑"/>
          <p:cNvSpPr txBox="1"/>
          <p:nvPr/>
        </p:nvSpPr>
        <p:spPr>
          <a:xfrm>
            <a:off x="4039340" y="3586950"/>
            <a:ext cx="170920" cy="2734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16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↑</a:t>
            </a:r>
          </a:p>
        </p:txBody>
      </p:sp>
      <p:sp>
        <p:nvSpPr>
          <p:cNvPr id="34" name="Editable text: 0.00359"/>
          <p:cNvSpPr txBox="1"/>
          <p:nvPr/>
        </p:nvSpPr>
        <p:spPr>
          <a:xfrm>
            <a:off x="4867308" y="3634890"/>
            <a:ext cx="512027" cy="1849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8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0.00359</a:t>
            </a:r>
          </a:p>
        </p:txBody>
      </p:sp>
      <p:sp>
        <p:nvSpPr>
          <p:cNvPr id="35" name="Editable text: COAD"/>
          <p:cNvSpPr txBox="1"/>
          <p:nvPr/>
        </p:nvSpPr>
        <p:spPr>
          <a:xfrm>
            <a:off x="866024" y="3943044"/>
            <a:ext cx="47550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COAD</a:t>
            </a:r>
          </a:p>
        </p:txBody>
      </p:sp>
      <p:sp>
        <p:nvSpPr>
          <p:cNvPr id="36" name="Editable text: GPC"/>
          <p:cNvSpPr txBox="1"/>
          <p:nvPr/>
        </p:nvSpPr>
        <p:spPr>
          <a:xfrm>
            <a:off x="2464890" y="3943044"/>
            <a:ext cx="35014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GPC</a:t>
            </a:r>
          </a:p>
        </p:txBody>
      </p:sp>
      <p:sp>
        <p:nvSpPr>
          <p:cNvPr id="37" name="Editable text: ↓"/>
          <p:cNvSpPr txBox="1"/>
          <p:nvPr/>
        </p:nvSpPr>
        <p:spPr>
          <a:xfrm>
            <a:off x="4039340" y="3909276"/>
            <a:ext cx="170920" cy="2734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16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↓</a:t>
            </a:r>
          </a:p>
        </p:txBody>
      </p:sp>
      <p:sp>
        <p:nvSpPr>
          <p:cNvPr id="38" name="Editable text: 0.000918"/>
          <p:cNvSpPr txBox="1"/>
          <p:nvPr/>
        </p:nvSpPr>
        <p:spPr>
          <a:xfrm>
            <a:off x="4831590" y="3957216"/>
            <a:ext cx="583348" cy="1849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8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0.000918</a:t>
            </a:r>
          </a:p>
        </p:txBody>
      </p:sp>
      <p:sp>
        <p:nvSpPr>
          <p:cNvPr id="39" name="Editable text: PDAC"/>
          <p:cNvSpPr txBox="1"/>
          <p:nvPr/>
        </p:nvSpPr>
        <p:spPr>
          <a:xfrm>
            <a:off x="877765" y="4265370"/>
            <a:ext cx="453027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PDAC</a:t>
            </a:r>
          </a:p>
        </p:txBody>
      </p:sp>
      <p:sp>
        <p:nvSpPr>
          <p:cNvPr id="40" name="Editable text: GPC"/>
          <p:cNvSpPr txBox="1"/>
          <p:nvPr/>
        </p:nvSpPr>
        <p:spPr>
          <a:xfrm>
            <a:off x="2464890" y="4265370"/>
            <a:ext cx="35014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GPC</a:t>
            </a:r>
          </a:p>
        </p:txBody>
      </p:sp>
      <p:sp>
        <p:nvSpPr>
          <p:cNvPr id="41" name="Editable text: ↓"/>
          <p:cNvSpPr txBox="1"/>
          <p:nvPr/>
        </p:nvSpPr>
        <p:spPr>
          <a:xfrm>
            <a:off x="4039340" y="4231603"/>
            <a:ext cx="170920" cy="2734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16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↓</a:t>
            </a:r>
          </a:p>
        </p:txBody>
      </p:sp>
      <p:sp>
        <p:nvSpPr>
          <p:cNvPr id="42" name="Editable text: 0.0322"/>
          <p:cNvSpPr txBox="1"/>
          <p:nvPr/>
        </p:nvSpPr>
        <p:spPr>
          <a:xfrm>
            <a:off x="4903027" y="4279542"/>
            <a:ext cx="440706" cy="1849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8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0.0322</a:t>
            </a:r>
          </a:p>
        </p:txBody>
      </p:sp>
      <p:sp>
        <p:nvSpPr>
          <p:cNvPr id="43" name="Editable text: PRAD"/>
          <p:cNvSpPr txBox="1"/>
          <p:nvPr/>
        </p:nvSpPr>
        <p:spPr>
          <a:xfrm>
            <a:off x="873383" y="4587696"/>
            <a:ext cx="460766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PRAD</a:t>
            </a:r>
          </a:p>
        </p:txBody>
      </p:sp>
      <p:sp>
        <p:nvSpPr>
          <p:cNvPr id="44" name="Editable text: 油酸"/>
          <p:cNvSpPr txBox="1"/>
          <p:nvPr/>
        </p:nvSpPr>
        <p:spPr>
          <a:xfrm>
            <a:off x="2471504" y="4587696"/>
            <a:ext cx="33707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油酸</a:t>
            </a:r>
          </a:p>
        </p:txBody>
      </p:sp>
      <p:sp>
        <p:nvSpPr>
          <p:cNvPr id="45" name="Editable text: ↑"/>
          <p:cNvSpPr txBox="1"/>
          <p:nvPr/>
        </p:nvSpPr>
        <p:spPr>
          <a:xfrm>
            <a:off x="4039340" y="4553929"/>
            <a:ext cx="170920" cy="2734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16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↑</a:t>
            </a:r>
          </a:p>
        </p:txBody>
      </p:sp>
      <p:sp>
        <p:nvSpPr>
          <p:cNvPr id="46" name="Editable text: 0.00994"/>
          <p:cNvSpPr txBox="1"/>
          <p:nvPr/>
        </p:nvSpPr>
        <p:spPr>
          <a:xfrm>
            <a:off x="4867308" y="4601868"/>
            <a:ext cx="512027" cy="1849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8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0.00994</a:t>
            </a:r>
          </a:p>
        </p:txBody>
      </p:sp>
      <p:sp>
        <p:nvSpPr>
          <p:cNvPr id="47" name="Editable text: 四癌均有代谢物线索，映射到同一个候选。"/>
          <p:cNvSpPr txBox="1"/>
          <p:nvPr/>
        </p:nvSpPr>
        <p:spPr>
          <a:xfrm>
            <a:off x="609599" y="5044256"/>
            <a:ext cx="2552487" cy="1994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四癌均有代谢物线索，映射到同一个候选。</a:t>
            </a:r>
          </a:p>
        </p:txBody>
      </p:sp>
      <p:sp>
        <p:nvSpPr>
          <p:cNvPr id="48" name="Editable text: GPC：甘油磷酸胆碱；油酸：18:1n9。"/>
          <p:cNvSpPr txBox="1"/>
          <p:nvPr/>
        </p:nvSpPr>
        <p:spPr>
          <a:xfrm>
            <a:off x="609599" y="5234215"/>
            <a:ext cx="1758467" cy="1512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8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GPC：甘油磷酸胆碱；油酸：18:1n9。</a:t>
            </a:r>
          </a:p>
        </p:txBody>
      </p:sp>
      <p:sp>
        <p:nvSpPr>
          <p:cNvPr id="49" name="Editable text: 02  依据生化反应映射到 LYPLA1"/>
          <p:cNvSpPr txBox="1"/>
          <p:nvPr/>
        </p:nvSpPr>
        <p:spPr>
          <a:xfrm>
            <a:off x="6437375" y="2011153"/>
            <a:ext cx="2589824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02  依据生化反应映射到 LYPLA1</a:t>
            </a:r>
          </a:p>
        </p:txBody>
      </p:sp>
      <p:sp>
        <p:nvSpPr>
          <p:cNvPr id="50" name="Editable text: LPC(16:0)"/>
          <p:cNvSpPr txBox="1"/>
          <p:nvPr/>
        </p:nvSpPr>
        <p:spPr>
          <a:xfrm>
            <a:off x="6656832" y="2748127"/>
            <a:ext cx="776986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LPC(16:0)</a:t>
            </a:r>
          </a:p>
        </p:txBody>
      </p:sp>
      <p:sp>
        <p:nvSpPr>
          <p:cNvPr id="51" name="Editable text: LYPLA1"/>
          <p:cNvSpPr txBox="1"/>
          <p:nvPr/>
        </p:nvSpPr>
        <p:spPr>
          <a:xfrm>
            <a:off x="8149422" y="2487523"/>
            <a:ext cx="617360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LYPLA1</a:t>
            </a:r>
          </a:p>
        </p:txBody>
      </p:sp>
      <p:sp>
        <p:nvSpPr>
          <p:cNvPr id="52" name="Editable text: →"/>
          <p:cNvSpPr txBox="1"/>
          <p:nvPr/>
        </p:nvSpPr>
        <p:spPr>
          <a:xfrm>
            <a:off x="8297671" y="2670401"/>
            <a:ext cx="368300" cy="386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→</a:t>
            </a:r>
          </a:p>
        </p:txBody>
      </p:sp>
      <p:sp>
        <p:nvSpPr>
          <p:cNvPr id="53" name="Editable text: GPC + 棕榈酸"/>
          <p:cNvSpPr txBox="1"/>
          <p:nvPr/>
        </p:nvSpPr>
        <p:spPr>
          <a:xfrm>
            <a:off x="9570720" y="2748127"/>
            <a:ext cx="1022646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GPC + 棕榈酸</a:t>
            </a:r>
          </a:p>
        </p:txBody>
      </p:sp>
      <p:sp>
        <p:nvSpPr>
          <p:cNvPr id="54" name="Editable text: 底物"/>
          <p:cNvSpPr txBox="1"/>
          <p:nvPr/>
        </p:nvSpPr>
        <p:spPr>
          <a:xfrm>
            <a:off x="6656832" y="2980942"/>
            <a:ext cx="259291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底物</a:t>
            </a:r>
          </a:p>
        </p:txBody>
      </p:sp>
      <p:sp>
        <p:nvSpPr>
          <p:cNvPr id="55" name="Editable text: 油酸：另一条 LYPLA1 注释反应中的产物"/>
          <p:cNvSpPr txBox="1"/>
          <p:nvPr/>
        </p:nvSpPr>
        <p:spPr>
          <a:xfrm>
            <a:off x="6656832" y="3121709"/>
            <a:ext cx="2354267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油酸：另一条 LYPLA1 注释反应中的产物</a:t>
            </a:r>
          </a:p>
        </p:txBody>
      </p:sp>
      <p:sp>
        <p:nvSpPr>
          <p:cNvPr id="56" name="Editable text: 反应参与关系 ≠ 患者内净通量或致因关系"/>
          <p:cNvSpPr txBox="1"/>
          <p:nvPr/>
        </p:nvSpPr>
        <p:spPr>
          <a:xfrm>
            <a:off x="6656832" y="3388977"/>
            <a:ext cx="1928333" cy="156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反应参与关系 ≠ 患者内净通量或致因关系</a:t>
            </a:r>
          </a:p>
        </p:txBody>
      </p:sp>
      <p:sp>
        <p:nvSpPr>
          <p:cNvPr id="57" name="Editable text: 03  肿瘤样本中的代谢物—RNA 关联"/>
          <p:cNvSpPr txBox="1"/>
          <p:nvPr/>
        </p:nvSpPr>
        <p:spPr>
          <a:xfrm>
            <a:off x="6437375" y="3739742"/>
            <a:ext cx="2602039" cy="2332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8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03  肿瘤样本中的代谢物—RNA 关联</a:t>
            </a:r>
          </a:p>
        </p:txBody>
      </p:sp>
      <p:sp>
        <p:nvSpPr>
          <p:cNvPr id="58" name="Editable text: BRCA · LPC(16:0)  (n=60)"/>
          <p:cNvSpPr txBox="1"/>
          <p:nvPr/>
        </p:nvSpPr>
        <p:spPr>
          <a:xfrm>
            <a:off x="6522720" y="4051440"/>
            <a:ext cx="1496578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BRCA · LPC(16:0)  (n=60)</a:t>
            </a:r>
          </a:p>
        </p:txBody>
      </p:sp>
      <p:sp>
        <p:nvSpPr>
          <p:cNvPr id="59" name="Editable text: ρ = +0.482"/>
          <p:cNvSpPr txBox="1"/>
          <p:nvPr/>
        </p:nvSpPr>
        <p:spPr>
          <a:xfrm>
            <a:off x="9168384" y="4046370"/>
            <a:ext cx="699579" cy="1849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8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ρ = +0.482</a:t>
            </a:r>
          </a:p>
        </p:txBody>
      </p:sp>
      <p:sp>
        <p:nvSpPr>
          <p:cNvPr id="60" name="Editable text: P = 0.0001"/>
          <p:cNvSpPr txBox="1"/>
          <p:nvPr/>
        </p:nvSpPr>
        <p:spPr>
          <a:xfrm>
            <a:off x="10643615" y="4049164"/>
            <a:ext cx="648092" cy="176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6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 = 0.0001</a:t>
            </a:r>
          </a:p>
        </p:txBody>
      </p:sp>
      <p:sp>
        <p:nvSpPr>
          <p:cNvPr id="61" name="Editable text: BRCA · 油酸  (n=60)"/>
          <p:cNvSpPr txBox="1"/>
          <p:nvPr/>
        </p:nvSpPr>
        <p:spPr>
          <a:xfrm>
            <a:off x="6522720" y="4325760"/>
            <a:ext cx="1177224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BRCA · 油酸  (n=60)</a:t>
            </a:r>
          </a:p>
        </p:txBody>
      </p:sp>
      <p:sp>
        <p:nvSpPr>
          <p:cNvPr id="62" name="Editable text: ρ = +0.384"/>
          <p:cNvSpPr txBox="1"/>
          <p:nvPr/>
        </p:nvSpPr>
        <p:spPr>
          <a:xfrm>
            <a:off x="9168384" y="4320690"/>
            <a:ext cx="699579" cy="1849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8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ρ = +0.384</a:t>
            </a:r>
          </a:p>
        </p:txBody>
      </p:sp>
      <p:sp>
        <p:nvSpPr>
          <p:cNvPr id="63" name="Editable text: P = 0.0025"/>
          <p:cNvSpPr txBox="1"/>
          <p:nvPr/>
        </p:nvSpPr>
        <p:spPr>
          <a:xfrm>
            <a:off x="10643615" y="4323484"/>
            <a:ext cx="648092" cy="176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6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 = 0.0025</a:t>
            </a:r>
          </a:p>
        </p:txBody>
      </p:sp>
      <p:sp>
        <p:nvSpPr>
          <p:cNvPr id="64" name="Editable text: PDAC · GPC  (n=21)"/>
          <p:cNvSpPr txBox="1"/>
          <p:nvPr/>
        </p:nvSpPr>
        <p:spPr>
          <a:xfrm>
            <a:off x="6522720" y="4600080"/>
            <a:ext cx="1193425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PDAC · GPC  (n=21)</a:t>
            </a:r>
          </a:p>
        </p:txBody>
      </p:sp>
      <p:sp>
        <p:nvSpPr>
          <p:cNvPr id="65" name="Editable text: ρ = -0.442"/>
          <p:cNvSpPr txBox="1"/>
          <p:nvPr/>
        </p:nvSpPr>
        <p:spPr>
          <a:xfrm>
            <a:off x="9168384" y="4595010"/>
            <a:ext cx="661971" cy="1849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8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ρ = -0.442</a:t>
            </a:r>
          </a:p>
        </p:txBody>
      </p:sp>
      <p:sp>
        <p:nvSpPr>
          <p:cNvPr id="66" name="Editable text: P = 0.0455"/>
          <p:cNvSpPr txBox="1"/>
          <p:nvPr/>
        </p:nvSpPr>
        <p:spPr>
          <a:xfrm>
            <a:off x="10643615" y="4597804"/>
            <a:ext cx="648092" cy="176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6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 = 0.0455</a:t>
            </a:r>
          </a:p>
        </p:txBody>
      </p:sp>
      <p:sp>
        <p:nvSpPr>
          <p:cNvPr id="67" name="Editable text: 其余 3 条未显著：BRCA / COAD 的 GPC、PRAD 的油酸"/>
          <p:cNvSpPr txBox="1"/>
          <p:nvPr/>
        </p:nvSpPr>
        <p:spPr>
          <a:xfrm>
            <a:off x="6437375" y="4951463"/>
            <a:ext cx="2681505" cy="15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其余 3 条未显著：BRCA / COAD 的 GPC、PRAD 的油酸</a:t>
            </a:r>
          </a:p>
        </p:txBody>
      </p:sp>
      <p:sp>
        <p:nvSpPr>
          <p:cNvPr id="68" name="Editable text: 因此继续关注"/>
          <p:cNvSpPr txBox="1"/>
          <p:nvPr/>
        </p:nvSpPr>
        <p:spPr>
          <a:xfrm>
            <a:off x="816863" y="5643828"/>
            <a:ext cx="887412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因此继续关注</a:t>
            </a:r>
          </a:p>
        </p:txBody>
      </p:sp>
      <p:sp>
        <p:nvSpPr>
          <p:cNvPr id="69" name="Editable text: 代谢关系候选反复出现  +  RNA 四癌平均上调、三癌显著"/>
          <p:cNvSpPr txBox="1"/>
          <p:nvPr/>
        </p:nvSpPr>
        <p:spPr>
          <a:xfrm>
            <a:off x="2389632" y="5618461"/>
            <a:ext cx="4402497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代谢关系候选反复出现  +  RNA 四癌平均上调、三癌显著</a:t>
            </a:r>
          </a:p>
        </p:txBody>
      </p:sp>
      <p:sp>
        <p:nvSpPr>
          <p:cNvPr id="70" name="Editable text: 下一步：看患者配对表达，再定位到恶性上皮；目前尚未证明同一代谢物—LYPLA1 "/>
          <p:cNvSpPr txBox="1"/>
          <p:nvPr/>
        </p:nvSpPr>
        <p:spPr>
          <a:xfrm>
            <a:off x="609599" y="6125969"/>
            <a:ext cx="4925314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下一步：看患者配对表达，再定位到恶性上皮；目前尚未证明同一代谢物—LYPLA1 关联跨癌重复。</a:t>
            </a:r>
          </a:p>
        </p:txBody>
      </p:sp>
      <p:sp>
        <p:nvSpPr>
          <p:cNvPr id="71" name="Editable text: RNA 不能代替酶活或通量；PDAC RNA 未显著，ccRCC RNA 存在反"/>
          <p:cNvSpPr txBox="1"/>
          <p:nvPr/>
        </p:nvSpPr>
        <p:spPr>
          <a:xfrm>
            <a:off x="609599" y="6366923"/>
            <a:ext cx="5128537" cy="1496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RNA 不能代替酶活或通量；PDAC RNA 未显著，ccRCC RNA 存在反向。不同脂质的显著关联不合并成同一代谢轴。</a:t>
            </a:r>
          </a:p>
        </p:txBody>
      </p:sp>
      <p:sp>
        <p:nvSpPr>
          <p:cNvPr id="72" name="Editable text: 映射来源：UniProt O75608；Rhea 40435 / 41720。反"/>
          <p:cNvSpPr txBox="1"/>
          <p:nvPr/>
        </p:nvSpPr>
        <p:spPr>
          <a:xfrm>
            <a:off x="609599" y="6576076"/>
            <a:ext cx="464116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映射来源：UniProt O75608；Rhea 40435 / 41720。反应为简写；油酸不是 LPC(16:0) 水解产生的脂肪酸。</a:t>
            </a:r>
          </a:p>
        </p:txBody>
      </p:sp>
      <p:sp>
        <p:nvSpPr>
          <p:cNvPr id="73" name="Editable text: 09"/>
          <p:cNvSpPr txBox="1"/>
          <p:nvPr/>
        </p:nvSpPr>
        <p:spPr>
          <a:xfrm>
            <a:off x="11399507" y="6458305"/>
            <a:ext cx="249512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09</a:t>
            </a:r>
          </a:p>
        </p:txBody>
      </p:sp>
      <p:pic>
        <p:nvPicPr>
          <p:cNvPr id="74" name="Picture 73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890016" y="2825496"/>
            <a:ext cx="2048255" cy="1824227"/>
          </a:xfrm>
          <a:custGeom>
            <a:avLst/>
            <a:gdLst/>
            <a:ahLst/>
            <a:cxnLst/>
            <a:rect l="0" t="0" r="r" b="b"/>
            <a:pathLst>
              <a:path w="193536" h="172368">
                <a:moveTo>
                  <a:pt x="0" y="0"/>
                </a:moveTo>
                <a:lnTo>
                  <a:pt x="193536" y="0"/>
                </a:lnTo>
                <a:lnTo>
                  <a:pt x="193536" y="172368"/>
                </a:lnTo>
                <a:lnTo>
                  <a:pt x="0" y="17236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1311715" y="3985686"/>
            <a:ext cx="1204856" cy="392851"/>
          </a:xfrm>
          <a:custGeom>
            <a:avLst/>
            <a:gdLst/>
            <a:ahLst/>
            <a:cxnLst/>
            <a:rect l="0" t="0" r="r" b="b"/>
            <a:pathLst>
              <a:path w="113845" h="37120">
                <a:moveTo>
                  <a:pt x="0" y="3712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1311715" y="3613688"/>
            <a:ext cx="1204856" cy="268240"/>
          </a:xfrm>
          <a:custGeom>
            <a:avLst/>
            <a:gdLst/>
            <a:ahLst/>
            <a:cxnLst/>
            <a:rect l="0" t="0" r="r" b="b"/>
            <a:pathLst>
              <a:path w="113845" h="25346">
                <a:moveTo>
                  <a:pt x="0" y="2534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1311715" y="3562123"/>
            <a:ext cx="1204856" cy="583315"/>
          </a:xfrm>
          <a:custGeom>
            <a:avLst/>
            <a:gdLst/>
            <a:ahLst/>
            <a:cxnLst/>
            <a:rect l="0" t="0" r="r" b="b"/>
            <a:pathLst>
              <a:path w="113845" h="55116">
                <a:moveTo>
                  <a:pt x="0" y="0"/>
                </a:moveTo>
                <a:lnTo>
                  <a:pt x="113845" y="55116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1311715" y="3397751"/>
            <a:ext cx="1204856" cy="935496"/>
          </a:xfrm>
          <a:custGeom>
            <a:avLst/>
            <a:gdLst/>
            <a:ahLst/>
            <a:cxnLst/>
            <a:rect l="0" t="0" r="r" b="b"/>
            <a:pathLst>
              <a:path w="113845" h="88393">
                <a:moveTo>
                  <a:pt x="0" y="8839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1311715" y="3353219"/>
            <a:ext cx="1204856" cy="770262"/>
          </a:xfrm>
          <a:custGeom>
            <a:avLst/>
            <a:gdLst/>
            <a:ahLst/>
            <a:cxnLst/>
            <a:rect l="0" t="0" r="r" b="b"/>
            <a:pathLst>
              <a:path w="113845" h="72781">
                <a:moveTo>
                  <a:pt x="0" y="7278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vector geometry"/>
          <p:cNvSpPr/>
          <p:nvPr/>
        </p:nvSpPr>
        <p:spPr>
          <a:xfrm>
            <a:off x="1311715" y="3912955"/>
            <a:ext cx="1204856" cy="250090"/>
          </a:xfrm>
          <a:custGeom>
            <a:avLst/>
            <a:gdLst/>
            <a:ahLst/>
            <a:cxnLst/>
            <a:rect l="0" t="0" r="r" b="b"/>
            <a:pathLst>
              <a:path w="113845" h="23631">
                <a:moveTo>
                  <a:pt x="0" y="2363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1311715" y="3734970"/>
            <a:ext cx="1204856" cy="135160"/>
          </a:xfrm>
          <a:custGeom>
            <a:avLst/>
            <a:gdLst/>
            <a:ahLst/>
            <a:cxnLst/>
            <a:rect l="0" t="0" r="r" b="b"/>
            <a:pathLst>
              <a:path w="113845" h="12771">
                <a:moveTo>
                  <a:pt x="0" y="0"/>
                </a:moveTo>
                <a:lnTo>
                  <a:pt x="113845" y="12771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1311715" y="3774708"/>
            <a:ext cx="1204856" cy="278797"/>
          </a:xfrm>
          <a:custGeom>
            <a:avLst/>
            <a:gdLst/>
            <a:ahLst/>
            <a:cxnLst/>
            <a:rect l="0" t="0" r="r" b="b"/>
            <a:pathLst>
              <a:path w="113845" h="26343">
                <a:moveTo>
                  <a:pt x="0" y="2634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1311715" y="3365711"/>
            <a:ext cx="1204856" cy="768524"/>
          </a:xfrm>
          <a:custGeom>
            <a:avLst/>
            <a:gdLst/>
            <a:ahLst/>
            <a:cxnLst/>
            <a:rect l="0" t="0" r="r" b="b"/>
            <a:pathLst>
              <a:path w="113845" h="72616">
                <a:moveTo>
                  <a:pt x="0" y="7261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1311715" y="3872784"/>
            <a:ext cx="1204856" cy="155328"/>
          </a:xfrm>
          <a:custGeom>
            <a:avLst/>
            <a:gdLst/>
            <a:ahLst/>
            <a:cxnLst/>
            <a:rect l="0" t="0" r="r" b="b"/>
            <a:pathLst>
              <a:path w="113845" h="14677">
                <a:moveTo>
                  <a:pt x="0" y="0"/>
                </a:moveTo>
                <a:lnTo>
                  <a:pt x="113845" y="14677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1311715" y="3486858"/>
            <a:ext cx="1204856" cy="490202"/>
          </a:xfrm>
          <a:custGeom>
            <a:avLst/>
            <a:gdLst/>
            <a:ahLst/>
            <a:cxnLst/>
            <a:rect l="0" t="0" r="r" b="b"/>
            <a:pathLst>
              <a:path w="113845" h="46318">
                <a:moveTo>
                  <a:pt x="0" y="4631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1311715" y="4032669"/>
            <a:ext cx="1204856" cy="240194"/>
          </a:xfrm>
          <a:custGeom>
            <a:avLst/>
            <a:gdLst/>
            <a:ahLst/>
            <a:cxnLst/>
            <a:rect l="0" t="0" r="r" b="b"/>
            <a:pathLst>
              <a:path w="113845" h="22696">
                <a:moveTo>
                  <a:pt x="0" y="2269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vector geometry"/>
          <p:cNvSpPr/>
          <p:nvPr/>
        </p:nvSpPr>
        <p:spPr>
          <a:xfrm>
            <a:off x="1311715" y="3464901"/>
            <a:ext cx="1204856" cy="669546"/>
          </a:xfrm>
          <a:custGeom>
            <a:avLst/>
            <a:gdLst/>
            <a:ahLst/>
            <a:cxnLst/>
            <a:rect l="0" t="0" r="r" b="b"/>
            <a:pathLst>
              <a:path w="113845" h="63264">
                <a:moveTo>
                  <a:pt x="0" y="6326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1311715" y="3767400"/>
            <a:ext cx="1204856" cy="169482"/>
          </a:xfrm>
          <a:custGeom>
            <a:avLst/>
            <a:gdLst/>
            <a:ahLst/>
            <a:cxnLst/>
            <a:rect l="0" t="0" r="r" b="b"/>
            <a:pathLst>
              <a:path w="113845" h="16014">
                <a:moveTo>
                  <a:pt x="0" y="1601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1311715" y="3256600"/>
            <a:ext cx="1204856" cy="1054180"/>
          </a:xfrm>
          <a:custGeom>
            <a:avLst/>
            <a:gdLst/>
            <a:ahLst/>
            <a:cxnLst/>
            <a:rect l="0" t="0" r="r" b="b"/>
            <a:pathLst>
              <a:path w="113845" h="99608">
                <a:moveTo>
                  <a:pt x="0" y="9960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1311715" y="3895120"/>
            <a:ext cx="1204856" cy="150047"/>
          </a:xfrm>
          <a:custGeom>
            <a:avLst/>
            <a:gdLst/>
            <a:ahLst/>
            <a:cxnLst/>
            <a:rect l="0" t="0" r="r" b="b"/>
            <a:pathLst>
              <a:path w="113845" h="14178">
                <a:moveTo>
                  <a:pt x="0" y="1417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1311715" y="3898990"/>
            <a:ext cx="1204856" cy="86698"/>
          </a:xfrm>
          <a:custGeom>
            <a:avLst/>
            <a:gdLst/>
            <a:ahLst/>
            <a:cxnLst/>
            <a:rect l="0" t="0" r="r" b="b"/>
            <a:pathLst>
              <a:path w="113845" h="8192">
                <a:moveTo>
                  <a:pt x="0" y="819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1311715" y="3523834"/>
            <a:ext cx="1204856" cy="453809"/>
          </a:xfrm>
          <a:custGeom>
            <a:avLst/>
            <a:gdLst/>
            <a:ahLst/>
            <a:cxnLst/>
            <a:rect l="0" t="0" r="r" b="b"/>
            <a:pathLst>
              <a:path w="113845" h="42880">
                <a:moveTo>
                  <a:pt x="0" y="4288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1311715" y="3675822"/>
            <a:ext cx="1204856" cy="408599"/>
          </a:xfrm>
          <a:custGeom>
            <a:avLst/>
            <a:gdLst/>
            <a:ahLst/>
            <a:cxnLst/>
            <a:rect l="0" t="0" r="r" b="b"/>
            <a:pathLst>
              <a:path w="113845" h="38608">
                <a:moveTo>
                  <a:pt x="0" y="3860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311715" y="3185727"/>
            <a:ext cx="1204856" cy="1099647"/>
          </a:xfrm>
          <a:custGeom>
            <a:avLst/>
            <a:gdLst/>
            <a:ahLst/>
            <a:cxnLst/>
            <a:rect l="0" t="0" r="r" b="b"/>
            <a:pathLst>
              <a:path w="113845" h="103904">
                <a:moveTo>
                  <a:pt x="0" y="10390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311715" y="3897773"/>
            <a:ext cx="1204856" cy="180917"/>
          </a:xfrm>
          <a:custGeom>
            <a:avLst/>
            <a:gdLst/>
            <a:ahLst/>
            <a:cxnLst/>
            <a:rect l="0" t="0" r="r" b="b"/>
            <a:pathLst>
              <a:path w="113845" h="17095">
                <a:moveTo>
                  <a:pt x="0" y="0"/>
                </a:moveTo>
                <a:lnTo>
                  <a:pt x="113845" y="17095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311715" y="3288597"/>
            <a:ext cx="1204856" cy="856636"/>
          </a:xfrm>
          <a:custGeom>
            <a:avLst/>
            <a:gdLst/>
            <a:ahLst/>
            <a:cxnLst/>
            <a:rect l="0" t="0" r="r" b="b"/>
            <a:pathLst>
              <a:path w="113845" h="80942">
                <a:moveTo>
                  <a:pt x="0" y="8094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311715" y="3980216"/>
            <a:ext cx="1204856" cy="133834"/>
          </a:xfrm>
          <a:custGeom>
            <a:avLst/>
            <a:gdLst/>
            <a:ahLst/>
            <a:cxnLst/>
            <a:rect l="0" t="0" r="r" b="b"/>
            <a:pathLst>
              <a:path w="113845" h="12646">
                <a:moveTo>
                  <a:pt x="0" y="1264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311715" y="3779917"/>
            <a:ext cx="1204856" cy="286926"/>
          </a:xfrm>
          <a:custGeom>
            <a:avLst/>
            <a:gdLst/>
            <a:ahLst/>
            <a:cxnLst/>
            <a:rect l="0" t="0" r="r" b="b"/>
            <a:pathLst>
              <a:path w="113845" h="27111">
                <a:moveTo>
                  <a:pt x="0" y="0"/>
                </a:moveTo>
                <a:lnTo>
                  <a:pt x="113845" y="27111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311715" y="3722996"/>
            <a:ext cx="1204856" cy="566568"/>
          </a:xfrm>
          <a:custGeom>
            <a:avLst/>
            <a:gdLst/>
            <a:ahLst/>
            <a:cxnLst/>
            <a:rect l="0" t="0" r="r" b="b"/>
            <a:pathLst>
              <a:path w="113845" h="53534">
                <a:moveTo>
                  <a:pt x="0" y="5353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311715" y="3673603"/>
            <a:ext cx="1204856" cy="203392"/>
          </a:xfrm>
          <a:custGeom>
            <a:avLst/>
            <a:gdLst/>
            <a:ahLst/>
            <a:cxnLst/>
            <a:rect l="0" t="0" r="r" b="b"/>
            <a:pathLst>
              <a:path w="113845" h="19218">
                <a:moveTo>
                  <a:pt x="0" y="1921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311715" y="3953496"/>
            <a:ext cx="1204856" cy="73942"/>
          </a:xfrm>
          <a:custGeom>
            <a:avLst/>
            <a:gdLst/>
            <a:ahLst/>
            <a:cxnLst/>
            <a:rect l="0" t="0" r="r" b="b"/>
            <a:pathLst>
              <a:path w="113845" h="6987">
                <a:moveTo>
                  <a:pt x="0" y="0"/>
                </a:moveTo>
                <a:lnTo>
                  <a:pt x="113845" y="6987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311715" y="4039613"/>
            <a:ext cx="1204856" cy="139062"/>
          </a:xfrm>
          <a:custGeom>
            <a:avLst/>
            <a:gdLst/>
            <a:ahLst/>
            <a:cxnLst/>
            <a:rect l="0" t="0" r="r" b="b"/>
            <a:pathLst>
              <a:path w="113845" h="13140">
                <a:moveTo>
                  <a:pt x="0" y="0"/>
                </a:moveTo>
                <a:lnTo>
                  <a:pt x="113845" y="13140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311715" y="3435746"/>
            <a:ext cx="1204856" cy="676157"/>
          </a:xfrm>
          <a:custGeom>
            <a:avLst/>
            <a:gdLst/>
            <a:ahLst/>
            <a:cxnLst/>
            <a:rect l="0" t="0" r="r" b="b"/>
            <a:pathLst>
              <a:path w="113845" h="63889">
                <a:moveTo>
                  <a:pt x="0" y="63889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311715" y="3554411"/>
            <a:ext cx="1204856" cy="596083"/>
          </a:xfrm>
          <a:custGeom>
            <a:avLst/>
            <a:gdLst/>
            <a:ahLst/>
            <a:cxnLst/>
            <a:rect l="0" t="0" r="r" b="b"/>
            <a:pathLst>
              <a:path w="113845" h="56323">
                <a:moveTo>
                  <a:pt x="0" y="5632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311715" y="3694946"/>
            <a:ext cx="1204856" cy="529789"/>
          </a:xfrm>
          <a:custGeom>
            <a:avLst/>
            <a:gdLst/>
            <a:ahLst/>
            <a:cxnLst/>
            <a:rect l="0" t="0" r="r" b="b"/>
            <a:pathLst>
              <a:path w="113845" h="50059">
                <a:moveTo>
                  <a:pt x="0" y="50059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311715" y="3013710"/>
            <a:ext cx="1204856" cy="56663"/>
          </a:xfrm>
          <a:custGeom>
            <a:avLst/>
            <a:gdLst/>
            <a:ahLst/>
            <a:cxnLst/>
            <a:rect l="0" t="0" r="r" b="b"/>
            <a:pathLst>
              <a:path w="113845" h="5354">
                <a:moveTo>
                  <a:pt x="0" y="0"/>
                </a:moveTo>
                <a:lnTo>
                  <a:pt x="113845" y="5354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311715" y="3649608"/>
            <a:ext cx="1204856" cy="804426"/>
          </a:xfrm>
          <a:custGeom>
            <a:avLst/>
            <a:gdLst/>
            <a:ahLst/>
            <a:cxnLst/>
            <a:rect l="0" t="0" r="r" b="b"/>
            <a:pathLst>
              <a:path w="113845" h="76009">
                <a:moveTo>
                  <a:pt x="0" y="76009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311715" y="3995570"/>
            <a:ext cx="1204856" cy="176841"/>
          </a:xfrm>
          <a:custGeom>
            <a:avLst/>
            <a:gdLst/>
            <a:ahLst/>
            <a:cxnLst/>
            <a:rect l="0" t="0" r="r" b="b"/>
            <a:pathLst>
              <a:path w="113845" h="16709">
                <a:moveTo>
                  <a:pt x="0" y="0"/>
                </a:moveTo>
                <a:lnTo>
                  <a:pt x="113845" y="16709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311715" y="3117753"/>
            <a:ext cx="1204856" cy="1033770"/>
          </a:xfrm>
          <a:custGeom>
            <a:avLst/>
            <a:gdLst/>
            <a:ahLst/>
            <a:cxnLst/>
            <a:rect l="0" t="0" r="r" b="b"/>
            <a:pathLst>
              <a:path w="113845" h="97679">
                <a:moveTo>
                  <a:pt x="0" y="97679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311715" y="3935539"/>
            <a:ext cx="1204856" cy="73070"/>
          </a:xfrm>
          <a:custGeom>
            <a:avLst/>
            <a:gdLst/>
            <a:ahLst/>
            <a:cxnLst/>
            <a:rect l="0" t="0" r="r" b="b"/>
            <a:pathLst>
              <a:path w="113845" h="6904">
                <a:moveTo>
                  <a:pt x="0" y="690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311715" y="3820590"/>
            <a:ext cx="1204856" cy="346096"/>
          </a:xfrm>
          <a:custGeom>
            <a:avLst/>
            <a:gdLst/>
            <a:ahLst/>
            <a:cxnLst/>
            <a:rect l="0" t="0" r="r" b="b"/>
            <a:pathLst>
              <a:path w="113845" h="32702">
                <a:moveTo>
                  <a:pt x="0" y="3270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311715" y="4409259"/>
            <a:ext cx="1204856" cy="52250"/>
          </a:xfrm>
          <a:custGeom>
            <a:avLst/>
            <a:gdLst/>
            <a:ahLst/>
            <a:cxnLst/>
            <a:rect l="0" t="0" r="r" b="b"/>
            <a:pathLst>
              <a:path w="113845" h="4937">
                <a:moveTo>
                  <a:pt x="0" y="493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311715" y="3486250"/>
            <a:ext cx="1204856" cy="77946"/>
          </a:xfrm>
          <a:custGeom>
            <a:avLst/>
            <a:gdLst/>
            <a:ahLst/>
            <a:cxnLst/>
            <a:rect l="0" t="0" r="r" b="b"/>
            <a:pathLst>
              <a:path w="113845" h="7365">
                <a:moveTo>
                  <a:pt x="0" y="736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311715" y="3532682"/>
            <a:ext cx="1204856" cy="743487"/>
          </a:xfrm>
          <a:custGeom>
            <a:avLst/>
            <a:gdLst/>
            <a:ahLst/>
            <a:cxnLst/>
            <a:rect l="0" t="0" r="r" b="b"/>
            <a:pathLst>
              <a:path w="113845" h="70251">
                <a:moveTo>
                  <a:pt x="0" y="7025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311715" y="4020715"/>
            <a:ext cx="1204856" cy="149587"/>
          </a:xfrm>
          <a:custGeom>
            <a:avLst/>
            <a:gdLst/>
            <a:ahLst/>
            <a:cxnLst/>
            <a:rect l="0" t="0" r="r" b="b"/>
            <a:pathLst>
              <a:path w="113845" h="14134">
                <a:moveTo>
                  <a:pt x="0" y="0"/>
                </a:moveTo>
                <a:lnTo>
                  <a:pt x="113845" y="14134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311715" y="4153932"/>
            <a:ext cx="1204856" cy="13923"/>
          </a:xfrm>
          <a:custGeom>
            <a:avLst/>
            <a:gdLst/>
            <a:ahLst/>
            <a:cxnLst/>
            <a:rect l="0" t="0" r="r" b="b"/>
            <a:pathLst>
              <a:path w="113845" h="1316">
                <a:moveTo>
                  <a:pt x="0" y="131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311715" y="3829915"/>
            <a:ext cx="1204856" cy="147713"/>
          </a:xfrm>
          <a:custGeom>
            <a:avLst/>
            <a:gdLst/>
            <a:ahLst/>
            <a:cxnLst/>
            <a:rect l="0" t="0" r="r" b="b"/>
            <a:pathLst>
              <a:path w="113845" h="13957">
                <a:moveTo>
                  <a:pt x="0" y="1395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311715" y="3930034"/>
            <a:ext cx="1204856" cy="336485"/>
          </a:xfrm>
          <a:custGeom>
            <a:avLst/>
            <a:gdLst/>
            <a:ahLst/>
            <a:cxnLst/>
            <a:rect l="0" t="0" r="r" b="b"/>
            <a:pathLst>
              <a:path w="113845" h="31794">
                <a:moveTo>
                  <a:pt x="0" y="0"/>
                </a:moveTo>
                <a:lnTo>
                  <a:pt x="113845" y="31794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311715" y="3725383"/>
            <a:ext cx="1204856" cy="526668"/>
          </a:xfrm>
          <a:custGeom>
            <a:avLst/>
            <a:gdLst/>
            <a:ahLst/>
            <a:cxnLst/>
            <a:rect l="0" t="0" r="r" b="b"/>
            <a:pathLst>
              <a:path w="113845" h="49764">
                <a:moveTo>
                  <a:pt x="0" y="4976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858266" y="4385944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858266" y="4072368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858266" y="3758792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858266" y="3445216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858266" y="3131640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292636" y="435945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292636" y="386284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292636" y="354304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292636" y="431416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292636" y="410440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292636" y="414396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292636" y="371589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1292636" y="403442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1292636" y="411515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vector geometry"/>
          <p:cNvSpPr/>
          <p:nvPr/>
        </p:nvSpPr>
        <p:spPr>
          <a:xfrm>
            <a:off x="1292636" y="385370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vector geometry"/>
          <p:cNvSpPr/>
          <p:nvPr/>
        </p:nvSpPr>
        <p:spPr>
          <a:xfrm>
            <a:off x="1292636" y="395798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1292636" y="425378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1292636" y="411536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1292636" y="391780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1292636" y="429170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1292636" y="402608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1292636" y="396660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1292636" y="395856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1292636" y="406534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1292636" y="426629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vector geometry"/>
          <p:cNvSpPr/>
          <p:nvPr/>
        </p:nvSpPr>
        <p:spPr>
          <a:xfrm>
            <a:off x="1292636" y="387869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vector geometry"/>
          <p:cNvSpPr/>
          <p:nvPr/>
        </p:nvSpPr>
        <p:spPr>
          <a:xfrm>
            <a:off x="1292636" y="412615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vector geometry"/>
          <p:cNvSpPr/>
          <p:nvPr/>
        </p:nvSpPr>
        <p:spPr>
          <a:xfrm>
            <a:off x="1292636" y="409497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vector geometry"/>
          <p:cNvSpPr/>
          <p:nvPr/>
        </p:nvSpPr>
        <p:spPr>
          <a:xfrm>
            <a:off x="1292636" y="376083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vector geometry"/>
          <p:cNvSpPr/>
          <p:nvPr/>
        </p:nvSpPr>
        <p:spPr>
          <a:xfrm>
            <a:off x="1292636" y="427048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vector geometry"/>
          <p:cNvSpPr/>
          <p:nvPr/>
        </p:nvSpPr>
        <p:spPr>
          <a:xfrm>
            <a:off x="1292636" y="385791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vector geometry"/>
          <p:cNvSpPr/>
          <p:nvPr/>
        </p:nvSpPr>
        <p:spPr>
          <a:xfrm>
            <a:off x="1292636" y="393441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ditable vector geometry"/>
          <p:cNvSpPr/>
          <p:nvPr/>
        </p:nvSpPr>
        <p:spPr>
          <a:xfrm>
            <a:off x="1292636" y="402053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vector geometry"/>
          <p:cNvSpPr/>
          <p:nvPr/>
        </p:nvSpPr>
        <p:spPr>
          <a:xfrm>
            <a:off x="1292636" y="409282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Editable vector geometry"/>
          <p:cNvSpPr/>
          <p:nvPr/>
        </p:nvSpPr>
        <p:spPr>
          <a:xfrm>
            <a:off x="1292636" y="413141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Editable vector geometry"/>
          <p:cNvSpPr/>
          <p:nvPr/>
        </p:nvSpPr>
        <p:spPr>
          <a:xfrm>
            <a:off x="1292636" y="420565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Editable vector geometry"/>
          <p:cNvSpPr/>
          <p:nvPr/>
        </p:nvSpPr>
        <p:spPr>
          <a:xfrm>
            <a:off x="1292636" y="299463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Editable vector geometry"/>
          <p:cNvSpPr/>
          <p:nvPr/>
        </p:nvSpPr>
        <p:spPr>
          <a:xfrm>
            <a:off x="1292636" y="443495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Editable vector geometry"/>
          <p:cNvSpPr/>
          <p:nvPr/>
        </p:nvSpPr>
        <p:spPr>
          <a:xfrm>
            <a:off x="1292636" y="397649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Editable vector geometry"/>
          <p:cNvSpPr/>
          <p:nvPr/>
        </p:nvSpPr>
        <p:spPr>
          <a:xfrm>
            <a:off x="1292636" y="413244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Editable vector geometry"/>
          <p:cNvSpPr/>
          <p:nvPr/>
        </p:nvSpPr>
        <p:spPr>
          <a:xfrm>
            <a:off x="1292636" y="398953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Editable vector geometry"/>
          <p:cNvSpPr/>
          <p:nvPr/>
        </p:nvSpPr>
        <p:spPr>
          <a:xfrm>
            <a:off x="1292636" y="414760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Editable vector geometry"/>
          <p:cNvSpPr/>
          <p:nvPr/>
        </p:nvSpPr>
        <p:spPr>
          <a:xfrm>
            <a:off x="1292636" y="444243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Editable vector geometry"/>
          <p:cNvSpPr/>
          <p:nvPr/>
        </p:nvSpPr>
        <p:spPr>
          <a:xfrm>
            <a:off x="1292636" y="354511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Editable vector geometry"/>
          <p:cNvSpPr/>
          <p:nvPr/>
        </p:nvSpPr>
        <p:spPr>
          <a:xfrm>
            <a:off x="1292636" y="425709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Editable vector geometry"/>
          <p:cNvSpPr/>
          <p:nvPr/>
        </p:nvSpPr>
        <p:spPr>
          <a:xfrm>
            <a:off x="1292636" y="400163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Editable vector geometry"/>
          <p:cNvSpPr/>
          <p:nvPr/>
        </p:nvSpPr>
        <p:spPr>
          <a:xfrm>
            <a:off x="1292636" y="414877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Editable vector geometry"/>
          <p:cNvSpPr/>
          <p:nvPr/>
        </p:nvSpPr>
        <p:spPr>
          <a:xfrm>
            <a:off x="1292636" y="395855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Editable vector geometry"/>
          <p:cNvSpPr/>
          <p:nvPr/>
        </p:nvSpPr>
        <p:spPr>
          <a:xfrm>
            <a:off x="1292636" y="391095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Editable vector geometry"/>
          <p:cNvSpPr/>
          <p:nvPr/>
        </p:nvSpPr>
        <p:spPr>
          <a:xfrm>
            <a:off x="1292636" y="423297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Editable vector geometry"/>
          <p:cNvSpPr/>
          <p:nvPr/>
        </p:nvSpPr>
        <p:spPr>
          <a:xfrm>
            <a:off x="2497492" y="396660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Editable vector geometry"/>
          <p:cNvSpPr/>
          <p:nvPr/>
        </p:nvSpPr>
        <p:spPr>
          <a:xfrm>
            <a:off x="2497492" y="359460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Editable vector geometry"/>
          <p:cNvSpPr/>
          <p:nvPr/>
        </p:nvSpPr>
        <p:spPr>
          <a:xfrm>
            <a:off x="2497492" y="412636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Editable vector geometry"/>
          <p:cNvSpPr/>
          <p:nvPr/>
        </p:nvSpPr>
        <p:spPr>
          <a:xfrm>
            <a:off x="2497492" y="337867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Editable vector geometry"/>
          <p:cNvSpPr/>
          <p:nvPr/>
        </p:nvSpPr>
        <p:spPr>
          <a:xfrm>
            <a:off x="2497492" y="333413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Editable vector geometry"/>
          <p:cNvSpPr/>
          <p:nvPr/>
        </p:nvSpPr>
        <p:spPr>
          <a:xfrm>
            <a:off x="2497492" y="389387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Editable vector geometry"/>
          <p:cNvSpPr/>
          <p:nvPr/>
        </p:nvSpPr>
        <p:spPr>
          <a:xfrm>
            <a:off x="2497492" y="385105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Editable vector geometry"/>
          <p:cNvSpPr/>
          <p:nvPr/>
        </p:nvSpPr>
        <p:spPr>
          <a:xfrm>
            <a:off x="2497492" y="375562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Editable vector geometry"/>
          <p:cNvSpPr/>
          <p:nvPr/>
        </p:nvSpPr>
        <p:spPr>
          <a:xfrm>
            <a:off x="2497492" y="334663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Editable vector geometry"/>
          <p:cNvSpPr/>
          <p:nvPr/>
        </p:nvSpPr>
        <p:spPr>
          <a:xfrm>
            <a:off x="2497492" y="400903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Editable vector geometry"/>
          <p:cNvSpPr/>
          <p:nvPr/>
        </p:nvSpPr>
        <p:spPr>
          <a:xfrm>
            <a:off x="2497492" y="346777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Editable vector geometry"/>
          <p:cNvSpPr/>
          <p:nvPr/>
        </p:nvSpPr>
        <p:spPr>
          <a:xfrm>
            <a:off x="2497492" y="401359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Editable vector geometry"/>
          <p:cNvSpPr/>
          <p:nvPr/>
        </p:nvSpPr>
        <p:spPr>
          <a:xfrm>
            <a:off x="2497492" y="344582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Editable vector geometry"/>
          <p:cNvSpPr/>
          <p:nvPr/>
        </p:nvSpPr>
        <p:spPr>
          <a:xfrm>
            <a:off x="2497492" y="374832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Editable vector geometry"/>
          <p:cNvSpPr/>
          <p:nvPr/>
        </p:nvSpPr>
        <p:spPr>
          <a:xfrm>
            <a:off x="2497492" y="323752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Editable vector geometry"/>
          <p:cNvSpPr/>
          <p:nvPr/>
        </p:nvSpPr>
        <p:spPr>
          <a:xfrm>
            <a:off x="2497492" y="387604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Editable vector geometry"/>
          <p:cNvSpPr/>
          <p:nvPr/>
        </p:nvSpPr>
        <p:spPr>
          <a:xfrm>
            <a:off x="2497492" y="387991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Editable vector geometry"/>
          <p:cNvSpPr/>
          <p:nvPr/>
        </p:nvSpPr>
        <p:spPr>
          <a:xfrm>
            <a:off x="2497492" y="350475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Editable vector geometry"/>
          <p:cNvSpPr/>
          <p:nvPr/>
        </p:nvSpPr>
        <p:spPr>
          <a:xfrm>
            <a:off x="2497492" y="365674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Editable vector geometry"/>
          <p:cNvSpPr/>
          <p:nvPr/>
        </p:nvSpPr>
        <p:spPr>
          <a:xfrm>
            <a:off x="2497492" y="316664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Editable vector geometry"/>
          <p:cNvSpPr/>
          <p:nvPr/>
        </p:nvSpPr>
        <p:spPr>
          <a:xfrm>
            <a:off x="2497492" y="405961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Editable vector geometry"/>
          <p:cNvSpPr/>
          <p:nvPr/>
        </p:nvSpPr>
        <p:spPr>
          <a:xfrm>
            <a:off x="2497492" y="326951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Editable vector geometry"/>
          <p:cNvSpPr/>
          <p:nvPr/>
        </p:nvSpPr>
        <p:spPr>
          <a:xfrm>
            <a:off x="2497492" y="396113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Editable vector geometry"/>
          <p:cNvSpPr/>
          <p:nvPr/>
        </p:nvSpPr>
        <p:spPr>
          <a:xfrm>
            <a:off x="2497492" y="404776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Editable vector geometry"/>
          <p:cNvSpPr/>
          <p:nvPr/>
        </p:nvSpPr>
        <p:spPr>
          <a:xfrm>
            <a:off x="2497492" y="370391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Editable vector geometry"/>
          <p:cNvSpPr/>
          <p:nvPr/>
        </p:nvSpPr>
        <p:spPr>
          <a:xfrm>
            <a:off x="2497492" y="365452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Editable vector geometry"/>
          <p:cNvSpPr/>
          <p:nvPr/>
        </p:nvSpPr>
        <p:spPr>
          <a:xfrm>
            <a:off x="2497492" y="400835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Editable vector geometry"/>
          <p:cNvSpPr/>
          <p:nvPr/>
        </p:nvSpPr>
        <p:spPr>
          <a:xfrm>
            <a:off x="2497492" y="415959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Editable vector geometry"/>
          <p:cNvSpPr/>
          <p:nvPr/>
        </p:nvSpPr>
        <p:spPr>
          <a:xfrm>
            <a:off x="2497492" y="341666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Editable vector geometry"/>
          <p:cNvSpPr/>
          <p:nvPr/>
        </p:nvSpPr>
        <p:spPr>
          <a:xfrm>
            <a:off x="2497492" y="353533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Editable vector geometry"/>
          <p:cNvSpPr/>
          <p:nvPr/>
        </p:nvSpPr>
        <p:spPr>
          <a:xfrm>
            <a:off x="2497492" y="367586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Editable vector geometry"/>
          <p:cNvSpPr/>
          <p:nvPr/>
        </p:nvSpPr>
        <p:spPr>
          <a:xfrm>
            <a:off x="2497492" y="305129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Editable vector geometry"/>
          <p:cNvSpPr/>
          <p:nvPr/>
        </p:nvSpPr>
        <p:spPr>
          <a:xfrm>
            <a:off x="2497492" y="363053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Editable vector geometry"/>
          <p:cNvSpPr/>
          <p:nvPr/>
        </p:nvSpPr>
        <p:spPr>
          <a:xfrm>
            <a:off x="2497492" y="415333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Editable vector geometry"/>
          <p:cNvSpPr/>
          <p:nvPr/>
        </p:nvSpPr>
        <p:spPr>
          <a:xfrm>
            <a:off x="2497492" y="309867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Editable vector geometry"/>
          <p:cNvSpPr/>
          <p:nvPr/>
        </p:nvSpPr>
        <p:spPr>
          <a:xfrm>
            <a:off x="2497492" y="391646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Editable vector geometry"/>
          <p:cNvSpPr/>
          <p:nvPr/>
        </p:nvSpPr>
        <p:spPr>
          <a:xfrm>
            <a:off x="2497492" y="380151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Editable vector geometry"/>
          <p:cNvSpPr/>
          <p:nvPr/>
        </p:nvSpPr>
        <p:spPr>
          <a:xfrm>
            <a:off x="2497492" y="439018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Editable vector geometry"/>
          <p:cNvSpPr/>
          <p:nvPr/>
        </p:nvSpPr>
        <p:spPr>
          <a:xfrm>
            <a:off x="2497492" y="346717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Editable vector geometry"/>
          <p:cNvSpPr/>
          <p:nvPr/>
        </p:nvSpPr>
        <p:spPr>
          <a:xfrm>
            <a:off x="2497492" y="351360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Editable vector geometry"/>
          <p:cNvSpPr/>
          <p:nvPr/>
        </p:nvSpPr>
        <p:spPr>
          <a:xfrm>
            <a:off x="2497492" y="415122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Editable vector geometry"/>
          <p:cNvSpPr/>
          <p:nvPr/>
        </p:nvSpPr>
        <p:spPr>
          <a:xfrm>
            <a:off x="2497492" y="413485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Editable vector geometry"/>
          <p:cNvSpPr/>
          <p:nvPr/>
        </p:nvSpPr>
        <p:spPr>
          <a:xfrm>
            <a:off x="2497492" y="381083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Editable vector geometry"/>
          <p:cNvSpPr/>
          <p:nvPr/>
        </p:nvSpPr>
        <p:spPr>
          <a:xfrm>
            <a:off x="2497492" y="424744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Editable vector geometry"/>
          <p:cNvSpPr/>
          <p:nvPr/>
        </p:nvSpPr>
        <p:spPr>
          <a:xfrm>
            <a:off x="2497492" y="370630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Editable vector geometry"/>
          <p:cNvSpPr/>
          <p:nvPr/>
        </p:nvSpPr>
        <p:spPr>
          <a:xfrm>
            <a:off x="890016" y="2825496"/>
            <a:ext cx="105" cy="1824227"/>
          </a:xfrm>
          <a:custGeom>
            <a:avLst/>
            <a:gdLst/>
            <a:ahLst/>
            <a:cxnLst/>
            <a:rect l="0" t="0" r="r" b="b"/>
            <a:pathLst>
              <a:path w="10" h="172368">
                <a:moveTo>
                  <a:pt x="0" y="172368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Editable vector geometry"/>
          <p:cNvSpPr/>
          <p:nvPr/>
        </p:nvSpPr>
        <p:spPr>
          <a:xfrm>
            <a:off x="890016" y="4649723"/>
            <a:ext cx="2048255" cy="105"/>
          </a:xfrm>
          <a:custGeom>
            <a:avLst/>
            <a:gdLst/>
            <a:ahLst/>
            <a:cxnLst/>
            <a:rect l="0" t="0" r="r" b="b"/>
            <a:pathLst>
              <a:path w="193536" h="10">
                <a:moveTo>
                  <a:pt x="0" y="0"/>
                </a:moveTo>
                <a:lnTo>
                  <a:pt x="19353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Editable vector geometry"/>
          <p:cNvSpPr/>
          <p:nvPr/>
        </p:nvSpPr>
        <p:spPr>
          <a:xfrm>
            <a:off x="1143035" y="4050495"/>
            <a:ext cx="337359" cy="105"/>
          </a:xfrm>
          <a:custGeom>
            <a:avLst/>
            <a:gdLst/>
            <a:ahLst/>
            <a:cxnLst/>
            <a:rect l="0" t="0" r="r" b="b"/>
            <a:pathLst>
              <a:path w="31877" h="10">
                <a:moveTo>
                  <a:pt x="0" y="0"/>
                </a:moveTo>
                <a:lnTo>
                  <a:pt x="31877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Editable vector geometry"/>
          <p:cNvSpPr/>
          <p:nvPr/>
        </p:nvSpPr>
        <p:spPr>
          <a:xfrm>
            <a:off x="2347892" y="3748400"/>
            <a:ext cx="337359" cy="105"/>
          </a:xfrm>
          <a:custGeom>
            <a:avLst/>
            <a:gdLst/>
            <a:ahLst/>
            <a:cxnLst/>
            <a:rect l="0" t="0" r="r" b="b"/>
            <a:pathLst>
              <a:path w="31877" h="10">
                <a:moveTo>
                  <a:pt x="0" y="0"/>
                </a:moveTo>
                <a:lnTo>
                  <a:pt x="31877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Editable vector geometry"/>
          <p:cNvSpPr/>
          <p:nvPr/>
        </p:nvSpPr>
        <p:spPr>
          <a:xfrm>
            <a:off x="3706368" y="2825496"/>
            <a:ext cx="2048256" cy="1824227"/>
          </a:xfrm>
          <a:custGeom>
            <a:avLst/>
            <a:gdLst/>
            <a:ahLst/>
            <a:cxnLst/>
            <a:rect l="0" t="0" r="r" b="b"/>
            <a:pathLst>
              <a:path w="193536" h="172368">
                <a:moveTo>
                  <a:pt x="0" y="0"/>
                </a:moveTo>
                <a:lnTo>
                  <a:pt x="193536" y="0"/>
                </a:lnTo>
                <a:lnTo>
                  <a:pt x="193536" y="172368"/>
                </a:lnTo>
                <a:lnTo>
                  <a:pt x="0" y="17236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Editable vector geometry"/>
          <p:cNvSpPr/>
          <p:nvPr/>
        </p:nvSpPr>
        <p:spPr>
          <a:xfrm>
            <a:off x="4128067" y="3769247"/>
            <a:ext cx="1204856" cy="147685"/>
          </a:xfrm>
          <a:custGeom>
            <a:avLst/>
            <a:gdLst/>
            <a:ahLst/>
            <a:cxnLst/>
            <a:rect l="0" t="0" r="r" b="b"/>
            <a:pathLst>
              <a:path w="113845" h="13955">
                <a:moveTo>
                  <a:pt x="0" y="1395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Editable vector geometry"/>
          <p:cNvSpPr/>
          <p:nvPr/>
        </p:nvSpPr>
        <p:spPr>
          <a:xfrm>
            <a:off x="4128067" y="3963551"/>
            <a:ext cx="1204856" cy="41996"/>
          </a:xfrm>
          <a:custGeom>
            <a:avLst/>
            <a:gdLst/>
            <a:ahLst/>
            <a:cxnLst/>
            <a:rect l="0" t="0" r="r" b="b"/>
            <a:pathLst>
              <a:path w="113845" h="3968">
                <a:moveTo>
                  <a:pt x="0" y="396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Editable vector geometry"/>
          <p:cNvSpPr/>
          <p:nvPr/>
        </p:nvSpPr>
        <p:spPr>
          <a:xfrm>
            <a:off x="4128067" y="3847089"/>
            <a:ext cx="1204856" cy="231243"/>
          </a:xfrm>
          <a:custGeom>
            <a:avLst/>
            <a:gdLst/>
            <a:ahLst/>
            <a:cxnLst/>
            <a:rect l="0" t="0" r="r" b="b"/>
            <a:pathLst>
              <a:path w="113845" h="21850">
                <a:moveTo>
                  <a:pt x="0" y="2185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Editable vector geometry"/>
          <p:cNvSpPr/>
          <p:nvPr/>
        </p:nvSpPr>
        <p:spPr>
          <a:xfrm>
            <a:off x="4128067" y="3013710"/>
            <a:ext cx="1204856" cy="823318"/>
          </a:xfrm>
          <a:custGeom>
            <a:avLst/>
            <a:gdLst/>
            <a:ahLst/>
            <a:cxnLst/>
            <a:rect l="0" t="0" r="r" b="b"/>
            <a:pathLst>
              <a:path w="113845" h="77794">
                <a:moveTo>
                  <a:pt x="0" y="7779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Editable vector geometry"/>
          <p:cNvSpPr/>
          <p:nvPr/>
        </p:nvSpPr>
        <p:spPr>
          <a:xfrm>
            <a:off x="4128067" y="3625494"/>
            <a:ext cx="1204856" cy="213483"/>
          </a:xfrm>
          <a:custGeom>
            <a:avLst/>
            <a:gdLst/>
            <a:ahLst/>
            <a:cxnLst/>
            <a:rect l="0" t="0" r="r" b="b"/>
            <a:pathLst>
              <a:path w="113845" h="20172">
                <a:moveTo>
                  <a:pt x="0" y="2017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Editable vector geometry"/>
          <p:cNvSpPr/>
          <p:nvPr/>
        </p:nvSpPr>
        <p:spPr>
          <a:xfrm>
            <a:off x="4128067" y="3342297"/>
            <a:ext cx="1204856" cy="666209"/>
          </a:xfrm>
          <a:custGeom>
            <a:avLst/>
            <a:gdLst/>
            <a:ahLst/>
            <a:cxnLst/>
            <a:rect l="0" t="0" r="r" b="b"/>
            <a:pathLst>
              <a:path w="113845" h="62949">
                <a:moveTo>
                  <a:pt x="0" y="62949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Editable vector geometry"/>
          <p:cNvSpPr/>
          <p:nvPr/>
        </p:nvSpPr>
        <p:spPr>
          <a:xfrm>
            <a:off x="4128067" y="3657383"/>
            <a:ext cx="1204856" cy="217507"/>
          </a:xfrm>
          <a:custGeom>
            <a:avLst/>
            <a:gdLst/>
            <a:ahLst/>
            <a:cxnLst/>
            <a:rect l="0" t="0" r="r" b="b"/>
            <a:pathLst>
              <a:path w="113845" h="20552">
                <a:moveTo>
                  <a:pt x="0" y="2055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Editable vector geometry"/>
          <p:cNvSpPr/>
          <p:nvPr/>
        </p:nvSpPr>
        <p:spPr>
          <a:xfrm>
            <a:off x="4128067" y="3641362"/>
            <a:ext cx="1204856" cy="206021"/>
          </a:xfrm>
          <a:custGeom>
            <a:avLst/>
            <a:gdLst/>
            <a:ahLst/>
            <a:cxnLst/>
            <a:rect l="0" t="0" r="r" b="b"/>
            <a:pathLst>
              <a:path w="113845" h="19467">
                <a:moveTo>
                  <a:pt x="0" y="1946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Editable vector geometry"/>
          <p:cNvSpPr/>
          <p:nvPr/>
        </p:nvSpPr>
        <p:spPr>
          <a:xfrm>
            <a:off x="4128067" y="4278229"/>
            <a:ext cx="1204856" cy="151728"/>
          </a:xfrm>
          <a:custGeom>
            <a:avLst/>
            <a:gdLst/>
            <a:ahLst/>
            <a:cxnLst/>
            <a:rect l="0" t="0" r="r" b="b"/>
            <a:pathLst>
              <a:path w="113845" h="14337">
                <a:moveTo>
                  <a:pt x="0" y="0"/>
                </a:moveTo>
                <a:lnTo>
                  <a:pt x="113845" y="14337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Editable vector geometry"/>
          <p:cNvSpPr/>
          <p:nvPr/>
        </p:nvSpPr>
        <p:spPr>
          <a:xfrm>
            <a:off x="4128067" y="3967538"/>
            <a:ext cx="1204856" cy="122875"/>
          </a:xfrm>
          <a:custGeom>
            <a:avLst/>
            <a:gdLst/>
            <a:ahLst/>
            <a:cxnLst/>
            <a:rect l="0" t="0" r="r" b="b"/>
            <a:pathLst>
              <a:path w="113845" h="11610">
                <a:moveTo>
                  <a:pt x="0" y="0"/>
                </a:moveTo>
                <a:lnTo>
                  <a:pt x="113845" y="11610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Editable vector geometry"/>
          <p:cNvSpPr/>
          <p:nvPr/>
        </p:nvSpPr>
        <p:spPr>
          <a:xfrm>
            <a:off x="4128067" y="3716874"/>
            <a:ext cx="1204856" cy="510177"/>
          </a:xfrm>
          <a:custGeom>
            <a:avLst/>
            <a:gdLst/>
            <a:ahLst/>
            <a:cxnLst/>
            <a:rect l="0" t="0" r="r" b="b"/>
            <a:pathLst>
              <a:path w="113845" h="48206">
                <a:moveTo>
                  <a:pt x="0" y="4820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Editable vector geometry"/>
          <p:cNvSpPr/>
          <p:nvPr/>
        </p:nvSpPr>
        <p:spPr>
          <a:xfrm>
            <a:off x="4128067" y="4034205"/>
            <a:ext cx="1204856" cy="268076"/>
          </a:xfrm>
          <a:custGeom>
            <a:avLst/>
            <a:gdLst/>
            <a:ahLst/>
            <a:cxnLst/>
            <a:rect l="0" t="0" r="r" b="b"/>
            <a:pathLst>
              <a:path w="113845" h="25330">
                <a:moveTo>
                  <a:pt x="0" y="0"/>
                </a:moveTo>
                <a:lnTo>
                  <a:pt x="113845" y="25330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Editable vector geometry"/>
          <p:cNvSpPr/>
          <p:nvPr/>
        </p:nvSpPr>
        <p:spPr>
          <a:xfrm>
            <a:off x="4128067" y="4154994"/>
            <a:ext cx="1204856" cy="29576"/>
          </a:xfrm>
          <a:custGeom>
            <a:avLst/>
            <a:gdLst/>
            <a:ahLst/>
            <a:cxnLst/>
            <a:rect l="0" t="0" r="r" b="b"/>
            <a:pathLst>
              <a:path w="113845" h="2795">
                <a:moveTo>
                  <a:pt x="0" y="279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Editable vector geometry"/>
          <p:cNvSpPr/>
          <p:nvPr/>
        </p:nvSpPr>
        <p:spPr>
          <a:xfrm>
            <a:off x="4128067" y="3921579"/>
            <a:ext cx="1204856" cy="135379"/>
          </a:xfrm>
          <a:custGeom>
            <a:avLst/>
            <a:gdLst/>
            <a:ahLst/>
            <a:cxnLst/>
            <a:rect l="0" t="0" r="r" b="b"/>
            <a:pathLst>
              <a:path w="113845" h="12792">
                <a:moveTo>
                  <a:pt x="0" y="0"/>
                </a:moveTo>
                <a:lnTo>
                  <a:pt x="113845" y="12792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Editable vector geometry"/>
          <p:cNvSpPr/>
          <p:nvPr/>
        </p:nvSpPr>
        <p:spPr>
          <a:xfrm>
            <a:off x="4128067" y="3519129"/>
            <a:ext cx="1204856" cy="251385"/>
          </a:xfrm>
          <a:custGeom>
            <a:avLst/>
            <a:gdLst/>
            <a:ahLst/>
            <a:cxnLst/>
            <a:rect l="0" t="0" r="r" b="b"/>
            <a:pathLst>
              <a:path w="113845" h="23753">
                <a:moveTo>
                  <a:pt x="0" y="0"/>
                </a:moveTo>
                <a:lnTo>
                  <a:pt x="113845" y="23753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Editable vector geometry"/>
          <p:cNvSpPr/>
          <p:nvPr/>
        </p:nvSpPr>
        <p:spPr>
          <a:xfrm>
            <a:off x="4128067" y="3506566"/>
            <a:ext cx="1204856" cy="612857"/>
          </a:xfrm>
          <a:custGeom>
            <a:avLst/>
            <a:gdLst/>
            <a:ahLst/>
            <a:cxnLst/>
            <a:rect l="0" t="0" r="r" b="b"/>
            <a:pathLst>
              <a:path w="113845" h="57908">
                <a:moveTo>
                  <a:pt x="0" y="5790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Editable vector geometry"/>
          <p:cNvSpPr/>
          <p:nvPr/>
        </p:nvSpPr>
        <p:spPr>
          <a:xfrm>
            <a:off x="4128067" y="3756620"/>
            <a:ext cx="1204856" cy="226196"/>
          </a:xfrm>
          <a:custGeom>
            <a:avLst/>
            <a:gdLst/>
            <a:ahLst/>
            <a:cxnLst/>
            <a:rect l="0" t="0" r="r" b="b"/>
            <a:pathLst>
              <a:path w="113845" h="21373">
                <a:moveTo>
                  <a:pt x="0" y="2137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Editable vector geometry"/>
          <p:cNvSpPr/>
          <p:nvPr/>
        </p:nvSpPr>
        <p:spPr>
          <a:xfrm>
            <a:off x="4128067" y="4108348"/>
            <a:ext cx="1204856" cy="353161"/>
          </a:xfrm>
          <a:custGeom>
            <a:avLst/>
            <a:gdLst/>
            <a:ahLst/>
            <a:cxnLst/>
            <a:rect l="0" t="0" r="r" b="b"/>
            <a:pathLst>
              <a:path w="113845" h="33370">
                <a:moveTo>
                  <a:pt x="0" y="0"/>
                </a:moveTo>
                <a:lnTo>
                  <a:pt x="113845" y="33370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Editable vector geometry"/>
          <p:cNvSpPr/>
          <p:nvPr/>
        </p:nvSpPr>
        <p:spPr>
          <a:xfrm>
            <a:off x="4128067" y="3356587"/>
            <a:ext cx="1204856" cy="669111"/>
          </a:xfrm>
          <a:custGeom>
            <a:avLst/>
            <a:gdLst/>
            <a:ahLst/>
            <a:cxnLst/>
            <a:rect l="0" t="0" r="r" b="b"/>
            <a:pathLst>
              <a:path w="113845" h="63223">
                <a:moveTo>
                  <a:pt x="0" y="6322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Editable vector geometry"/>
          <p:cNvSpPr/>
          <p:nvPr/>
        </p:nvSpPr>
        <p:spPr>
          <a:xfrm>
            <a:off x="4128067" y="3373878"/>
            <a:ext cx="1204856" cy="596840"/>
          </a:xfrm>
          <a:custGeom>
            <a:avLst/>
            <a:gdLst/>
            <a:ahLst/>
            <a:cxnLst/>
            <a:rect l="0" t="0" r="r" b="b"/>
            <a:pathLst>
              <a:path w="113845" h="56394">
                <a:moveTo>
                  <a:pt x="0" y="5639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Editable vector geometry"/>
          <p:cNvSpPr/>
          <p:nvPr/>
        </p:nvSpPr>
        <p:spPr>
          <a:xfrm>
            <a:off x="4128067" y="3657359"/>
            <a:ext cx="1204856" cy="203117"/>
          </a:xfrm>
          <a:custGeom>
            <a:avLst/>
            <a:gdLst/>
            <a:ahLst/>
            <a:cxnLst/>
            <a:rect l="0" t="0" r="r" b="b"/>
            <a:pathLst>
              <a:path w="113845" h="19192">
                <a:moveTo>
                  <a:pt x="0" y="1919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Editable vector geometry"/>
          <p:cNvSpPr/>
          <p:nvPr/>
        </p:nvSpPr>
        <p:spPr>
          <a:xfrm>
            <a:off x="4128067" y="3277704"/>
            <a:ext cx="1204856" cy="693116"/>
          </a:xfrm>
          <a:custGeom>
            <a:avLst/>
            <a:gdLst/>
            <a:ahLst/>
            <a:cxnLst/>
            <a:rect l="0" t="0" r="r" b="b"/>
            <a:pathLst>
              <a:path w="113845" h="65491">
                <a:moveTo>
                  <a:pt x="0" y="6549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Editable vector geometry"/>
          <p:cNvSpPr/>
          <p:nvPr/>
        </p:nvSpPr>
        <p:spPr>
          <a:xfrm>
            <a:off x="4128067" y="3528973"/>
            <a:ext cx="1204856" cy="618327"/>
          </a:xfrm>
          <a:custGeom>
            <a:avLst/>
            <a:gdLst/>
            <a:ahLst/>
            <a:cxnLst/>
            <a:rect l="0" t="0" r="r" b="b"/>
            <a:pathLst>
              <a:path w="113845" h="58425">
                <a:moveTo>
                  <a:pt x="0" y="5842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Editable vector geometry"/>
          <p:cNvSpPr/>
          <p:nvPr/>
        </p:nvSpPr>
        <p:spPr>
          <a:xfrm>
            <a:off x="4128067" y="4126532"/>
            <a:ext cx="1204856" cy="51642"/>
          </a:xfrm>
          <a:custGeom>
            <a:avLst/>
            <a:gdLst/>
            <a:ahLst/>
            <a:cxnLst/>
            <a:rect l="0" t="0" r="r" b="b"/>
            <a:pathLst>
              <a:path w="113845" h="4880">
                <a:moveTo>
                  <a:pt x="0" y="488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Editable vector geometry"/>
          <p:cNvSpPr/>
          <p:nvPr/>
        </p:nvSpPr>
        <p:spPr>
          <a:xfrm>
            <a:off x="4128067" y="3610343"/>
            <a:ext cx="1204856" cy="401658"/>
          </a:xfrm>
          <a:custGeom>
            <a:avLst/>
            <a:gdLst/>
            <a:ahLst/>
            <a:cxnLst/>
            <a:rect l="0" t="0" r="r" b="b"/>
            <a:pathLst>
              <a:path w="113845" h="37952">
                <a:moveTo>
                  <a:pt x="0" y="3795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Editable vector geometry"/>
          <p:cNvSpPr/>
          <p:nvPr/>
        </p:nvSpPr>
        <p:spPr>
          <a:xfrm>
            <a:off x="4128067" y="4117678"/>
            <a:ext cx="1204856" cy="258459"/>
          </a:xfrm>
          <a:custGeom>
            <a:avLst/>
            <a:gdLst/>
            <a:ahLst/>
            <a:cxnLst/>
            <a:rect l="0" t="0" r="r" b="b"/>
            <a:pathLst>
              <a:path w="113845" h="24421">
                <a:moveTo>
                  <a:pt x="0" y="0"/>
                </a:moveTo>
                <a:lnTo>
                  <a:pt x="113845" y="24421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Editable vector geometry"/>
          <p:cNvSpPr/>
          <p:nvPr/>
        </p:nvSpPr>
        <p:spPr>
          <a:xfrm>
            <a:off x="4128067" y="3848975"/>
            <a:ext cx="1204856" cy="195511"/>
          </a:xfrm>
          <a:custGeom>
            <a:avLst/>
            <a:gdLst/>
            <a:ahLst/>
            <a:cxnLst/>
            <a:rect l="0" t="0" r="r" b="b"/>
            <a:pathLst>
              <a:path w="113845" h="18474">
                <a:moveTo>
                  <a:pt x="0" y="1847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Editable vector geometry"/>
          <p:cNvSpPr/>
          <p:nvPr/>
        </p:nvSpPr>
        <p:spPr>
          <a:xfrm>
            <a:off x="4128067" y="3394919"/>
            <a:ext cx="1204856" cy="687134"/>
          </a:xfrm>
          <a:custGeom>
            <a:avLst/>
            <a:gdLst/>
            <a:ahLst/>
            <a:cxnLst/>
            <a:rect l="0" t="0" r="r" b="b"/>
            <a:pathLst>
              <a:path w="113845" h="64926">
                <a:moveTo>
                  <a:pt x="0" y="6492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Editable vector geometry"/>
          <p:cNvSpPr/>
          <p:nvPr/>
        </p:nvSpPr>
        <p:spPr>
          <a:xfrm>
            <a:off x="4128067" y="4007783"/>
            <a:ext cx="1204856" cy="56629"/>
          </a:xfrm>
          <a:custGeom>
            <a:avLst/>
            <a:gdLst/>
            <a:ahLst/>
            <a:cxnLst/>
            <a:rect l="0" t="0" r="r" b="b"/>
            <a:pathLst>
              <a:path w="113845" h="5351">
                <a:moveTo>
                  <a:pt x="0" y="535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Editable vector geometry"/>
          <p:cNvSpPr/>
          <p:nvPr/>
        </p:nvSpPr>
        <p:spPr>
          <a:xfrm>
            <a:off x="4128067" y="4071155"/>
            <a:ext cx="1204856" cy="74530"/>
          </a:xfrm>
          <a:custGeom>
            <a:avLst/>
            <a:gdLst/>
            <a:ahLst/>
            <a:cxnLst/>
            <a:rect l="0" t="0" r="r" b="b"/>
            <a:pathLst>
              <a:path w="113845" h="7042">
                <a:moveTo>
                  <a:pt x="0" y="704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Editable vector geometry"/>
          <p:cNvSpPr/>
          <p:nvPr/>
        </p:nvSpPr>
        <p:spPr>
          <a:xfrm>
            <a:off x="4128067" y="3436421"/>
            <a:ext cx="1204856" cy="380099"/>
          </a:xfrm>
          <a:custGeom>
            <a:avLst/>
            <a:gdLst/>
            <a:ahLst/>
            <a:cxnLst/>
            <a:rect l="0" t="0" r="r" b="b"/>
            <a:pathLst>
              <a:path w="113845" h="35915">
                <a:moveTo>
                  <a:pt x="0" y="3591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Editable vector geometry"/>
          <p:cNvSpPr/>
          <p:nvPr/>
        </p:nvSpPr>
        <p:spPr>
          <a:xfrm>
            <a:off x="4128067" y="3916000"/>
            <a:ext cx="1204856" cy="309906"/>
          </a:xfrm>
          <a:custGeom>
            <a:avLst/>
            <a:gdLst/>
            <a:ahLst/>
            <a:cxnLst/>
            <a:rect l="0" t="0" r="r" b="b"/>
            <a:pathLst>
              <a:path w="113845" h="29283">
                <a:moveTo>
                  <a:pt x="0" y="2928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Editable vector geometry"/>
          <p:cNvSpPr/>
          <p:nvPr/>
        </p:nvSpPr>
        <p:spPr>
          <a:xfrm>
            <a:off x="4128067" y="3942667"/>
            <a:ext cx="1204856" cy="122095"/>
          </a:xfrm>
          <a:custGeom>
            <a:avLst/>
            <a:gdLst/>
            <a:ahLst/>
            <a:cxnLst/>
            <a:rect l="0" t="0" r="r" b="b"/>
            <a:pathLst>
              <a:path w="113845" h="11537">
                <a:moveTo>
                  <a:pt x="0" y="1153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Editable vector geometry"/>
          <p:cNvSpPr/>
          <p:nvPr/>
        </p:nvSpPr>
        <p:spPr>
          <a:xfrm>
            <a:off x="3674618" y="4600345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Editable vector geometry"/>
          <p:cNvSpPr/>
          <p:nvPr/>
        </p:nvSpPr>
        <p:spPr>
          <a:xfrm>
            <a:off x="3674618" y="4327960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Editable vector geometry"/>
          <p:cNvSpPr/>
          <p:nvPr/>
        </p:nvSpPr>
        <p:spPr>
          <a:xfrm>
            <a:off x="3674618" y="4055575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Editable vector geometry"/>
          <p:cNvSpPr/>
          <p:nvPr/>
        </p:nvSpPr>
        <p:spPr>
          <a:xfrm>
            <a:off x="3674618" y="3783190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Editable vector geometry"/>
          <p:cNvSpPr/>
          <p:nvPr/>
        </p:nvSpPr>
        <p:spPr>
          <a:xfrm>
            <a:off x="3674618" y="3510805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Editable vector geometry"/>
          <p:cNvSpPr/>
          <p:nvPr/>
        </p:nvSpPr>
        <p:spPr>
          <a:xfrm>
            <a:off x="3674618" y="3238420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Editable vector geometry"/>
          <p:cNvSpPr/>
          <p:nvPr/>
        </p:nvSpPr>
        <p:spPr>
          <a:xfrm>
            <a:off x="3674618" y="2966035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Editable vector geometry"/>
          <p:cNvSpPr/>
          <p:nvPr/>
        </p:nvSpPr>
        <p:spPr>
          <a:xfrm>
            <a:off x="4108988" y="389785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Editable vector geometry"/>
          <p:cNvSpPr/>
          <p:nvPr/>
        </p:nvSpPr>
        <p:spPr>
          <a:xfrm>
            <a:off x="4108988" y="398646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Editable vector geometry"/>
          <p:cNvSpPr/>
          <p:nvPr/>
        </p:nvSpPr>
        <p:spPr>
          <a:xfrm>
            <a:off x="4108988" y="405925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Editable vector geometry"/>
          <p:cNvSpPr/>
          <p:nvPr/>
        </p:nvSpPr>
        <p:spPr>
          <a:xfrm>
            <a:off x="4108988" y="381794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Editable vector geometry"/>
          <p:cNvSpPr/>
          <p:nvPr/>
        </p:nvSpPr>
        <p:spPr>
          <a:xfrm>
            <a:off x="4108988" y="381989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Editable vector geometry"/>
          <p:cNvSpPr/>
          <p:nvPr/>
        </p:nvSpPr>
        <p:spPr>
          <a:xfrm>
            <a:off x="4108988" y="398942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Editable vector geometry"/>
          <p:cNvSpPr/>
          <p:nvPr/>
        </p:nvSpPr>
        <p:spPr>
          <a:xfrm>
            <a:off x="4108988" y="385581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Editable vector geometry"/>
          <p:cNvSpPr/>
          <p:nvPr/>
        </p:nvSpPr>
        <p:spPr>
          <a:xfrm>
            <a:off x="4108988" y="382830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Editable vector geometry"/>
          <p:cNvSpPr/>
          <p:nvPr/>
        </p:nvSpPr>
        <p:spPr>
          <a:xfrm>
            <a:off x="4108988" y="425915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Editable vector geometry"/>
          <p:cNvSpPr/>
          <p:nvPr/>
        </p:nvSpPr>
        <p:spPr>
          <a:xfrm>
            <a:off x="4108988" y="394845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Editable vector geometry"/>
          <p:cNvSpPr/>
          <p:nvPr/>
        </p:nvSpPr>
        <p:spPr>
          <a:xfrm>
            <a:off x="4108988" y="420797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Editable vector geometry"/>
          <p:cNvSpPr/>
          <p:nvPr/>
        </p:nvSpPr>
        <p:spPr>
          <a:xfrm>
            <a:off x="4108988" y="401512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Editable vector geometry"/>
          <p:cNvSpPr/>
          <p:nvPr/>
        </p:nvSpPr>
        <p:spPr>
          <a:xfrm>
            <a:off x="4108988" y="416549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Editable vector geometry"/>
          <p:cNvSpPr/>
          <p:nvPr/>
        </p:nvSpPr>
        <p:spPr>
          <a:xfrm>
            <a:off x="4108988" y="390250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Editable vector geometry"/>
          <p:cNvSpPr/>
          <p:nvPr/>
        </p:nvSpPr>
        <p:spPr>
          <a:xfrm>
            <a:off x="4108988" y="350005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Editable vector geometry"/>
          <p:cNvSpPr/>
          <p:nvPr/>
        </p:nvSpPr>
        <p:spPr>
          <a:xfrm>
            <a:off x="4108988" y="410034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Editable vector geometry"/>
          <p:cNvSpPr/>
          <p:nvPr/>
        </p:nvSpPr>
        <p:spPr>
          <a:xfrm>
            <a:off x="4108988" y="396373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Editable vector geometry"/>
          <p:cNvSpPr/>
          <p:nvPr/>
        </p:nvSpPr>
        <p:spPr>
          <a:xfrm>
            <a:off x="4108988" y="408926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Editable vector geometry"/>
          <p:cNvSpPr/>
          <p:nvPr/>
        </p:nvSpPr>
        <p:spPr>
          <a:xfrm>
            <a:off x="4108988" y="400662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Editable vector geometry"/>
          <p:cNvSpPr/>
          <p:nvPr/>
        </p:nvSpPr>
        <p:spPr>
          <a:xfrm>
            <a:off x="4108988" y="395163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Editable vector geometry"/>
          <p:cNvSpPr/>
          <p:nvPr/>
        </p:nvSpPr>
        <p:spPr>
          <a:xfrm>
            <a:off x="4108988" y="384139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Editable vector geometry"/>
          <p:cNvSpPr/>
          <p:nvPr/>
        </p:nvSpPr>
        <p:spPr>
          <a:xfrm>
            <a:off x="4108988" y="395174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Editable vector geometry"/>
          <p:cNvSpPr/>
          <p:nvPr/>
        </p:nvSpPr>
        <p:spPr>
          <a:xfrm>
            <a:off x="4108988" y="412822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Editable vector geometry"/>
          <p:cNvSpPr/>
          <p:nvPr/>
        </p:nvSpPr>
        <p:spPr>
          <a:xfrm>
            <a:off x="4108988" y="415909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Editable vector geometry"/>
          <p:cNvSpPr/>
          <p:nvPr/>
        </p:nvSpPr>
        <p:spPr>
          <a:xfrm>
            <a:off x="4108988" y="399292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Editable vector geometry"/>
          <p:cNvSpPr/>
          <p:nvPr/>
        </p:nvSpPr>
        <p:spPr>
          <a:xfrm>
            <a:off x="4108988" y="409859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Editable vector geometry"/>
          <p:cNvSpPr/>
          <p:nvPr/>
        </p:nvSpPr>
        <p:spPr>
          <a:xfrm>
            <a:off x="4108988" y="402540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Editable vector geometry"/>
          <p:cNvSpPr/>
          <p:nvPr/>
        </p:nvSpPr>
        <p:spPr>
          <a:xfrm>
            <a:off x="4108988" y="406297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Editable vector geometry"/>
          <p:cNvSpPr/>
          <p:nvPr/>
        </p:nvSpPr>
        <p:spPr>
          <a:xfrm>
            <a:off x="4108988" y="404533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Editable vector geometry"/>
          <p:cNvSpPr/>
          <p:nvPr/>
        </p:nvSpPr>
        <p:spPr>
          <a:xfrm>
            <a:off x="4108988" y="412660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Editable vector geometry"/>
          <p:cNvSpPr/>
          <p:nvPr/>
        </p:nvSpPr>
        <p:spPr>
          <a:xfrm>
            <a:off x="4108988" y="379744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Editable vector geometry"/>
          <p:cNvSpPr/>
          <p:nvPr/>
        </p:nvSpPr>
        <p:spPr>
          <a:xfrm>
            <a:off x="4108988" y="420682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Editable vector geometry"/>
          <p:cNvSpPr/>
          <p:nvPr/>
        </p:nvSpPr>
        <p:spPr>
          <a:xfrm>
            <a:off x="4108988" y="404568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Editable vector geometry"/>
          <p:cNvSpPr/>
          <p:nvPr/>
        </p:nvSpPr>
        <p:spPr>
          <a:xfrm>
            <a:off x="5313844" y="375016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Editable vector geometry"/>
          <p:cNvSpPr/>
          <p:nvPr/>
        </p:nvSpPr>
        <p:spPr>
          <a:xfrm>
            <a:off x="5313844" y="394447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Editable vector geometry"/>
          <p:cNvSpPr/>
          <p:nvPr/>
        </p:nvSpPr>
        <p:spPr>
          <a:xfrm>
            <a:off x="5313844" y="382800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Editable vector geometry"/>
          <p:cNvSpPr/>
          <p:nvPr/>
        </p:nvSpPr>
        <p:spPr>
          <a:xfrm>
            <a:off x="5313844" y="299463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Editable vector geometry"/>
          <p:cNvSpPr/>
          <p:nvPr/>
        </p:nvSpPr>
        <p:spPr>
          <a:xfrm>
            <a:off x="5313844" y="360641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Editable vector geometry"/>
          <p:cNvSpPr/>
          <p:nvPr/>
        </p:nvSpPr>
        <p:spPr>
          <a:xfrm>
            <a:off x="5313844" y="332321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Editable vector geometry"/>
          <p:cNvSpPr/>
          <p:nvPr/>
        </p:nvSpPr>
        <p:spPr>
          <a:xfrm>
            <a:off x="5313844" y="363830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Editable vector geometry"/>
          <p:cNvSpPr/>
          <p:nvPr/>
        </p:nvSpPr>
        <p:spPr>
          <a:xfrm>
            <a:off x="5313844" y="362228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Editable vector geometry"/>
          <p:cNvSpPr/>
          <p:nvPr/>
        </p:nvSpPr>
        <p:spPr>
          <a:xfrm>
            <a:off x="5313844" y="441087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Editable vector geometry"/>
          <p:cNvSpPr/>
          <p:nvPr/>
        </p:nvSpPr>
        <p:spPr>
          <a:xfrm>
            <a:off x="5313844" y="407133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Editable vector geometry"/>
          <p:cNvSpPr/>
          <p:nvPr/>
        </p:nvSpPr>
        <p:spPr>
          <a:xfrm>
            <a:off x="5313844" y="369779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Editable vector geometry"/>
          <p:cNvSpPr/>
          <p:nvPr/>
        </p:nvSpPr>
        <p:spPr>
          <a:xfrm>
            <a:off x="5313844" y="428320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Editable vector geometry"/>
          <p:cNvSpPr/>
          <p:nvPr/>
        </p:nvSpPr>
        <p:spPr>
          <a:xfrm>
            <a:off x="5313844" y="413591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Editable vector geometry"/>
          <p:cNvSpPr/>
          <p:nvPr/>
        </p:nvSpPr>
        <p:spPr>
          <a:xfrm>
            <a:off x="5313844" y="403787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Editable vector geometry"/>
          <p:cNvSpPr/>
          <p:nvPr/>
        </p:nvSpPr>
        <p:spPr>
          <a:xfrm>
            <a:off x="5313844" y="375143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Editable vector geometry"/>
          <p:cNvSpPr/>
          <p:nvPr/>
        </p:nvSpPr>
        <p:spPr>
          <a:xfrm>
            <a:off x="5313844" y="348748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Editable vector geometry"/>
          <p:cNvSpPr/>
          <p:nvPr/>
        </p:nvSpPr>
        <p:spPr>
          <a:xfrm>
            <a:off x="5313844" y="373754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Editable vector geometry"/>
          <p:cNvSpPr/>
          <p:nvPr/>
        </p:nvSpPr>
        <p:spPr>
          <a:xfrm>
            <a:off x="5313844" y="444243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Editable vector geometry"/>
          <p:cNvSpPr/>
          <p:nvPr/>
        </p:nvSpPr>
        <p:spPr>
          <a:xfrm>
            <a:off x="5313844" y="333750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Editable vector geometry"/>
          <p:cNvSpPr/>
          <p:nvPr/>
        </p:nvSpPr>
        <p:spPr>
          <a:xfrm>
            <a:off x="5313844" y="335479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Editable vector geometry"/>
          <p:cNvSpPr/>
          <p:nvPr/>
        </p:nvSpPr>
        <p:spPr>
          <a:xfrm>
            <a:off x="5313844" y="363828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Editable vector geometry"/>
          <p:cNvSpPr/>
          <p:nvPr/>
        </p:nvSpPr>
        <p:spPr>
          <a:xfrm>
            <a:off x="5313844" y="325862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Editable vector geometry"/>
          <p:cNvSpPr/>
          <p:nvPr/>
        </p:nvSpPr>
        <p:spPr>
          <a:xfrm>
            <a:off x="5313844" y="350989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Editable vector geometry"/>
          <p:cNvSpPr/>
          <p:nvPr/>
        </p:nvSpPr>
        <p:spPr>
          <a:xfrm>
            <a:off x="5313844" y="410745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Editable vector geometry"/>
          <p:cNvSpPr/>
          <p:nvPr/>
        </p:nvSpPr>
        <p:spPr>
          <a:xfrm>
            <a:off x="5313844" y="359126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Editable vector geometry"/>
          <p:cNvSpPr/>
          <p:nvPr/>
        </p:nvSpPr>
        <p:spPr>
          <a:xfrm>
            <a:off x="5313844" y="435705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Editable vector geometry"/>
          <p:cNvSpPr/>
          <p:nvPr/>
        </p:nvSpPr>
        <p:spPr>
          <a:xfrm>
            <a:off x="5313844" y="382989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Editable vector geometry"/>
          <p:cNvSpPr/>
          <p:nvPr/>
        </p:nvSpPr>
        <p:spPr>
          <a:xfrm>
            <a:off x="5313844" y="337584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Editable vector geometry"/>
          <p:cNvSpPr/>
          <p:nvPr/>
        </p:nvSpPr>
        <p:spPr>
          <a:xfrm>
            <a:off x="5313844" y="398870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Editable vector geometry"/>
          <p:cNvSpPr/>
          <p:nvPr/>
        </p:nvSpPr>
        <p:spPr>
          <a:xfrm>
            <a:off x="5313844" y="405207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Editable vector geometry"/>
          <p:cNvSpPr/>
          <p:nvPr/>
        </p:nvSpPr>
        <p:spPr>
          <a:xfrm>
            <a:off x="5313844" y="341734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Editable vector geometry"/>
          <p:cNvSpPr/>
          <p:nvPr/>
        </p:nvSpPr>
        <p:spPr>
          <a:xfrm>
            <a:off x="5313844" y="389692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Editable vector geometry"/>
          <p:cNvSpPr/>
          <p:nvPr/>
        </p:nvSpPr>
        <p:spPr>
          <a:xfrm>
            <a:off x="5313844" y="392358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Editable vector geometry"/>
          <p:cNvSpPr/>
          <p:nvPr/>
        </p:nvSpPr>
        <p:spPr>
          <a:xfrm>
            <a:off x="3706368" y="2825496"/>
            <a:ext cx="105" cy="1824227"/>
          </a:xfrm>
          <a:custGeom>
            <a:avLst/>
            <a:gdLst/>
            <a:ahLst/>
            <a:cxnLst/>
            <a:rect l="0" t="0" r="r" b="b"/>
            <a:pathLst>
              <a:path w="10" h="172368">
                <a:moveTo>
                  <a:pt x="0" y="172368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Editable vector geometry"/>
          <p:cNvSpPr/>
          <p:nvPr/>
        </p:nvSpPr>
        <p:spPr>
          <a:xfrm>
            <a:off x="3706368" y="4649723"/>
            <a:ext cx="2048256" cy="105"/>
          </a:xfrm>
          <a:custGeom>
            <a:avLst/>
            <a:gdLst/>
            <a:ahLst/>
            <a:cxnLst/>
            <a:rect l="0" t="0" r="r" b="b"/>
            <a:pathLst>
              <a:path w="193536" h="10">
                <a:moveTo>
                  <a:pt x="0" y="0"/>
                </a:moveTo>
                <a:lnTo>
                  <a:pt x="19353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Editable vector geometry"/>
          <p:cNvSpPr/>
          <p:nvPr/>
        </p:nvSpPr>
        <p:spPr>
          <a:xfrm>
            <a:off x="3959387" y="4014460"/>
            <a:ext cx="337359" cy="105"/>
          </a:xfrm>
          <a:custGeom>
            <a:avLst/>
            <a:gdLst/>
            <a:ahLst/>
            <a:cxnLst/>
            <a:rect l="0" t="0" r="r" b="b"/>
            <a:pathLst>
              <a:path w="31877" h="10">
                <a:moveTo>
                  <a:pt x="0" y="0"/>
                </a:moveTo>
                <a:lnTo>
                  <a:pt x="31877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Editable vector geometry"/>
          <p:cNvSpPr/>
          <p:nvPr/>
        </p:nvSpPr>
        <p:spPr>
          <a:xfrm>
            <a:off x="5164244" y="3788856"/>
            <a:ext cx="337359" cy="105"/>
          </a:xfrm>
          <a:custGeom>
            <a:avLst/>
            <a:gdLst/>
            <a:ahLst/>
            <a:cxnLst/>
            <a:rect l="0" t="0" r="r" b="b"/>
            <a:pathLst>
              <a:path w="31877" h="10">
                <a:moveTo>
                  <a:pt x="0" y="0"/>
                </a:moveTo>
                <a:lnTo>
                  <a:pt x="31877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Editable vector geometry"/>
          <p:cNvSpPr/>
          <p:nvPr/>
        </p:nvSpPr>
        <p:spPr>
          <a:xfrm>
            <a:off x="6522720" y="2825496"/>
            <a:ext cx="2048256" cy="1824227"/>
          </a:xfrm>
          <a:custGeom>
            <a:avLst/>
            <a:gdLst/>
            <a:ahLst/>
            <a:cxnLst/>
            <a:rect l="0" t="0" r="r" b="b"/>
            <a:pathLst>
              <a:path w="193536" h="172368">
                <a:moveTo>
                  <a:pt x="0" y="0"/>
                </a:moveTo>
                <a:lnTo>
                  <a:pt x="193536" y="0"/>
                </a:lnTo>
                <a:lnTo>
                  <a:pt x="193536" y="172368"/>
                </a:lnTo>
                <a:lnTo>
                  <a:pt x="0" y="17236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Editable vector geometry"/>
          <p:cNvSpPr/>
          <p:nvPr/>
        </p:nvSpPr>
        <p:spPr>
          <a:xfrm>
            <a:off x="6944419" y="3679508"/>
            <a:ext cx="1204856" cy="782001"/>
          </a:xfrm>
          <a:custGeom>
            <a:avLst/>
            <a:gdLst/>
            <a:ahLst/>
            <a:cxnLst/>
            <a:rect l="0" t="0" r="r" b="b"/>
            <a:pathLst>
              <a:path w="113845" h="73890">
                <a:moveTo>
                  <a:pt x="0" y="7389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Editable vector geometry"/>
          <p:cNvSpPr/>
          <p:nvPr/>
        </p:nvSpPr>
        <p:spPr>
          <a:xfrm>
            <a:off x="6944419" y="3707623"/>
            <a:ext cx="1204856" cy="591156"/>
          </a:xfrm>
          <a:custGeom>
            <a:avLst/>
            <a:gdLst/>
            <a:ahLst/>
            <a:cxnLst/>
            <a:rect l="0" t="0" r="r" b="b"/>
            <a:pathLst>
              <a:path w="113845" h="55857">
                <a:moveTo>
                  <a:pt x="0" y="0"/>
                </a:moveTo>
                <a:lnTo>
                  <a:pt x="113845" y="55857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Editable vector geometry"/>
          <p:cNvSpPr/>
          <p:nvPr/>
        </p:nvSpPr>
        <p:spPr>
          <a:xfrm>
            <a:off x="6944419" y="3767281"/>
            <a:ext cx="1204856" cy="196081"/>
          </a:xfrm>
          <a:custGeom>
            <a:avLst/>
            <a:gdLst/>
            <a:ahLst/>
            <a:cxnLst/>
            <a:rect l="0" t="0" r="r" b="b"/>
            <a:pathLst>
              <a:path w="113845" h="18527">
                <a:moveTo>
                  <a:pt x="0" y="0"/>
                </a:moveTo>
                <a:lnTo>
                  <a:pt x="113845" y="18527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Editable vector geometry"/>
          <p:cNvSpPr/>
          <p:nvPr/>
        </p:nvSpPr>
        <p:spPr>
          <a:xfrm>
            <a:off x="6944419" y="4239373"/>
            <a:ext cx="1204856" cy="171420"/>
          </a:xfrm>
          <a:custGeom>
            <a:avLst/>
            <a:gdLst/>
            <a:ahLst/>
            <a:cxnLst/>
            <a:rect l="0" t="0" r="r" b="b"/>
            <a:pathLst>
              <a:path w="113845" h="16197">
                <a:moveTo>
                  <a:pt x="0" y="1619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Editable vector geometry"/>
          <p:cNvSpPr/>
          <p:nvPr/>
        </p:nvSpPr>
        <p:spPr>
          <a:xfrm>
            <a:off x="6944419" y="3339241"/>
            <a:ext cx="1204856" cy="568485"/>
          </a:xfrm>
          <a:custGeom>
            <a:avLst/>
            <a:gdLst/>
            <a:ahLst/>
            <a:cxnLst/>
            <a:rect l="0" t="0" r="r" b="b"/>
            <a:pathLst>
              <a:path w="113845" h="53715">
                <a:moveTo>
                  <a:pt x="0" y="5371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Editable vector geometry"/>
          <p:cNvSpPr/>
          <p:nvPr/>
        </p:nvSpPr>
        <p:spPr>
          <a:xfrm>
            <a:off x="6944419" y="3523358"/>
            <a:ext cx="1204856" cy="98019"/>
          </a:xfrm>
          <a:custGeom>
            <a:avLst/>
            <a:gdLst/>
            <a:ahLst/>
            <a:cxnLst/>
            <a:rect l="0" t="0" r="r" b="b"/>
            <a:pathLst>
              <a:path w="113845" h="9262">
                <a:moveTo>
                  <a:pt x="0" y="926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Editable vector geometry"/>
          <p:cNvSpPr/>
          <p:nvPr/>
        </p:nvSpPr>
        <p:spPr>
          <a:xfrm>
            <a:off x="6944419" y="3013710"/>
            <a:ext cx="1204856" cy="1109454"/>
          </a:xfrm>
          <a:custGeom>
            <a:avLst/>
            <a:gdLst/>
            <a:ahLst/>
            <a:cxnLst/>
            <a:rect l="0" t="0" r="r" b="b"/>
            <a:pathLst>
              <a:path w="113845" h="104830">
                <a:moveTo>
                  <a:pt x="0" y="10483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Editable vector geometry"/>
          <p:cNvSpPr/>
          <p:nvPr/>
        </p:nvSpPr>
        <p:spPr>
          <a:xfrm>
            <a:off x="6944419" y="4295160"/>
            <a:ext cx="1204856" cy="69120"/>
          </a:xfrm>
          <a:custGeom>
            <a:avLst/>
            <a:gdLst/>
            <a:ahLst/>
            <a:cxnLst/>
            <a:rect l="0" t="0" r="r" b="b"/>
            <a:pathLst>
              <a:path w="113845" h="6531">
                <a:moveTo>
                  <a:pt x="0" y="0"/>
                </a:moveTo>
                <a:lnTo>
                  <a:pt x="113845" y="6531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Editable vector geometry"/>
          <p:cNvSpPr/>
          <p:nvPr/>
        </p:nvSpPr>
        <p:spPr>
          <a:xfrm>
            <a:off x="6944419" y="3682125"/>
            <a:ext cx="1204856" cy="209086"/>
          </a:xfrm>
          <a:custGeom>
            <a:avLst/>
            <a:gdLst/>
            <a:ahLst/>
            <a:cxnLst/>
            <a:rect l="0" t="0" r="r" b="b"/>
            <a:pathLst>
              <a:path w="113845" h="19756">
                <a:moveTo>
                  <a:pt x="0" y="1975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Editable vector geometry"/>
          <p:cNvSpPr/>
          <p:nvPr/>
        </p:nvSpPr>
        <p:spPr>
          <a:xfrm>
            <a:off x="6944419" y="3492650"/>
            <a:ext cx="1204856" cy="406797"/>
          </a:xfrm>
          <a:custGeom>
            <a:avLst/>
            <a:gdLst/>
            <a:ahLst/>
            <a:cxnLst/>
            <a:rect l="0" t="0" r="r" b="b"/>
            <a:pathLst>
              <a:path w="113845" h="38438">
                <a:moveTo>
                  <a:pt x="0" y="3843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Editable vector geometry"/>
          <p:cNvSpPr/>
          <p:nvPr/>
        </p:nvSpPr>
        <p:spPr>
          <a:xfrm>
            <a:off x="6944419" y="3272606"/>
            <a:ext cx="1204856" cy="670051"/>
          </a:xfrm>
          <a:custGeom>
            <a:avLst/>
            <a:gdLst/>
            <a:ahLst/>
            <a:cxnLst/>
            <a:rect l="0" t="0" r="r" b="b"/>
            <a:pathLst>
              <a:path w="113845" h="63312">
                <a:moveTo>
                  <a:pt x="0" y="6331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Editable vector geometry"/>
          <p:cNvSpPr/>
          <p:nvPr/>
        </p:nvSpPr>
        <p:spPr>
          <a:xfrm>
            <a:off x="6490970" y="4359143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Editable vector geometry"/>
          <p:cNvSpPr/>
          <p:nvPr/>
        </p:nvSpPr>
        <p:spPr>
          <a:xfrm>
            <a:off x="6490970" y="4006880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Editable vector geometry"/>
          <p:cNvSpPr/>
          <p:nvPr/>
        </p:nvSpPr>
        <p:spPr>
          <a:xfrm>
            <a:off x="6490970" y="3654618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Editable vector geometry"/>
          <p:cNvSpPr/>
          <p:nvPr/>
        </p:nvSpPr>
        <p:spPr>
          <a:xfrm>
            <a:off x="6490970" y="3302355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Editable vector geometry"/>
          <p:cNvSpPr/>
          <p:nvPr/>
        </p:nvSpPr>
        <p:spPr>
          <a:xfrm>
            <a:off x="6490970" y="2950092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Editable vector geometry"/>
          <p:cNvSpPr/>
          <p:nvPr/>
        </p:nvSpPr>
        <p:spPr>
          <a:xfrm>
            <a:off x="6925340" y="444243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Editable vector geometry"/>
          <p:cNvSpPr/>
          <p:nvPr/>
        </p:nvSpPr>
        <p:spPr>
          <a:xfrm>
            <a:off x="6925340" y="3688543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Editable vector geometry"/>
          <p:cNvSpPr/>
          <p:nvPr/>
        </p:nvSpPr>
        <p:spPr>
          <a:xfrm>
            <a:off x="6925340" y="3748202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Editable vector geometry"/>
          <p:cNvSpPr/>
          <p:nvPr/>
        </p:nvSpPr>
        <p:spPr>
          <a:xfrm>
            <a:off x="6925340" y="439171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Editable vector geometry"/>
          <p:cNvSpPr/>
          <p:nvPr/>
        </p:nvSpPr>
        <p:spPr>
          <a:xfrm>
            <a:off x="6925340" y="3888648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Editable vector geometry"/>
          <p:cNvSpPr/>
          <p:nvPr/>
        </p:nvSpPr>
        <p:spPr>
          <a:xfrm>
            <a:off x="6925340" y="3602298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Editable vector geometry"/>
          <p:cNvSpPr/>
          <p:nvPr/>
        </p:nvSpPr>
        <p:spPr>
          <a:xfrm>
            <a:off x="6925340" y="4104085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Editable vector geometry"/>
          <p:cNvSpPr/>
          <p:nvPr/>
        </p:nvSpPr>
        <p:spPr>
          <a:xfrm>
            <a:off x="6925340" y="427608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Editable vector geometry"/>
          <p:cNvSpPr/>
          <p:nvPr/>
        </p:nvSpPr>
        <p:spPr>
          <a:xfrm>
            <a:off x="6925340" y="3872131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Editable vector geometry"/>
          <p:cNvSpPr/>
          <p:nvPr/>
        </p:nvSpPr>
        <p:spPr>
          <a:xfrm>
            <a:off x="6925340" y="3880368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Editable vector geometry"/>
          <p:cNvSpPr/>
          <p:nvPr/>
        </p:nvSpPr>
        <p:spPr>
          <a:xfrm>
            <a:off x="6925340" y="3923578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Editable vector geometry"/>
          <p:cNvSpPr/>
          <p:nvPr/>
        </p:nvSpPr>
        <p:spPr>
          <a:xfrm>
            <a:off x="8130196" y="3660429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Editable vector geometry"/>
          <p:cNvSpPr/>
          <p:nvPr/>
        </p:nvSpPr>
        <p:spPr>
          <a:xfrm>
            <a:off x="8130196" y="427970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Editable vector geometry"/>
          <p:cNvSpPr/>
          <p:nvPr/>
        </p:nvSpPr>
        <p:spPr>
          <a:xfrm>
            <a:off x="8130196" y="3944283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Editable vector geometry"/>
          <p:cNvSpPr/>
          <p:nvPr/>
        </p:nvSpPr>
        <p:spPr>
          <a:xfrm>
            <a:off x="8130196" y="422029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Editable vector geometry"/>
          <p:cNvSpPr/>
          <p:nvPr/>
        </p:nvSpPr>
        <p:spPr>
          <a:xfrm>
            <a:off x="8130196" y="3320162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Editable vector geometry"/>
          <p:cNvSpPr/>
          <p:nvPr/>
        </p:nvSpPr>
        <p:spPr>
          <a:xfrm>
            <a:off x="8130196" y="3504279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Editable vector geometry"/>
          <p:cNvSpPr/>
          <p:nvPr/>
        </p:nvSpPr>
        <p:spPr>
          <a:xfrm>
            <a:off x="8130196" y="299463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Editable vector geometry"/>
          <p:cNvSpPr/>
          <p:nvPr/>
        </p:nvSpPr>
        <p:spPr>
          <a:xfrm>
            <a:off x="8130196" y="4345201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Editable vector geometry"/>
          <p:cNvSpPr/>
          <p:nvPr/>
        </p:nvSpPr>
        <p:spPr>
          <a:xfrm>
            <a:off x="8130196" y="3663045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Editable vector geometry"/>
          <p:cNvSpPr/>
          <p:nvPr/>
        </p:nvSpPr>
        <p:spPr>
          <a:xfrm>
            <a:off x="8130196" y="347357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Editable vector geometry"/>
          <p:cNvSpPr/>
          <p:nvPr/>
        </p:nvSpPr>
        <p:spPr>
          <a:xfrm>
            <a:off x="8130196" y="3253526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Editable vector geometry"/>
          <p:cNvSpPr/>
          <p:nvPr/>
        </p:nvSpPr>
        <p:spPr>
          <a:xfrm>
            <a:off x="6522720" y="2825496"/>
            <a:ext cx="105" cy="1824227"/>
          </a:xfrm>
          <a:custGeom>
            <a:avLst/>
            <a:gdLst/>
            <a:ahLst/>
            <a:cxnLst/>
            <a:rect l="0" t="0" r="r" b="b"/>
            <a:pathLst>
              <a:path w="10" h="172368">
                <a:moveTo>
                  <a:pt x="0" y="172368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Editable vector geometry"/>
          <p:cNvSpPr/>
          <p:nvPr/>
        </p:nvSpPr>
        <p:spPr>
          <a:xfrm>
            <a:off x="6522720" y="4649723"/>
            <a:ext cx="2048256" cy="105"/>
          </a:xfrm>
          <a:custGeom>
            <a:avLst/>
            <a:gdLst/>
            <a:ahLst/>
            <a:cxnLst/>
            <a:rect l="0" t="0" r="r" b="b"/>
            <a:pathLst>
              <a:path w="193536" h="10">
                <a:moveTo>
                  <a:pt x="0" y="0"/>
                </a:moveTo>
                <a:lnTo>
                  <a:pt x="19353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Editable vector geometry"/>
          <p:cNvSpPr/>
          <p:nvPr/>
        </p:nvSpPr>
        <p:spPr>
          <a:xfrm>
            <a:off x="6775740" y="4002541"/>
            <a:ext cx="337359" cy="105"/>
          </a:xfrm>
          <a:custGeom>
            <a:avLst/>
            <a:gdLst/>
            <a:ahLst/>
            <a:cxnLst/>
            <a:rect l="0" t="0" r="r" b="b"/>
            <a:pathLst>
              <a:path w="31876" h="10">
                <a:moveTo>
                  <a:pt x="0" y="0"/>
                </a:moveTo>
                <a:lnTo>
                  <a:pt x="31876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Editable vector geometry"/>
          <p:cNvSpPr/>
          <p:nvPr/>
        </p:nvSpPr>
        <p:spPr>
          <a:xfrm>
            <a:off x="7980596" y="3715363"/>
            <a:ext cx="337359" cy="105"/>
          </a:xfrm>
          <a:custGeom>
            <a:avLst/>
            <a:gdLst/>
            <a:ahLst/>
            <a:cxnLst/>
            <a:rect l="0" t="0" r="r" b="b"/>
            <a:pathLst>
              <a:path w="31877" h="10">
                <a:moveTo>
                  <a:pt x="0" y="0"/>
                </a:moveTo>
                <a:lnTo>
                  <a:pt x="31877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Editable vector geometry"/>
          <p:cNvSpPr/>
          <p:nvPr/>
        </p:nvSpPr>
        <p:spPr>
          <a:xfrm>
            <a:off x="9339072" y="2825496"/>
            <a:ext cx="2048256" cy="1824227"/>
          </a:xfrm>
          <a:custGeom>
            <a:avLst/>
            <a:gdLst/>
            <a:ahLst/>
            <a:cxnLst/>
            <a:rect l="0" t="0" r="r" b="b"/>
            <a:pathLst>
              <a:path w="193536" h="172368">
                <a:moveTo>
                  <a:pt x="0" y="0"/>
                </a:moveTo>
                <a:lnTo>
                  <a:pt x="193536" y="0"/>
                </a:lnTo>
                <a:lnTo>
                  <a:pt x="193536" y="172368"/>
                </a:lnTo>
                <a:lnTo>
                  <a:pt x="0" y="17236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Editable vector geometry"/>
          <p:cNvSpPr/>
          <p:nvPr/>
        </p:nvSpPr>
        <p:spPr>
          <a:xfrm>
            <a:off x="9760771" y="3608569"/>
            <a:ext cx="1204856" cy="390454"/>
          </a:xfrm>
          <a:custGeom>
            <a:avLst/>
            <a:gdLst/>
            <a:ahLst/>
            <a:cxnLst/>
            <a:rect l="0" t="0" r="r" b="b"/>
            <a:pathLst>
              <a:path w="113845" h="36893">
                <a:moveTo>
                  <a:pt x="0" y="3689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Editable vector geometry"/>
          <p:cNvSpPr/>
          <p:nvPr/>
        </p:nvSpPr>
        <p:spPr>
          <a:xfrm>
            <a:off x="9760771" y="3266492"/>
            <a:ext cx="1204856" cy="281676"/>
          </a:xfrm>
          <a:custGeom>
            <a:avLst/>
            <a:gdLst/>
            <a:ahLst/>
            <a:cxnLst/>
            <a:rect l="0" t="0" r="r" b="b"/>
            <a:pathLst>
              <a:path w="113845" h="26615">
                <a:moveTo>
                  <a:pt x="0" y="2661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Editable vector geometry"/>
          <p:cNvSpPr/>
          <p:nvPr/>
        </p:nvSpPr>
        <p:spPr>
          <a:xfrm>
            <a:off x="9760771" y="3654720"/>
            <a:ext cx="1204856" cy="273026"/>
          </a:xfrm>
          <a:custGeom>
            <a:avLst/>
            <a:gdLst/>
            <a:ahLst/>
            <a:cxnLst/>
            <a:rect l="0" t="0" r="r" b="b"/>
            <a:pathLst>
              <a:path w="113845" h="25798">
                <a:moveTo>
                  <a:pt x="0" y="2579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Editable vector geometry"/>
          <p:cNvSpPr/>
          <p:nvPr/>
        </p:nvSpPr>
        <p:spPr>
          <a:xfrm>
            <a:off x="9760771" y="3629495"/>
            <a:ext cx="1204856" cy="87650"/>
          </a:xfrm>
          <a:custGeom>
            <a:avLst/>
            <a:gdLst/>
            <a:ahLst/>
            <a:cxnLst/>
            <a:rect l="0" t="0" r="r" b="b"/>
            <a:pathLst>
              <a:path w="113845" h="8282">
                <a:moveTo>
                  <a:pt x="0" y="828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Editable vector geometry"/>
          <p:cNvSpPr/>
          <p:nvPr/>
        </p:nvSpPr>
        <p:spPr>
          <a:xfrm>
            <a:off x="9760771" y="3490924"/>
            <a:ext cx="1204856" cy="137540"/>
          </a:xfrm>
          <a:custGeom>
            <a:avLst/>
            <a:gdLst/>
            <a:ahLst/>
            <a:cxnLst/>
            <a:rect l="0" t="0" r="r" b="b"/>
            <a:pathLst>
              <a:path w="113845" h="12996">
                <a:moveTo>
                  <a:pt x="0" y="1299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Editable vector geometry"/>
          <p:cNvSpPr/>
          <p:nvPr/>
        </p:nvSpPr>
        <p:spPr>
          <a:xfrm>
            <a:off x="9760771" y="3073228"/>
            <a:ext cx="1204856" cy="536564"/>
          </a:xfrm>
          <a:custGeom>
            <a:avLst/>
            <a:gdLst/>
            <a:ahLst/>
            <a:cxnLst/>
            <a:rect l="0" t="0" r="r" b="b"/>
            <a:pathLst>
              <a:path w="113845" h="50699">
                <a:moveTo>
                  <a:pt x="0" y="50699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Editable vector geometry"/>
          <p:cNvSpPr/>
          <p:nvPr/>
        </p:nvSpPr>
        <p:spPr>
          <a:xfrm>
            <a:off x="9760771" y="3338745"/>
            <a:ext cx="1204856" cy="506805"/>
          </a:xfrm>
          <a:custGeom>
            <a:avLst/>
            <a:gdLst/>
            <a:ahLst/>
            <a:cxnLst/>
            <a:rect l="0" t="0" r="r" b="b"/>
            <a:pathLst>
              <a:path w="113845" h="47887">
                <a:moveTo>
                  <a:pt x="0" y="4788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Editable vector geometry"/>
          <p:cNvSpPr/>
          <p:nvPr/>
        </p:nvSpPr>
        <p:spPr>
          <a:xfrm>
            <a:off x="9760771" y="3481348"/>
            <a:ext cx="1204856" cy="246308"/>
          </a:xfrm>
          <a:custGeom>
            <a:avLst/>
            <a:gdLst/>
            <a:ahLst/>
            <a:cxnLst/>
            <a:rect l="0" t="0" r="r" b="b"/>
            <a:pathLst>
              <a:path w="113845" h="23273">
                <a:moveTo>
                  <a:pt x="0" y="2327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Editable vector geometry"/>
          <p:cNvSpPr/>
          <p:nvPr/>
        </p:nvSpPr>
        <p:spPr>
          <a:xfrm>
            <a:off x="9760771" y="3913997"/>
            <a:ext cx="1204856" cy="102643"/>
          </a:xfrm>
          <a:custGeom>
            <a:avLst/>
            <a:gdLst/>
            <a:ahLst/>
            <a:cxnLst/>
            <a:rect l="0" t="0" r="r" b="b"/>
            <a:pathLst>
              <a:path w="113845" h="9699">
                <a:moveTo>
                  <a:pt x="0" y="0"/>
                </a:moveTo>
                <a:lnTo>
                  <a:pt x="113845" y="9699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Editable vector geometry"/>
          <p:cNvSpPr/>
          <p:nvPr/>
        </p:nvSpPr>
        <p:spPr>
          <a:xfrm>
            <a:off x="9760771" y="3599837"/>
            <a:ext cx="1204856" cy="861672"/>
          </a:xfrm>
          <a:custGeom>
            <a:avLst/>
            <a:gdLst/>
            <a:ahLst/>
            <a:cxnLst/>
            <a:rect l="0" t="0" r="r" b="b"/>
            <a:pathLst>
              <a:path w="113845" h="81418">
                <a:moveTo>
                  <a:pt x="0" y="8141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Editable vector geometry"/>
          <p:cNvSpPr/>
          <p:nvPr/>
        </p:nvSpPr>
        <p:spPr>
          <a:xfrm>
            <a:off x="9760771" y="3281150"/>
            <a:ext cx="1204856" cy="363771"/>
          </a:xfrm>
          <a:custGeom>
            <a:avLst/>
            <a:gdLst/>
            <a:ahLst/>
            <a:cxnLst/>
            <a:rect l="0" t="0" r="r" b="b"/>
            <a:pathLst>
              <a:path w="113845" h="34372">
                <a:moveTo>
                  <a:pt x="0" y="3437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Editable vector geometry"/>
          <p:cNvSpPr/>
          <p:nvPr/>
        </p:nvSpPr>
        <p:spPr>
          <a:xfrm>
            <a:off x="9760771" y="3768675"/>
            <a:ext cx="1204856" cy="437784"/>
          </a:xfrm>
          <a:custGeom>
            <a:avLst/>
            <a:gdLst/>
            <a:ahLst/>
            <a:cxnLst/>
            <a:rect l="0" t="0" r="r" b="b"/>
            <a:pathLst>
              <a:path w="113845" h="41365">
                <a:moveTo>
                  <a:pt x="0" y="0"/>
                </a:moveTo>
                <a:lnTo>
                  <a:pt x="113845" y="41365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Editable vector geometry"/>
          <p:cNvSpPr/>
          <p:nvPr/>
        </p:nvSpPr>
        <p:spPr>
          <a:xfrm>
            <a:off x="9760771" y="3424236"/>
            <a:ext cx="1204856" cy="832297"/>
          </a:xfrm>
          <a:custGeom>
            <a:avLst/>
            <a:gdLst/>
            <a:ahLst/>
            <a:cxnLst/>
            <a:rect l="0" t="0" r="r" b="b"/>
            <a:pathLst>
              <a:path w="113845" h="78642">
                <a:moveTo>
                  <a:pt x="0" y="7864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Editable vector geometry"/>
          <p:cNvSpPr/>
          <p:nvPr/>
        </p:nvSpPr>
        <p:spPr>
          <a:xfrm>
            <a:off x="9760771" y="3627605"/>
            <a:ext cx="1204856" cy="101001"/>
          </a:xfrm>
          <a:custGeom>
            <a:avLst/>
            <a:gdLst/>
            <a:ahLst/>
            <a:cxnLst/>
            <a:rect l="0" t="0" r="r" b="b"/>
            <a:pathLst>
              <a:path w="113845" h="9543">
                <a:moveTo>
                  <a:pt x="0" y="954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Editable vector geometry"/>
          <p:cNvSpPr/>
          <p:nvPr/>
        </p:nvSpPr>
        <p:spPr>
          <a:xfrm>
            <a:off x="9760771" y="3473237"/>
            <a:ext cx="1204856" cy="339809"/>
          </a:xfrm>
          <a:custGeom>
            <a:avLst/>
            <a:gdLst/>
            <a:ahLst/>
            <a:cxnLst/>
            <a:rect l="0" t="0" r="r" b="b"/>
            <a:pathLst>
              <a:path w="113845" h="32108">
                <a:moveTo>
                  <a:pt x="0" y="3210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Editable vector geometry"/>
          <p:cNvSpPr/>
          <p:nvPr/>
        </p:nvSpPr>
        <p:spPr>
          <a:xfrm>
            <a:off x="9760771" y="3078393"/>
            <a:ext cx="1204856" cy="502810"/>
          </a:xfrm>
          <a:custGeom>
            <a:avLst/>
            <a:gdLst/>
            <a:ahLst/>
            <a:cxnLst/>
            <a:rect l="0" t="0" r="r" b="b"/>
            <a:pathLst>
              <a:path w="113845" h="47510">
                <a:moveTo>
                  <a:pt x="0" y="4751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Editable vector geometry"/>
          <p:cNvSpPr/>
          <p:nvPr/>
        </p:nvSpPr>
        <p:spPr>
          <a:xfrm>
            <a:off x="9760771" y="3673899"/>
            <a:ext cx="1204856" cy="44104"/>
          </a:xfrm>
          <a:custGeom>
            <a:avLst/>
            <a:gdLst/>
            <a:ahLst/>
            <a:cxnLst/>
            <a:rect l="0" t="0" r="r" b="b"/>
            <a:pathLst>
              <a:path w="113845" h="4167">
                <a:moveTo>
                  <a:pt x="0" y="416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Editable vector geometry"/>
          <p:cNvSpPr/>
          <p:nvPr/>
        </p:nvSpPr>
        <p:spPr>
          <a:xfrm>
            <a:off x="9760771" y="3274090"/>
            <a:ext cx="1204856" cy="720334"/>
          </a:xfrm>
          <a:custGeom>
            <a:avLst/>
            <a:gdLst/>
            <a:ahLst/>
            <a:cxnLst/>
            <a:rect l="0" t="0" r="r" b="b"/>
            <a:pathLst>
              <a:path w="113845" h="68063">
                <a:moveTo>
                  <a:pt x="0" y="6806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Editable vector geometry"/>
          <p:cNvSpPr/>
          <p:nvPr/>
        </p:nvSpPr>
        <p:spPr>
          <a:xfrm>
            <a:off x="9760771" y="3698042"/>
            <a:ext cx="1204856" cy="380104"/>
          </a:xfrm>
          <a:custGeom>
            <a:avLst/>
            <a:gdLst/>
            <a:ahLst/>
            <a:cxnLst/>
            <a:rect l="0" t="0" r="r" b="b"/>
            <a:pathLst>
              <a:path w="113845" h="35915">
                <a:moveTo>
                  <a:pt x="0" y="3591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Editable vector geometry"/>
          <p:cNvSpPr/>
          <p:nvPr/>
        </p:nvSpPr>
        <p:spPr>
          <a:xfrm>
            <a:off x="9760771" y="3774893"/>
            <a:ext cx="1204856" cy="204767"/>
          </a:xfrm>
          <a:custGeom>
            <a:avLst/>
            <a:gdLst/>
            <a:ahLst/>
            <a:cxnLst/>
            <a:rect l="0" t="0" r="r" b="b"/>
            <a:pathLst>
              <a:path w="113845" h="19348">
                <a:moveTo>
                  <a:pt x="0" y="0"/>
                </a:moveTo>
                <a:lnTo>
                  <a:pt x="113845" y="19348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Editable vector geometry"/>
          <p:cNvSpPr/>
          <p:nvPr/>
        </p:nvSpPr>
        <p:spPr>
          <a:xfrm>
            <a:off x="9760771" y="3062700"/>
            <a:ext cx="1204856" cy="330688"/>
          </a:xfrm>
          <a:custGeom>
            <a:avLst/>
            <a:gdLst/>
            <a:ahLst/>
            <a:cxnLst/>
            <a:rect l="0" t="0" r="r" b="b"/>
            <a:pathLst>
              <a:path w="113845" h="31246">
                <a:moveTo>
                  <a:pt x="0" y="3124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Editable vector geometry"/>
          <p:cNvSpPr/>
          <p:nvPr/>
        </p:nvSpPr>
        <p:spPr>
          <a:xfrm>
            <a:off x="9760771" y="3304751"/>
            <a:ext cx="1204856" cy="29574"/>
          </a:xfrm>
          <a:custGeom>
            <a:avLst/>
            <a:gdLst/>
            <a:ahLst/>
            <a:cxnLst/>
            <a:rect l="0" t="0" r="r" b="b"/>
            <a:pathLst>
              <a:path w="113845" h="2794">
                <a:moveTo>
                  <a:pt x="0" y="0"/>
                </a:moveTo>
                <a:lnTo>
                  <a:pt x="113845" y="2794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Editable vector geometry"/>
          <p:cNvSpPr/>
          <p:nvPr/>
        </p:nvSpPr>
        <p:spPr>
          <a:xfrm>
            <a:off x="9760771" y="3560195"/>
            <a:ext cx="1204856" cy="15103"/>
          </a:xfrm>
          <a:custGeom>
            <a:avLst/>
            <a:gdLst/>
            <a:ahLst/>
            <a:cxnLst/>
            <a:rect l="0" t="0" r="r" b="b"/>
            <a:pathLst>
              <a:path w="113845" h="1427">
                <a:moveTo>
                  <a:pt x="0" y="0"/>
                </a:moveTo>
                <a:lnTo>
                  <a:pt x="113845" y="1427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Editable vector geometry"/>
          <p:cNvSpPr/>
          <p:nvPr/>
        </p:nvSpPr>
        <p:spPr>
          <a:xfrm>
            <a:off x="9760771" y="3354385"/>
            <a:ext cx="1204856" cy="360838"/>
          </a:xfrm>
          <a:custGeom>
            <a:avLst/>
            <a:gdLst/>
            <a:ahLst/>
            <a:cxnLst/>
            <a:rect l="0" t="0" r="r" b="b"/>
            <a:pathLst>
              <a:path w="113845" h="34095">
                <a:moveTo>
                  <a:pt x="0" y="3409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Editable vector geometry"/>
          <p:cNvSpPr/>
          <p:nvPr/>
        </p:nvSpPr>
        <p:spPr>
          <a:xfrm>
            <a:off x="9760771" y="3803651"/>
            <a:ext cx="1204856" cy="10193"/>
          </a:xfrm>
          <a:custGeom>
            <a:avLst/>
            <a:gdLst/>
            <a:ahLst/>
            <a:cxnLst/>
            <a:rect l="0" t="0" r="r" b="b"/>
            <a:pathLst>
              <a:path w="113845" h="963">
                <a:moveTo>
                  <a:pt x="0" y="0"/>
                </a:moveTo>
                <a:lnTo>
                  <a:pt x="113845" y="963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Editable vector geometry"/>
          <p:cNvSpPr/>
          <p:nvPr/>
        </p:nvSpPr>
        <p:spPr>
          <a:xfrm>
            <a:off x="9760771" y="3559394"/>
            <a:ext cx="1204856" cy="158824"/>
          </a:xfrm>
          <a:custGeom>
            <a:avLst/>
            <a:gdLst/>
            <a:ahLst/>
            <a:cxnLst/>
            <a:rect l="0" t="0" r="r" b="b"/>
            <a:pathLst>
              <a:path w="113845" h="15007">
                <a:moveTo>
                  <a:pt x="0" y="0"/>
                </a:moveTo>
                <a:lnTo>
                  <a:pt x="113845" y="15007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Editable vector geometry"/>
          <p:cNvSpPr/>
          <p:nvPr/>
        </p:nvSpPr>
        <p:spPr>
          <a:xfrm>
            <a:off x="9760771" y="4030678"/>
            <a:ext cx="1204856" cy="27275"/>
          </a:xfrm>
          <a:custGeom>
            <a:avLst/>
            <a:gdLst/>
            <a:ahLst/>
            <a:cxnLst/>
            <a:rect l="0" t="0" r="r" b="b"/>
            <a:pathLst>
              <a:path w="113845" h="2577">
                <a:moveTo>
                  <a:pt x="0" y="257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Editable vector geometry"/>
          <p:cNvSpPr/>
          <p:nvPr/>
        </p:nvSpPr>
        <p:spPr>
          <a:xfrm>
            <a:off x="9760771" y="3573312"/>
            <a:ext cx="1204856" cy="111568"/>
          </a:xfrm>
          <a:custGeom>
            <a:avLst/>
            <a:gdLst/>
            <a:ahLst/>
            <a:cxnLst/>
            <a:rect l="0" t="0" r="r" b="b"/>
            <a:pathLst>
              <a:path w="113845" h="10542">
                <a:moveTo>
                  <a:pt x="0" y="1054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Editable vector geometry"/>
          <p:cNvSpPr/>
          <p:nvPr/>
        </p:nvSpPr>
        <p:spPr>
          <a:xfrm>
            <a:off x="9760771" y="3698054"/>
            <a:ext cx="1204856" cy="220743"/>
          </a:xfrm>
          <a:custGeom>
            <a:avLst/>
            <a:gdLst/>
            <a:ahLst/>
            <a:cxnLst/>
            <a:rect l="0" t="0" r="r" b="b"/>
            <a:pathLst>
              <a:path w="113845" h="20858">
                <a:moveTo>
                  <a:pt x="0" y="2085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Editable vector geometry"/>
          <p:cNvSpPr/>
          <p:nvPr/>
        </p:nvSpPr>
        <p:spPr>
          <a:xfrm>
            <a:off x="9760771" y="3904151"/>
            <a:ext cx="1204856" cy="3918"/>
          </a:xfrm>
          <a:custGeom>
            <a:avLst/>
            <a:gdLst/>
            <a:ahLst/>
            <a:cxnLst/>
            <a:rect l="0" t="0" r="r" b="b"/>
            <a:pathLst>
              <a:path w="113845" h="370">
                <a:moveTo>
                  <a:pt x="0" y="37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Editable vector geometry"/>
          <p:cNvSpPr/>
          <p:nvPr/>
        </p:nvSpPr>
        <p:spPr>
          <a:xfrm>
            <a:off x="9760771" y="3740233"/>
            <a:ext cx="1204856" cy="206807"/>
          </a:xfrm>
          <a:custGeom>
            <a:avLst/>
            <a:gdLst/>
            <a:ahLst/>
            <a:cxnLst/>
            <a:rect l="0" t="0" r="r" b="b"/>
            <a:pathLst>
              <a:path w="113845" h="19541">
                <a:moveTo>
                  <a:pt x="0" y="1954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Editable vector geometry"/>
          <p:cNvSpPr/>
          <p:nvPr/>
        </p:nvSpPr>
        <p:spPr>
          <a:xfrm>
            <a:off x="9760771" y="3589413"/>
            <a:ext cx="1204856" cy="686758"/>
          </a:xfrm>
          <a:custGeom>
            <a:avLst/>
            <a:gdLst/>
            <a:ahLst/>
            <a:cxnLst/>
            <a:rect l="0" t="0" r="r" b="b"/>
            <a:pathLst>
              <a:path w="113845" h="64891">
                <a:moveTo>
                  <a:pt x="0" y="6489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Editable vector geometry"/>
          <p:cNvSpPr/>
          <p:nvPr/>
        </p:nvSpPr>
        <p:spPr>
          <a:xfrm>
            <a:off x="9760771" y="3895157"/>
            <a:ext cx="1204856" cy="216852"/>
          </a:xfrm>
          <a:custGeom>
            <a:avLst/>
            <a:gdLst/>
            <a:ahLst/>
            <a:cxnLst/>
            <a:rect l="0" t="0" r="r" b="b"/>
            <a:pathLst>
              <a:path w="113845" h="20490">
                <a:moveTo>
                  <a:pt x="0" y="2049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Editable vector geometry"/>
          <p:cNvSpPr/>
          <p:nvPr/>
        </p:nvSpPr>
        <p:spPr>
          <a:xfrm>
            <a:off x="9760771" y="3013710"/>
            <a:ext cx="1204856" cy="1081261"/>
          </a:xfrm>
          <a:custGeom>
            <a:avLst/>
            <a:gdLst/>
            <a:ahLst/>
            <a:cxnLst/>
            <a:rect l="0" t="0" r="r" b="b"/>
            <a:pathLst>
              <a:path w="113845" h="102166">
                <a:moveTo>
                  <a:pt x="0" y="10216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Editable vector geometry"/>
          <p:cNvSpPr/>
          <p:nvPr/>
        </p:nvSpPr>
        <p:spPr>
          <a:xfrm>
            <a:off x="9760771" y="3864834"/>
            <a:ext cx="1204856" cy="89554"/>
          </a:xfrm>
          <a:custGeom>
            <a:avLst/>
            <a:gdLst/>
            <a:ahLst/>
            <a:cxnLst/>
            <a:rect l="0" t="0" r="r" b="b"/>
            <a:pathLst>
              <a:path w="113845" h="8462">
                <a:moveTo>
                  <a:pt x="0" y="846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Editable vector geometry"/>
          <p:cNvSpPr/>
          <p:nvPr/>
        </p:nvSpPr>
        <p:spPr>
          <a:xfrm>
            <a:off x="9760771" y="3412300"/>
            <a:ext cx="1204856" cy="132547"/>
          </a:xfrm>
          <a:custGeom>
            <a:avLst/>
            <a:gdLst/>
            <a:ahLst/>
            <a:cxnLst/>
            <a:rect l="0" t="0" r="r" b="b"/>
            <a:pathLst>
              <a:path w="113845" h="12524">
                <a:moveTo>
                  <a:pt x="0" y="1252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Editable vector geometry"/>
          <p:cNvSpPr/>
          <p:nvPr/>
        </p:nvSpPr>
        <p:spPr>
          <a:xfrm>
            <a:off x="9760771" y="3550545"/>
            <a:ext cx="1204856" cy="549714"/>
          </a:xfrm>
          <a:custGeom>
            <a:avLst/>
            <a:gdLst/>
            <a:ahLst/>
            <a:cxnLst/>
            <a:rect l="0" t="0" r="r" b="b"/>
            <a:pathLst>
              <a:path w="113845" h="51941">
                <a:moveTo>
                  <a:pt x="0" y="5194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Editable vector geometry"/>
          <p:cNvSpPr/>
          <p:nvPr/>
        </p:nvSpPr>
        <p:spPr>
          <a:xfrm>
            <a:off x="9760771" y="3278096"/>
            <a:ext cx="1204856" cy="106910"/>
          </a:xfrm>
          <a:custGeom>
            <a:avLst/>
            <a:gdLst/>
            <a:ahLst/>
            <a:cxnLst/>
            <a:rect l="0" t="0" r="r" b="b"/>
            <a:pathLst>
              <a:path w="113845" h="10102">
                <a:moveTo>
                  <a:pt x="0" y="0"/>
                </a:moveTo>
                <a:lnTo>
                  <a:pt x="113845" y="10102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Editable vector geometry"/>
          <p:cNvSpPr/>
          <p:nvPr/>
        </p:nvSpPr>
        <p:spPr>
          <a:xfrm>
            <a:off x="9760771" y="3504872"/>
            <a:ext cx="1204856" cy="143509"/>
          </a:xfrm>
          <a:custGeom>
            <a:avLst/>
            <a:gdLst/>
            <a:ahLst/>
            <a:cxnLst/>
            <a:rect l="0" t="0" r="r" b="b"/>
            <a:pathLst>
              <a:path w="113845" h="13560">
                <a:moveTo>
                  <a:pt x="0" y="1356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Editable vector geometry"/>
          <p:cNvSpPr/>
          <p:nvPr/>
        </p:nvSpPr>
        <p:spPr>
          <a:xfrm>
            <a:off x="9760771" y="3557430"/>
            <a:ext cx="1204856" cy="126279"/>
          </a:xfrm>
          <a:custGeom>
            <a:avLst/>
            <a:gdLst/>
            <a:ahLst/>
            <a:cxnLst/>
            <a:rect l="0" t="0" r="r" b="b"/>
            <a:pathLst>
              <a:path w="113845" h="11932">
                <a:moveTo>
                  <a:pt x="0" y="0"/>
                </a:moveTo>
                <a:lnTo>
                  <a:pt x="113845" y="11932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Editable vector geometry"/>
          <p:cNvSpPr/>
          <p:nvPr/>
        </p:nvSpPr>
        <p:spPr>
          <a:xfrm>
            <a:off x="9760771" y="3309553"/>
            <a:ext cx="1204856" cy="417603"/>
          </a:xfrm>
          <a:custGeom>
            <a:avLst/>
            <a:gdLst/>
            <a:ahLst/>
            <a:cxnLst/>
            <a:rect l="0" t="0" r="r" b="b"/>
            <a:pathLst>
              <a:path w="113845" h="39459">
                <a:moveTo>
                  <a:pt x="0" y="39459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Editable vector geometry"/>
          <p:cNvSpPr/>
          <p:nvPr/>
        </p:nvSpPr>
        <p:spPr>
          <a:xfrm>
            <a:off x="9760771" y="3540476"/>
            <a:ext cx="1204856" cy="332367"/>
          </a:xfrm>
          <a:custGeom>
            <a:avLst/>
            <a:gdLst/>
            <a:ahLst/>
            <a:cxnLst/>
            <a:rect l="0" t="0" r="r" b="b"/>
            <a:pathLst>
              <a:path w="113845" h="31405">
                <a:moveTo>
                  <a:pt x="0" y="0"/>
                </a:moveTo>
                <a:lnTo>
                  <a:pt x="113845" y="31405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Editable vector geometry"/>
          <p:cNvSpPr/>
          <p:nvPr/>
        </p:nvSpPr>
        <p:spPr>
          <a:xfrm>
            <a:off x="9760771" y="3277328"/>
            <a:ext cx="1204856" cy="563088"/>
          </a:xfrm>
          <a:custGeom>
            <a:avLst/>
            <a:gdLst/>
            <a:ahLst/>
            <a:cxnLst/>
            <a:rect l="0" t="0" r="r" b="b"/>
            <a:pathLst>
              <a:path w="113845" h="53205">
                <a:moveTo>
                  <a:pt x="0" y="5320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Editable vector geometry"/>
          <p:cNvSpPr/>
          <p:nvPr/>
        </p:nvSpPr>
        <p:spPr>
          <a:xfrm>
            <a:off x="9307322" y="4574259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Editable vector geometry"/>
          <p:cNvSpPr/>
          <p:nvPr/>
        </p:nvSpPr>
        <p:spPr>
          <a:xfrm>
            <a:off x="9307322" y="4309986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Editable vector geometry"/>
          <p:cNvSpPr/>
          <p:nvPr/>
        </p:nvSpPr>
        <p:spPr>
          <a:xfrm>
            <a:off x="9307322" y="4045712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Editable vector geometry"/>
          <p:cNvSpPr/>
          <p:nvPr/>
        </p:nvSpPr>
        <p:spPr>
          <a:xfrm>
            <a:off x="9307322" y="3781439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Editable vector geometry"/>
          <p:cNvSpPr/>
          <p:nvPr/>
        </p:nvSpPr>
        <p:spPr>
          <a:xfrm>
            <a:off x="9307322" y="3517165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Editable vector geometry"/>
          <p:cNvSpPr/>
          <p:nvPr/>
        </p:nvSpPr>
        <p:spPr>
          <a:xfrm>
            <a:off x="9307322" y="3252892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Editable vector geometry"/>
          <p:cNvSpPr/>
          <p:nvPr/>
        </p:nvSpPr>
        <p:spPr>
          <a:xfrm>
            <a:off x="9307322" y="2988618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Editable vector geometry"/>
          <p:cNvSpPr/>
          <p:nvPr/>
        </p:nvSpPr>
        <p:spPr>
          <a:xfrm>
            <a:off x="9741692" y="397994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Editable vector geometry"/>
          <p:cNvSpPr/>
          <p:nvPr/>
        </p:nvSpPr>
        <p:spPr>
          <a:xfrm>
            <a:off x="9741692" y="3529089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Editable vector geometry"/>
          <p:cNvSpPr/>
          <p:nvPr/>
        </p:nvSpPr>
        <p:spPr>
          <a:xfrm>
            <a:off x="9741692" y="390866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Editable vector geometry"/>
          <p:cNvSpPr/>
          <p:nvPr/>
        </p:nvSpPr>
        <p:spPr>
          <a:xfrm>
            <a:off x="9741692" y="3698066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Editable vector geometry"/>
          <p:cNvSpPr/>
          <p:nvPr/>
        </p:nvSpPr>
        <p:spPr>
          <a:xfrm>
            <a:off x="9741692" y="3609385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Editable vector geometry"/>
          <p:cNvSpPr/>
          <p:nvPr/>
        </p:nvSpPr>
        <p:spPr>
          <a:xfrm>
            <a:off x="9741692" y="3590713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Editable vector geometry"/>
          <p:cNvSpPr/>
          <p:nvPr/>
        </p:nvSpPr>
        <p:spPr>
          <a:xfrm>
            <a:off x="9741692" y="3826471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Editable vector geometry"/>
          <p:cNvSpPr/>
          <p:nvPr/>
        </p:nvSpPr>
        <p:spPr>
          <a:xfrm>
            <a:off x="9741692" y="370857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Editable vector geometry"/>
          <p:cNvSpPr/>
          <p:nvPr/>
        </p:nvSpPr>
        <p:spPr>
          <a:xfrm>
            <a:off x="9741692" y="389491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Editable vector geometry"/>
          <p:cNvSpPr/>
          <p:nvPr/>
        </p:nvSpPr>
        <p:spPr>
          <a:xfrm>
            <a:off x="9741692" y="444243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Editable vector geometry"/>
          <p:cNvSpPr/>
          <p:nvPr/>
        </p:nvSpPr>
        <p:spPr>
          <a:xfrm>
            <a:off x="9741692" y="3625842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Editable vector geometry"/>
          <p:cNvSpPr/>
          <p:nvPr/>
        </p:nvSpPr>
        <p:spPr>
          <a:xfrm>
            <a:off x="9741692" y="3749596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Editable vector geometry"/>
          <p:cNvSpPr/>
          <p:nvPr/>
        </p:nvSpPr>
        <p:spPr>
          <a:xfrm>
            <a:off x="9741692" y="423745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Editable vector geometry"/>
          <p:cNvSpPr/>
          <p:nvPr/>
        </p:nvSpPr>
        <p:spPr>
          <a:xfrm>
            <a:off x="9741692" y="370952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Editable vector geometry"/>
          <p:cNvSpPr/>
          <p:nvPr/>
        </p:nvSpPr>
        <p:spPr>
          <a:xfrm>
            <a:off x="9741692" y="379396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Editable vector geometry"/>
          <p:cNvSpPr/>
          <p:nvPr/>
        </p:nvSpPr>
        <p:spPr>
          <a:xfrm>
            <a:off x="9741692" y="356212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Editable vector geometry"/>
          <p:cNvSpPr/>
          <p:nvPr/>
        </p:nvSpPr>
        <p:spPr>
          <a:xfrm>
            <a:off x="9741692" y="369892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Editable vector geometry"/>
          <p:cNvSpPr/>
          <p:nvPr/>
        </p:nvSpPr>
        <p:spPr>
          <a:xfrm>
            <a:off x="9741692" y="3975345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Editable vector geometry"/>
          <p:cNvSpPr/>
          <p:nvPr/>
        </p:nvSpPr>
        <p:spPr>
          <a:xfrm>
            <a:off x="9741692" y="405906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Editable vector geometry"/>
          <p:cNvSpPr/>
          <p:nvPr/>
        </p:nvSpPr>
        <p:spPr>
          <a:xfrm>
            <a:off x="9741692" y="375581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Editable vector geometry"/>
          <p:cNvSpPr/>
          <p:nvPr/>
        </p:nvSpPr>
        <p:spPr>
          <a:xfrm>
            <a:off x="9741692" y="3374308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Editable vector geometry"/>
          <p:cNvSpPr/>
          <p:nvPr/>
        </p:nvSpPr>
        <p:spPr>
          <a:xfrm>
            <a:off x="9741692" y="3285671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Editable vector geometry"/>
          <p:cNvSpPr/>
          <p:nvPr/>
        </p:nvSpPr>
        <p:spPr>
          <a:xfrm>
            <a:off x="9741692" y="3541115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Editable vector geometry"/>
          <p:cNvSpPr/>
          <p:nvPr/>
        </p:nvSpPr>
        <p:spPr>
          <a:xfrm>
            <a:off x="9741692" y="3696143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Editable vector geometry"/>
          <p:cNvSpPr/>
          <p:nvPr/>
        </p:nvSpPr>
        <p:spPr>
          <a:xfrm>
            <a:off x="9741692" y="3784571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Editable vector geometry"/>
          <p:cNvSpPr/>
          <p:nvPr/>
        </p:nvSpPr>
        <p:spPr>
          <a:xfrm>
            <a:off x="9741692" y="354031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Editable vector geometry"/>
          <p:cNvSpPr/>
          <p:nvPr/>
        </p:nvSpPr>
        <p:spPr>
          <a:xfrm>
            <a:off x="9741692" y="403887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Editable vector geometry"/>
          <p:cNvSpPr/>
          <p:nvPr/>
        </p:nvSpPr>
        <p:spPr>
          <a:xfrm>
            <a:off x="9741692" y="366580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Editable vector geometry"/>
          <p:cNvSpPr/>
          <p:nvPr/>
        </p:nvSpPr>
        <p:spPr>
          <a:xfrm>
            <a:off x="9741692" y="389971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Editable vector geometry"/>
          <p:cNvSpPr/>
          <p:nvPr/>
        </p:nvSpPr>
        <p:spPr>
          <a:xfrm>
            <a:off x="9741692" y="3888989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Editable vector geometry"/>
          <p:cNvSpPr/>
          <p:nvPr/>
        </p:nvSpPr>
        <p:spPr>
          <a:xfrm>
            <a:off x="9741692" y="392796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Editable vector geometry"/>
          <p:cNvSpPr/>
          <p:nvPr/>
        </p:nvSpPr>
        <p:spPr>
          <a:xfrm>
            <a:off x="9741692" y="4257092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Editable vector geometry"/>
          <p:cNvSpPr/>
          <p:nvPr/>
        </p:nvSpPr>
        <p:spPr>
          <a:xfrm>
            <a:off x="9741692" y="409293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Editable vector geometry"/>
          <p:cNvSpPr/>
          <p:nvPr/>
        </p:nvSpPr>
        <p:spPr>
          <a:xfrm>
            <a:off x="9741692" y="4075891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Editable vector geometry"/>
          <p:cNvSpPr/>
          <p:nvPr/>
        </p:nvSpPr>
        <p:spPr>
          <a:xfrm>
            <a:off x="9741692" y="3935308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Editable vector geometry"/>
          <p:cNvSpPr/>
          <p:nvPr/>
        </p:nvSpPr>
        <p:spPr>
          <a:xfrm>
            <a:off x="9741692" y="352576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Editable vector geometry"/>
          <p:cNvSpPr/>
          <p:nvPr/>
        </p:nvSpPr>
        <p:spPr>
          <a:xfrm>
            <a:off x="9741692" y="4081179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Editable vector geometry"/>
          <p:cNvSpPr/>
          <p:nvPr/>
        </p:nvSpPr>
        <p:spPr>
          <a:xfrm>
            <a:off x="9741692" y="3259016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Editable vector geometry"/>
          <p:cNvSpPr/>
          <p:nvPr/>
        </p:nvSpPr>
        <p:spPr>
          <a:xfrm>
            <a:off x="9741692" y="3629301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Editable vector geometry"/>
          <p:cNvSpPr/>
          <p:nvPr/>
        </p:nvSpPr>
        <p:spPr>
          <a:xfrm>
            <a:off x="9741692" y="3538349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Editable vector geometry"/>
          <p:cNvSpPr/>
          <p:nvPr/>
        </p:nvSpPr>
        <p:spPr>
          <a:xfrm>
            <a:off x="9741692" y="3708076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Editable vector geometry"/>
          <p:cNvSpPr/>
          <p:nvPr/>
        </p:nvSpPr>
        <p:spPr>
          <a:xfrm>
            <a:off x="9741692" y="3521395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Editable vector geometry"/>
          <p:cNvSpPr/>
          <p:nvPr/>
        </p:nvSpPr>
        <p:spPr>
          <a:xfrm>
            <a:off x="9741692" y="3821336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Editable vector geometry"/>
          <p:cNvSpPr/>
          <p:nvPr/>
        </p:nvSpPr>
        <p:spPr>
          <a:xfrm>
            <a:off x="10946548" y="3589489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Editable vector geometry"/>
          <p:cNvSpPr/>
          <p:nvPr/>
        </p:nvSpPr>
        <p:spPr>
          <a:xfrm>
            <a:off x="10946548" y="3247412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Editable vector geometry"/>
          <p:cNvSpPr/>
          <p:nvPr/>
        </p:nvSpPr>
        <p:spPr>
          <a:xfrm>
            <a:off x="10946548" y="3635641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Editable vector geometry"/>
          <p:cNvSpPr/>
          <p:nvPr/>
        </p:nvSpPr>
        <p:spPr>
          <a:xfrm>
            <a:off x="10946548" y="3610416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Editable vector geometry"/>
          <p:cNvSpPr/>
          <p:nvPr/>
        </p:nvSpPr>
        <p:spPr>
          <a:xfrm>
            <a:off x="10946548" y="3471845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Editable vector geometry"/>
          <p:cNvSpPr/>
          <p:nvPr/>
        </p:nvSpPr>
        <p:spPr>
          <a:xfrm>
            <a:off x="10946548" y="3054149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Editable vector geometry"/>
          <p:cNvSpPr/>
          <p:nvPr/>
        </p:nvSpPr>
        <p:spPr>
          <a:xfrm>
            <a:off x="10946548" y="3319665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Editable vector geometry"/>
          <p:cNvSpPr/>
          <p:nvPr/>
        </p:nvSpPr>
        <p:spPr>
          <a:xfrm>
            <a:off x="10946548" y="3462269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Editable vector geometry"/>
          <p:cNvSpPr/>
          <p:nvPr/>
        </p:nvSpPr>
        <p:spPr>
          <a:xfrm>
            <a:off x="10946548" y="3997561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Editable vector geometry"/>
          <p:cNvSpPr/>
          <p:nvPr/>
        </p:nvSpPr>
        <p:spPr>
          <a:xfrm>
            <a:off x="10946548" y="3580757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Editable vector geometry"/>
          <p:cNvSpPr/>
          <p:nvPr/>
        </p:nvSpPr>
        <p:spPr>
          <a:xfrm>
            <a:off x="10946548" y="3262070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Editable vector geometry"/>
          <p:cNvSpPr/>
          <p:nvPr/>
        </p:nvSpPr>
        <p:spPr>
          <a:xfrm>
            <a:off x="10946548" y="4187381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Editable vector geometry"/>
          <p:cNvSpPr/>
          <p:nvPr/>
        </p:nvSpPr>
        <p:spPr>
          <a:xfrm>
            <a:off x="10946548" y="3405157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Editable vector geometry"/>
          <p:cNvSpPr/>
          <p:nvPr/>
        </p:nvSpPr>
        <p:spPr>
          <a:xfrm>
            <a:off x="10946548" y="3608525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Editable vector geometry"/>
          <p:cNvSpPr/>
          <p:nvPr/>
        </p:nvSpPr>
        <p:spPr>
          <a:xfrm>
            <a:off x="10946548" y="3454158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Editable vector geometry"/>
          <p:cNvSpPr/>
          <p:nvPr/>
        </p:nvSpPr>
        <p:spPr>
          <a:xfrm>
            <a:off x="10946548" y="3059314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Editable vector geometry"/>
          <p:cNvSpPr/>
          <p:nvPr/>
        </p:nvSpPr>
        <p:spPr>
          <a:xfrm>
            <a:off x="10946548" y="3654819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Editable vector geometry"/>
          <p:cNvSpPr/>
          <p:nvPr/>
        </p:nvSpPr>
        <p:spPr>
          <a:xfrm>
            <a:off x="10946548" y="3255011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Editable vector geometry"/>
          <p:cNvSpPr/>
          <p:nvPr/>
        </p:nvSpPr>
        <p:spPr>
          <a:xfrm>
            <a:off x="10946548" y="3678963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Editable vector geometry"/>
          <p:cNvSpPr/>
          <p:nvPr/>
        </p:nvSpPr>
        <p:spPr>
          <a:xfrm>
            <a:off x="10946548" y="3960581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Editable vector geometry"/>
          <p:cNvSpPr/>
          <p:nvPr/>
        </p:nvSpPr>
        <p:spPr>
          <a:xfrm>
            <a:off x="10946548" y="3043621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Editable vector geometry"/>
          <p:cNvSpPr/>
          <p:nvPr/>
        </p:nvSpPr>
        <p:spPr>
          <a:xfrm>
            <a:off x="10946548" y="3315246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Editable vector geometry"/>
          <p:cNvSpPr/>
          <p:nvPr/>
        </p:nvSpPr>
        <p:spPr>
          <a:xfrm>
            <a:off x="10946548" y="3556219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Editable vector geometry"/>
          <p:cNvSpPr/>
          <p:nvPr/>
        </p:nvSpPr>
        <p:spPr>
          <a:xfrm>
            <a:off x="10946548" y="3335305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Editable vector geometry"/>
          <p:cNvSpPr/>
          <p:nvPr/>
        </p:nvSpPr>
        <p:spPr>
          <a:xfrm>
            <a:off x="10946548" y="3794765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Editable vector geometry"/>
          <p:cNvSpPr/>
          <p:nvPr/>
        </p:nvSpPr>
        <p:spPr>
          <a:xfrm>
            <a:off x="10946548" y="3699139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Editable vector geometry"/>
          <p:cNvSpPr/>
          <p:nvPr/>
        </p:nvSpPr>
        <p:spPr>
          <a:xfrm>
            <a:off x="10946548" y="4011599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Editable vector geometry"/>
          <p:cNvSpPr/>
          <p:nvPr/>
        </p:nvSpPr>
        <p:spPr>
          <a:xfrm>
            <a:off x="10946548" y="3554233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Editable vector geometry"/>
          <p:cNvSpPr/>
          <p:nvPr/>
        </p:nvSpPr>
        <p:spPr>
          <a:xfrm>
            <a:off x="10946548" y="3678974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Editable vector geometry"/>
          <p:cNvSpPr/>
          <p:nvPr/>
        </p:nvSpPr>
        <p:spPr>
          <a:xfrm>
            <a:off x="10946548" y="3885072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Editable vector geometry"/>
          <p:cNvSpPr/>
          <p:nvPr/>
        </p:nvSpPr>
        <p:spPr>
          <a:xfrm>
            <a:off x="10946548" y="3721154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Editable vector geometry"/>
          <p:cNvSpPr/>
          <p:nvPr/>
        </p:nvSpPr>
        <p:spPr>
          <a:xfrm>
            <a:off x="10946548" y="3570334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Editable vector geometry"/>
          <p:cNvSpPr/>
          <p:nvPr/>
        </p:nvSpPr>
        <p:spPr>
          <a:xfrm>
            <a:off x="10946548" y="3876078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Editable vector geometry"/>
          <p:cNvSpPr/>
          <p:nvPr/>
        </p:nvSpPr>
        <p:spPr>
          <a:xfrm>
            <a:off x="10946548" y="2994630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Editable vector geometry"/>
          <p:cNvSpPr/>
          <p:nvPr/>
        </p:nvSpPr>
        <p:spPr>
          <a:xfrm>
            <a:off x="10946548" y="3845755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Editable vector geometry"/>
          <p:cNvSpPr/>
          <p:nvPr/>
        </p:nvSpPr>
        <p:spPr>
          <a:xfrm>
            <a:off x="10946548" y="3393221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Editable vector geometry"/>
          <p:cNvSpPr/>
          <p:nvPr/>
        </p:nvSpPr>
        <p:spPr>
          <a:xfrm>
            <a:off x="10946548" y="3531466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Editable vector geometry"/>
          <p:cNvSpPr/>
          <p:nvPr/>
        </p:nvSpPr>
        <p:spPr>
          <a:xfrm>
            <a:off x="10946548" y="3365927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Editable vector geometry"/>
          <p:cNvSpPr/>
          <p:nvPr/>
        </p:nvSpPr>
        <p:spPr>
          <a:xfrm>
            <a:off x="10946548" y="3485794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Editable vector geometry"/>
          <p:cNvSpPr/>
          <p:nvPr/>
        </p:nvSpPr>
        <p:spPr>
          <a:xfrm>
            <a:off x="10946548" y="3664630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Editable vector geometry"/>
          <p:cNvSpPr/>
          <p:nvPr/>
        </p:nvSpPr>
        <p:spPr>
          <a:xfrm>
            <a:off x="10946548" y="3290474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Editable vector geometry"/>
          <p:cNvSpPr/>
          <p:nvPr/>
        </p:nvSpPr>
        <p:spPr>
          <a:xfrm>
            <a:off x="10946548" y="3853765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Editable vector geometry"/>
          <p:cNvSpPr/>
          <p:nvPr/>
        </p:nvSpPr>
        <p:spPr>
          <a:xfrm>
            <a:off x="10946548" y="3258250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Editable vector geometry"/>
          <p:cNvSpPr/>
          <p:nvPr/>
        </p:nvSpPr>
        <p:spPr>
          <a:xfrm>
            <a:off x="9339072" y="2825496"/>
            <a:ext cx="105" cy="1824227"/>
          </a:xfrm>
          <a:custGeom>
            <a:avLst/>
            <a:gdLst/>
            <a:ahLst/>
            <a:cxnLst/>
            <a:rect l="0" t="0" r="r" b="b"/>
            <a:pathLst>
              <a:path w="10" h="172368">
                <a:moveTo>
                  <a:pt x="0" y="172368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Editable vector geometry"/>
          <p:cNvSpPr/>
          <p:nvPr/>
        </p:nvSpPr>
        <p:spPr>
          <a:xfrm>
            <a:off x="9339072" y="4649723"/>
            <a:ext cx="2048256" cy="105"/>
          </a:xfrm>
          <a:custGeom>
            <a:avLst/>
            <a:gdLst/>
            <a:ahLst/>
            <a:cxnLst/>
            <a:rect l="0" t="0" r="r" b="b"/>
            <a:pathLst>
              <a:path w="193536" h="10">
                <a:moveTo>
                  <a:pt x="0" y="0"/>
                </a:moveTo>
                <a:lnTo>
                  <a:pt x="19353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Editable vector geometry"/>
          <p:cNvSpPr/>
          <p:nvPr/>
        </p:nvSpPr>
        <p:spPr>
          <a:xfrm>
            <a:off x="9592092" y="3796871"/>
            <a:ext cx="337359" cy="105"/>
          </a:xfrm>
          <a:custGeom>
            <a:avLst/>
            <a:gdLst/>
            <a:ahLst/>
            <a:cxnLst/>
            <a:rect l="0" t="0" r="r" b="b"/>
            <a:pathLst>
              <a:path w="31876" h="10">
                <a:moveTo>
                  <a:pt x="0" y="0"/>
                </a:moveTo>
                <a:lnTo>
                  <a:pt x="31876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Editable vector geometry"/>
          <p:cNvSpPr/>
          <p:nvPr/>
        </p:nvSpPr>
        <p:spPr>
          <a:xfrm>
            <a:off x="10796948" y="3559099"/>
            <a:ext cx="337360" cy="105"/>
          </a:xfrm>
          <a:custGeom>
            <a:avLst/>
            <a:gdLst/>
            <a:ahLst/>
            <a:cxnLst/>
            <a:rect l="0" t="0" r="r" b="b"/>
            <a:pathLst>
              <a:path w="31877" h="10">
                <a:moveTo>
                  <a:pt x="0" y="0"/>
                </a:moveTo>
                <a:lnTo>
                  <a:pt x="31877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Editable vector geometry"/>
          <p:cNvSpPr/>
          <p:nvPr/>
        </p:nvSpPr>
        <p:spPr>
          <a:xfrm>
            <a:off x="3413759" y="2036825"/>
            <a:ext cx="105" cy="3326129"/>
          </a:xfrm>
          <a:custGeom>
            <a:avLst/>
            <a:gdLst/>
            <a:ahLst/>
            <a:cxnLst/>
            <a:rect l="0" t="0" r="r" b="b"/>
            <a:pathLst>
              <a:path w="10" h="314280">
                <a:moveTo>
                  <a:pt x="0" y="314280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EDF1ED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Editable vector geometry"/>
          <p:cNvSpPr/>
          <p:nvPr/>
        </p:nvSpPr>
        <p:spPr>
          <a:xfrm>
            <a:off x="6230111" y="2036825"/>
            <a:ext cx="105" cy="3326129"/>
          </a:xfrm>
          <a:custGeom>
            <a:avLst/>
            <a:gdLst/>
            <a:ahLst/>
            <a:cxnLst/>
            <a:rect l="0" t="0" r="r" b="b"/>
            <a:pathLst>
              <a:path w="10" h="314280">
                <a:moveTo>
                  <a:pt x="0" y="314280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EDF1ED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Editable vector geometry"/>
          <p:cNvSpPr/>
          <p:nvPr/>
        </p:nvSpPr>
        <p:spPr>
          <a:xfrm>
            <a:off x="9046463" y="2036825"/>
            <a:ext cx="105" cy="3326129"/>
          </a:xfrm>
          <a:custGeom>
            <a:avLst/>
            <a:gdLst/>
            <a:ahLst/>
            <a:cxnLst/>
            <a:rect l="0" t="0" r="r" b="b"/>
            <a:pathLst>
              <a:path w="10" h="314280">
                <a:moveTo>
                  <a:pt x="0" y="314280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EDF1ED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Editable vector geometry"/>
          <p:cNvSpPr/>
          <p:nvPr/>
        </p:nvSpPr>
        <p:spPr>
          <a:xfrm>
            <a:off x="609599" y="591845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Editable text: 正常"/>
          <p:cNvSpPr txBox="1"/>
          <p:nvPr/>
        </p:nvSpPr>
        <p:spPr>
          <a:xfrm>
            <a:off x="1184715" y="4709982"/>
            <a:ext cx="31115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正常</a:t>
            </a:r>
          </a:p>
        </p:txBody>
      </p:sp>
      <p:sp>
        <p:nvSpPr>
          <p:cNvPr id="451" name="Editable text: 肿瘤"/>
          <p:cNvSpPr txBox="1"/>
          <p:nvPr/>
        </p:nvSpPr>
        <p:spPr>
          <a:xfrm>
            <a:off x="2389572" y="4709982"/>
            <a:ext cx="31115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肿瘤</a:t>
            </a:r>
          </a:p>
        </p:txBody>
      </p:sp>
      <p:sp>
        <p:nvSpPr>
          <p:cNvPr id="452" name="Editable text: 8.0"/>
          <p:cNvSpPr txBox="1"/>
          <p:nvPr/>
        </p:nvSpPr>
        <p:spPr>
          <a:xfrm>
            <a:off x="671734" y="4314506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8.0</a:t>
            </a:r>
          </a:p>
        </p:txBody>
      </p:sp>
      <p:sp>
        <p:nvSpPr>
          <p:cNvPr id="453" name="Editable text: 8.5"/>
          <p:cNvSpPr txBox="1"/>
          <p:nvPr/>
        </p:nvSpPr>
        <p:spPr>
          <a:xfrm>
            <a:off x="671734" y="4000930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8.5</a:t>
            </a:r>
          </a:p>
        </p:txBody>
      </p:sp>
      <p:sp>
        <p:nvSpPr>
          <p:cNvPr id="454" name="Editable text: 9.0"/>
          <p:cNvSpPr txBox="1"/>
          <p:nvPr/>
        </p:nvSpPr>
        <p:spPr>
          <a:xfrm>
            <a:off x="671734" y="3687354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9.0</a:t>
            </a:r>
          </a:p>
        </p:txBody>
      </p:sp>
      <p:sp>
        <p:nvSpPr>
          <p:cNvPr id="455" name="Editable text: 9.5"/>
          <p:cNvSpPr txBox="1"/>
          <p:nvPr/>
        </p:nvSpPr>
        <p:spPr>
          <a:xfrm>
            <a:off x="671734" y="3373778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9.5</a:t>
            </a:r>
          </a:p>
        </p:txBody>
      </p:sp>
      <p:sp>
        <p:nvSpPr>
          <p:cNvPr id="456" name="Editable text: 10.0"/>
          <p:cNvSpPr txBox="1"/>
          <p:nvPr/>
        </p:nvSpPr>
        <p:spPr>
          <a:xfrm>
            <a:off x="609723" y="3060203"/>
            <a:ext cx="259185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10.0</a:t>
            </a:r>
          </a:p>
        </p:txBody>
      </p:sp>
      <p:sp>
        <p:nvSpPr>
          <p:cNvPr id="457" name="Editable text: LYPLA1 表达（作者处理尺度）"/>
          <p:cNvSpPr txBox="1"/>
          <p:nvPr/>
        </p:nvSpPr>
        <p:spPr>
          <a:xfrm rot="16200000">
            <a:off x="-336724" y="3657092"/>
            <a:ext cx="1577117" cy="1611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LYPLA1 表达（作者处理尺度）</a:t>
            </a:r>
          </a:p>
        </p:txBody>
      </p:sp>
      <p:sp>
        <p:nvSpPr>
          <p:cNvPr id="458" name="Editable text: 正常"/>
          <p:cNvSpPr txBox="1"/>
          <p:nvPr/>
        </p:nvSpPr>
        <p:spPr>
          <a:xfrm>
            <a:off x="4001067" y="4709982"/>
            <a:ext cx="31115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正常</a:t>
            </a:r>
          </a:p>
        </p:txBody>
      </p:sp>
      <p:sp>
        <p:nvSpPr>
          <p:cNvPr id="459" name="Editable text: 肿瘤"/>
          <p:cNvSpPr txBox="1"/>
          <p:nvPr/>
        </p:nvSpPr>
        <p:spPr>
          <a:xfrm>
            <a:off x="5205924" y="4709982"/>
            <a:ext cx="311149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肿瘤</a:t>
            </a:r>
          </a:p>
        </p:txBody>
      </p:sp>
      <p:sp>
        <p:nvSpPr>
          <p:cNvPr id="460" name="Editable text: 11.0"/>
          <p:cNvSpPr txBox="1"/>
          <p:nvPr/>
        </p:nvSpPr>
        <p:spPr>
          <a:xfrm>
            <a:off x="3426075" y="4528907"/>
            <a:ext cx="259185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11.0</a:t>
            </a:r>
          </a:p>
        </p:txBody>
      </p:sp>
      <p:sp>
        <p:nvSpPr>
          <p:cNvPr id="461" name="Editable text: 11.5"/>
          <p:cNvSpPr txBox="1"/>
          <p:nvPr/>
        </p:nvSpPr>
        <p:spPr>
          <a:xfrm>
            <a:off x="3426075" y="4256523"/>
            <a:ext cx="259185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11.5</a:t>
            </a:r>
          </a:p>
        </p:txBody>
      </p:sp>
      <p:sp>
        <p:nvSpPr>
          <p:cNvPr id="462" name="Editable text: 12.0"/>
          <p:cNvSpPr txBox="1"/>
          <p:nvPr/>
        </p:nvSpPr>
        <p:spPr>
          <a:xfrm>
            <a:off x="3426075" y="3984137"/>
            <a:ext cx="259185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12.0</a:t>
            </a:r>
          </a:p>
        </p:txBody>
      </p:sp>
      <p:sp>
        <p:nvSpPr>
          <p:cNvPr id="463" name="Editable text: 12.5"/>
          <p:cNvSpPr txBox="1"/>
          <p:nvPr/>
        </p:nvSpPr>
        <p:spPr>
          <a:xfrm>
            <a:off x="3426075" y="3711753"/>
            <a:ext cx="259185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12.5</a:t>
            </a:r>
          </a:p>
        </p:txBody>
      </p:sp>
      <p:sp>
        <p:nvSpPr>
          <p:cNvPr id="464" name="Editable text: 13.0"/>
          <p:cNvSpPr txBox="1"/>
          <p:nvPr/>
        </p:nvSpPr>
        <p:spPr>
          <a:xfrm>
            <a:off x="3426075" y="3439367"/>
            <a:ext cx="259185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13.0</a:t>
            </a:r>
          </a:p>
        </p:txBody>
      </p:sp>
      <p:sp>
        <p:nvSpPr>
          <p:cNvPr id="465" name="Editable text: 13.5"/>
          <p:cNvSpPr txBox="1"/>
          <p:nvPr/>
        </p:nvSpPr>
        <p:spPr>
          <a:xfrm>
            <a:off x="3426075" y="3166983"/>
            <a:ext cx="259185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13.5</a:t>
            </a:r>
          </a:p>
        </p:txBody>
      </p:sp>
      <p:sp>
        <p:nvSpPr>
          <p:cNvPr id="466" name="Editable text: 14.0"/>
          <p:cNvSpPr txBox="1"/>
          <p:nvPr/>
        </p:nvSpPr>
        <p:spPr>
          <a:xfrm>
            <a:off x="3426075" y="2894598"/>
            <a:ext cx="259185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14.0</a:t>
            </a:r>
          </a:p>
        </p:txBody>
      </p:sp>
      <p:sp>
        <p:nvSpPr>
          <p:cNvPr id="467" name="Editable text: LYPLA1 表达（作者处理尺度）"/>
          <p:cNvSpPr txBox="1"/>
          <p:nvPr/>
        </p:nvSpPr>
        <p:spPr>
          <a:xfrm rot="16200000">
            <a:off x="2479627" y="3657092"/>
            <a:ext cx="1577117" cy="1611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LYPLA1 表达（作者处理尺度）</a:t>
            </a:r>
          </a:p>
        </p:txBody>
      </p:sp>
      <p:sp>
        <p:nvSpPr>
          <p:cNvPr id="468" name="Editable text: 正常"/>
          <p:cNvSpPr txBox="1"/>
          <p:nvPr/>
        </p:nvSpPr>
        <p:spPr>
          <a:xfrm>
            <a:off x="6817419" y="4709982"/>
            <a:ext cx="31115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正常</a:t>
            </a:r>
          </a:p>
        </p:txBody>
      </p:sp>
      <p:sp>
        <p:nvSpPr>
          <p:cNvPr id="469" name="Editable text: 肿瘤"/>
          <p:cNvSpPr txBox="1"/>
          <p:nvPr/>
        </p:nvSpPr>
        <p:spPr>
          <a:xfrm>
            <a:off x="8022276" y="4709982"/>
            <a:ext cx="31115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肿瘤</a:t>
            </a:r>
          </a:p>
        </p:txBody>
      </p:sp>
      <p:sp>
        <p:nvSpPr>
          <p:cNvPr id="470" name="Editable text: 5.5"/>
          <p:cNvSpPr txBox="1"/>
          <p:nvPr/>
        </p:nvSpPr>
        <p:spPr>
          <a:xfrm>
            <a:off x="6304438" y="4287705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5.5</a:t>
            </a:r>
          </a:p>
        </p:txBody>
      </p:sp>
      <p:sp>
        <p:nvSpPr>
          <p:cNvPr id="471" name="Editable text: 6.0"/>
          <p:cNvSpPr txBox="1"/>
          <p:nvPr/>
        </p:nvSpPr>
        <p:spPr>
          <a:xfrm>
            <a:off x="6304438" y="3935443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6.0</a:t>
            </a:r>
          </a:p>
        </p:txBody>
      </p:sp>
      <p:sp>
        <p:nvSpPr>
          <p:cNvPr id="472" name="Editable text: 6.5"/>
          <p:cNvSpPr txBox="1"/>
          <p:nvPr/>
        </p:nvSpPr>
        <p:spPr>
          <a:xfrm>
            <a:off x="6304438" y="3583180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6.5</a:t>
            </a:r>
          </a:p>
        </p:txBody>
      </p:sp>
      <p:sp>
        <p:nvSpPr>
          <p:cNvPr id="473" name="Editable text: 7.0"/>
          <p:cNvSpPr txBox="1"/>
          <p:nvPr/>
        </p:nvSpPr>
        <p:spPr>
          <a:xfrm>
            <a:off x="6304438" y="3230917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7.0</a:t>
            </a:r>
          </a:p>
        </p:txBody>
      </p:sp>
      <p:sp>
        <p:nvSpPr>
          <p:cNvPr id="474" name="Editable text: 7.5"/>
          <p:cNvSpPr txBox="1"/>
          <p:nvPr/>
        </p:nvSpPr>
        <p:spPr>
          <a:xfrm>
            <a:off x="6304438" y="2878654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7.5</a:t>
            </a:r>
          </a:p>
        </p:txBody>
      </p:sp>
      <p:sp>
        <p:nvSpPr>
          <p:cNvPr id="475" name="Editable text: LYPLA1 表达（作者处理尺度）"/>
          <p:cNvSpPr txBox="1"/>
          <p:nvPr/>
        </p:nvSpPr>
        <p:spPr>
          <a:xfrm rot="16200000">
            <a:off x="5357991" y="3657092"/>
            <a:ext cx="1577117" cy="1611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LYPLA1 表达（作者处理尺度）</a:t>
            </a:r>
          </a:p>
        </p:txBody>
      </p:sp>
      <p:sp>
        <p:nvSpPr>
          <p:cNvPr id="476" name="Editable text: 正常"/>
          <p:cNvSpPr txBox="1"/>
          <p:nvPr/>
        </p:nvSpPr>
        <p:spPr>
          <a:xfrm>
            <a:off x="9633771" y="4709982"/>
            <a:ext cx="31115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正常</a:t>
            </a:r>
          </a:p>
        </p:txBody>
      </p:sp>
      <p:sp>
        <p:nvSpPr>
          <p:cNvPr id="477" name="Editable text: 肿瘤"/>
          <p:cNvSpPr txBox="1"/>
          <p:nvPr/>
        </p:nvSpPr>
        <p:spPr>
          <a:xfrm>
            <a:off x="10838627" y="4709982"/>
            <a:ext cx="31115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肿瘤</a:t>
            </a:r>
          </a:p>
        </p:txBody>
      </p:sp>
      <p:sp>
        <p:nvSpPr>
          <p:cNvPr id="478" name="Editable text: 5.5"/>
          <p:cNvSpPr txBox="1"/>
          <p:nvPr/>
        </p:nvSpPr>
        <p:spPr>
          <a:xfrm>
            <a:off x="9120790" y="4502822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5.5</a:t>
            </a:r>
          </a:p>
        </p:txBody>
      </p:sp>
      <p:sp>
        <p:nvSpPr>
          <p:cNvPr id="479" name="Editable text: 6.0"/>
          <p:cNvSpPr txBox="1"/>
          <p:nvPr/>
        </p:nvSpPr>
        <p:spPr>
          <a:xfrm>
            <a:off x="9120790" y="4238548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6.0</a:t>
            </a:r>
          </a:p>
        </p:txBody>
      </p:sp>
      <p:sp>
        <p:nvSpPr>
          <p:cNvPr id="480" name="Editable text: 6.5"/>
          <p:cNvSpPr txBox="1"/>
          <p:nvPr/>
        </p:nvSpPr>
        <p:spPr>
          <a:xfrm>
            <a:off x="9120790" y="3974275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6.5</a:t>
            </a:r>
          </a:p>
        </p:txBody>
      </p:sp>
      <p:sp>
        <p:nvSpPr>
          <p:cNvPr id="481" name="Editable text: 7.0"/>
          <p:cNvSpPr txBox="1"/>
          <p:nvPr/>
        </p:nvSpPr>
        <p:spPr>
          <a:xfrm>
            <a:off x="9120790" y="3710001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7.0</a:t>
            </a:r>
          </a:p>
        </p:txBody>
      </p:sp>
      <p:sp>
        <p:nvSpPr>
          <p:cNvPr id="482" name="Editable text: 7.5"/>
          <p:cNvSpPr txBox="1"/>
          <p:nvPr/>
        </p:nvSpPr>
        <p:spPr>
          <a:xfrm>
            <a:off x="9120790" y="3445728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7.5</a:t>
            </a:r>
          </a:p>
        </p:txBody>
      </p:sp>
      <p:sp>
        <p:nvSpPr>
          <p:cNvPr id="483" name="Editable text: 8.0"/>
          <p:cNvSpPr txBox="1"/>
          <p:nvPr/>
        </p:nvSpPr>
        <p:spPr>
          <a:xfrm>
            <a:off x="9120790" y="3181454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8.0</a:t>
            </a:r>
          </a:p>
        </p:txBody>
      </p:sp>
      <p:sp>
        <p:nvSpPr>
          <p:cNvPr id="484" name="Editable text: 8.5"/>
          <p:cNvSpPr txBox="1"/>
          <p:nvPr/>
        </p:nvSpPr>
        <p:spPr>
          <a:xfrm>
            <a:off x="9120790" y="2917181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8.5</a:t>
            </a:r>
          </a:p>
        </p:txBody>
      </p:sp>
      <p:sp>
        <p:nvSpPr>
          <p:cNvPr id="485" name="Editable text: LYPLA1 表达（作者处理尺度）"/>
          <p:cNvSpPr txBox="1"/>
          <p:nvPr/>
        </p:nvSpPr>
        <p:spPr>
          <a:xfrm rot="16200000">
            <a:off x="8174343" y="3657092"/>
            <a:ext cx="1577117" cy="1611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LYPLA1 表达（作者处理尺度）</a:t>
            </a:r>
          </a:p>
        </p:txBody>
      </p:sp>
      <p:sp>
        <p:nvSpPr>
          <p:cNvPr id="487" name="Editable text: LYPLA1：四癌组织表达与患者方向一致性"/>
          <p:cNvSpPr txBox="1"/>
          <p:nvPr/>
        </p:nvSpPr>
        <p:spPr>
          <a:xfrm>
            <a:off x="609599" y="1020128"/>
            <a:ext cx="8508470" cy="4986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5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LYPLA1：四癌组织表达与患者方向一致性</a:t>
            </a:r>
          </a:p>
        </p:txBody>
      </p:sp>
      <p:sp>
        <p:nvSpPr>
          <p:cNvPr id="488" name="Editable text: 来自 CAMP 代谢物直接关系候选池  ·  四癌 RNA 平均变化均为上调，其"/>
          <p:cNvSpPr txBox="1"/>
          <p:nvPr/>
        </p:nvSpPr>
        <p:spPr>
          <a:xfrm>
            <a:off x="633983" y="1567381"/>
            <a:ext cx="5313663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来自 CAMP 代谢物直接关系候选池  ·  四癌 RNA 平均变化均为上调，其中三癌显著</a:t>
            </a:r>
          </a:p>
        </p:txBody>
      </p:sp>
      <p:sp>
        <p:nvSpPr>
          <p:cNvPr id="489" name="Editable text: BRCA"/>
          <p:cNvSpPr txBox="1"/>
          <p:nvPr/>
        </p:nvSpPr>
        <p:spPr>
          <a:xfrm>
            <a:off x="1560120" y="2047508"/>
            <a:ext cx="652613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BRCA</a:t>
            </a:r>
          </a:p>
        </p:txBody>
      </p:sp>
      <p:sp>
        <p:nvSpPr>
          <p:cNvPr id="490" name="Editable text: 45 组配对  |  P = 1.19e-05"/>
          <p:cNvSpPr txBox="1"/>
          <p:nvPr/>
        </p:nvSpPr>
        <p:spPr>
          <a:xfrm>
            <a:off x="1108013" y="2388139"/>
            <a:ext cx="1519893" cy="1849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8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45 组配对  |  P = 1.19e-05</a:t>
            </a:r>
          </a:p>
        </p:txBody>
      </p:sp>
      <p:sp>
        <p:nvSpPr>
          <p:cNvPr id="491" name="Editable text: 34 / 45 位患者上调"/>
          <p:cNvSpPr txBox="1"/>
          <p:nvPr/>
        </p:nvSpPr>
        <p:spPr>
          <a:xfrm>
            <a:off x="1233359" y="4999176"/>
            <a:ext cx="1277461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34 / 45 位患者上调</a:t>
            </a:r>
          </a:p>
        </p:txBody>
      </p:sp>
      <p:sp>
        <p:nvSpPr>
          <p:cNvPr id="492" name="Editable text: 平均差值  +0.482"/>
          <p:cNvSpPr txBox="1"/>
          <p:nvPr/>
        </p:nvSpPr>
        <p:spPr>
          <a:xfrm>
            <a:off x="1379955" y="5290462"/>
            <a:ext cx="974291" cy="176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平均差值  +0.482</a:t>
            </a:r>
          </a:p>
        </p:txBody>
      </p:sp>
      <p:sp>
        <p:nvSpPr>
          <p:cNvPr id="493" name="Editable text: COAD"/>
          <p:cNvSpPr txBox="1"/>
          <p:nvPr/>
        </p:nvSpPr>
        <p:spPr>
          <a:xfrm>
            <a:off x="4354809" y="2047508"/>
            <a:ext cx="694987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COAD</a:t>
            </a:r>
          </a:p>
        </p:txBody>
      </p:sp>
      <p:sp>
        <p:nvSpPr>
          <p:cNvPr id="494" name="Editable text: 33 组配对  |  P = 0.000358"/>
          <p:cNvSpPr txBox="1"/>
          <p:nvPr/>
        </p:nvSpPr>
        <p:spPr>
          <a:xfrm>
            <a:off x="3913782" y="2388139"/>
            <a:ext cx="1540827" cy="1849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8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33 组配对  |  P = 0.000358</a:t>
            </a:r>
          </a:p>
        </p:txBody>
      </p:sp>
      <p:sp>
        <p:nvSpPr>
          <p:cNvPr id="495" name="Editable text: 26 / 33 位患者上调"/>
          <p:cNvSpPr txBox="1"/>
          <p:nvPr/>
        </p:nvSpPr>
        <p:spPr>
          <a:xfrm>
            <a:off x="4049711" y="4999176"/>
            <a:ext cx="1277461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26 / 33 位患者上调</a:t>
            </a:r>
          </a:p>
        </p:txBody>
      </p:sp>
      <p:sp>
        <p:nvSpPr>
          <p:cNvPr id="496" name="Editable text: 平均差值  +0.414"/>
          <p:cNvSpPr txBox="1"/>
          <p:nvPr/>
        </p:nvSpPr>
        <p:spPr>
          <a:xfrm>
            <a:off x="4196307" y="5290462"/>
            <a:ext cx="974291" cy="176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平均差值  +0.414</a:t>
            </a:r>
          </a:p>
        </p:txBody>
      </p:sp>
      <p:sp>
        <p:nvSpPr>
          <p:cNvPr id="497" name="Editable text: PDAC"/>
          <p:cNvSpPr txBox="1"/>
          <p:nvPr/>
        </p:nvSpPr>
        <p:spPr>
          <a:xfrm>
            <a:off x="7187367" y="2047508"/>
            <a:ext cx="662117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PDAC</a:t>
            </a:r>
          </a:p>
        </p:txBody>
      </p:sp>
      <p:sp>
        <p:nvSpPr>
          <p:cNvPr id="498" name="Editable text: 11 组配对  |  P = 0.0777"/>
          <p:cNvSpPr txBox="1"/>
          <p:nvPr/>
        </p:nvSpPr>
        <p:spPr>
          <a:xfrm>
            <a:off x="6801571" y="2388139"/>
            <a:ext cx="1398185" cy="1849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8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11 组配对  |  P = 0.0777</a:t>
            </a:r>
          </a:p>
        </p:txBody>
      </p:sp>
      <p:sp>
        <p:nvSpPr>
          <p:cNvPr id="499" name="Editable text: 8 / 11 位患者上调"/>
          <p:cNvSpPr txBox="1"/>
          <p:nvPr/>
        </p:nvSpPr>
        <p:spPr>
          <a:xfrm>
            <a:off x="6908480" y="4999176"/>
            <a:ext cx="1192572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8 / 11 位患者上调</a:t>
            </a:r>
          </a:p>
        </p:txBody>
      </p:sp>
      <p:sp>
        <p:nvSpPr>
          <p:cNvPr id="500" name="Editable text: 平均差值  +0.408  ·  未显著"/>
          <p:cNvSpPr txBox="1"/>
          <p:nvPr/>
        </p:nvSpPr>
        <p:spPr>
          <a:xfrm>
            <a:off x="6755187" y="5290462"/>
            <a:ext cx="1489434" cy="176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平均差值  +0.408  ·  未显著</a:t>
            </a:r>
          </a:p>
        </p:txBody>
      </p:sp>
      <p:sp>
        <p:nvSpPr>
          <p:cNvPr id="501" name="Editable text: PRAD"/>
          <p:cNvSpPr txBox="1"/>
          <p:nvPr/>
        </p:nvSpPr>
        <p:spPr>
          <a:xfrm>
            <a:off x="9998593" y="2047508"/>
            <a:ext cx="673428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PRAD</a:t>
            </a:r>
          </a:p>
        </p:txBody>
      </p:sp>
      <p:sp>
        <p:nvSpPr>
          <p:cNvPr id="502" name="Editable text: 43 组配对  |  P = 1.92e-05"/>
          <p:cNvSpPr txBox="1"/>
          <p:nvPr/>
        </p:nvSpPr>
        <p:spPr>
          <a:xfrm>
            <a:off x="9557069" y="2388139"/>
            <a:ext cx="1519894" cy="1849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8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43 组配对  |  P = 1.92e-05</a:t>
            </a:r>
          </a:p>
        </p:txBody>
      </p:sp>
      <p:sp>
        <p:nvSpPr>
          <p:cNvPr id="503" name="Editable text: 33 / 43 位患者上调"/>
          <p:cNvSpPr txBox="1"/>
          <p:nvPr/>
        </p:nvSpPr>
        <p:spPr>
          <a:xfrm>
            <a:off x="9682416" y="4999176"/>
            <a:ext cx="1277461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33 / 43 位患者上调</a:t>
            </a:r>
          </a:p>
        </p:txBody>
      </p:sp>
      <p:sp>
        <p:nvSpPr>
          <p:cNvPr id="504" name="Editable text: 平均差值  +0.450"/>
          <p:cNvSpPr txBox="1"/>
          <p:nvPr/>
        </p:nvSpPr>
        <p:spPr>
          <a:xfrm>
            <a:off x="9829011" y="5290462"/>
            <a:ext cx="974291" cy="176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平均差值  +0.450</a:t>
            </a:r>
          </a:p>
        </p:txBody>
      </p:sp>
      <p:sp>
        <p:nvSpPr>
          <p:cNvPr id="505" name="Editable text: 连线：同一患者的正常与肿瘤组织；暖色为升高、蓝色为降低；深色短横线为组均值。"/>
          <p:cNvSpPr txBox="1"/>
          <p:nvPr/>
        </p:nvSpPr>
        <p:spPr>
          <a:xfrm>
            <a:off x="633983" y="5653286"/>
            <a:ext cx="4150678" cy="1640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49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连线：同一患者的正常与肿瘤组织；暖色为升高、蓝色为降低；深色短横线为组均值。</a:t>
            </a:r>
          </a:p>
        </p:txBody>
      </p:sp>
      <p:sp>
        <p:nvSpPr>
          <p:cNvPr id="506" name="Editable text: 关注理由"/>
          <p:cNvSpPr txBox="1"/>
          <p:nvPr/>
        </p:nvSpPr>
        <p:spPr>
          <a:xfrm>
            <a:off x="609599" y="6027876"/>
            <a:ext cx="612245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关注理由</a:t>
            </a:r>
          </a:p>
        </p:txBody>
      </p:sp>
      <p:sp>
        <p:nvSpPr>
          <p:cNvPr id="507" name="Editable text: 代谢关系候选 + 四癌同向表达背景"/>
          <p:cNvSpPr txBox="1"/>
          <p:nvPr/>
        </p:nvSpPr>
        <p:spPr>
          <a:xfrm>
            <a:off x="1828800" y="6027876"/>
            <a:ext cx="2171615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代谢关系候选 + 四癌同向表达背景</a:t>
            </a:r>
          </a:p>
        </p:txBody>
      </p:sp>
      <p:sp>
        <p:nvSpPr>
          <p:cNvPr id="508" name="Editable text: 下一问：上调来自恶性上皮吗？"/>
          <p:cNvSpPr txBox="1"/>
          <p:nvPr/>
        </p:nvSpPr>
        <p:spPr>
          <a:xfrm>
            <a:off x="7437119" y="6027876"/>
            <a:ext cx="198807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下一问：上调来自恶性上皮吗？</a:t>
            </a:r>
          </a:p>
        </p:txBody>
      </p:sp>
      <p:sp>
        <p:nvSpPr>
          <p:cNvPr id="509" name="Editable text: PDAC P = 0.0777；不称“四癌均显著”。这是同一 CAMP 队列的表"/>
          <p:cNvSpPr txBox="1"/>
          <p:nvPr/>
        </p:nvSpPr>
        <p:spPr>
          <a:xfrm>
            <a:off x="609599" y="6361935"/>
            <a:ext cx="4988215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PDAC P = 0.0777；不称“四癌均显著”。这是同一 CAMP 队列的表达支持，不是独立验证或机制证明。</a:t>
            </a:r>
          </a:p>
        </p:txBody>
      </p:sp>
      <p:sp>
        <p:nvSpPr>
          <p:cNvPr id="510" name="Editable text: 各面板保留队列原始处理尺度，不能跨癌比较绝对表达量；配对依据来自既有作者身份审计"/>
          <p:cNvSpPr txBox="1"/>
          <p:nvPr/>
        </p:nvSpPr>
        <p:spPr>
          <a:xfrm>
            <a:off x="609599" y="6564667"/>
            <a:ext cx="4123582" cy="1512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8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各面板保留队列原始处理尺度，不能跨癌比较绝对表达量；配对依据来自既有作者身份审计。</a:t>
            </a:r>
          </a:p>
        </p:txBody>
      </p:sp>
      <p:sp>
        <p:nvSpPr>
          <p:cNvPr id="511" name="Editable text: 10"/>
          <p:cNvSpPr txBox="1"/>
          <p:nvPr/>
        </p:nvSpPr>
        <p:spPr>
          <a:xfrm>
            <a:off x="11399507" y="6458305"/>
            <a:ext cx="249512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10</a:t>
            </a:r>
          </a:p>
        </p:txBody>
      </p:sp>
      <p:pic>
        <p:nvPicPr>
          <p:cNvPr id="512" name="Picture 511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513" name="TextBox 512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514" name="Connector 51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5" name="Connector 51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641596" y="2215133"/>
            <a:ext cx="2837702" cy="2804922"/>
          </a:xfrm>
          <a:custGeom>
            <a:avLst/>
            <a:gdLst/>
            <a:ahLst/>
            <a:cxnLst/>
            <a:rect l="0" t="0" r="r" b="b"/>
            <a:pathLst>
              <a:path w="268129" h="265032">
                <a:moveTo>
                  <a:pt x="0" y="0"/>
                </a:moveTo>
                <a:lnTo>
                  <a:pt x="268129" y="0"/>
                </a:lnTo>
                <a:lnTo>
                  <a:pt x="26812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827" y="2299854"/>
            <a:ext cx="2663536" cy="2635827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641596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641596" y="5020055"/>
            <a:ext cx="2837702" cy="105"/>
          </a:xfrm>
          <a:custGeom>
            <a:avLst/>
            <a:gdLst/>
            <a:ahLst/>
            <a:cxnLst/>
            <a:rect l="0" t="0" r="r" b="b"/>
            <a:pathLst>
              <a:path w="268129" h="10">
                <a:moveTo>
                  <a:pt x="0" y="0"/>
                </a:moveTo>
                <a:lnTo>
                  <a:pt x="26812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1480032" y="3135329"/>
            <a:ext cx="1182807" cy="803987"/>
          </a:xfrm>
          <a:custGeom>
            <a:avLst/>
            <a:gdLst/>
            <a:ahLst/>
            <a:cxnLst/>
            <a:rect l="0" t="0" r="r" b="b"/>
            <a:pathLst>
              <a:path w="111761" h="75967">
                <a:moveTo>
                  <a:pt x="55881" y="75967"/>
                </a:moveTo>
                <a:cubicBezTo>
                  <a:pt x="70700" y="75967"/>
                  <a:pt x="84915" y="71965"/>
                  <a:pt x="95394" y="64842"/>
                </a:cubicBezTo>
                <a:cubicBezTo>
                  <a:pt x="105873" y="57719"/>
                  <a:pt x="111761" y="48057"/>
                  <a:pt x="111761" y="37984"/>
                </a:cubicBezTo>
                <a:cubicBezTo>
                  <a:pt x="111761" y="27910"/>
                  <a:pt x="105873" y="18248"/>
                  <a:pt x="95394" y="11125"/>
                </a:cubicBezTo>
                <a:cubicBezTo>
                  <a:pt x="84915" y="4002"/>
                  <a:pt x="70700" y="0"/>
                  <a:pt x="55881" y="0"/>
                </a:cubicBezTo>
                <a:cubicBezTo>
                  <a:pt x="41061" y="0"/>
                  <a:pt x="26846" y="4002"/>
                  <a:pt x="16367" y="11125"/>
                </a:cubicBezTo>
                <a:cubicBezTo>
                  <a:pt x="5888" y="18248"/>
                  <a:pt x="0" y="27910"/>
                  <a:pt x="0" y="37984"/>
                </a:cubicBezTo>
                <a:cubicBezTo>
                  <a:pt x="0" y="48057"/>
                  <a:pt x="5888" y="57719"/>
                  <a:pt x="16367" y="64842"/>
                </a:cubicBezTo>
                <a:cubicBezTo>
                  <a:pt x="26846" y="71965"/>
                  <a:pt x="41061" y="75967"/>
                  <a:pt x="55881" y="75967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469884" y="2215133"/>
            <a:ext cx="2837702" cy="2804922"/>
          </a:xfrm>
          <a:custGeom>
            <a:avLst/>
            <a:gdLst/>
            <a:ahLst/>
            <a:cxnLst/>
            <a:rect l="0" t="0" r="r" b="b"/>
            <a:pathLst>
              <a:path w="268129" h="265032">
                <a:moveTo>
                  <a:pt x="0" y="0"/>
                </a:moveTo>
                <a:lnTo>
                  <a:pt x="268129" y="0"/>
                </a:lnTo>
                <a:lnTo>
                  <a:pt x="26812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8145" y="2299854"/>
            <a:ext cx="2663536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469884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469884" y="5020055"/>
            <a:ext cx="2837702" cy="105"/>
          </a:xfrm>
          <a:custGeom>
            <a:avLst/>
            <a:gdLst/>
            <a:ahLst/>
            <a:cxnLst/>
            <a:rect l="0" t="0" r="r" b="b"/>
            <a:pathLst>
              <a:path w="268129" h="10">
                <a:moveTo>
                  <a:pt x="0" y="0"/>
                </a:moveTo>
                <a:lnTo>
                  <a:pt x="26812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5308321" y="3135329"/>
            <a:ext cx="1182807" cy="803987"/>
          </a:xfrm>
          <a:custGeom>
            <a:avLst/>
            <a:gdLst/>
            <a:ahLst/>
            <a:cxnLst/>
            <a:rect l="0" t="0" r="r" b="b"/>
            <a:pathLst>
              <a:path w="111761" h="75967">
                <a:moveTo>
                  <a:pt x="55881" y="75967"/>
                </a:moveTo>
                <a:cubicBezTo>
                  <a:pt x="70700" y="75967"/>
                  <a:pt x="84915" y="71965"/>
                  <a:pt x="95394" y="64842"/>
                </a:cubicBezTo>
                <a:cubicBezTo>
                  <a:pt x="105873" y="57719"/>
                  <a:pt x="111761" y="48057"/>
                  <a:pt x="111761" y="37984"/>
                </a:cubicBezTo>
                <a:cubicBezTo>
                  <a:pt x="111761" y="27910"/>
                  <a:pt x="105873" y="18248"/>
                  <a:pt x="95394" y="11125"/>
                </a:cubicBezTo>
                <a:cubicBezTo>
                  <a:pt x="84915" y="4002"/>
                  <a:pt x="70700" y="0"/>
                  <a:pt x="55881" y="0"/>
                </a:cubicBezTo>
                <a:cubicBezTo>
                  <a:pt x="41061" y="0"/>
                  <a:pt x="26846" y="4002"/>
                  <a:pt x="16367" y="11125"/>
                </a:cubicBezTo>
                <a:cubicBezTo>
                  <a:pt x="5888" y="18248"/>
                  <a:pt x="0" y="27910"/>
                  <a:pt x="0" y="37984"/>
                </a:cubicBezTo>
                <a:cubicBezTo>
                  <a:pt x="0" y="48057"/>
                  <a:pt x="5888" y="57719"/>
                  <a:pt x="16367" y="64842"/>
                </a:cubicBezTo>
                <a:cubicBezTo>
                  <a:pt x="26846" y="71965"/>
                  <a:pt x="41061" y="75967"/>
                  <a:pt x="55881" y="75967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Source image: point cloud / tissue / logo / color scal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8" name="Editable vector geometry"/>
          <p:cNvSpPr/>
          <p:nvPr/>
        </p:nvSpPr>
        <p:spPr>
          <a:xfrm>
            <a:off x="3767327" y="432104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394435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356766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190977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767327" y="281428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0427377" y="4056356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0427377" y="381960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358285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427377" y="334610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427377" y="310935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427377" y="287259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697717" y="3578708"/>
            <a:ext cx="830579" cy="269042"/>
          </a:xfrm>
          <a:custGeom>
            <a:avLst/>
            <a:gdLst/>
            <a:ahLst/>
            <a:cxnLst/>
            <a:rect l="0" t="0" r="r" b="b"/>
            <a:pathLst>
              <a:path w="78480" h="25421">
                <a:moveTo>
                  <a:pt x="0" y="25421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697717" y="3371335"/>
            <a:ext cx="830579" cy="166522"/>
          </a:xfrm>
          <a:custGeom>
            <a:avLst/>
            <a:gdLst/>
            <a:ahLst/>
            <a:cxnLst/>
            <a:rect l="0" t="0" r="r" b="b"/>
            <a:pathLst>
              <a:path w="78480" h="15734">
                <a:moveTo>
                  <a:pt x="0" y="0"/>
                </a:moveTo>
                <a:lnTo>
                  <a:pt x="78480" y="15734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697717" y="3761587"/>
            <a:ext cx="830579" cy="119840"/>
          </a:xfrm>
          <a:custGeom>
            <a:avLst/>
            <a:gdLst/>
            <a:ahLst/>
            <a:cxnLst/>
            <a:rect l="0" t="0" r="r" b="b"/>
            <a:pathLst>
              <a:path w="78480" h="11323">
                <a:moveTo>
                  <a:pt x="0" y="1132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552041"/>
            <a:ext cx="830579" cy="276466"/>
          </a:xfrm>
          <a:custGeom>
            <a:avLst/>
            <a:gdLst/>
            <a:ahLst/>
            <a:cxnLst/>
            <a:rect l="0" t="0" r="r" b="b"/>
            <a:pathLst>
              <a:path w="78480" h="26123">
                <a:moveTo>
                  <a:pt x="0" y="2612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4046608"/>
            <a:ext cx="830579" cy="65917"/>
          </a:xfrm>
          <a:custGeom>
            <a:avLst/>
            <a:gdLst/>
            <a:ahLst/>
            <a:cxnLst/>
            <a:rect l="0" t="0" r="r" b="b"/>
            <a:pathLst>
              <a:path w="78480" h="6228">
                <a:moveTo>
                  <a:pt x="0" y="6228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3553469"/>
            <a:ext cx="830579" cy="458313"/>
          </a:xfrm>
          <a:custGeom>
            <a:avLst/>
            <a:gdLst/>
            <a:ahLst/>
            <a:cxnLst/>
            <a:rect l="0" t="0" r="r" b="b"/>
            <a:pathLst>
              <a:path w="78480" h="43305">
                <a:moveTo>
                  <a:pt x="0" y="43305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697717" y="3293709"/>
            <a:ext cx="830579" cy="376505"/>
          </a:xfrm>
          <a:custGeom>
            <a:avLst/>
            <a:gdLst/>
            <a:ahLst/>
            <a:cxnLst/>
            <a:rect l="0" t="0" r="r" b="b"/>
            <a:pathLst>
              <a:path w="78480" h="35575">
                <a:moveTo>
                  <a:pt x="0" y="35575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697717" y="3015292"/>
            <a:ext cx="830579" cy="639653"/>
          </a:xfrm>
          <a:custGeom>
            <a:avLst/>
            <a:gdLst/>
            <a:ahLst/>
            <a:cxnLst/>
            <a:rect l="0" t="0" r="r" b="b"/>
            <a:pathLst>
              <a:path w="78480" h="60440">
                <a:moveTo>
                  <a:pt x="0" y="60440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674652" y="382468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74652" y="334826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674652" y="385836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674652" y="380544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74652" y="408946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74652" y="398871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0674652" y="364714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0674652" y="363188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1505231" y="355564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1505231" y="351479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1505231" y="373852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1505231" y="352897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1505231" y="402354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1505231" y="353040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1505231" y="327064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0598048" y="3797311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1428627" y="3542409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vector geometry"/>
          <p:cNvSpPr/>
          <p:nvPr/>
        </p:nvSpPr>
        <p:spPr>
          <a:xfrm>
            <a:off x="7684177" y="276318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73027">
              <a:alpha val="100000"/>
            </a:srgbClr>
          </a:solidFill>
          <a:ln w="10583">
            <a:solidFill>
              <a:srgbClr val="D7302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7684177" y="298263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7684177" y="320209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7684177" y="342154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7684177" y="36410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7684177" y="386046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7684177" y="407991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95F9F">
              <a:alpha val="100000"/>
            </a:srgbClr>
          </a:solidFill>
          <a:ln w="10583">
            <a:solidFill>
              <a:srgbClr val="D95F9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7684177" y="429937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66A98C">
              <a:alpha val="100000"/>
            </a:srgbClr>
          </a:solidFill>
          <a:ln w="10583">
            <a:solidFill>
              <a:srgbClr val="66A98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text: UMAP 1"/>
          <p:cNvSpPr txBox="1"/>
          <p:nvPr/>
        </p:nvSpPr>
        <p:spPr>
          <a:xfrm>
            <a:off x="1852998" y="5070326"/>
            <a:ext cx="46270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1</a:t>
            </a:r>
          </a:p>
        </p:txBody>
      </p:sp>
      <p:sp>
        <p:nvSpPr>
          <p:cNvPr id="76" name="Editable text: UMAP 2"/>
          <p:cNvSpPr txBox="1"/>
          <p:nvPr/>
        </p:nvSpPr>
        <p:spPr>
          <a:xfrm rot="16200000">
            <a:off x="265048" y="3540776"/>
            <a:ext cx="457411" cy="1534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2</a:t>
            </a:r>
          </a:p>
        </p:txBody>
      </p:sp>
      <p:sp>
        <p:nvSpPr>
          <p:cNvPr id="77" name="Editable text: UMAP 1"/>
          <p:cNvSpPr txBox="1"/>
          <p:nvPr/>
        </p:nvSpPr>
        <p:spPr>
          <a:xfrm>
            <a:off x="5681286" y="5070326"/>
            <a:ext cx="46270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1</a:t>
            </a:r>
          </a:p>
        </p:txBody>
      </p:sp>
      <p:sp>
        <p:nvSpPr>
          <p:cNvPr id="78" name="Editable text: UMAP 2"/>
          <p:cNvSpPr txBox="1"/>
          <p:nvPr/>
        </p:nvSpPr>
        <p:spPr>
          <a:xfrm rot="16200000">
            <a:off x="4093336" y="3540776"/>
            <a:ext cx="457411" cy="1534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2</a:t>
            </a:r>
          </a:p>
        </p:txBody>
      </p:sp>
      <p:sp>
        <p:nvSpPr>
          <p:cNvPr id="79" name="Editable text: 0.0"/>
          <p:cNvSpPr txBox="1"/>
          <p:nvPr/>
        </p:nvSpPr>
        <p:spPr>
          <a:xfrm>
            <a:off x="3825536" y="4640530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0.0</a:t>
            </a:r>
          </a:p>
        </p:txBody>
      </p:sp>
      <p:sp>
        <p:nvSpPr>
          <p:cNvPr id="80" name="Editable text: 0.5"/>
          <p:cNvSpPr txBox="1"/>
          <p:nvPr/>
        </p:nvSpPr>
        <p:spPr>
          <a:xfrm>
            <a:off x="3825536" y="4263842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0.5</a:t>
            </a:r>
          </a:p>
        </p:txBody>
      </p:sp>
      <p:sp>
        <p:nvSpPr>
          <p:cNvPr id="81" name="Editable text: 1.0"/>
          <p:cNvSpPr txBox="1"/>
          <p:nvPr/>
        </p:nvSpPr>
        <p:spPr>
          <a:xfrm>
            <a:off x="3825536" y="3887154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1.0</a:t>
            </a:r>
          </a:p>
        </p:txBody>
      </p:sp>
      <p:sp>
        <p:nvSpPr>
          <p:cNvPr id="82" name="Editable text: 1.5"/>
          <p:cNvSpPr txBox="1"/>
          <p:nvPr/>
        </p:nvSpPr>
        <p:spPr>
          <a:xfrm>
            <a:off x="3825536" y="3510466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1.5</a:t>
            </a:r>
          </a:p>
        </p:txBody>
      </p:sp>
      <p:sp>
        <p:nvSpPr>
          <p:cNvPr id="83" name="Editable text: 2.0"/>
          <p:cNvSpPr txBox="1"/>
          <p:nvPr/>
        </p:nvSpPr>
        <p:spPr>
          <a:xfrm>
            <a:off x="3825536" y="3133778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2.0</a:t>
            </a:r>
          </a:p>
        </p:txBody>
      </p:sp>
      <p:sp>
        <p:nvSpPr>
          <p:cNvPr id="84" name="Editable text: 2.5"/>
          <p:cNvSpPr txBox="1"/>
          <p:nvPr/>
        </p:nvSpPr>
        <p:spPr>
          <a:xfrm>
            <a:off x="3825536" y="2757089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2.5</a:t>
            </a:r>
          </a:p>
        </p:txBody>
      </p:sp>
      <p:sp>
        <p:nvSpPr>
          <p:cNvPr id="85" name="Editable text: LYPLA1 · log1p(CP10K)"/>
          <p:cNvSpPr txBox="1"/>
          <p:nvPr/>
        </p:nvSpPr>
        <p:spPr>
          <a:xfrm rot="16200000">
            <a:off x="3532076" y="3652459"/>
            <a:ext cx="1012307" cy="1304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LYPLA1 · log1p(CP10K)</a:t>
            </a:r>
          </a:p>
        </p:txBody>
      </p:sp>
      <p:sp>
        <p:nvSpPr>
          <p:cNvPr id="86" name="Editable text: 参照"/>
          <p:cNvSpPr txBox="1"/>
          <p:nvPr/>
        </p:nvSpPr>
        <p:spPr>
          <a:xfrm>
            <a:off x="10613051" y="4327933"/>
            <a:ext cx="2074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参照</a:t>
            </a:r>
          </a:p>
        </p:txBody>
      </p:sp>
      <p:sp>
        <p:nvSpPr>
          <p:cNvPr id="87" name="Editable text: 目标"/>
          <p:cNvSpPr txBox="1"/>
          <p:nvPr/>
        </p:nvSpPr>
        <p:spPr>
          <a:xfrm>
            <a:off x="11443630" y="4327933"/>
            <a:ext cx="2074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目标</a:t>
            </a:r>
          </a:p>
        </p:txBody>
      </p:sp>
      <p:sp>
        <p:nvSpPr>
          <p:cNvPr id="88" name="Editable text: 0.0"/>
          <p:cNvSpPr txBox="1"/>
          <p:nvPr/>
        </p:nvSpPr>
        <p:spPr>
          <a:xfrm>
            <a:off x="10270776" y="4235908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0.0</a:t>
            </a:r>
          </a:p>
        </p:txBody>
      </p:sp>
      <p:sp>
        <p:nvSpPr>
          <p:cNvPr id="89" name="Editable text: 0.2"/>
          <p:cNvSpPr txBox="1"/>
          <p:nvPr/>
        </p:nvSpPr>
        <p:spPr>
          <a:xfrm>
            <a:off x="10270776" y="3999156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0.2</a:t>
            </a:r>
          </a:p>
        </p:txBody>
      </p:sp>
      <p:sp>
        <p:nvSpPr>
          <p:cNvPr id="90" name="Editable text: 0.4"/>
          <p:cNvSpPr txBox="1"/>
          <p:nvPr/>
        </p:nvSpPr>
        <p:spPr>
          <a:xfrm>
            <a:off x="10270776" y="3762405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0.4</a:t>
            </a:r>
          </a:p>
        </p:txBody>
      </p:sp>
      <p:sp>
        <p:nvSpPr>
          <p:cNvPr id="91" name="Editable text: 0.6"/>
          <p:cNvSpPr txBox="1"/>
          <p:nvPr/>
        </p:nvSpPr>
        <p:spPr>
          <a:xfrm>
            <a:off x="10270776" y="3525653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0.6</a:t>
            </a:r>
          </a:p>
        </p:txBody>
      </p:sp>
      <p:sp>
        <p:nvSpPr>
          <p:cNvPr id="92" name="Editable text: 0.8"/>
          <p:cNvSpPr txBox="1"/>
          <p:nvPr/>
        </p:nvSpPr>
        <p:spPr>
          <a:xfrm>
            <a:off x="10270776" y="3288902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0.8</a:t>
            </a:r>
          </a:p>
        </p:txBody>
      </p:sp>
      <p:sp>
        <p:nvSpPr>
          <p:cNvPr id="93" name="Editable text: 1.0"/>
          <p:cNvSpPr txBox="1"/>
          <p:nvPr/>
        </p:nvSpPr>
        <p:spPr>
          <a:xfrm>
            <a:off x="10270776" y="3052150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1.0</a:t>
            </a:r>
          </a:p>
        </p:txBody>
      </p:sp>
      <p:sp>
        <p:nvSpPr>
          <p:cNvPr id="94" name="Editable text: 1.2"/>
          <p:cNvSpPr txBox="1"/>
          <p:nvPr/>
        </p:nvSpPr>
        <p:spPr>
          <a:xfrm>
            <a:off x="10270776" y="2815399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1.2</a:t>
            </a:r>
          </a:p>
        </p:txBody>
      </p:sp>
      <p:sp>
        <p:nvSpPr>
          <p:cNvPr id="95" name="Editable text: 患者平均表达"/>
          <p:cNvSpPr txBox="1"/>
          <p:nvPr/>
        </p:nvSpPr>
        <p:spPr>
          <a:xfrm rot="16200000">
            <a:off x="9881081" y="3480366"/>
            <a:ext cx="575733" cy="1304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患者平均表达</a:t>
            </a:r>
          </a:p>
        </p:txBody>
      </p:sp>
      <p:sp>
        <p:nvSpPr>
          <p:cNvPr id="97" name="Editable text: BRCA：从全细胞表达定位到同患者证据"/>
          <p:cNvSpPr txBox="1"/>
          <p:nvPr/>
        </p:nvSpPr>
        <p:spPr>
          <a:xfrm>
            <a:off x="609599" y="951108"/>
            <a:ext cx="5213630" cy="434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BRCA：从全细胞表达定位到同患者证据</a:t>
            </a:r>
          </a:p>
        </p:txBody>
      </p:sp>
      <p:sp>
        <p:nvSpPr>
          <p:cNvPr id="98" name="Editable text: Wu 2021 · GSE176078 · 全部细胞 · 100,064 个细胞"/>
          <p:cNvSpPr txBox="1"/>
          <p:nvPr/>
        </p:nvSpPr>
        <p:spPr>
          <a:xfrm>
            <a:off x="609599" y="1427783"/>
            <a:ext cx="300520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Wu 2021 · GSE176078 · 全部细胞 · 100,064 个细胞</a:t>
            </a:r>
          </a:p>
        </p:txBody>
      </p:sp>
      <p:sp>
        <p:nvSpPr>
          <p:cNvPr id="99" name="Editable text: LYPLA1 expression"/>
          <p:cNvSpPr txBox="1"/>
          <p:nvPr/>
        </p:nvSpPr>
        <p:spPr>
          <a:xfrm>
            <a:off x="585216" y="1882394"/>
            <a:ext cx="156968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LYPLA1 expression</a:t>
            </a:r>
          </a:p>
        </p:txBody>
      </p:sp>
      <p:sp>
        <p:nvSpPr>
          <p:cNvPr id="100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Cell types</a:t>
            </a:r>
          </a:p>
        </p:txBody>
      </p:sp>
      <p:sp>
        <p:nvSpPr>
          <p:cNvPr id="101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同患者证据</a:t>
            </a:r>
          </a:p>
        </p:txBody>
      </p:sp>
      <p:sp>
        <p:nvSpPr>
          <p:cNvPr id="102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Cell type (n cells)</a:t>
            </a:r>
          </a:p>
        </p:txBody>
      </p:sp>
      <p:sp>
        <p:nvSpPr>
          <p:cNvPr id="103" name="Editable text: Cancer epithelial"/>
          <p:cNvSpPr txBox="1"/>
          <p:nvPr/>
        </p:nvSpPr>
        <p:spPr>
          <a:xfrm>
            <a:off x="7827263" y="2493778"/>
            <a:ext cx="774939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1" lang="zh-CN">
                <a:solidFill>
                  <a:srgbClr val="78B436"/>
                </a:solidFill>
                <a:latin typeface="Microsoft YaHei"/>
                <a:ea typeface="微软雅黑"/>
                <a:cs typeface="Microsoft YaHei"/>
              </a:defRPr>
            </a:pPr>
            <a:r>
              <a:t>Cancer epithelial</a:t>
            </a:r>
          </a:p>
        </p:txBody>
      </p:sp>
      <p:sp>
        <p:nvSpPr>
          <p:cNvPr id="104" name="Editable text: 24,489"/>
          <p:cNvSpPr txBox="1"/>
          <p:nvPr/>
        </p:nvSpPr>
        <p:spPr>
          <a:xfrm>
            <a:off x="9553900" y="2496053"/>
            <a:ext cx="310409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24,489</a:t>
            </a:r>
          </a:p>
        </p:txBody>
      </p:sp>
      <p:sp>
        <p:nvSpPr>
          <p:cNvPr id="105" name="Editable text: B cells"/>
          <p:cNvSpPr txBox="1"/>
          <p:nvPr/>
        </p:nvSpPr>
        <p:spPr>
          <a:xfrm>
            <a:off x="7827263" y="2713234"/>
            <a:ext cx="30182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B cells</a:t>
            </a:r>
          </a:p>
        </p:txBody>
      </p:sp>
      <p:sp>
        <p:nvSpPr>
          <p:cNvPr id="106" name="Editable text: 3,206"/>
          <p:cNvSpPr txBox="1"/>
          <p:nvPr/>
        </p:nvSpPr>
        <p:spPr>
          <a:xfrm>
            <a:off x="9604336" y="2715510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3,206</a:t>
            </a:r>
          </a:p>
        </p:txBody>
      </p:sp>
      <p:sp>
        <p:nvSpPr>
          <p:cNvPr id="107" name="Editable text: CAFs"/>
          <p:cNvSpPr txBox="1"/>
          <p:nvPr/>
        </p:nvSpPr>
        <p:spPr>
          <a:xfrm>
            <a:off x="7827263" y="2932690"/>
            <a:ext cx="247450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CAFs</a:t>
            </a:r>
          </a:p>
        </p:txBody>
      </p:sp>
      <p:sp>
        <p:nvSpPr>
          <p:cNvPr id="108" name="Editable text: 6,573"/>
          <p:cNvSpPr txBox="1"/>
          <p:nvPr/>
        </p:nvSpPr>
        <p:spPr>
          <a:xfrm>
            <a:off x="9604336" y="2934966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6,573</a:t>
            </a:r>
          </a:p>
        </p:txBody>
      </p:sp>
      <p:sp>
        <p:nvSpPr>
          <p:cNvPr id="109" name="Editable text: Endothelial"/>
          <p:cNvSpPr txBox="1"/>
          <p:nvPr/>
        </p:nvSpPr>
        <p:spPr>
          <a:xfrm>
            <a:off x="7827263" y="3152146"/>
            <a:ext cx="50939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Endothelial</a:t>
            </a:r>
          </a:p>
        </p:txBody>
      </p:sp>
      <p:sp>
        <p:nvSpPr>
          <p:cNvPr id="110" name="Editable text: 7,605"/>
          <p:cNvSpPr txBox="1"/>
          <p:nvPr/>
        </p:nvSpPr>
        <p:spPr>
          <a:xfrm>
            <a:off x="9604336" y="3154422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7,605</a:t>
            </a:r>
          </a:p>
        </p:txBody>
      </p:sp>
      <p:sp>
        <p:nvSpPr>
          <p:cNvPr id="111" name="Editable text: Myeloid"/>
          <p:cNvSpPr txBox="1"/>
          <p:nvPr/>
        </p:nvSpPr>
        <p:spPr>
          <a:xfrm>
            <a:off x="7827263" y="3371354"/>
            <a:ext cx="380111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Myeloid</a:t>
            </a:r>
          </a:p>
        </p:txBody>
      </p:sp>
      <p:sp>
        <p:nvSpPr>
          <p:cNvPr id="112" name="Editable text: 9,675"/>
          <p:cNvSpPr txBox="1"/>
          <p:nvPr/>
        </p:nvSpPr>
        <p:spPr>
          <a:xfrm>
            <a:off x="9604336" y="3373877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9,675</a:t>
            </a:r>
          </a:p>
        </p:txBody>
      </p:sp>
      <p:sp>
        <p:nvSpPr>
          <p:cNvPr id="113" name="Editable text: Normal epithelial"/>
          <p:cNvSpPr txBox="1"/>
          <p:nvPr/>
        </p:nvSpPr>
        <p:spPr>
          <a:xfrm>
            <a:off x="7827263" y="3591058"/>
            <a:ext cx="765111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Normal epithelial</a:t>
            </a:r>
          </a:p>
        </p:txBody>
      </p:sp>
      <p:sp>
        <p:nvSpPr>
          <p:cNvPr id="114" name="Editable text: 4,355"/>
          <p:cNvSpPr txBox="1"/>
          <p:nvPr/>
        </p:nvSpPr>
        <p:spPr>
          <a:xfrm>
            <a:off x="9604336" y="359333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4,355</a:t>
            </a:r>
          </a:p>
        </p:txBody>
      </p:sp>
      <p:sp>
        <p:nvSpPr>
          <p:cNvPr id="115" name="Editable text: PVL"/>
          <p:cNvSpPr txBox="1"/>
          <p:nvPr/>
        </p:nvSpPr>
        <p:spPr>
          <a:xfrm>
            <a:off x="7827263" y="3810514"/>
            <a:ext cx="197731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PVL</a:t>
            </a:r>
          </a:p>
        </p:txBody>
      </p:sp>
      <p:sp>
        <p:nvSpPr>
          <p:cNvPr id="116" name="Editable text: 5,423"/>
          <p:cNvSpPr txBox="1"/>
          <p:nvPr/>
        </p:nvSpPr>
        <p:spPr>
          <a:xfrm>
            <a:off x="9604336" y="3812790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5,423</a:t>
            </a:r>
          </a:p>
        </p:txBody>
      </p:sp>
      <p:sp>
        <p:nvSpPr>
          <p:cNvPr id="117" name="Editable text: Plasmablasts"/>
          <p:cNvSpPr txBox="1"/>
          <p:nvPr/>
        </p:nvSpPr>
        <p:spPr>
          <a:xfrm>
            <a:off x="7827263" y="4029970"/>
            <a:ext cx="57896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Plasmablasts</a:t>
            </a:r>
          </a:p>
        </p:txBody>
      </p:sp>
      <p:sp>
        <p:nvSpPr>
          <p:cNvPr id="118" name="Editable text: 3,524"/>
          <p:cNvSpPr txBox="1"/>
          <p:nvPr/>
        </p:nvSpPr>
        <p:spPr>
          <a:xfrm>
            <a:off x="9604336" y="4032246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3,524</a:t>
            </a:r>
          </a:p>
        </p:txBody>
      </p:sp>
      <p:sp>
        <p:nvSpPr>
          <p:cNvPr id="119" name="Editable text: T cells"/>
          <p:cNvSpPr txBox="1"/>
          <p:nvPr/>
        </p:nvSpPr>
        <p:spPr>
          <a:xfrm>
            <a:off x="7827263" y="4249426"/>
            <a:ext cx="297080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T cells</a:t>
            </a:r>
          </a:p>
        </p:txBody>
      </p:sp>
      <p:sp>
        <p:nvSpPr>
          <p:cNvPr id="120" name="Editable text: 35,214"/>
          <p:cNvSpPr txBox="1"/>
          <p:nvPr/>
        </p:nvSpPr>
        <p:spPr>
          <a:xfrm>
            <a:off x="9553900" y="4251701"/>
            <a:ext cx="310409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35,214</a:t>
            </a:r>
          </a:p>
        </p:txBody>
      </p:sp>
      <p:sp>
        <p:nvSpPr>
          <p:cNvPr id="121" name="Editable text: Cancer epithelial：红圈仅作位置提示"/>
          <p:cNvSpPr txBox="1"/>
          <p:nvPr/>
        </p:nvSpPr>
        <p:spPr>
          <a:xfrm>
            <a:off x="5044271" y="5322881"/>
            <a:ext cx="1658587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DD3434"/>
                </a:solidFill>
                <a:latin typeface="Microsoft YaHei"/>
                <a:ea typeface="微软雅黑"/>
                <a:cs typeface="Microsoft YaHei"/>
              </a:defRPr>
            </a:pPr>
            <a:r>
              <a:t>Cancer epithelial：红圈仅作位置提示</a:t>
            </a:r>
          </a:p>
        </p:txBody>
      </p:sp>
      <p:sp>
        <p:nvSpPr>
          <p:cNvPr id="122" name="Editable text: 色标上限 2.60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24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色标上限 2.60 · 阳性值第99百分位</a:t>
            </a:r>
          </a:p>
        </p:txBody>
      </p:sp>
      <p:sp>
        <p:nvSpPr>
          <p:cNvPr id="123" name="Editable text: 配对 P = 0.03906"/>
          <p:cNvSpPr txBox="1"/>
          <p:nvPr/>
        </p:nvSpPr>
        <p:spPr>
          <a:xfrm>
            <a:off x="10630962" y="2281425"/>
            <a:ext cx="926041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配对 P = 0.03906</a:t>
            </a:r>
          </a:p>
        </p:txBody>
      </p:sp>
      <p:sp>
        <p:nvSpPr>
          <p:cNvPr id="124" name="Editable text: 7 / 8"/>
          <p:cNvSpPr txBox="1"/>
          <p:nvPr/>
        </p:nvSpPr>
        <p:spPr>
          <a:xfrm>
            <a:off x="10802355" y="4515203"/>
            <a:ext cx="699262" cy="386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7 / 8</a:t>
            </a:r>
          </a:p>
        </p:txBody>
      </p:sp>
      <p:sp>
        <p:nvSpPr>
          <p:cNvPr id="125" name="Editable text: 患者目标组表达更高"/>
          <p:cNvSpPr txBox="1"/>
          <p:nvPr/>
        </p:nvSpPr>
        <p:spPr>
          <a:xfrm>
            <a:off x="10630376" y="4896599"/>
            <a:ext cx="980122" cy="15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患者目标组表达更高</a:t>
            </a:r>
          </a:p>
        </p:txBody>
      </p:sp>
      <p:sp>
        <p:nvSpPr>
          <p:cNvPr id="126" name="Editable text: 平均差 +0.215"/>
          <p:cNvSpPr txBox="1"/>
          <p:nvPr/>
        </p:nvSpPr>
        <p:spPr>
          <a:xfrm>
            <a:off x="10761593" y="5208622"/>
            <a:ext cx="711131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平均差 +0.215</a:t>
            </a:r>
          </a:p>
        </p:txBody>
      </p:sp>
      <p:sp>
        <p:nvSpPr>
          <p:cNvPr id="127" name="Editable text: 参照：非恶性上皮"/>
          <p:cNvSpPr txBox="1"/>
          <p:nvPr/>
        </p:nvSpPr>
        <p:spPr>
          <a:xfrm>
            <a:off x="10253471" y="5553064"/>
            <a:ext cx="760148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参照：非恶性上皮</a:t>
            </a:r>
          </a:p>
        </p:txBody>
      </p:sp>
      <p:sp>
        <p:nvSpPr>
          <p:cNvPr id="128" name="Editable text: 目标：恶性上皮"/>
          <p:cNvSpPr txBox="1"/>
          <p:nvPr/>
        </p:nvSpPr>
        <p:spPr>
          <a:xfrm>
            <a:off x="10253471" y="5745089"/>
            <a:ext cx="670190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目标：恶性上皮</a:t>
            </a:r>
          </a:p>
        </p:txBody>
      </p:sp>
      <p:sp>
        <p:nvSpPr>
          <p:cNvPr id="129" name="Editable text: 同患者比较支持恶性上皮上调。"/>
          <p:cNvSpPr txBox="1"/>
          <p:nvPr/>
        </p:nvSpPr>
        <p:spPr>
          <a:xfrm>
            <a:off x="609599" y="6115405"/>
            <a:ext cx="2141008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同患者比较支持恶性上皮上调。</a:t>
            </a:r>
          </a:p>
        </p:txBody>
      </p:sp>
      <p:sp>
        <p:nvSpPr>
          <p:cNvPr id="130" name="Editable text: 参照为肿瘤内非恶性上皮；Naive 子集 6/7 同向，P=0.078。"/>
          <p:cNvSpPr txBox="1"/>
          <p:nvPr/>
        </p:nvSpPr>
        <p:spPr>
          <a:xfrm>
            <a:off x="609599" y="6417173"/>
            <a:ext cx="2482354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参照为肿瘤内非恶性上皮；Naive 子集 6/7 同向，P=0.078。</a:t>
            </a:r>
          </a:p>
        </p:txBody>
      </p:sp>
      <p:sp>
        <p:nvSpPr>
          <p:cNvPr id="131" name="Editable text: 11"/>
          <p:cNvSpPr txBox="1"/>
          <p:nvPr/>
        </p:nvSpPr>
        <p:spPr>
          <a:xfrm>
            <a:off x="11521427" y="6424015"/>
            <a:ext cx="249512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11</a:t>
            </a:r>
          </a:p>
        </p:txBody>
      </p:sp>
      <p:pic>
        <p:nvPicPr>
          <p:cNvPr id="132" name="Picture 131" descr="image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33" name="TextBox 132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134" name="Connector 13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826466" y="2215133"/>
            <a:ext cx="2467963" cy="2804922"/>
          </a:xfrm>
          <a:custGeom>
            <a:avLst/>
            <a:gdLst/>
            <a:ahLst/>
            <a:cxnLst/>
            <a:rect l="0" t="0" r="r" b="b"/>
            <a:pathLst>
              <a:path w="233193" h="265032">
                <a:moveTo>
                  <a:pt x="0" y="0"/>
                </a:moveTo>
                <a:lnTo>
                  <a:pt x="233193" y="0"/>
                </a:lnTo>
                <a:lnTo>
                  <a:pt x="23319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009" y="2299854"/>
            <a:ext cx="2317172" cy="2635827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826466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826466" y="5020055"/>
            <a:ext cx="2467963" cy="105"/>
          </a:xfrm>
          <a:custGeom>
            <a:avLst/>
            <a:gdLst/>
            <a:ahLst/>
            <a:cxnLst/>
            <a:rect l="0" t="0" r="r" b="b"/>
            <a:pathLst>
              <a:path w="233193" h="10">
                <a:moveTo>
                  <a:pt x="0" y="0"/>
                </a:moveTo>
                <a:lnTo>
                  <a:pt x="23319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1495082" y="2287314"/>
            <a:ext cx="473040" cy="1455554"/>
          </a:xfrm>
          <a:custGeom>
            <a:avLst/>
            <a:gdLst/>
            <a:ahLst/>
            <a:cxnLst/>
            <a:rect l="0" t="0" r="r" b="b"/>
            <a:pathLst>
              <a:path w="44697" h="137533">
                <a:moveTo>
                  <a:pt x="22348" y="137533"/>
                </a:moveTo>
                <a:cubicBezTo>
                  <a:pt x="28275" y="137533"/>
                  <a:pt x="33960" y="130287"/>
                  <a:pt x="38151" y="117392"/>
                </a:cubicBezTo>
                <a:cubicBezTo>
                  <a:pt x="42342" y="104496"/>
                  <a:pt x="44697" y="87003"/>
                  <a:pt x="44697" y="68766"/>
                </a:cubicBezTo>
                <a:cubicBezTo>
                  <a:pt x="44697" y="50529"/>
                  <a:pt x="42342" y="33037"/>
                  <a:pt x="38151" y="20141"/>
                </a:cubicBezTo>
                <a:cubicBezTo>
                  <a:pt x="33960" y="7246"/>
                  <a:pt x="28275" y="0"/>
                  <a:pt x="22348" y="0"/>
                </a:cubicBezTo>
                <a:cubicBezTo>
                  <a:pt x="16422" y="0"/>
                  <a:pt x="10737" y="7246"/>
                  <a:pt x="6546" y="20141"/>
                </a:cubicBezTo>
                <a:cubicBezTo>
                  <a:pt x="2355" y="33037"/>
                  <a:pt x="0" y="50529"/>
                  <a:pt x="0" y="68766"/>
                </a:cubicBezTo>
                <a:cubicBezTo>
                  <a:pt x="0" y="87003"/>
                  <a:pt x="2355" y="104496"/>
                  <a:pt x="6546" y="117392"/>
                </a:cubicBezTo>
                <a:cubicBezTo>
                  <a:pt x="10737" y="130287"/>
                  <a:pt x="16422" y="137533"/>
                  <a:pt x="22348" y="137533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654753" y="2215133"/>
            <a:ext cx="2467963" cy="2804922"/>
          </a:xfrm>
          <a:custGeom>
            <a:avLst/>
            <a:gdLst/>
            <a:ahLst/>
            <a:cxnLst/>
            <a:rect l="0" t="0" r="r" b="b"/>
            <a:pathLst>
              <a:path w="233193" h="265032">
                <a:moveTo>
                  <a:pt x="0" y="0"/>
                </a:moveTo>
                <a:lnTo>
                  <a:pt x="233193" y="0"/>
                </a:lnTo>
                <a:lnTo>
                  <a:pt x="23319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1327" y="2299854"/>
            <a:ext cx="2317172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654753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654753" y="5020055"/>
            <a:ext cx="2467963" cy="105"/>
          </a:xfrm>
          <a:custGeom>
            <a:avLst/>
            <a:gdLst/>
            <a:ahLst/>
            <a:cxnLst/>
            <a:rect l="0" t="0" r="r" b="b"/>
            <a:pathLst>
              <a:path w="233193" h="10">
                <a:moveTo>
                  <a:pt x="0" y="0"/>
                </a:moveTo>
                <a:lnTo>
                  <a:pt x="23319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5323370" y="2287314"/>
            <a:ext cx="473040" cy="1455554"/>
          </a:xfrm>
          <a:custGeom>
            <a:avLst/>
            <a:gdLst/>
            <a:ahLst/>
            <a:cxnLst/>
            <a:rect l="0" t="0" r="r" b="b"/>
            <a:pathLst>
              <a:path w="44697" h="137533">
                <a:moveTo>
                  <a:pt x="22348" y="137533"/>
                </a:moveTo>
                <a:cubicBezTo>
                  <a:pt x="28275" y="137533"/>
                  <a:pt x="33960" y="130287"/>
                  <a:pt x="38151" y="117392"/>
                </a:cubicBezTo>
                <a:cubicBezTo>
                  <a:pt x="42342" y="104496"/>
                  <a:pt x="44697" y="87003"/>
                  <a:pt x="44697" y="68766"/>
                </a:cubicBezTo>
                <a:cubicBezTo>
                  <a:pt x="44697" y="50529"/>
                  <a:pt x="42342" y="33037"/>
                  <a:pt x="38151" y="20141"/>
                </a:cubicBezTo>
                <a:cubicBezTo>
                  <a:pt x="33960" y="7246"/>
                  <a:pt x="28275" y="0"/>
                  <a:pt x="22348" y="0"/>
                </a:cubicBezTo>
                <a:cubicBezTo>
                  <a:pt x="16422" y="0"/>
                  <a:pt x="10737" y="7246"/>
                  <a:pt x="6546" y="20141"/>
                </a:cubicBezTo>
                <a:cubicBezTo>
                  <a:pt x="2355" y="33037"/>
                  <a:pt x="0" y="50529"/>
                  <a:pt x="0" y="68766"/>
                </a:cubicBezTo>
                <a:cubicBezTo>
                  <a:pt x="0" y="87003"/>
                  <a:pt x="2355" y="104496"/>
                  <a:pt x="6546" y="117392"/>
                </a:cubicBezTo>
                <a:cubicBezTo>
                  <a:pt x="10737" y="130287"/>
                  <a:pt x="16422" y="137533"/>
                  <a:pt x="22348" y="137533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Source image: point cloud / tissue / logo / color scal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8" name="Editable vector geometry"/>
          <p:cNvSpPr/>
          <p:nvPr/>
        </p:nvSpPr>
        <p:spPr>
          <a:xfrm>
            <a:off x="3767327" y="431246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392719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354192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15665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767327" y="2771387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0427377" y="399986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0427377" y="370662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341337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427377" y="312013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427377" y="282689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697717" y="3547319"/>
            <a:ext cx="830579" cy="358482"/>
          </a:xfrm>
          <a:custGeom>
            <a:avLst/>
            <a:gdLst/>
            <a:ahLst/>
            <a:cxnLst/>
            <a:rect l="0" t="0" r="r" b="b"/>
            <a:pathLst>
              <a:path w="78480" h="33872">
                <a:moveTo>
                  <a:pt x="0" y="33872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697717" y="3090660"/>
            <a:ext cx="830579" cy="809484"/>
          </a:xfrm>
          <a:custGeom>
            <a:avLst/>
            <a:gdLst/>
            <a:ahLst/>
            <a:cxnLst/>
            <a:rect l="0" t="0" r="r" b="b"/>
            <a:pathLst>
              <a:path w="78480" h="76487">
                <a:moveTo>
                  <a:pt x="0" y="7648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697717" y="3015292"/>
            <a:ext cx="830579" cy="883825"/>
          </a:xfrm>
          <a:custGeom>
            <a:avLst/>
            <a:gdLst/>
            <a:ahLst/>
            <a:cxnLst/>
            <a:rect l="0" t="0" r="r" b="b"/>
            <a:pathLst>
              <a:path w="78480" h="83511">
                <a:moveTo>
                  <a:pt x="0" y="83511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697717" y="3021793"/>
            <a:ext cx="830579" cy="800230"/>
          </a:xfrm>
          <a:custGeom>
            <a:avLst/>
            <a:gdLst/>
            <a:ahLst/>
            <a:cxnLst/>
            <a:rect l="0" t="0" r="r" b="b"/>
            <a:pathLst>
              <a:path w="78480" h="75612">
                <a:moveTo>
                  <a:pt x="0" y="75612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455461"/>
            <a:ext cx="830579" cy="393941"/>
          </a:xfrm>
          <a:custGeom>
            <a:avLst/>
            <a:gdLst/>
            <a:ahLst/>
            <a:cxnLst/>
            <a:rect l="0" t="0" r="r" b="b"/>
            <a:pathLst>
              <a:path w="78480" h="37223">
                <a:moveTo>
                  <a:pt x="0" y="3722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3765784"/>
            <a:ext cx="830579" cy="167652"/>
          </a:xfrm>
          <a:custGeom>
            <a:avLst/>
            <a:gdLst/>
            <a:ahLst/>
            <a:cxnLst/>
            <a:rect l="0" t="0" r="r" b="b"/>
            <a:pathLst>
              <a:path w="78480" h="15841">
                <a:moveTo>
                  <a:pt x="0" y="15841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3376280"/>
            <a:ext cx="830579" cy="684315"/>
          </a:xfrm>
          <a:custGeom>
            <a:avLst/>
            <a:gdLst/>
            <a:ahLst/>
            <a:cxnLst/>
            <a:rect l="0" t="0" r="r" b="b"/>
            <a:pathLst>
              <a:path w="78480" h="64660">
                <a:moveTo>
                  <a:pt x="0" y="64660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697717" y="3913523"/>
            <a:ext cx="830579" cy="113269"/>
          </a:xfrm>
          <a:custGeom>
            <a:avLst/>
            <a:gdLst/>
            <a:ahLst/>
            <a:cxnLst/>
            <a:rect l="0" t="0" r="r" b="b"/>
            <a:pathLst>
              <a:path w="78480" h="10703">
                <a:moveTo>
                  <a:pt x="0" y="1070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697717" y="3427801"/>
            <a:ext cx="830579" cy="577959"/>
          </a:xfrm>
          <a:custGeom>
            <a:avLst/>
            <a:gdLst/>
            <a:ahLst/>
            <a:cxnLst/>
            <a:rect l="0" t="0" r="r" b="b"/>
            <a:pathLst>
              <a:path w="78480" h="54610">
                <a:moveTo>
                  <a:pt x="0" y="54610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674652" y="388273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74652" y="387708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674652" y="387605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674652" y="379895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74652" y="382633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74652" y="391037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0674652" y="403753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0674652" y="400372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0674652" y="398269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1505231" y="352425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1505231" y="306759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1505231" y="299872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1505231" y="343239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1505231" y="374271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1505231" y="335321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1505231" y="389045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1505231" y="340473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10598048" y="3933675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11428627" y="3401546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7684177" y="273476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73027">
              <a:alpha val="100000"/>
            </a:srgbClr>
          </a:solidFill>
          <a:ln w="10583">
            <a:solidFill>
              <a:srgbClr val="D7302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7684177" y="292581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8C71">
              <a:alpha val="100000"/>
            </a:srgbClr>
          </a:solidFill>
          <a:ln w="10583">
            <a:solidFill>
              <a:srgbClr val="438C7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7684177" y="3116858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8AF45">
              <a:alpha val="100000"/>
            </a:srgbClr>
          </a:solidFill>
          <a:ln w="10583">
            <a:solidFill>
              <a:srgbClr val="C8AF4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7684177" y="3307902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66A98C">
              <a:alpha val="100000"/>
            </a:srgbClr>
          </a:solidFill>
          <a:ln w="10583">
            <a:solidFill>
              <a:srgbClr val="66A98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7684177" y="3498946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7684177" y="368999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5CAC7">
              <a:alpha val="100000"/>
            </a:srgbClr>
          </a:solidFill>
          <a:ln w="10583">
            <a:solidFill>
              <a:srgbClr val="C5CAC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7684177" y="388103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7684177" y="407207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48869">
              <a:alpha val="100000"/>
            </a:srgbClr>
          </a:solidFill>
          <a:ln w="10583">
            <a:solidFill>
              <a:srgbClr val="A4886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vector geometry"/>
          <p:cNvSpPr/>
          <p:nvPr/>
        </p:nvSpPr>
        <p:spPr>
          <a:xfrm>
            <a:off x="7684177" y="426312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D7E8E">
              <a:alpha val="100000"/>
            </a:srgbClr>
          </a:solidFill>
          <a:ln w="10583">
            <a:solidFill>
              <a:srgbClr val="AD7E8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vector geometry"/>
          <p:cNvSpPr/>
          <p:nvPr/>
        </p:nvSpPr>
        <p:spPr>
          <a:xfrm>
            <a:off x="7684177" y="4454168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vector geometry"/>
          <p:cNvSpPr/>
          <p:nvPr/>
        </p:nvSpPr>
        <p:spPr>
          <a:xfrm>
            <a:off x="7684177" y="4645212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vector geometry"/>
          <p:cNvSpPr/>
          <p:nvPr/>
        </p:nvSpPr>
        <p:spPr>
          <a:xfrm>
            <a:off x="7684177" y="4836256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vector geometry"/>
          <p:cNvSpPr/>
          <p:nvPr/>
        </p:nvSpPr>
        <p:spPr>
          <a:xfrm>
            <a:off x="7684177" y="502730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95F9F">
              <a:alpha val="100000"/>
            </a:srgbClr>
          </a:solidFill>
          <a:ln w="10583">
            <a:solidFill>
              <a:srgbClr val="D95F9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vector geometry"/>
          <p:cNvSpPr/>
          <p:nvPr/>
        </p:nvSpPr>
        <p:spPr>
          <a:xfrm>
            <a:off x="7684177" y="52183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237052">
              <a:alpha val="100000"/>
            </a:srgbClr>
          </a:solidFill>
          <a:ln w="10583">
            <a:solidFill>
              <a:srgbClr val="23705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text: UMAP 1"/>
          <p:cNvSpPr txBox="1"/>
          <p:nvPr/>
        </p:nvSpPr>
        <p:spPr>
          <a:xfrm>
            <a:off x="1852998" y="5070326"/>
            <a:ext cx="46270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1</a:t>
            </a:r>
          </a:p>
        </p:txBody>
      </p:sp>
      <p:sp>
        <p:nvSpPr>
          <p:cNvPr id="84" name="Editable text: UMAP 2"/>
          <p:cNvSpPr txBox="1"/>
          <p:nvPr/>
        </p:nvSpPr>
        <p:spPr>
          <a:xfrm rot="16200000">
            <a:off x="449917" y="3540776"/>
            <a:ext cx="457411" cy="1534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2</a:t>
            </a:r>
          </a:p>
        </p:txBody>
      </p:sp>
      <p:sp>
        <p:nvSpPr>
          <p:cNvPr id="85" name="Editable text: UMAP 1"/>
          <p:cNvSpPr txBox="1"/>
          <p:nvPr/>
        </p:nvSpPr>
        <p:spPr>
          <a:xfrm>
            <a:off x="5681286" y="5070326"/>
            <a:ext cx="46270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1</a:t>
            </a:r>
          </a:p>
        </p:txBody>
      </p:sp>
      <p:sp>
        <p:nvSpPr>
          <p:cNvPr id="86" name="Editable text: UMAP 2"/>
          <p:cNvSpPr txBox="1"/>
          <p:nvPr/>
        </p:nvSpPr>
        <p:spPr>
          <a:xfrm rot="16200000">
            <a:off x="4278205" y="3540776"/>
            <a:ext cx="457411" cy="1534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2</a:t>
            </a:r>
          </a:p>
        </p:txBody>
      </p:sp>
      <p:sp>
        <p:nvSpPr>
          <p:cNvPr id="87" name="Editable text: 0.0"/>
          <p:cNvSpPr txBox="1"/>
          <p:nvPr/>
        </p:nvSpPr>
        <p:spPr>
          <a:xfrm>
            <a:off x="3825536" y="4640530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0.0</a:t>
            </a:r>
          </a:p>
        </p:txBody>
      </p:sp>
      <p:sp>
        <p:nvSpPr>
          <p:cNvPr id="88" name="Editable text: 0.5"/>
          <p:cNvSpPr txBox="1"/>
          <p:nvPr/>
        </p:nvSpPr>
        <p:spPr>
          <a:xfrm>
            <a:off x="3825536" y="4255261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0.5</a:t>
            </a:r>
          </a:p>
        </p:txBody>
      </p:sp>
      <p:sp>
        <p:nvSpPr>
          <p:cNvPr id="89" name="Editable text: 1.0"/>
          <p:cNvSpPr txBox="1"/>
          <p:nvPr/>
        </p:nvSpPr>
        <p:spPr>
          <a:xfrm>
            <a:off x="3825536" y="3869993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1.0</a:t>
            </a:r>
          </a:p>
        </p:txBody>
      </p:sp>
      <p:sp>
        <p:nvSpPr>
          <p:cNvPr id="90" name="Editable text: 1.5"/>
          <p:cNvSpPr txBox="1"/>
          <p:nvPr/>
        </p:nvSpPr>
        <p:spPr>
          <a:xfrm>
            <a:off x="3825536" y="3484724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1.5</a:t>
            </a:r>
          </a:p>
        </p:txBody>
      </p:sp>
      <p:sp>
        <p:nvSpPr>
          <p:cNvPr id="91" name="Editable text: 2.0"/>
          <p:cNvSpPr txBox="1"/>
          <p:nvPr/>
        </p:nvSpPr>
        <p:spPr>
          <a:xfrm>
            <a:off x="3825536" y="3099456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2.0</a:t>
            </a:r>
          </a:p>
        </p:txBody>
      </p:sp>
      <p:sp>
        <p:nvSpPr>
          <p:cNvPr id="92" name="Editable text: 2.5"/>
          <p:cNvSpPr txBox="1"/>
          <p:nvPr/>
        </p:nvSpPr>
        <p:spPr>
          <a:xfrm>
            <a:off x="3825536" y="2714187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2.5</a:t>
            </a:r>
          </a:p>
        </p:txBody>
      </p:sp>
      <p:sp>
        <p:nvSpPr>
          <p:cNvPr id="93" name="Editable text: LYPLA1 · log1p(CP10K)"/>
          <p:cNvSpPr txBox="1"/>
          <p:nvPr/>
        </p:nvSpPr>
        <p:spPr>
          <a:xfrm rot="16200000">
            <a:off x="3532076" y="3652459"/>
            <a:ext cx="1012307" cy="1304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LYPLA1 · log1p(CP10K)</a:t>
            </a:r>
          </a:p>
        </p:txBody>
      </p:sp>
      <p:sp>
        <p:nvSpPr>
          <p:cNvPr id="94" name="Editable text: 参照"/>
          <p:cNvSpPr txBox="1"/>
          <p:nvPr/>
        </p:nvSpPr>
        <p:spPr>
          <a:xfrm>
            <a:off x="10613051" y="4327933"/>
            <a:ext cx="2074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参照</a:t>
            </a:r>
          </a:p>
        </p:txBody>
      </p:sp>
      <p:sp>
        <p:nvSpPr>
          <p:cNvPr id="95" name="Editable text: 目标"/>
          <p:cNvSpPr txBox="1"/>
          <p:nvPr/>
        </p:nvSpPr>
        <p:spPr>
          <a:xfrm>
            <a:off x="11443630" y="4327933"/>
            <a:ext cx="2074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目标</a:t>
            </a:r>
          </a:p>
        </p:txBody>
      </p:sp>
      <p:sp>
        <p:nvSpPr>
          <p:cNvPr id="96" name="Editable text: 0.0"/>
          <p:cNvSpPr txBox="1"/>
          <p:nvPr/>
        </p:nvSpPr>
        <p:spPr>
          <a:xfrm>
            <a:off x="10270776" y="4235908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0.0</a:t>
            </a:r>
          </a:p>
        </p:txBody>
      </p:sp>
      <p:sp>
        <p:nvSpPr>
          <p:cNvPr id="97" name="Editable text: 0.2"/>
          <p:cNvSpPr txBox="1"/>
          <p:nvPr/>
        </p:nvSpPr>
        <p:spPr>
          <a:xfrm>
            <a:off x="10270776" y="3942665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0.2</a:t>
            </a:r>
          </a:p>
        </p:txBody>
      </p:sp>
      <p:sp>
        <p:nvSpPr>
          <p:cNvPr id="98" name="Editable text: 0.4"/>
          <p:cNvSpPr txBox="1"/>
          <p:nvPr/>
        </p:nvSpPr>
        <p:spPr>
          <a:xfrm>
            <a:off x="10270776" y="3649422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0.4</a:t>
            </a:r>
          </a:p>
        </p:txBody>
      </p:sp>
      <p:sp>
        <p:nvSpPr>
          <p:cNvPr id="99" name="Editable text: 0.6"/>
          <p:cNvSpPr txBox="1"/>
          <p:nvPr/>
        </p:nvSpPr>
        <p:spPr>
          <a:xfrm>
            <a:off x="10270776" y="3356178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0.6</a:t>
            </a:r>
          </a:p>
        </p:txBody>
      </p:sp>
      <p:sp>
        <p:nvSpPr>
          <p:cNvPr id="100" name="Editable text: 0.8"/>
          <p:cNvSpPr txBox="1"/>
          <p:nvPr/>
        </p:nvSpPr>
        <p:spPr>
          <a:xfrm>
            <a:off x="10270776" y="3062935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0.8</a:t>
            </a:r>
          </a:p>
        </p:txBody>
      </p:sp>
      <p:sp>
        <p:nvSpPr>
          <p:cNvPr id="101" name="Editable text: 1.0"/>
          <p:cNvSpPr txBox="1"/>
          <p:nvPr/>
        </p:nvSpPr>
        <p:spPr>
          <a:xfrm>
            <a:off x="10270776" y="2769692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1.0</a:t>
            </a:r>
          </a:p>
        </p:txBody>
      </p:sp>
      <p:sp>
        <p:nvSpPr>
          <p:cNvPr id="102" name="Editable text: 患者平均表达"/>
          <p:cNvSpPr txBox="1"/>
          <p:nvPr/>
        </p:nvSpPr>
        <p:spPr>
          <a:xfrm rot="16200000">
            <a:off x="9881081" y="3480366"/>
            <a:ext cx="575733" cy="1304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患者平均表达</a:t>
            </a:r>
          </a:p>
        </p:txBody>
      </p:sp>
      <p:sp>
        <p:nvSpPr>
          <p:cNvPr id="104" name="Editable text: COAD：从全细胞表达定位到同患者证据"/>
          <p:cNvSpPr txBox="1"/>
          <p:nvPr/>
        </p:nvSpPr>
        <p:spPr>
          <a:xfrm>
            <a:off x="609599" y="951108"/>
            <a:ext cx="5273985" cy="434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COAD：从全细胞表达定位到同患者证据</a:t>
            </a:r>
          </a:p>
        </p:txBody>
      </p:sp>
      <p:sp>
        <p:nvSpPr>
          <p:cNvPr id="105" name="Editable text: Uhlitz · GSE166555 · 全部细胞 · 肿瘤及正常组织 · 68"/>
          <p:cNvSpPr txBox="1"/>
          <p:nvPr/>
        </p:nvSpPr>
        <p:spPr>
          <a:xfrm>
            <a:off x="609599" y="1427783"/>
            <a:ext cx="3733292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Uhlitz · GSE166555 · 全部细胞 · 肿瘤及正常组织 · 68,702 个细胞</a:t>
            </a:r>
          </a:p>
        </p:txBody>
      </p:sp>
      <p:sp>
        <p:nvSpPr>
          <p:cNvPr id="106" name="Editable text: LYPLA1 expression"/>
          <p:cNvSpPr txBox="1"/>
          <p:nvPr/>
        </p:nvSpPr>
        <p:spPr>
          <a:xfrm>
            <a:off x="585216" y="1882394"/>
            <a:ext cx="156968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LYPLA1 expression</a:t>
            </a:r>
          </a:p>
        </p:txBody>
      </p:sp>
      <p:sp>
        <p:nvSpPr>
          <p:cNvPr id="107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Cell types</a:t>
            </a:r>
          </a:p>
        </p:txBody>
      </p:sp>
      <p:sp>
        <p:nvSpPr>
          <p:cNvPr id="108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同患者证据</a:t>
            </a:r>
          </a:p>
        </p:txBody>
      </p:sp>
      <p:sp>
        <p:nvSpPr>
          <p:cNvPr id="109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Cell type (n cells)</a:t>
            </a:r>
          </a:p>
        </p:txBody>
      </p:sp>
      <p:sp>
        <p:nvSpPr>
          <p:cNvPr id="110" name="Editable text: CNA epithelial"/>
          <p:cNvSpPr txBox="1"/>
          <p:nvPr/>
        </p:nvSpPr>
        <p:spPr>
          <a:xfrm>
            <a:off x="7827263" y="2493778"/>
            <a:ext cx="674008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1" lang="zh-CN">
                <a:solidFill>
                  <a:srgbClr val="78B436"/>
                </a:solidFill>
                <a:latin typeface="Microsoft YaHei"/>
                <a:ea typeface="微软雅黑"/>
                <a:cs typeface="Microsoft YaHei"/>
              </a:defRPr>
            </a:pPr>
            <a:r>
              <a:t>CNA epithelial</a:t>
            </a:r>
          </a:p>
        </p:txBody>
      </p:sp>
      <p:sp>
        <p:nvSpPr>
          <p:cNvPr id="111" name="Editable text: 4,477"/>
          <p:cNvSpPr txBox="1"/>
          <p:nvPr/>
        </p:nvSpPr>
        <p:spPr>
          <a:xfrm>
            <a:off x="9604336" y="2496053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4,477</a:t>
            </a:r>
          </a:p>
        </p:txBody>
      </p:sp>
      <p:sp>
        <p:nvSpPr>
          <p:cNvPr id="112" name="Editable text: B cells"/>
          <p:cNvSpPr txBox="1"/>
          <p:nvPr/>
        </p:nvSpPr>
        <p:spPr>
          <a:xfrm>
            <a:off x="7827263" y="2684823"/>
            <a:ext cx="30182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B cells</a:t>
            </a:r>
          </a:p>
        </p:txBody>
      </p:sp>
      <p:sp>
        <p:nvSpPr>
          <p:cNvPr id="113" name="Editable text: 3,553"/>
          <p:cNvSpPr txBox="1"/>
          <p:nvPr/>
        </p:nvSpPr>
        <p:spPr>
          <a:xfrm>
            <a:off x="9604336" y="2687098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3,553</a:t>
            </a:r>
          </a:p>
        </p:txBody>
      </p:sp>
      <p:sp>
        <p:nvSpPr>
          <p:cNvPr id="114" name="Editable text: CD8+ T cells"/>
          <p:cNvSpPr txBox="1"/>
          <p:nvPr/>
        </p:nvSpPr>
        <p:spPr>
          <a:xfrm>
            <a:off x="7827263" y="2875867"/>
            <a:ext cx="565436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CD8+ T cells</a:t>
            </a:r>
          </a:p>
        </p:txBody>
      </p:sp>
      <p:sp>
        <p:nvSpPr>
          <p:cNvPr id="115" name="Editable text: 5,904"/>
          <p:cNvSpPr txBox="1"/>
          <p:nvPr/>
        </p:nvSpPr>
        <p:spPr>
          <a:xfrm>
            <a:off x="9604336" y="2878142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5,904</a:t>
            </a:r>
          </a:p>
        </p:txBody>
      </p:sp>
      <p:sp>
        <p:nvSpPr>
          <p:cNvPr id="116" name="Editable text: CNN epithelial"/>
          <p:cNvSpPr txBox="1"/>
          <p:nvPr/>
        </p:nvSpPr>
        <p:spPr>
          <a:xfrm>
            <a:off x="7827263" y="3066911"/>
            <a:ext cx="651785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CNN epithelial</a:t>
            </a:r>
          </a:p>
        </p:txBody>
      </p:sp>
      <p:sp>
        <p:nvSpPr>
          <p:cNvPr id="117" name="Editable text: 7,885"/>
          <p:cNvSpPr txBox="1"/>
          <p:nvPr/>
        </p:nvSpPr>
        <p:spPr>
          <a:xfrm>
            <a:off x="9604336" y="3069186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7,885</a:t>
            </a:r>
          </a:p>
        </p:txBody>
      </p:sp>
      <p:sp>
        <p:nvSpPr>
          <p:cNvPr id="118" name="Editable text: Conventional T"/>
          <p:cNvSpPr txBox="1"/>
          <p:nvPr/>
        </p:nvSpPr>
        <p:spPr>
          <a:xfrm>
            <a:off x="7827263" y="3257955"/>
            <a:ext cx="672195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Conventional T</a:t>
            </a:r>
          </a:p>
        </p:txBody>
      </p:sp>
      <p:sp>
        <p:nvSpPr>
          <p:cNvPr id="119" name="Editable text: 6,806"/>
          <p:cNvSpPr txBox="1"/>
          <p:nvPr/>
        </p:nvSpPr>
        <p:spPr>
          <a:xfrm>
            <a:off x="9604336" y="3260231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6,806</a:t>
            </a:r>
          </a:p>
        </p:txBody>
      </p:sp>
      <p:sp>
        <p:nvSpPr>
          <p:cNvPr id="120" name="Editable text: Endothelial cells"/>
          <p:cNvSpPr txBox="1"/>
          <p:nvPr/>
        </p:nvSpPr>
        <p:spPr>
          <a:xfrm>
            <a:off x="7827263" y="3448999"/>
            <a:ext cx="716612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Endothelial cells</a:t>
            </a:r>
          </a:p>
        </p:txBody>
      </p:sp>
      <p:sp>
        <p:nvSpPr>
          <p:cNvPr id="121" name="Editable text: 636"/>
          <p:cNvSpPr txBox="1"/>
          <p:nvPr/>
        </p:nvSpPr>
        <p:spPr>
          <a:xfrm>
            <a:off x="9675443" y="3451275"/>
            <a:ext cx="189280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636</a:t>
            </a:r>
          </a:p>
        </p:txBody>
      </p:sp>
      <p:sp>
        <p:nvSpPr>
          <p:cNvPr id="122" name="Editable text: Epithelial (unclassified)"/>
          <p:cNvSpPr txBox="1"/>
          <p:nvPr/>
        </p:nvSpPr>
        <p:spPr>
          <a:xfrm>
            <a:off x="7827263" y="3640540"/>
            <a:ext cx="99612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Epithelial (unclassified)</a:t>
            </a:r>
          </a:p>
        </p:txBody>
      </p:sp>
      <p:sp>
        <p:nvSpPr>
          <p:cNvPr id="123" name="Editable text: 2,747"/>
          <p:cNvSpPr txBox="1"/>
          <p:nvPr/>
        </p:nvSpPr>
        <p:spPr>
          <a:xfrm>
            <a:off x="9604336" y="3642319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2,747</a:t>
            </a:r>
          </a:p>
        </p:txBody>
      </p:sp>
      <p:sp>
        <p:nvSpPr>
          <p:cNvPr id="124" name="Editable text: Fibroblasts"/>
          <p:cNvSpPr txBox="1"/>
          <p:nvPr/>
        </p:nvSpPr>
        <p:spPr>
          <a:xfrm>
            <a:off x="7827263" y="3831088"/>
            <a:ext cx="496113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Fibroblasts</a:t>
            </a:r>
          </a:p>
        </p:txBody>
      </p:sp>
      <p:sp>
        <p:nvSpPr>
          <p:cNvPr id="125" name="Editable text: 1,986"/>
          <p:cNvSpPr txBox="1"/>
          <p:nvPr/>
        </p:nvSpPr>
        <p:spPr>
          <a:xfrm>
            <a:off x="9604336" y="383336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1,986</a:t>
            </a:r>
          </a:p>
        </p:txBody>
      </p:sp>
      <p:sp>
        <p:nvSpPr>
          <p:cNvPr id="126" name="Editable text: Glial cells"/>
          <p:cNvSpPr txBox="1"/>
          <p:nvPr/>
        </p:nvSpPr>
        <p:spPr>
          <a:xfrm>
            <a:off x="7827263" y="4022132"/>
            <a:ext cx="430775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Glial cells</a:t>
            </a:r>
          </a:p>
        </p:txBody>
      </p:sp>
      <p:sp>
        <p:nvSpPr>
          <p:cNvPr id="127" name="Editable text: 115"/>
          <p:cNvSpPr txBox="1"/>
          <p:nvPr/>
        </p:nvSpPr>
        <p:spPr>
          <a:xfrm>
            <a:off x="9675443" y="4024408"/>
            <a:ext cx="189280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115</a:t>
            </a:r>
          </a:p>
        </p:txBody>
      </p:sp>
      <p:sp>
        <p:nvSpPr>
          <p:cNvPr id="128" name="Editable text: Mast cells"/>
          <p:cNvSpPr txBox="1"/>
          <p:nvPr/>
        </p:nvSpPr>
        <p:spPr>
          <a:xfrm>
            <a:off x="7827263" y="4213177"/>
            <a:ext cx="454580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Mast cells</a:t>
            </a:r>
          </a:p>
        </p:txBody>
      </p:sp>
      <p:sp>
        <p:nvSpPr>
          <p:cNvPr id="129" name="Editable text: 513"/>
          <p:cNvSpPr txBox="1"/>
          <p:nvPr/>
        </p:nvSpPr>
        <p:spPr>
          <a:xfrm>
            <a:off x="9675443" y="4215452"/>
            <a:ext cx="189280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513</a:t>
            </a:r>
          </a:p>
        </p:txBody>
      </p:sp>
      <p:sp>
        <p:nvSpPr>
          <p:cNvPr id="130" name="Editable text: Monocytes"/>
          <p:cNvSpPr txBox="1"/>
          <p:nvPr/>
        </p:nvSpPr>
        <p:spPr>
          <a:xfrm>
            <a:off x="7827263" y="4403725"/>
            <a:ext cx="504417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Monocytes</a:t>
            </a:r>
          </a:p>
        </p:txBody>
      </p:sp>
      <p:sp>
        <p:nvSpPr>
          <p:cNvPr id="131" name="Editable text: 3,291"/>
          <p:cNvSpPr txBox="1"/>
          <p:nvPr/>
        </p:nvSpPr>
        <p:spPr>
          <a:xfrm>
            <a:off x="9604336" y="4406496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3,291</a:t>
            </a:r>
          </a:p>
        </p:txBody>
      </p:sp>
      <p:sp>
        <p:nvSpPr>
          <p:cNvPr id="132" name="Editable text: Normal epithelial"/>
          <p:cNvSpPr txBox="1"/>
          <p:nvPr/>
        </p:nvSpPr>
        <p:spPr>
          <a:xfrm>
            <a:off x="7827263" y="4595265"/>
            <a:ext cx="765111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Normal epithelial</a:t>
            </a:r>
          </a:p>
        </p:txBody>
      </p:sp>
      <p:sp>
        <p:nvSpPr>
          <p:cNvPr id="133" name="Editable text: 16,138"/>
          <p:cNvSpPr txBox="1"/>
          <p:nvPr/>
        </p:nvSpPr>
        <p:spPr>
          <a:xfrm>
            <a:off x="9553900" y="4597541"/>
            <a:ext cx="310409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16,138</a:t>
            </a:r>
          </a:p>
        </p:txBody>
      </p:sp>
      <p:sp>
        <p:nvSpPr>
          <p:cNvPr id="134" name="Editable text: Pericytes"/>
          <p:cNvSpPr txBox="1"/>
          <p:nvPr/>
        </p:nvSpPr>
        <p:spPr>
          <a:xfrm>
            <a:off x="7827263" y="4785813"/>
            <a:ext cx="409765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Pericytes</a:t>
            </a:r>
          </a:p>
        </p:txBody>
      </p:sp>
      <p:sp>
        <p:nvSpPr>
          <p:cNvPr id="135" name="Editable text: 266"/>
          <p:cNvSpPr txBox="1"/>
          <p:nvPr/>
        </p:nvSpPr>
        <p:spPr>
          <a:xfrm>
            <a:off x="9675443" y="4788585"/>
            <a:ext cx="189280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266</a:t>
            </a:r>
          </a:p>
        </p:txBody>
      </p:sp>
      <p:sp>
        <p:nvSpPr>
          <p:cNvPr id="136" name="Editable text: Plasma cells"/>
          <p:cNvSpPr txBox="1"/>
          <p:nvPr/>
        </p:nvSpPr>
        <p:spPr>
          <a:xfrm>
            <a:off x="7827263" y="4977354"/>
            <a:ext cx="544003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Plasma cells</a:t>
            </a:r>
          </a:p>
        </p:txBody>
      </p:sp>
      <p:sp>
        <p:nvSpPr>
          <p:cNvPr id="137" name="Editable text: 12,161"/>
          <p:cNvSpPr txBox="1"/>
          <p:nvPr/>
        </p:nvSpPr>
        <p:spPr>
          <a:xfrm>
            <a:off x="9553900" y="4979629"/>
            <a:ext cx="310409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12,161</a:t>
            </a:r>
          </a:p>
        </p:txBody>
      </p:sp>
      <p:sp>
        <p:nvSpPr>
          <p:cNvPr id="138" name="Editable text: Regulatory T"/>
          <p:cNvSpPr txBox="1"/>
          <p:nvPr/>
        </p:nvSpPr>
        <p:spPr>
          <a:xfrm>
            <a:off x="7827263" y="5168150"/>
            <a:ext cx="57445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Regulatory T</a:t>
            </a:r>
          </a:p>
        </p:txBody>
      </p:sp>
      <p:sp>
        <p:nvSpPr>
          <p:cNvPr id="139" name="Editable text: 2,224"/>
          <p:cNvSpPr txBox="1"/>
          <p:nvPr/>
        </p:nvSpPr>
        <p:spPr>
          <a:xfrm>
            <a:off x="9604336" y="517067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2,224</a:t>
            </a:r>
          </a:p>
        </p:txBody>
      </p:sp>
      <p:sp>
        <p:nvSpPr>
          <p:cNvPr id="140" name="Editable text: CNA epithelial：红圈仅作位置提示"/>
          <p:cNvSpPr txBox="1"/>
          <p:nvPr/>
        </p:nvSpPr>
        <p:spPr>
          <a:xfrm>
            <a:off x="5096857" y="5322881"/>
            <a:ext cx="155362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DD3434"/>
                </a:solidFill>
                <a:latin typeface="Microsoft YaHei"/>
                <a:ea typeface="微软雅黑"/>
                <a:cs typeface="Microsoft YaHei"/>
              </a:defRPr>
            </a:pPr>
            <a:r>
              <a:t>CNA epithelial：红圈仅作位置提示</a:t>
            </a:r>
          </a:p>
        </p:txBody>
      </p:sp>
      <p:sp>
        <p:nvSpPr>
          <p:cNvPr id="141" name="Editable text: 色标上限 2.54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24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色标上限 2.54 · 阳性值第99百分位</a:t>
            </a:r>
          </a:p>
        </p:txBody>
      </p:sp>
      <p:sp>
        <p:nvSpPr>
          <p:cNvPr id="142" name="Editable text: 描述性配对 · 未做显著性检验"/>
          <p:cNvSpPr txBox="1"/>
          <p:nvPr/>
        </p:nvSpPr>
        <p:spPr>
          <a:xfrm>
            <a:off x="10476098" y="2292101"/>
            <a:ext cx="1237090" cy="141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33" b="0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描述性配对 · 未做显著性检验</a:t>
            </a:r>
          </a:p>
        </p:txBody>
      </p:sp>
      <p:sp>
        <p:nvSpPr>
          <p:cNvPr id="143" name="Editable text: 9 / 9"/>
          <p:cNvSpPr txBox="1"/>
          <p:nvPr/>
        </p:nvSpPr>
        <p:spPr>
          <a:xfrm>
            <a:off x="10802355" y="4515203"/>
            <a:ext cx="699262" cy="386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9 / 9</a:t>
            </a:r>
          </a:p>
        </p:txBody>
      </p:sp>
      <p:sp>
        <p:nvSpPr>
          <p:cNvPr id="144" name="Editable text: 患者目标组表达更高"/>
          <p:cNvSpPr txBox="1"/>
          <p:nvPr/>
        </p:nvSpPr>
        <p:spPr>
          <a:xfrm>
            <a:off x="10630376" y="4896599"/>
            <a:ext cx="980122" cy="15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患者目标组表达更高</a:t>
            </a:r>
          </a:p>
        </p:txBody>
      </p:sp>
      <p:sp>
        <p:nvSpPr>
          <p:cNvPr id="145" name="Editable text: 平均差 +0.363"/>
          <p:cNvSpPr txBox="1"/>
          <p:nvPr/>
        </p:nvSpPr>
        <p:spPr>
          <a:xfrm>
            <a:off x="10761593" y="5208622"/>
            <a:ext cx="711131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平均差 +0.363</a:t>
            </a:r>
          </a:p>
        </p:txBody>
      </p:sp>
      <p:sp>
        <p:nvSpPr>
          <p:cNvPr id="146" name="Editable text: 参照：正常组织上皮"/>
          <p:cNvSpPr txBox="1"/>
          <p:nvPr/>
        </p:nvSpPr>
        <p:spPr>
          <a:xfrm>
            <a:off x="10253471" y="5553064"/>
            <a:ext cx="850106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参照：正常组织上皮</a:t>
            </a:r>
          </a:p>
        </p:txBody>
      </p:sp>
      <p:sp>
        <p:nvSpPr>
          <p:cNvPr id="147" name="Editable text: 目标：肿瘤 CNA 上皮"/>
          <p:cNvSpPr txBox="1"/>
          <p:nvPr/>
        </p:nvSpPr>
        <p:spPr>
          <a:xfrm>
            <a:off x="10253471" y="5745089"/>
            <a:ext cx="920093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目标：肿瘤 CNA 上皮</a:t>
            </a:r>
          </a:p>
        </p:txBody>
      </p:sp>
      <p:sp>
        <p:nvSpPr>
          <p:cNvPr id="148" name="Editable text: 同患者描述：9/9 位目标上皮表达更高；尚未作显著性检验。"/>
          <p:cNvSpPr txBox="1"/>
          <p:nvPr/>
        </p:nvSpPr>
        <p:spPr>
          <a:xfrm>
            <a:off x="609599" y="6115405"/>
            <a:ext cx="4067915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同患者描述：9/9 位目标上皮表达更高；尚未作显著性检验。</a:t>
            </a:r>
          </a:p>
        </p:txBody>
      </p:sp>
      <p:sp>
        <p:nvSpPr>
          <p:cNvPr id="149" name="Editable text: CNA 为作者拷贝数异常标签；CNN 不等于已证实非恶性。患者图为描述性比较，未"/>
          <p:cNvSpPr txBox="1"/>
          <p:nvPr/>
        </p:nvSpPr>
        <p:spPr>
          <a:xfrm>
            <a:off x="609599" y="6417173"/>
            <a:ext cx="3825298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CNA 为作者拷贝数异常标签；CNN 不等于已证实非恶性。患者图为描述性比较，未新增检验。</a:t>
            </a:r>
          </a:p>
        </p:txBody>
      </p:sp>
      <p:sp>
        <p:nvSpPr>
          <p:cNvPr id="150" name="Editable text: 12"/>
          <p:cNvSpPr txBox="1"/>
          <p:nvPr/>
        </p:nvSpPr>
        <p:spPr>
          <a:xfrm>
            <a:off x="11521427" y="6424015"/>
            <a:ext cx="249512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12</a:t>
            </a:r>
          </a:p>
        </p:txBody>
      </p:sp>
      <p:pic>
        <p:nvPicPr>
          <p:cNvPr id="151" name="Picture 150" descr="image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52" name="TextBox 151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153" name="Connector 152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890148" y="2215133"/>
            <a:ext cx="2340598" cy="2804922"/>
          </a:xfrm>
          <a:custGeom>
            <a:avLst/>
            <a:gdLst/>
            <a:ahLst/>
            <a:cxnLst/>
            <a:rect l="0" t="0" r="r" b="b"/>
            <a:pathLst>
              <a:path w="221159" h="265032">
                <a:moveTo>
                  <a:pt x="0" y="0"/>
                </a:moveTo>
                <a:lnTo>
                  <a:pt x="221159" y="0"/>
                </a:lnTo>
                <a:lnTo>
                  <a:pt x="22115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890" y="2299854"/>
            <a:ext cx="2199408" cy="2635827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890148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890148" y="5020055"/>
            <a:ext cx="2340598" cy="105"/>
          </a:xfrm>
          <a:custGeom>
            <a:avLst/>
            <a:gdLst/>
            <a:ahLst/>
            <a:cxnLst/>
            <a:rect l="0" t="0" r="r" b="b"/>
            <a:pathLst>
              <a:path w="221159" h="10">
                <a:moveTo>
                  <a:pt x="0" y="0"/>
                </a:moveTo>
                <a:lnTo>
                  <a:pt x="22115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1048786" y="3389739"/>
            <a:ext cx="1021028" cy="1234983"/>
          </a:xfrm>
          <a:custGeom>
            <a:avLst/>
            <a:gdLst/>
            <a:ahLst/>
            <a:cxnLst/>
            <a:rect l="0" t="0" r="r" b="b"/>
            <a:pathLst>
              <a:path w="96475" h="116691">
                <a:moveTo>
                  <a:pt x="48238" y="116691"/>
                </a:moveTo>
                <a:cubicBezTo>
                  <a:pt x="61030" y="116691"/>
                  <a:pt x="73301" y="110544"/>
                  <a:pt x="82347" y="99602"/>
                </a:cubicBezTo>
                <a:cubicBezTo>
                  <a:pt x="91392" y="88661"/>
                  <a:pt x="96475" y="73819"/>
                  <a:pt x="96475" y="58346"/>
                </a:cubicBezTo>
                <a:cubicBezTo>
                  <a:pt x="96475" y="42872"/>
                  <a:pt x="91392" y="28030"/>
                  <a:pt x="82347" y="17089"/>
                </a:cubicBezTo>
                <a:cubicBezTo>
                  <a:pt x="73301" y="6148"/>
                  <a:pt x="61030" y="0"/>
                  <a:pt x="48238" y="0"/>
                </a:cubicBezTo>
                <a:cubicBezTo>
                  <a:pt x="35445" y="0"/>
                  <a:pt x="23174" y="6148"/>
                  <a:pt x="14128" y="17089"/>
                </a:cubicBezTo>
                <a:cubicBezTo>
                  <a:pt x="5083" y="28030"/>
                  <a:pt x="0" y="42872"/>
                  <a:pt x="0" y="58346"/>
                </a:cubicBezTo>
                <a:cubicBezTo>
                  <a:pt x="0" y="73819"/>
                  <a:pt x="5083" y="88661"/>
                  <a:pt x="14128" y="99602"/>
                </a:cubicBezTo>
                <a:cubicBezTo>
                  <a:pt x="23174" y="110544"/>
                  <a:pt x="35445" y="116691"/>
                  <a:pt x="48238" y="116691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718436" y="2215133"/>
            <a:ext cx="2340598" cy="2804922"/>
          </a:xfrm>
          <a:custGeom>
            <a:avLst/>
            <a:gdLst/>
            <a:ahLst/>
            <a:cxnLst/>
            <a:rect l="0" t="0" r="r" b="b"/>
            <a:pathLst>
              <a:path w="221159" h="265032">
                <a:moveTo>
                  <a:pt x="0" y="0"/>
                </a:moveTo>
                <a:lnTo>
                  <a:pt x="221159" y="0"/>
                </a:lnTo>
                <a:lnTo>
                  <a:pt x="22115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0209" y="2299854"/>
            <a:ext cx="2199409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718436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718436" y="5020055"/>
            <a:ext cx="2340598" cy="105"/>
          </a:xfrm>
          <a:custGeom>
            <a:avLst/>
            <a:gdLst/>
            <a:ahLst/>
            <a:cxnLst/>
            <a:rect l="0" t="0" r="r" b="b"/>
            <a:pathLst>
              <a:path w="221159" h="10">
                <a:moveTo>
                  <a:pt x="0" y="0"/>
                </a:moveTo>
                <a:lnTo>
                  <a:pt x="22115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4877074" y="3389739"/>
            <a:ext cx="1021028" cy="1234983"/>
          </a:xfrm>
          <a:custGeom>
            <a:avLst/>
            <a:gdLst/>
            <a:ahLst/>
            <a:cxnLst/>
            <a:rect l="0" t="0" r="r" b="b"/>
            <a:pathLst>
              <a:path w="96475" h="116691">
                <a:moveTo>
                  <a:pt x="48238" y="116691"/>
                </a:moveTo>
                <a:cubicBezTo>
                  <a:pt x="61030" y="116691"/>
                  <a:pt x="73301" y="110544"/>
                  <a:pt x="82347" y="99602"/>
                </a:cubicBezTo>
                <a:cubicBezTo>
                  <a:pt x="91392" y="88661"/>
                  <a:pt x="96475" y="73819"/>
                  <a:pt x="96475" y="58346"/>
                </a:cubicBezTo>
                <a:cubicBezTo>
                  <a:pt x="96475" y="42872"/>
                  <a:pt x="91392" y="28030"/>
                  <a:pt x="82347" y="17089"/>
                </a:cubicBezTo>
                <a:cubicBezTo>
                  <a:pt x="73301" y="6148"/>
                  <a:pt x="61030" y="0"/>
                  <a:pt x="48238" y="0"/>
                </a:cubicBezTo>
                <a:cubicBezTo>
                  <a:pt x="35445" y="0"/>
                  <a:pt x="23174" y="6148"/>
                  <a:pt x="14128" y="17089"/>
                </a:cubicBezTo>
                <a:cubicBezTo>
                  <a:pt x="5083" y="28030"/>
                  <a:pt x="0" y="42872"/>
                  <a:pt x="0" y="58346"/>
                </a:cubicBezTo>
                <a:cubicBezTo>
                  <a:pt x="0" y="73819"/>
                  <a:pt x="5083" y="88661"/>
                  <a:pt x="14128" y="99602"/>
                </a:cubicBezTo>
                <a:cubicBezTo>
                  <a:pt x="23174" y="110544"/>
                  <a:pt x="35445" y="116691"/>
                  <a:pt x="48238" y="116691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Source image: point cloud / tissue / logo / color scal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8" name="Editable vector geometry"/>
          <p:cNvSpPr/>
          <p:nvPr/>
        </p:nvSpPr>
        <p:spPr>
          <a:xfrm>
            <a:off x="3767327" y="436533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403293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370054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36814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767327" y="303575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0427377" y="393818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0427377" y="358327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322835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427377" y="287343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697717" y="3276166"/>
            <a:ext cx="830579" cy="407252"/>
          </a:xfrm>
          <a:custGeom>
            <a:avLst/>
            <a:gdLst/>
            <a:ahLst/>
            <a:cxnLst/>
            <a:rect l="0" t="0" r="r" b="b"/>
            <a:pathLst>
              <a:path w="78480" h="38481">
                <a:moveTo>
                  <a:pt x="0" y="38481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697717" y="3288485"/>
            <a:ext cx="830579" cy="842686"/>
          </a:xfrm>
          <a:custGeom>
            <a:avLst/>
            <a:gdLst/>
            <a:ahLst/>
            <a:cxnLst/>
            <a:rect l="0" t="0" r="r" b="b"/>
            <a:pathLst>
              <a:path w="78480" h="79624">
                <a:moveTo>
                  <a:pt x="0" y="79624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697717" y="3655398"/>
            <a:ext cx="830579" cy="277005"/>
          </a:xfrm>
          <a:custGeom>
            <a:avLst/>
            <a:gdLst/>
            <a:ahLst/>
            <a:cxnLst/>
            <a:rect l="0" t="0" r="r" b="b"/>
            <a:pathLst>
              <a:path w="78480" h="26174">
                <a:moveTo>
                  <a:pt x="0" y="26174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697717" y="3293879"/>
            <a:ext cx="830579" cy="667454"/>
          </a:xfrm>
          <a:custGeom>
            <a:avLst/>
            <a:gdLst/>
            <a:ahLst/>
            <a:cxnLst/>
            <a:rect l="0" t="0" r="r" b="b"/>
            <a:pathLst>
              <a:path w="78480" h="63067">
                <a:moveTo>
                  <a:pt x="0" y="6306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697717" y="3015292"/>
            <a:ext cx="830579" cy="1151285"/>
          </a:xfrm>
          <a:custGeom>
            <a:avLst/>
            <a:gdLst/>
            <a:ahLst/>
            <a:cxnLst/>
            <a:rect l="0" t="0" r="r" b="b"/>
            <a:pathLst>
              <a:path w="78480" h="108783">
                <a:moveTo>
                  <a:pt x="0" y="10878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356983"/>
            <a:ext cx="830579" cy="348501"/>
          </a:xfrm>
          <a:custGeom>
            <a:avLst/>
            <a:gdLst/>
            <a:ahLst/>
            <a:cxnLst/>
            <a:rect l="0" t="0" r="r" b="b"/>
            <a:pathLst>
              <a:path w="78480" h="32929">
                <a:moveTo>
                  <a:pt x="0" y="32929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3089521"/>
            <a:ext cx="830579" cy="946666"/>
          </a:xfrm>
          <a:custGeom>
            <a:avLst/>
            <a:gdLst/>
            <a:ahLst/>
            <a:cxnLst/>
            <a:rect l="0" t="0" r="r" b="b"/>
            <a:pathLst>
              <a:path w="78480" h="89449">
                <a:moveTo>
                  <a:pt x="0" y="89449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3586620"/>
            <a:ext cx="830579" cy="417602"/>
          </a:xfrm>
          <a:custGeom>
            <a:avLst/>
            <a:gdLst/>
            <a:ahLst/>
            <a:cxnLst/>
            <a:rect l="0" t="0" r="r" b="b"/>
            <a:pathLst>
              <a:path w="78480" h="39458">
                <a:moveTo>
                  <a:pt x="0" y="39458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697717" y="4081142"/>
            <a:ext cx="830579" cy="211966"/>
          </a:xfrm>
          <a:custGeom>
            <a:avLst/>
            <a:gdLst/>
            <a:ahLst/>
            <a:cxnLst/>
            <a:rect l="0" t="0" r="r" b="b"/>
            <a:pathLst>
              <a:path w="78480" h="20028">
                <a:moveTo>
                  <a:pt x="0" y="20028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674652" y="366035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674652" y="410810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74652" y="390933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674652" y="393826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674652" y="414351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74652" y="368241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74652" y="401312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0674652" y="398115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0674652" y="427004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1505231" y="325310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1505231" y="326541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1505231" y="363233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1505231" y="327081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1505231" y="333391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1505231" y="306645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1505231" y="356355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1505231" y="405807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0598048" y="3990434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11428627" y="3404832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7684177" y="274946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7684177" y="29552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8AF45">
              <a:alpha val="100000"/>
            </a:srgbClr>
          </a:solidFill>
          <a:ln w="10583">
            <a:solidFill>
              <a:srgbClr val="C8AF4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7684177" y="31609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7684177" y="336668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7684177" y="35724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DA87D">
              <a:alpha val="100000"/>
            </a:srgbClr>
          </a:solidFill>
          <a:ln w="10583">
            <a:solidFill>
              <a:srgbClr val="DDA87D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7684177" y="377816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7684177" y="39839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7684177" y="41896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7684177" y="439538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vector geometry"/>
          <p:cNvSpPr/>
          <p:nvPr/>
        </p:nvSpPr>
        <p:spPr>
          <a:xfrm>
            <a:off x="7684177" y="46011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vector geometry"/>
          <p:cNvSpPr/>
          <p:nvPr/>
        </p:nvSpPr>
        <p:spPr>
          <a:xfrm>
            <a:off x="7684177" y="480686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vector geometry"/>
          <p:cNvSpPr/>
          <p:nvPr/>
        </p:nvSpPr>
        <p:spPr>
          <a:xfrm>
            <a:off x="7684177" y="50126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48869">
              <a:alpha val="100000"/>
            </a:srgbClr>
          </a:solidFill>
          <a:ln w="10583">
            <a:solidFill>
              <a:srgbClr val="A4886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vector geometry"/>
          <p:cNvSpPr/>
          <p:nvPr/>
        </p:nvSpPr>
        <p:spPr>
          <a:xfrm>
            <a:off x="7684177" y="52183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text: UMAP 1"/>
          <p:cNvSpPr txBox="1"/>
          <p:nvPr/>
        </p:nvSpPr>
        <p:spPr>
          <a:xfrm>
            <a:off x="1852998" y="5070326"/>
            <a:ext cx="46270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1</a:t>
            </a:r>
          </a:p>
        </p:txBody>
      </p:sp>
      <p:sp>
        <p:nvSpPr>
          <p:cNvPr id="82" name="Editable text: UMAP 2"/>
          <p:cNvSpPr txBox="1"/>
          <p:nvPr/>
        </p:nvSpPr>
        <p:spPr>
          <a:xfrm rot="16200000">
            <a:off x="513600" y="3540776"/>
            <a:ext cx="457411" cy="1534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2</a:t>
            </a:r>
          </a:p>
        </p:txBody>
      </p:sp>
      <p:sp>
        <p:nvSpPr>
          <p:cNvPr id="83" name="Editable text: UMAP 1"/>
          <p:cNvSpPr txBox="1"/>
          <p:nvPr/>
        </p:nvSpPr>
        <p:spPr>
          <a:xfrm>
            <a:off x="5681286" y="5070326"/>
            <a:ext cx="46270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1</a:t>
            </a:r>
          </a:p>
        </p:txBody>
      </p:sp>
      <p:sp>
        <p:nvSpPr>
          <p:cNvPr id="84" name="Editable text: UMAP 2"/>
          <p:cNvSpPr txBox="1"/>
          <p:nvPr/>
        </p:nvSpPr>
        <p:spPr>
          <a:xfrm rot="16200000">
            <a:off x="4341888" y="3540776"/>
            <a:ext cx="457411" cy="1534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2</a:t>
            </a:r>
          </a:p>
        </p:txBody>
      </p:sp>
      <p:sp>
        <p:nvSpPr>
          <p:cNvPr id="85" name="Editable text: 0.0"/>
          <p:cNvSpPr txBox="1"/>
          <p:nvPr/>
        </p:nvSpPr>
        <p:spPr>
          <a:xfrm>
            <a:off x="3825536" y="4640530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0.0</a:t>
            </a:r>
          </a:p>
        </p:txBody>
      </p:sp>
      <p:sp>
        <p:nvSpPr>
          <p:cNvPr id="86" name="Editable text: 0.5"/>
          <p:cNvSpPr txBox="1"/>
          <p:nvPr/>
        </p:nvSpPr>
        <p:spPr>
          <a:xfrm>
            <a:off x="3825536" y="4308135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0.5</a:t>
            </a:r>
          </a:p>
        </p:txBody>
      </p:sp>
      <p:sp>
        <p:nvSpPr>
          <p:cNvPr id="87" name="Editable text: 1.0"/>
          <p:cNvSpPr txBox="1"/>
          <p:nvPr/>
        </p:nvSpPr>
        <p:spPr>
          <a:xfrm>
            <a:off x="3825536" y="3975739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1.0</a:t>
            </a:r>
          </a:p>
        </p:txBody>
      </p:sp>
      <p:sp>
        <p:nvSpPr>
          <p:cNvPr id="88" name="Editable text: 1.5"/>
          <p:cNvSpPr txBox="1"/>
          <p:nvPr/>
        </p:nvSpPr>
        <p:spPr>
          <a:xfrm>
            <a:off x="3825536" y="3643344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1.5</a:t>
            </a:r>
          </a:p>
        </p:txBody>
      </p:sp>
      <p:sp>
        <p:nvSpPr>
          <p:cNvPr id="89" name="Editable text: 2.0"/>
          <p:cNvSpPr txBox="1"/>
          <p:nvPr/>
        </p:nvSpPr>
        <p:spPr>
          <a:xfrm>
            <a:off x="3825536" y="3310949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2.0</a:t>
            </a:r>
          </a:p>
        </p:txBody>
      </p:sp>
      <p:sp>
        <p:nvSpPr>
          <p:cNvPr id="90" name="Editable text: 2.5"/>
          <p:cNvSpPr txBox="1"/>
          <p:nvPr/>
        </p:nvSpPr>
        <p:spPr>
          <a:xfrm>
            <a:off x="3825536" y="2978554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2.5</a:t>
            </a:r>
          </a:p>
        </p:txBody>
      </p:sp>
      <p:sp>
        <p:nvSpPr>
          <p:cNvPr id="91" name="Editable text: LYPLA1 · log1p(CP10K)"/>
          <p:cNvSpPr txBox="1"/>
          <p:nvPr/>
        </p:nvSpPr>
        <p:spPr>
          <a:xfrm rot="16200000">
            <a:off x="3532076" y="3652459"/>
            <a:ext cx="1012307" cy="1304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LYPLA1 · log1p(CP10K)</a:t>
            </a:r>
          </a:p>
        </p:txBody>
      </p:sp>
      <p:sp>
        <p:nvSpPr>
          <p:cNvPr id="92" name="Editable text: 参照"/>
          <p:cNvSpPr txBox="1"/>
          <p:nvPr/>
        </p:nvSpPr>
        <p:spPr>
          <a:xfrm>
            <a:off x="10613051" y="4327933"/>
            <a:ext cx="2074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参照</a:t>
            </a:r>
          </a:p>
        </p:txBody>
      </p:sp>
      <p:sp>
        <p:nvSpPr>
          <p:cNvPr id="93" name="Editable text: 目标"/>
          <p:cNvSpPr txBox="1"/>
          <p:nvPr/>
        </p:nvSpPr>
        <p:spPr>
          <a:xfrm>
            <a:off x="11443630" y="4327933"/>
            <a:ext cx="2074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目标</a:t>
            </a:r>
          </a:p>
        </p:txBody>
      </p:sp>
      <p:sp>
        <p:nvSpPr>
          <p:cNvPr id="94" name="Editable text: 0.0"/>
          <p:cNvSpPr txBox="1"/>
          <p:nvPr/>
        </p:nvSpPr>
        <p:spPr>
          <a:xfrm>
            <a:off x="10270776" y="4235908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0.0</a:t>
            </a:r>
          </a:p>
        </p:txBody>
      </p:sp>
      <p:sp>
        <p:nvSpPr>
          <p:cNvPr id="95" name="Editable text: 0.2"/>
          <p:cNvSpPr txBox="1"/>
          <p:nvPr/>
        </p:nvSpPr>
        <p:spPr>
          <a:xfrm>
            <a:off x="10270776" y="3880989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0.2</a:t>
            </a:r>
          </a:p>
        </p:txBody>
      </p:sp>
      <p:sp>
        <p:nvSpPr>
          <p:cNvPr id="96" name="Editable text: 0.4"/>
          <p:cNvSpPr txBox="1"/>
          <p:nvPr/>
        </p:nvSpPr>
        <p:spPr>
          <a:xfrm>
            <a:off x="10270776" y="3526070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0.4</a:t>
            </a:r>
          </a:p>
        </p:txBody>
      </p:sp>
      <p:sp>
        <p:nvSpPr>
          <p:cNvPr id="97" name="Editable text: 0.6"/>
          <p:cNvSpPr txBox="1"/>
          <p:nvPr/>
        </p:nvSpPr>
        <p:spPr>
          <a:xfrm>
            <a:off x="10270776" y="3171152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0.6</a:t>
            </a:r>
          </a:p>
        </p:txBody>
      </p:sp>
      <p:sp>
        <p:nvSpPr>
          <p:cNvPr id="98" name="Editable text: 0.8"/>
          <p:cNvSpPr txBox="1"/>
          <p:nvPr/>
        </p:nvSpPr>
        <p:spPr>
          <a:xfrm>
            <a:off x="10270776" y="2816233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0.8</a:t>
            </a:r>
          </a:p>
        </p:txBody>
      </p:sp>
      <p:sp>
        <p:nvSpPr>
          <p:cNvPr id="99" name="Editable text: 患者平均表达"/>
          <p:cNvSpPr txBox="1"/>
          <p:nvPr/>
        </p:nvSpPr>
        <p:spPr>
          <a:xfrm rot="16200000">
            <a:off x="9881081" y="3480366"/>
            <a:ext cx="575733" cy="1304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患者平均表达</a:t>
            </a:r>
          </a:p>
        </p:txBody>
      </p:sp>
      <p:sp>
        <p:nvSpPr>
          <p:cNvPr id="101" name="Editable text: PDAC：从全细胞表达定位到同患者证据"/>
          <p:cNvSpPr txBox="1"/>
          <p:nvPr/>
        </p:nvSpPr>
        <p:spPr>
          <a:xfrm>
            <a:off x="609599" y="951108"/>
            <a:ext cx="5227153" cy="434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PDAC：从全细胞表达定位到同患者证据</a:t>
            </a:r>
          </a:p>
        </p:txBody>
      </p:sp>
      <p:sp>
        <p:nvSpPr>
          <p:cNvPr id="102" name="Editable text: Hwang · GSE202051 · 未治疗标本 · 全部细胞类型（单核） ·"/>
          <p:cNvSpPr txBox="1"/>
          <p:nvPr/>
        </p:nvSpPr>
        <p:spPr>
          <a:xfrm>
            <a:off x="609599" y="1429933"/>
            <a:ext cx="4520439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Hwang · GSE202051 · 未治疗标本 · 全部细胞类型（单核） · 108,964 个细胞核</a:t>
            </a:r>
          </a:p>
        </p:txBody>
      </p:sp>
      <p:sp>
        <p:nvSpPr>
          <p:cNvPr id="103" name="Editable text: LYPLA1 expression"/>
          <p:cNvSpPr txBox="1"/>
          <p:nvPr/>
        </p:nvSpPr>
        <p:spPr>
          <a:xfrm>
            <a:off x="585216" y="1882394"/>
            <a:ext cx="156968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LYPLA1 expression</a:t>
            </a:r>
          </a:p>
        </p:txBody>
      </p:sp>
      <p:sp>
        <p:nvSpPr>
          <p:cNvPr id="104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Cell types</a:t>
            </a:r>
          </a:p>
        </p:txBody>
      </p:sp>
      <p:sp>
        <p:nvSpPr>
          <p:cNvPr id="105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同患者证据</a:t>
            </a:r>
          </a:p>
        </p:txBody>
      </p:sp>
      <p:sp>
        <p:nvSpPr>
          <p:cNvPr id="106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Cell type (n cells)</a:t>
            </a:r>
          </a:p>
        </p:txBody>
      </p:sp>
      <p:sp>
        <p:nvSpPr>
          <p:cNvPr id="107" name="Editable text: Malignant epithelial"/>
          <p:cNvSpPr txBox="1"/>
          <p:nvPr/>
        </p:nvSpPr>
        <p:spPr>
          <a:xfrm>
            <a:off x="7827263" y="2493530"/>
            <a:ext cx="926816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1" lang="zh-CN">
                <a:solidFill>
                  <a:srgbClr val="78B436"/>
                </a:solidFill>
                <a:latin typeface="Microsoft YaHei"/>
                <a:ea typeface="微软雅黑"/>
                <a:cs typeface="Microsoft YaHei"/>
              </a:defRPr>
            </a:pPr>
            <a:r>
              <a:t>Malignant epithelial</a:t>
            </a:r>
          </a:p>
        </p:txBody>
      </p:sp>
      <p:sp>
        <p:nvSpPr>
          <p:cNvPr id="108" name="Editable text: 52,999"/>
          <p:cNvSpPr txBox="1"/>
          <p:nvPr/>
        </p:nvSpPr>
        <p:spPr>
          <a:xfrm>
            <a:off x="9553900" y="2496053"/>
            <a:ext cx="310409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52,999</a:t>
            </a:r>
          </a:p>
        </p:txBody>
      </p:sp>
      <p:sp>
        <p:nvSpPr>
          <p:cNvPr id="109" name="Editable text: Adipocyte"/>
          <p:cNvSpPr txBox="1"/>
          <p:nvPr/>
        </p:nvSpPr>
        <p:spPr>
          <a:xfrm>
            <a:off x="7827263" y="2699270"/>
            <a:ext cx="46550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Adipocyte</a:t>
            </a:r>
          </a:p>
        </p:txBody>
      </p:sp>
      <p:sp>
        <p:nvSpPr>
          <p:cNvPr id="110" name="Editable text: 45"/>
          <p:cNvSpPr txBox="1"/>
          <p:nvPr/>
        </p:nvSpPr>
        <p:spPr>
          <a:xfrm>
            <a:off x="9725879" y="2701793"/>
            <a:ext cx="13904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45</a:t>
            </a:r>
          </a:p>
        </p:txBody>
      </p:sp>
      <p:sp>
        <p:nvSpPr>
          <p:cNvPr id="111" name="Editable text: Atypical ductal"/>
          <p:cNvSpPr txBox="1"/>
          <p:nvPr/>
        </p:nvSpPr>
        <p:spPr>
          <a:xfrm>
            <a:off x="7827263" y="2905010"/>
            <a:ext cx="659939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Atypical ductal</a:t>
            </a:r>
          </a:p>
        </p:txBody>
      </p:sp>
      <p:sp>
        <p:nvSpPr>
          <p:cNvPr id="112" name="Editable text: 1,518"/>
          <p:cNvSpPr txBox="1"/>
          <p:nvPr/>
        </p:nvSpPr>
        <p:spPr>
          <a:xfrm>
            <a:off x="9604336" y="2907533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1,518</a:t>
            </a:r>
          </a:p>
        </p:txBody>
      </p:sp>
      <p:sp>
        <p:nvSpPr>
          <p:cNvPr id="113" name="Editable text: CAFs"/>
          <p:cNvSpPr txBox="1"/>
          <p:nvPr/>
        </p:nvSpPr>
        <p:spPr>
          <a:xfrm>
            <a:off x="7827263" y="3110998"/>
            <a:ext cx="247450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CAFs</a:t>
            </a:r>
          </a:p>
        </p:txBody>
      </p:sp>
      <p:sp>
        <p:nvSpPr>
          <p:cNvPr id="114" name="Editable text: 20,801"/>
          <p:cNvSpPr txBox="1"/>
          <p:nvPr/>
        </p:nvSpPr>
        <p:spPr>
          <a:xfrm>
            <a:off x="9553900" y="3113273"/>
            <a:ext cx="310409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20,801</a:t>
            </a:r>
          </a:p>
        </p:txBody>
      </p:sp>
      <p:sp>
        <p:nvSpPr>
          <p:cNvPr id="115" name="Editable text: Ductal"/>
          <p:cNvSpPr txBox="1"/>
          <p:nvPr/>
        </p:nvSpPr>
        <p:spPr>
          <a:xfrm>
            <a:off x="7827263" y="3316738"/>
            <a:ext cx="309290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Ductal</a:t>
            </a:r>
          </a:p>
        </p:txBody>
      </p:sp>
      <p:sp>
        <p:nvSpPr>
          <p:cNvPr id="116" name="Editable text: 6,755"/>
          <p:cNvSpPr txBox="1"/>
          <p:nvPr/>
        </p:nvSpPr>
        <p:spPr>
          <a:xfrm>
            <a:off x="9604336" y="331901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6,755</a:t>
            </a:r>
          </a:p>
        </p:txBody>
      </p:sp>
      <p:sp>
        <p:nvSpPr>
          <p:cNvPr id="117" name="Editable text: Endocrine"/>
          <p:cNvSpPr txBox="1"/>
          <p:nvPr/>
        </p:nvSpPr>
        <p:spPr>
          <a:xfrm>
            <a:off x="7827263" y="3522478"/>
            <a:ext cx="45888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Endocrine</a:t>
            </a:r>
          </a:p>
        </p:txBody>
      </p:sp>
      <p:sp>
        <p:nvSpPr>
          <p:cNvPr id="118" name="Editable text: 1,865"/>
          <p:cNvSpPr txBox="1"/>
          <p:nvPr/>
        </p:nvSpPr>
        <p:spPr>
          <a:xfrm>
            <a:off x="9604336" y="352475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1,865</a:t>
            </a:r>
          </a:p>
        </p:txBody>
      </p:sp>
      <p:sp>
        <p:nvSpPr>
          <p:cNvPr id="119" name="Editable text: Endothelial"/>
          <p:cNvSpPr txBox="1"/>
          <p:nvPr/>
        </p:nvSpPr>
        <p:spPr>
          <a:xfrm>
            <a:off x="7827263" y="3728218"/>
            <a:ext cx="50939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Endothelial</a:t>
            </a:r>
          </a:p>
        </p:txBody>
      </p:sp>
      <p:sp>
        <p:nvSpPr>
          <p:cNvPr id="120" name="Editable text: 6,668"/>
          <p:cNvSpPr txBox="1"/>
          <p:nvPr/>
        </p:nvSpPr>
        <p:spPr>
          <a:xfrm>
            <a:off x="9604336" y="373049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6,668</a:t>
            </a:r>
          </a:p>
        </p:txBody>
      </p:sp>
      <p:sp>
        <p:nvSpPr>
          <p:cNvPr id="121" name="Editable text: Lymphoid"/>
          <p:cNvSpPr txBox="1"/>
          <p:nvPr/>
        </p:nvSpPr>
        <p:spPr>
          <a:xfrm>
            <a:off x="7827263" y="3933710"/>
            <a:ext cx="455587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Lymphoid</a:t>
            </a:r>
          </a:p>
        </p:txBody>
      </p:sp>
      <p:sp>
        <p:nvSpPr>
          <p:cNvPr id="122" name="Editable text: 4,631"/>
          <p:cNvSpPr txBox="1"/>
          <p:nvPr/>
        </p:nvSpPr>
        <p:spPr>
          <a:xfrm>
            <a:off x="9604336" y="393623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4,631</a:t>
            </a:r>
          </a:p>
        </p:txBody>
      </p:sp>
      <p:sp>
        <p:nvSpPr>
          <p:cNvPr id="123" name="Editable text: Myeloid"/>
          <p:cNvSpPr txBox="1"/>
          <p:nvPr/>
        </p:nvSpPr>
        <p:spPr>
          <a:xfrm>
            <a:off x="7827263" y="4139450"/>
            <a:ext cx="380111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Myeloid</a:t>
            </a:r>
          </a:p>
        </p:txBody>
      </p:sp>
      <p:sp>
        <p:nvSpPr>
          <p:cNvPr id="124" name="Editable text: 4,999"/>
          <p:cNvSpPr txBox="1"/>
          <p:nvPr/>
        </p:nvSpPr>
        <p:spPr>
          <a:xfrm>
            <a:off x="9604336" y="414197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4,999</a:t>
            </a:r>
          </a:p>
        </p:txBody>
      </p:sp>
      <p:sp>
        <p:nvSpPr>
          <p:cNvPr id="125" name="Editable text: Other nonmalignant epi."/>
          <p:cNvSpPr txBox="1"/>
          <p:nvPr/>
        </p:nvSpPr>
        <p:spPr>
          <a:xfrm>
            <a:off x="7827263" y="4345190"/>
            <a:ext cx="1071317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Other nonmalignant epi.</a:t>
            </a:r>
          </a:p>
        </p:txBody>
      </p:sp>
      <p:sp>
        <p:nvSpPr>
          <p:cNvPr id="126" name="Editable text: 2,369"/>
          <p:cNvSpPr txBox="1"/>
          <p:nvPr/>
        </p:nvSpPr>
        <p:spPr>
          <a:xfrm>
            <a:off x="9604336" y="434771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2,369</a:t>
            </a:r>
          </a:p>
        </p:txBody>
      </p:sp>
      <p:sp>
        <p:nvSpPr>
          <p:cNvPr id="127" name="Editable text: Pancreatic neurons"/>
          <p:cNvSpPr txBox="1"/>
          <p:nvPr/>
        </p:nvSpPr>
        <p:spPr>
          <a:xfrm>
            <a:off x="7827263" y="4551178"/>
            <a:ext cx="835001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Pancreatic neurons</a:t>
            </a:r>
          </a:p>
        </p:txBody>
      </p:sp>
      <p:sp>
        <p:nvSpPr>
          <p:cNvPr id="128" name="Editable text: 8"/>
          <p:cNvSpPr txBox="1"/>
          <p:nvPr/>
        </p:nvSpPr>
        <p:spPr>
          <a:xfrm>
            <a:off x="9776316" y="4553454"/>
            <a:ext cx="88810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8</a:t>
            </a:r>
          </a:p>
        </p:txBody>
      </p:sp>
      <p:sp>
        <p:nvSpPr>
          <p:cNvPr id="129" name="Editable text: Pericyte"/>
          <p:cNvSpPr txBox="1"/>
          <p:nvPr/>
        </p:nvSpPr>
        <p:spPr>
          <a:xfrm>
            <a:off x="7827263" y="4756422"/>
            <a:ext cx="369095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Pericyte</a:t>
            </a:r>
          </a:p>
        </p:txBody>
      </p:sp>
      <p:sp>
        <p:nvSpPr>
          <p:cNvPr id="130" name="Editable text: 3,043"/>
          <p:cNvSpPr txBox="1"/>
          <p:nvPr/>
        </p:nvSpPr>
        <p:spPr>
          <a:xfrm>
            <a:off x="9604336" y="475919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3,043</a:t>
            </a:r>
          </a:p>
        </p:txBody>
      </p:sp>
      <p:sp>
        <p:nvSpPr>
          <p:cNvPr id="131" name="Editable text: Schwann"/>
          <p:cNvSpPr txBox="1"/>
          <p:nvPr/>
        </p:nvSpPr>
        <p:spPr>
          <a:xfrm>
            <a:off x="7827263" y="4962658"/>
            <a:ext cx="41452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Schwann</a:t>
            </a:r>
          </a:p>
        </p:txBody>
      </p:sp>
      <p:sp>
        <p:nvSpPr>
          <p:cNvPr id="132" name="Editable text: 807"/>
          <p:cNvSpPr txBox="1"/>
          <p:nvPr/>
        </p:nvSpPr>
        <p:spPr>
          <a:xfrm>
            <a:off x="9675443" y="4964934"/>
            <a:ext cx="189280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807</a:t>
            </a:r>
          </a:p>
        </p:txBody>
      </p:sp>
      <p:sp>
        <p:nvSpPr>
          <p:cNvPr id="133" name="Editable text: Vascular smooth muscle"/>
          <p:cNvSpPr txBox="1"/>
          <p:nvPr/>
        </p:nvSpPr>
        <p:spPr>
          <a:xfrm>
            <a:off x="7827263" y="5168398"/>
            <a:ext cx="105285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Vascular smooth muscle</a:t>
            </a:r>
          </a:p>
        </p:txBody>
      </p:sp>
      <p:sp>
        <p:nvSpPr>
          <p:cNvPr id="134" name="Editable text: 2,456"/>
          <p:cNvSpPr txBox="1"/>
          <p:nvPr/>
        </p:nvSpPr>
        <p:spPr>
          <a:xfrm>
            <a:off x="9604336" y="517067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2,456</a:t>
            </a:r>
          </a:p>
        </p:txBody>
      </p:sp>
      <p:sp>
        <p:nvSpPr>
          <p:cNvPr id="135" name="Editable text: Malignant epithelial：红圈仅作位置提示"/>
          <p:cNvSpPr txBox="1"/>
          <p:nvPr/>
        </p:nvSpPr>
        <p:spPr>
          <a:xfrm>
            <a:off x="4969443" y="5322550"/>
            <a:ext cx="1808321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DD3434"/>
                </a:solidFill>
                <a:latin typeface="Microsoft YaHei"/>
                <a:ea typeface="微软雅黑"/>
                <a:cs typeface="Microsoft YaHei"/>
              </a:defRPr>
            </a:pPr>
            <a:r>
              <a:t>Malignant epithelial：红圈仅作位置提示</a:t>
            </a:r>
          </a:p>
        </p:txBody>
      </p:sp>
      <p:sp>
        <p:nvSpPr>
          <p:cNvPr id="136" name="Editable text: 色标上限 2.95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24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色标上限 2.95 · 阳性值第99百分位</a:t>
            </a:r>
          </a:p>
        </p:txBody>
      </p:sp>
      <p:sp>
        <p:nvSpPr>
          <p:cNvPr id="137" name="Editable text: 配对 P = 0.00348"/>
          <p:cNvSpPr txBox="1"/>
          <p:nvPr/>
        </p:nvSpPr>
        <p:spPr>
          <a:xfrm>
            <a:off x="10630962" y="2281425"/>
            <a:ext cx="926041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配对 P = 0.00348</a:t>
            </a:r>
          </a:p>
        </p:txBody>
      </p:sp>
      <p:sp>
        <p:nvSpPr>
          <p:cNvPr id="138" name="Editable text: 9 / 9"/>
          <p:cNvSpPr txBox="1"/>
          <p:nvPr/>
        </p:nvSpPr>
        <p:spPr>
          <a:xfrm>
            <a:off x="10802355" y="4515203"/>
            <a:ext cx="699262" cy="386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9 / 9</a:t>
            </a:r>
          </a:p>
        </p:txBody>
      </p:sp>
      <p:sp>
        <p:nvSpPr>
          <p:cNvPr id="139" name="Editable text: 患者目标组表达更高"/>
          <p:cNvSpPr txBox="1"/>
          <p:nvPr/>
        </p:nvSpPr>
        <p:spPr>
          <a:xfrm>
            <a:off x="10630376" y="4896599"/>
            <a:ext cx="980122" cy="15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患者目标组表达更高</a:t>
            </a:r>
          </a:p>
        </p:txBody>
      </p:sp>
      <p:sp>
        <p:nvSpPr>
          <p:cNvPr id="140" name="Editable text: 平均差 +0.330"/>
          <p:cNvSpPr txBox="1"/>
          <p:nvPr/>
        </p:nvSpPr>
        <p:spPr>
          <a:xfrm>
            <a:off x="10761593" y="5208622"/>
            <a:ext cx="711131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平均差 +0.330</a:t>
            </a:r>
          </a:p>
        </p:txBody>
      </p:sp>
      <p:sp>
        <p:nvSpPr>
          <p:cNvPr id="141" name="Editable text: 参照：非恶性导管"/>
          <p:cNvSpPr txBox="1"/>
          <p:nvPr/>
        </p:nvSpPr>
        <p:spPr>
          <a:xfrm>
            <a:off x="10253471" y="5553064"/>
            <a:ext cx="760148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参照：非恶性导管</a:t>
            </a:r>
          </a:p>
        </p:txBody>
      </p:sp>
      <p:sp>
        <p:nvSpPr>
          <p:cNvPr id="142" name="Editable text: 目标：恶性上皮"/>
          <p:cNvSpPr txBox="1"/>
          <p:nvPr/>
        </p:nvSpPr>
        <p:spPr>
          <a:xfrm>
            <a:off x="10253471" y="5745089"/>
            <a:ext cx="670190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目标：恶性上皮</a:t>
            </a:r>
          </a:p>
        </p:txBody>
      </p:sp>
      <p:sp>
        <p:nvSpPr>
          <p:cNvPr id="143" name="Editable text: 未治疗样本的全核均值支持恶性上皮上调。"/>
          <p:cNvSpPr txBox="1"/>
          <p:nvPr/>
        </p:nvSpPr>
        <p:spPr>
          <a:xfrm>
            <a:off x="609599" y="6115405"/>
            <a:ext cx="2881841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未治疗样本的全核均值支持恶性上皮上调。</a:t>
            </a:r>
          </a:p>
        </p:txBody>
      </p:sp>
      <p:sp>
        <p:nvSpPr>
          <p:cNvPr id="144" name="Editable text: 9 位同患者比较；全部细胞核均纳入均值。仅阳性核的既有敏感性分析不支持同向升高。"/>
          <p:cNvSpPr txBox="1"/>
          <p:nvPr/>
        </p:nvSpPr>
        <p:spPr>
          <a:xfrm>
            <a:off x="609599" y="6417173"/>
            <a:ext cx="3538241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9 位同患者比较；全部细胞核均纳入均值。仅阳性核的既有敏感性分析不支持同向升高。</a:t>
            </a:r>
          </a:p>
        </p:txBody>
      </p:sp>
      <p:sp>
        <p:nvSpPr>
          <p:cNvPr id="145" name="Editable text: 13"/>
          <p:cNvSpPr txBox="1"/>
          <p:nvPr/>
        </p:nvSpPr>
        <p:spPr>
          <a:xfrm>
            <a:off x="11521427" y="6424015"/>
            <a:ext cx="249512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13</a:t>
            </a:r>
          </a:p>
        </p:txBody>
      </p:sp>
      <p:pic>
        <p:nvPicPr>
          <p:cNvPr id="146" name="Picture 145" descr="image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47" name="TextBox 146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148" name="Connector 147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690368" y="2215133"/>
            <a:ext cx="2740158" cy="2804922"/>
          </a:xfrm>
          <a:custGeom>
            <a:avLst/>
            <a:gdLst/>
            <a:ahLst/>
            <a:cxnLst/>
            <a:rect l="0" t="0" r="r" b="b"/>
            <a:pathLst>
              <a:path w="258913" h="265032">
                <a:moveTo>
                  <a:pt x="0" y="0"/>
                </a:moveTo>
                <a:lnTo>
                  <a:pt x="258913" y="0"/>
                </a:lnTo>
                <a:lnTo>
                  <a:pt x="25891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854" y="2303318"/>
            <a:ext cx="2573481" cy="2632363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690368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690368" y="5020055"/>
            <a:ext cx="2740158" cy="105"/>
          </a:xfrm>
          <a:custGeom>
            <a:avLst/>
            <a:gdLst/>
            <a:ahLst/>
            <a:cxnLst/>
            <a:rect l="0" t="0" r="r" b="b"/>
            <a:pathLst>
              <a:path w="258913" h="10">
                <a:moveTo>
                  <a:pt x="0" y="0"/>
                </a:moveTo>
                <a:lnTo>
                  <a:pt x="25891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1863159" y="2417866"/>
            <a:ext cx="827246" cy="751482"/>
          </a:xfrm>
          <a:custGeom>
            <a:avLst/>
            <a:gdLst/>
            <a:ahLst/>
            <a:cxnLst/>
            <a:rect l="0" t="0" r="r" b="b"/>
            <a:pathLst>
              <a:path w="78165" h="71006">
                <a:moveTo>
                  <a:pt x="39082" y="71006"/>
                </a:moveTo>
                <a:cubicBezTo>
                  <a:pt x="49447" y="71006"/>
                  <a:pt x="59389" y="67265"/>
                  <a:pt x="66718" y="60608"/>
                </a:cubicBezTo>
                <a:cubicBezTo>
                  <a:pt x="74047" y="53950"/>
                  <a:pt x="78165" y="44919"/>
                  <a:pt x="78165" y="35503"/>
                </a:cubicBezTo>
                <a:cubicBezTo>
                  <a:pt x="78165" y="26088"/>
                  <a:pt x="74047" y="17056"/>
                  <a:pt x="66718" y="10399"/>
                </a:cubicBezTo>
                <a:cubicBezTo>
                  <a:pt x="59389" y="3741"/>
                  <a:pt x="49447" y="0"/>
                  <a:pt x="39082" y="0"/>
                </a:cubicBezTo>
                <a:cubicBezTo>
                  <a:pt x="28718" y="0"/>
                  <a:pt x="18776" y="3741"/>
                  <a:pt x="11447" y="10399"/>
                </a:cubicBezTo>
                <a:cubicBezTo>
                  <a:pt x="4118" y="17056"/>
                  <a:pt x="0" y="26088"/>
                  <a:pt x="0" y="35503"/>
                </a:cubicBezTo>
                <a:cubicBezTo>
                  <a:pt x="0" y="44919"/>
                  <a:pt x="4118" y="53950"/>
                  <a:pt x="11447" y="60608"/>
                </a:cubicBezTo>
                <a:cubicBezTo>
                  <a:pt x="18776" y="67265"/>
                  <a:pt x="28718" y="71006"/>
                  <a:pt x="39082" y="71006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518657" y="2215133"/>
            <a:ext cx="2740158" cy="2804922"/>
          </a:xfrm>
          <a:custGeom>
            <a:avLst/>
            <a:gdLst/>
            <a:ahLst/>
            <a:cxnLst/>
            <a:rect l="0" t="0" r="r" b="b"/>
            <a:pathLst>
              <a:path w="258913" h="265032">
                <a:moveTo>
                  <a:pt x="0" y="0"/>
                </a:moveTo>
                <a:lnTo>
                  <a:pt x="258913" y="0"/>
                </a:lnTo>
                <a:lnTo>
                  <a:pt x="25891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3172" y="2299854"/>
            <a:ext cx="2573482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518657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518657" y="5020055"/>
            <a:ext cx="2740158" cy="105"/>
          </a:xfrm>
          <a:custGeom>
            <a:avLst/>
            <a:gdLst/>
            <a:ahLst/>
            <a:cxnLst/>
            <a:rect l="0" t="0" r="r" b="b"/>
            <a:pathLst>
              <a:path w="258913" h="10">
                <a:moveTo>
                  <a:pt x="0" y="0"/>
                </a:moveTo>
                <a:lnTo>
                  <a:pt x="25891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5691447" y="2417866"/>
            <a:ext cx="827246" cy="751482"/>
          </a:xfrm>
          <a:custGeom>
            <a:avLst/>
            <a:gdLst/>
            <a:ahLst/>
            <a:cxnLst/>
            <a:rect l="0" t="0" r="r" b="b"/>
            <a:pathLst>
              <a:path w="78165" h="71006">
                <a:moveTo>
                  <a:pt x="39083" y="71006"/>
                </a:moveTo>
                <a:cubicBezTo>
                  <a:pt x="49447" y="71006"/>
                  <a:pt x="59389" y="67265"/>
                  <a:pt x="66718" y="60608"/>
                </a:cubicBezTo>
                <a:cubicBezTo>
                  <a:pt x="74047" y="53950"/>
                  <a:pt x="78165" y="44919"/>
                  <a:pt x="78165" y="35503"/>
                </a:cubicBezTo>
                <a:cubicBezTo>
                  <a:pt x="78165" y="26088"/>
                  <a:pt x="74047" y="17056"/>
                  <a:pt x="66718" y="10399"/>
                </a:cubicBezTo>
                <a:cubicBezTo>
                  <a:pt x="59389" y="3741"/>
                  <a:pt x="49447" y="0"/>
                  <a:pt x="39083" y="0"/>
                </a:cubicBezTo>
                <a:cubicBezTo>
                  <a:pt x="28718" y="0"/>
                  <a:pt x="18776" y="3741"/>
                  <a:pt x="11447" y="10399"/>
                </a:cubicBezTo>
                <a:cubicBezTo>
                  <a:pt x="4118" y="17056"/>
                  <a:pt x="0" y="26088"/>
                  <a:pt x="0" y="35503"/>
                </a:cubicBezTo>
                <a:cubicBezTo>
                  <a:pt x="0" y="44919"/>
                  <a:pt x="4118" y="53950"/>
                  <a:pt x="11447" y="60608"/>
                </a:cubicBezTo>
                <a:cubicBezTo>
                  <a:pt x="18776" y="67265"/>
                  <a:pt x="28718" y="71006"/>
                  <a:pt x="39083" y="71006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Source image: point cloud / tissue / logo / color scal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8" name="Editable vector geometry"/>
          <p:cNvSpPr/>
          <p:nvPr/>
        </p:nvSpPr>
        <p:spPr>
          <a:xfrm>
            <a:off x="3767327" y="446702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423631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4005607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77490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767327" y="354419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3767327" y="3313486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3767327" y="308277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3767327" y="285207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427377" y="404126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427377" y="378941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427377" y="353757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427377" y="328572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427377" y="303388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697717" y="3306946"/>
            <a:ext cx="830579" cy="793629"/>
          </a:xfrm>
          <a:custGeom>
            <a:avLst/>
            <a:gdLst/>
            <a:ahLst/>
            <a:cxnLst/>
            <a:rect l="0" t="0" r="r" b="b"/>
            <a:pathLst>
              <a:path w="78480" h="74989">
                <a:moveTo>
                  <a:pt x="0" y="74989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365163"/>
            <a:ext cx="830579" cy="489977"/>
          </a:xfrm>
          <a:custGeom>
            <a:avLst/>
            <a:gdLst/>
            <a:ahLst/>
            <a:cxnLst/>
            <a:rect l="0" t="0" r="r" b="b"/>
            <a:pathLst>
              <a:path w="78480" h="46297">
                <a:moveTo>
                  <a:pt x="0" y="4629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3238754"/>
            <a:ext cx="830579" cy="583592"/>
          </a:xfrm>
          <a:custGeom>
            <a:avLst/>
            <a:gdLst/>
            <a:ahLst/>
            <a:cxnLst/>
            <a:rect l="0" t="0" r="r" b="b"/>
            <a:pathLst>
              <a:path w="78480" h="55143">
                <a:moveTo>
                  <a:pt x="0" y="5514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3480770"/>
            <a:ext cx="830579" cy="566361"/>
          </a:xfrm>
          <a:custGeom>
            <a:avLst/>
            <a:gdLst/>
            <a:ahLst/>
            <a:cxnLst/>
            <a:rect l="0" t="0" r="r" b="b"/>
            <a:pathLst>
              <a:path w="78480" h="53514">
                <a:moveTo>
                  <a:pt x="0" y="53514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697717" y="3308142"/>
            <a:ext cx="830579" cy="751177"/>
          </a:xfrm>
          <a:custGeom>
            <a:avLst/>
            <a:gdLst/>
            <a:ahLst/>
            <a:cxnLst/>
            <a:rect l="0" t="0" r="r" b="b"/>
            <a:pathLst>
              <a:path w="78480" h="70977">
                <a:moveTo>
                  <a:pt x="0" y="7097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697717" y="3376708"/>
            <a:ext cx="830579" cy="564736"/>
          </a:xfrm>
          <a:custGeom>
            <a:avLst/>
            <a:gdLst/>
            <a:ahLst/>
            <a:cxnLst/>
            <a:rect l="0" t="0" r="r" b="b"/>
            <a:pathLst>
              <a:path w="78480" h="53361">
                <a:moveTo>
                  <a:pt x="0" y="53361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697717" y="3313569"/>
            <a:ext cx="830579" cy="669941"/>
          </a:xfrm>
          <a:custGeom>
            <a:avLst/>
            <a:gdLst/>
            <a:ahLst/>
            <a:cxnLst/>
            <a:rect l="0" t="0" r="r" b="b"/>
            <a:pathLst>
              <a:path w="78480" h="63302">
                <a:moveTo>
                  <a:pt x="0" y="63302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697717" y="3636831"/>
            <a:ext cx="830579" cy="403808"/>
          </a:xfrm>
          <a:custGeom>
            <a:avLst/>
            <a:gdLst/>
            <a:ahLst/>
            <a:cxnLst/>
            <a:rect l="0" t="0" r="r" b="b"/>
            <a:pathLst>
              <a:path w="78480" h="38155">
                <a:moveTo>
                  <a:pt x="0" y="38155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697717" y="3194742"/>
            <a:ext cx="830579" cy="1098366"/>
          </a:xfrm>
          <a:custGeom>
            <a:avLst/>
            <a:gdLst/>
            <a:ahLst/>
            <a:cxnLst/>
            <a:rect l="0" t="0" r="r" b="b"/>
            <a:pathLst>
              <a:path w="78480" h="103783">
                <a:moveTo>
                  <a:pt x="0" y="10378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97717" y="3015292"/>
            <a:ext cx="830579" cy="950948"/>
          </a:xfrm>
          <a:custGeom>
            <a:avLst/>
            <a:gdLst/>
            <a:ahLst/>
            <a:cxnLst/>
            <a:rect l="0" t="0" r="r" b="b"/>
            <a:pathLst>
              <a:path w="78480" h="89853">
                <a:moveTo>
                  <a:pt x="0" y="8985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74652" y="407751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74652" y="383207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0674652" y="379928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0674652" y="402406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0674652" y="403625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0674652" y="391837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0674652" y="396044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0674652" y="401757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0674652" y="427004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0674652" y="394317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1505231" y="328388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1505231" y="334209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1505231" y="321568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1505231" y="345770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11505231" y="328507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11505231" y="335364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vector geometry"/>
          <p:cNvSpPr/>
          <p:nvPr/>
        </p:nvSpPr>
        <p:spPr>
          <a:xfrm>
            <a:off x="11505231" y="329050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vector geometry"/>
          <p:cNvSpPr/>
          <p:nvPr/>
        </p:nvSpPr>
        <p:spPr>
          <a:xfrm>
            <a:off x="11505231" y="361376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11505231" y="317167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10598048" y="4010946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11428627" y="3323692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7684177" y="276318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8AF45">
              <a:alpha val="100000"/>
            </a:srgbClr>
          </a:solidFill>
          <a:ln w="10583">
            <a:solidFill>
              <a:srgbClr val="C8AF4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7684177" y="298263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73027">
              <a:alpha val="100000"/>
            </a:srgbClr>
          </a:solidFill>
          <a:ln w="10583">
            <a:solidFill>
              <a:srgbClr val="D7302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vector geometry"/>
          <p:cNvSpPr/>
          <p:nvPr/>
        </p:nvSpPr>
        <p:spPr>
          <a:xfrm>
            <a:off x="7684177" y="320209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vector geometry"/>
          <p:cNvSpPr/>
          <p:nvPr/>
        </p:nvSpPr>
        <p:spPr>
          <a:xfrm>
            <a:off x="7684177" y="342154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vector geometry"/>
          <p:cNvSpPr/>
          <p:nvPr/>
        </p:nvSpPr>
        <p:spPr>
          <a:xfrm>
            <a:off x="7684177" y="36410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vector geometry"/>
          <p:cNvSpPr/>
          <p:nvPr/>
        </p:nvSpPr>
        <p:spPr>
          <a:xfrm>
            <a:off x="7684177" y="386046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vector geometry"/>
          <p:cNvSpPr/>
          <p:nvPr/>
        </p:nvSpPr>
        <p:spPr>
          <a:xfrm>
            <a:off x="7684177" y="407991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vector geometry"/>
          <p:cNvSpPr/>
          <p:nvPr/>
        </p:nvSpPr>
        <p:spPr>
          <a:xfrm>
            <a:off x="7684177" y="429937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48869">
              <a:alpha val="100000"/>
            </a:srgbClr>
          </a:solidFill>
          <a:ln w="10583">
            <a:solidFill>
              <a:srgbClr val="A4886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vector geometry"/>
          <p:cNvSpPr/>
          <p:nvPr/>
        </p:nvSpPr>
        <p:spPr>
          <a:xfrm>
            <a:off x="7684177" y="451882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95F9F">
              <a:alpha val="100000"/>
            </a:srgbClr>
          </a:solidFill>
          <a:ln w="10583">
            <a:solidFill>
              <a:srgbClr val="D95F9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ditable vector geometry"/>
          <p:cNvSpPr/>
          <p:nvPr/>
        </p:nvSpPr>
        <p:spPr>
          <a:xfrm>
            <a:off x="7684177" y="473828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vector geometry"/>
          <p:cNvSpPr/>
          <p:nvPr/>
        </p:nvSpPr>
        <p:spPr>
          <a:xfrm>
            <a:off x="7684177" y="495774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66A98C">
              <a:alpha val="100000"/>
            </a:srgbClr>
          </a:solidFill>
          <a:ln w="10583">
            <a:solidFill>
              <a:srgbClr val="66A98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Editable vector geometry"/>
          <p:cNvSpPr/>
          <p:nvPr/>
        </p:nvSpPr>
        <p:spPr>
          <a:xfrm>
            <a:off x="7684177" y="517719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Editable text: UMAP 1"/>
          <p:cNvSpPr txBox="1"/>
          <p:nvPr/>
        </p:nvSpPr>
        <p:spPr>
          <a:xfrm>
            <a:off x="1852998" y="5070326"/>
            <a:ext cx="46270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1</a:t>
            </a:r>
          </a:p>
        </p:txBody>
      </p:sp>
      <p:sp>
        <p:nvSpPr>
          <p:cNvPr id="88" name="Editable text: UMAP 2"/>
          <p:cNvSpPr txBox="1"/>
          <p:nvPr/>
        </p:nvSpPr>
        <p:spPr>
          <a:xfrm rot="16200000">
            <a:off x="313820" y="3540776"/>
            <a:ext cx="457411" cy="1534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2</a:t>
            </a:r>
          </a:p>
        </p:txBody>
      </p:sp>
      <p:sp>
        <p:nvSpPr>
          <p:cNvPr id="89" name="Editable text: UMAP 1"/>
          <p:cNvSpPr txBox="1"/>
          <p:nvPr/>
        </p:nvSpPr>
        <p:spPr>
          <a:xfrm>
            <a:off x="5681286" y="5070326"/>
            <a:ext cx="46270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1</a:t>
            </a:r>
          </a:p>
        </p:txBody>
      </p:sp>
      <p:sp>
        <p:nvSpPr>
          <p:cNvPr id="90" name="Editable text: UMAP 2"/>
          <p:cNvSpPr txBox="1"/>
          <p:nvPr/>
        </p:nvSpPr>
        <p:spPr>
          <a:xfrm rot="16200000">
            <a:off x="4142108" y="3540776"/>
            <a:ext cx="457411" cy="1534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2</a:t>
            </a:r>
          </a:p>
        </p:txBody>
      </p:sp>
      <p:sp>
        <p:nvSpPr>
          <p:cNvPr id="91" name="Editable text: 0.00"/>
          <p:cNvSpPr txBox="1"/>
          <p:nvPr/>
        </p:nvSpPr>
        <p:spPr>
          <a:xfrm>
            <a:off x="3825536" y="4640530"/>
            <a:ext cx="207348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0.00</a:t>
            </a:r>
          </a:p>
        </p:txBody>
      </p:sp>
      <p:sp>
        <p:nvSpPr>
          <p:cNvPr id="92" name="Editable text: 0.25"/>
          <p:cNvSpPr txBox="1"/>
          <p:nvPr/>
        </p:nvSpPr>
        <p:spPr>
          <a:xfrm>
            <a:off x="3825536" y="4409822"/>
            <a:ext cx="207348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0.25</a:t>
            </a:r>
          </a:p>
        </p:txBody>
      </p:sp>
      <p:sp>
        <p:nvSpPr>
          <p:cNvPr id="93" name="Editable text: 0.50"/>
          <p:cNvSpPr txBox="1"/>
          <p:nvPr/>
        </p:nvSpPr>
        <p:spPr>
          <a:xfrm>
            <a:off x="3825536" y="4179115"/>
            <a:ext cx="207348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0.50</a:t>
            </a:r>
          </a:p>
        </p:txBody>
      </p:sp>
      <p:sp>
        <p:nvSpPr>
          <p:cNvPr id="94" name="Editable text: 0.75"/>
          <p:cNvSpPr txBox="1"/>
          <p:nvPr/>
        </p:nvSpPr>
        <p:spPr>
          <a:xfrm>
            <a:off x="3825536" y="3948408"/>
            <a:ext cx="207348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0.75</a:t>
            </a:r>
          </a:p>
        </p:txBody>
      </p:sp>
      <p:sp>
        <p:nvSpPr>
          <p:cNvPr id="95" name="Editable text: 1.00"/>
          <p:cNvSpPr txBox="1"/>
          <p:nvPr/>
        </p:nvSpPr>
        <p:spPr>
          <a:xfrm>
            <a:off x="3825536" y="3717701"/>
            <a:ext cx="207348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1.00</a:t>
            </a:r>
          </a:p>
        </p:txBody>
      </p:sp>
      <p:sp>
        <p:nvSpPr>
          <p:cNvPr id="96" name="Editable text: 1.25"/>
          <p:cNvSpPr txBox="1"/>
          <p:nvPr/>
        </p:nvSpPr>
        <p:spPr>
          <a:xfrm>
            <a:off x="3825536" y="3486993"/>
            <a:ext cx="207348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1.25</a:t>
            </a:r>
          </a:p>
        </p:txBody>
      </p:sp>
      <p:sp>
        <p:nvSpPr>
          <p:cNvPr id="97" name="Editable text: 1.50"/>
          <p:cNvSpPr txBox="1"/>
          <p:nvPr/>
        </p:nvSpPr>
        <p:spPr>
          <a:xfrm>
            <a:off x="3825536" y="3256286"/>
            <a:ext cx="207348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1.50</a:t>
            </a:r>
          </a:p>
        </p:txBody>
      </p:sp>
      <p:sp>
        <p:nvSpPr>
          <p:cNvPr id="98" name="Editable text: 1.75"/>
          <p:cNvSpPr txBox="1"/>
          <p:nvPr/>
        </p:nvSpPr>
        <p:spPr>
          <a:xfrm>
            <a:off x="3825536" y="3025579"/>
            <a:ext cx="207348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1.75</a:t>
            </a:r>
          </a:p>
        </p:txBody>
      </p:sp>
      <p:sp>
        <p:nvSpPr>
          <p:cNvPr id="99" name="Editable text: 2.00"/>
          <p:cNvSpPr txBox="1"/>
          <p:nvPr/>
        </p:nvSpPr>
        <p:spPr>
          <a:xfrm>
            <a:off x="3825536" y="2794871"/>
            <a:ext cx="207348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2.00</a:t>
            </a:r>
          </a:p>
        </p:txBody>
      </p:sp>
      <p:sp>
        <p:nvSpPr>
          <p:cNvPr id="100" name="Editable text: LYPLA1 · log1p(CP10K)"/>
          <p:cNvSpPr txBox="1"/>
          <p:nvPr/>
        </p:nvSpPr>
        <p:spPr>
          <a:xfrm rot="16200000">
            <a:off x="3581686" y="3652459"/>
            <a:ext cx="1012307" cy="1304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LYPLA1 · log1p(CP10K)</a:t>
            </a:r>
          </a:p>
        </p:txBody>
      </p:sp>
      <p:sp>
        <p:nvSpPr>
          <p:cNvPr id="101" name="Editable text: 参照"/>
          <p:cNvSpPr txBox="1"/>
          <p:nvPr/>
        </p:nvSpPr>
        <p:spPr>
          <a:xfrm>
            <a:off x="10613051" y="4327933"/>
            <a:ext cx="2074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参照</a:t>
            </a:r>
          </a:p>
        </p:txBody>
      </p:sp>
      <p:sp>
        <p:nvSpPr>
          <p:cNvPr id="102" name="Editable text: 目标"/>
          <p:cNvSpPr txBox="1"/>
          <p:nvPr/>
        </p:nvSpPr>
        <p:spPr>
          <a:xfrm>
            <a:off x="11443630" y="4327933"/>
            <a:ext cx="2074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目标</a:t>
            </a:r>
          </a:p>
        </p:txBody>
      </p:sp>
      <p:sp>
        <p:nvSpPr>
          <p:cNvPr id="103" name="Editable text: 0.0"/>
          <p:cNvSpPr txBox="1"/>
          <p:nvPr/>
        </p:nvSpPr>
        <p:spPr>
          <a:xfrm>
            <a:off x="10270776" y="4235908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0.0</a:t>
            </a:r>
          </a:p>
        </p:txBody>
      </p:sp>
      <p:sp>
        <p:nvSpPr>
          <p:cNvPr id="104" name="Editable text: 0.2"/>
          <p:cNvSpPr txBox="1"/>
          <p:nvPr/>
        </p:nvSpPr>
        <p:spPr>
          <a:xfrm>
            <a:off x="10270776" y="3984063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0.2</a:t>
            </a:r>
          </a:p>
        </p:txBody>
      </p:sp>
      <p:sp>
        <p:nvSpPr>
          <p:cNvPr id="105" name="Editable text: 0.4"/>
          <p:cNvSpPr txBox="1"/>
          <p:nvPr/>
        </p:nvSpPr>
        <p:spPr>
          <a:xfrm>
            <a:off x="10270776" y="3732218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0.4</a:t>
            </a:r>
          </a:p>
        </p:txBody>
      </p:sp>
      <p:sp>
        <p:nvSpPr>
          <p:cNvPr id="106" name="Editable text: 0.6"/>
          <p:cNvSpPr txBox="1"/>
          <p:nvPr/>
        </p:nvSpPr>
        <p:spPr>
          <a:xfrm>
            <a:off x="10270776" y="3480374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0.6</a:t>
            </a:r>
          </a:p>
        </p:txBody>
      </p:sp>
      <p:sp>
        <p:nvSpPr>
          <p:cNvPr id="107" name="Editable text: 0.8"/>
          <p:cNvSpPr txBox="1"/>
          <p:nvPr/>
        </p:nvSpPr>
        <p:spPr>
          <a:xfrm>
            <a:off x="10270776" y="3228529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0.8</a:t>
            </a:r>
          </a:p>
        </p:txBody>
      </p:sp>
      <p:sp>
        <p:nvSpPr>
          <p:cNvPr id="108" name="Editable text: 1.0"/>
          <p:cNvSpPr txBox="1"/>
          <p:nvPr/>
        </p:nvSpPr>
        <p:spPr>
          <a:xfrm>
            <a:off x="10270776" y="2976684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1.0</a:t>
            </a:r>
          </a:p>
        </p:txBody>
      </p:sp>
      <p:sp>
        <p:nvSpPr>
          <p:cNvPr id="109" name="Editable text: 患者平均表达"/>
          <p:cNvSpPr txBox="1"/>
          <p:nvPr/>
        </p:nvSpPr>
        <p:spPr>
          <a:xfrm rot="16200000">
            <a:off x="9881081" y="3480366"/>
            <a:ext cx="575733" cy="1304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患者平均表达</a:t>
            </a:r>
          </a:p>
        </p:txBody>
      </p:sp>
      <p:sp>
        <p:nvSpPr>
          <p:cNvPr id="111" name="Editable text: PRAD：从全细胞表达定位到同患者证据"/>
          <p:cNvSpPr txBox="1"/>
          <p:nvPr/>
        </p:nvSpPr>
        <p:spPr>
          <a:xfrm>
            <a:off x="609599" y="951108"/>
            <a:ext cx="5243226" cy="434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PRAD：从全细胞表达定位到同患者证据</a:t>
            </a:r>
          </a:p>
        </p:txBody>
      </p:sp>
      <p:sp>
        <p:nvSpPr>
          <p:cNvPr id="112" name="Editable text: PRAD24 · cellxgene · 全部细胞 · 肿瘤及邻近组织 · 68"/>
          <p:cNvSpPr txBox="1"/>
          <p:nvPr/>
        </p:nvSpPr>
        <p:spPr>
          <a:xfrm>
            <a:off x="609599" y="1429933"/>
            <a:ext cx="3764431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PRAD24 · cellxgene · 全部细胞 · 肿瘤及邻近组织 · 68,322 个细胞</a:t>
            </a:r>
          </a:p>
        </p:txBody>
      </p:sp>
      <p:sp>
        <p:nvSpPr>
          <p:cNvPr id="113" name="Editable text: LYPLA1 expression"/>
          <p:cNvSpPr txBox="1"/>
          <p:nvPr/>
        </p:nvSpPr>
        <p:spPr>
          <a:xfrm>
            <a:off x="585216" y="1882394"/>
            <a:ext cx="156968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LYPLA1 expression</a:t>
            </a:r>
          </a:p>
        </p:txBody>
      </p:sp>
      <p:sp>
        <p:nvSpPr>
          <p:cNvPr id="114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Cell types</a:t>
            </a:r>
          </a:p>
        </p:txBody>
      </p:sp>
      <p:sp>
        <p:nvSpPr>
          <p:cNvPr id="115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同患者证据</a:t>
            </a:r>
          </a:p>
        </p:txBody>
      </p:sp>
      <p:sp>
        <p:nvSpPr>
          <p:cNvPr id="116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Cell type (n cells)</a:t>
            </a:r>
          </a:p>
        </p:txBody>
      </p:sp>
      <p:sp>
        <p:nvSpPr>
          <p:cNvPr id="117" name="Editable text: Malignant epithelial"/>
          <p:cNvSpPr txBox="1"/>
          <p:nvPr/>
        </p:nvSpPr>
        <p:spPr>
          <a:xfrm>
            <a:off x="7827263" y="2493530"/>
            <a:ext cx="926816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1" lang="zh-CN">
                <a:solidFill>
                  <a:srgbClr val="78B436"/>
                </a:solidFill>
                <a:latin typeface="Microsoft YaHei"/>
                <a:ea typeface="微软雅黑"/>
                <a:cs typeface="Microsoft YaHei"/>
              </a:defRPr>
            </a:pPr>
            <a:r>
              <a:t>Malignant epithelial</a:t>
            </a:r>
          </a:p>
        </p:txBody>
      </p:sp>
      <p:sp>
        <p:nvSpPr>
          <p:cNvPr id="118" name="Editable text: 3,802"/>
          <p:cNvSpPr txBox="1"/>
          <p:nvPr/>
        </p:nvSpPr>
        <p:spPr>
          <a:xfrm>
            <a:off x="9604336" y="2496053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3,802</a:t>
            </a:r>
          </a:p>
        </p:txBody>
      </p:sp>
      <p:sp>
        <p:nvSpPr>
          <p:cNvPr id="119" name="Editable text: Altered benign epi."/>
          <p:cNvSpPr txBox="1"/>
          <p:nvPr/>
        </p:nvSpPr>
        <p:spPr>
          <a:xfrm>
            <a:off x="7827263" y="2712986"/>
            <a:ext cx="841285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Altered benign epi.</a:t>
            </a:r>
          </a:p>
        </p:txBody>
      </p:sp>
      <p:sp>
        <p:nvSpPr>
          <p:cNvPr id="120" name="Editable text: 10,920"/>
          <p:cNvSpPr txBox="1"/>
          <p:nvPr/>
        </p:nvSpPr>
        <p:spPr>
          <a:xfrm>
            <a:off x="9553900" y="2715510"/>
            <a:ext cx="310409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10,920</a:t>
            </a:r>
          </a:p>
        </p:txBody>
      </p:sp>
      <p:sp>
        <p:nvSpPr>
          <p:cNvPr id="121" name="Editable text: B cells"/>
          <p:cNvSpPr txBox="1"/>
          <p:nvPr/>
        </p:nvSpPr>
        <p:spPr>
          <a:xfrm>
            <a:off x="7827263" y="2932690"/>
            <a:ext cx="30182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B cells</a:t>
            </a:r>
          </a:p>
        </p:txBody>
      </p:sp>
      <p:sp>
        <p:nvSpPr>
          <p:cNvPr id="122" name="Editable text: 706"/>
          <p:cNvSpPr txBox="1"/>
          <p:nvPr/>
        </p:nvSpPr>
        <p:spPr>
          <a:xfrm>
            <a:off x="9675443" y="2934966"/>
            <a:ext cx="189280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706</a:t>
            </a:r>
          </a:p>
        </p:txBody>
      </p:sp>
      <p:sp>
        <p:nvSpPr>
          <p:cNvPr id="123" name="Editable text: CAFs"/>
          <p:cNvSpPr txBox="1"/>
          <p:nvPr/>
        </p:nvSpPr>
        <p:spPr>
          <a:xfrm>
            <a:off x="7827263" y="3152146"/>
            <a:ext cx="247450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CAFs</a:t>
            </a:r>
          </a:p>
        </p:txBody>
      </p:sp>
      <p:sp>
        <p:nvSpPr>
          <p:cNvPr id="124" name="Editable text: 2,552"/>
          <p:cNvSpPr txBox="1"/>
          <p:nvPr/>
        </p:nvSpPr>
        <p:spPr>
          <a:xfrm>
            <a:off x="9604336" y="3154422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2,552</a:t>
            </a:r>
          </a:p>
        </p:txBody>
      </p:sp>
      <p:sp>
        <p:nvSpPr>
          <p:cNvPr id="125" name="Editable text: Cycling"/>
          <p:cNvSpPr txBox="1"/>
          <p:nvPr/>
        </p:nvSpPr>
        <p:spPr>
          <a:xfrm>
            <a:off x="7827263" y="3371354"/>
            <a:ext cx="345502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Cycling</a:t>
            </a:r>
          </a:p>
        </p:txBody>
      </p:sp>
      <p:sp>
        <p:nvSpPr>
          <p:cNvPr id="126" name="Editable text: 268"/>
          <p:cNvSpPr txBox="1"/>
          <p:nvPr/>
        </p:nvSpPr>
        <p:spPr>
          <a:xfrm>
            <a:off x="9675443" y="3373877"/>
            <a:ext cx="189280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268</a:t>
            </a:r>
          </a:p>
        </p:txBody>
      </p:sp>
      <p:sp>
        <p:nvSpPr>
          <p:cNvPr id="127" name="Editable text: Endothelial"/>
          <p:cNvSpPr txBox="1"/>
          <p:nvPr/>
        </p:nvSpPr>
        <p:spPr>
          <a:xfrm>
            <a:off x="7827263" y="3591058"/>
            <a:ext cx="50939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Endothelial</a:t>
            </a:r>
          </a:p>
        </p:txBody>
      </p:sp>
      <p:sp>
        <p:nvSpPr>
          <p:cNvPr id="128" name="Editable text: 14,177"/>
          <p:cNvSpPr txBox="1"/>
          <p:nvPr/>
        </p:nvSpPr>
        <p:spPr>
          <a:xfrm>
            <a:off x="9553900" y="3593334"/>
            <a:ext cx="310409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14,177</a:t>
            </a:r>
          </a:p>
        </p:txBody>
      </p:sp>
      <p:sp>
        <p:nvSpPr>
          <p:cNvPr id="129" name="Editable text: Myeloid"/>
          <p:cNvSpPr txBox="1"/>
          <p:nvPr/>
        </p:nvSpPr>
        <p:spPr>
          <a:xfrm>
            <a:off x="7827263" y="3810266"/>
            <a:ext cx="380111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Myeloid</a:t>
            </a:r>
          </a:p>
        </p:txBody>
      </p:sp>
      <p:sp>
        <p:nvSpPr>
          <p:cNvPr id="130" name="Editable text: 2,743"/>
          <p:cNvSpPr txBox="1"/>
          <p:nvPr/>
        </p:nvSpPr>
        <p:spPr>
          <a:xfrm>
            <a:off x="9604336" y="3812790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2,743</a:t>
            </a:r>
          </a:p>
        </p:txBody>
      </p:sp>
      <p:sp>
        <p:nvSpPr>
          <p:cNvPr id="131" name="Editable text: Normal epithelial"/>
          <p:cNvSpPr txBox="1"/>
          <p:nvPr/>
        </p:nvSpPr>
        <p:spPr>
          <a:xfrm>
            <a:off x="7827263" y="4029970"/>
            <a:ext cx="765111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Normal epithelial</a:t>
            </a:r>
          </a:p>
        </p:txBody>
      </p:sp>
      <p:sp>
        <p:nvSpPr>
          <p:cNvPr id="132" name="Editable text: 6,136"/>
          <p:cNvSpPr txBox="1"/>
          <p:nvPr/>
        </p:nvSpPr>
        <p:spPr>
          <a:xfrm>
            <a:off x="9604336" y="4032246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6,136</a:t>
            </a:r>
          </a:p>
        </p:txBody>
      </p:sp>
      <p:sp>
        <p:nvSpPr>
          <p:cNvPr id="133" name="Editable text: PNS glial"/>
          <p:cNvSpPr txBox="1"/>
          <p:nvPr/>
        </p:nvSpPr>
        <p:spPr>
          <a:xfrm>
            <a:off x="7827263" y="4249178"/>
            <a:ext cx="416282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PNS glial</a:t>
            </a:r>
          </a:p>
        </p:txBody>
      </p:sp>
      <p:sp>
        <p:nvSpPr>
          <p:cNvPr id="134" name="Editable text: 1,096"/>
          <p:cNvSpPr txBox="1"/>
          <p:nvPr/>
        </p:nvSpPr>
        <p:spPr>
          <a:xfrm>
            <a:off x="9604336" y="4251701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1,096</a:t>
            </a:r>
          </a:p>
        </p:txBody>
      </p:sp>
      <p:sp>
        <p:nvSpPr>
          <p:cNvPr id="135" name="Editable text: Plasma cells"/>
          <p:cNvSpPr txBox="1"/>
          <p:nvPr/>
        </p:nvSpPr>
        <p:spPr>
          <a:xfrm>
            <a:off x="7827263" y="4468882"/>
            <a:ext cx="544003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Plasma cells</a:t>
            </a:r>
          </a:p>
        </p:txBody>
      </p:sp>
      <p:sp>
        <p:nvSpPr>
          <p:cNvPr id="136" name="Editable text: 91"/>
          <p:cNvSpPr txBox="1"/>
          <p:nvPr/>
        </p:nvSpPr>
        <p:spPr>
          <a:xfrm>
            <a:off x="9725879" y="4471158"/>
            <a:ext cx="13904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91</a:t>
            </a:r>
          </a:p>
        </p:txBody>
      </p:sp>
      <p:sp>
        <p:nvSpPr>
          <p:cNvPr id="137" name="Editable text: SMCs"/>
          <p:cNvSpPr txBox="1"/>
          <p:nvPr/>
        </p:nvSpPr>
        <p:spPr>
          <a:xfrm>
            <a:off x="7827263" y="4688338"/>
            <a:ext cx="275471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SMCs</a:t>
            </a:r>
          </a:p>
        </p:txBody>
      </p:sp>
      <p:sp>
        <p:nvSpPr>
          <p:cNvPr id="138" name="Editable text: 6,709"/>
          <p:cNvSpPr txBox="1"/>
          <p:nvPr/>
        </p:nvSpPr>
        <p:spPr>
          <a:xfrm>
            <a:off x="9604336" y="469061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6,709</a:t>
            </a:r>
          </a:p>
        </p:txBody>
      </p:sp>
      <p:sp>
        <p:nvSpPr>
          <p:cNvPr id="139" name="Editable text: T cells"/>
          <p:cNvSpPr txBox="1"/>
          <p:nvPr/>
        </p:nvSpPr>
        <p:spPr>
          <a:xfrm>
            <a:off x="7827263" y="4907794"/>
            <a:ext cx="297080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T cells</a:t>
            </a:r>
          </a:p>
        </p:txBody>
      </p:sp>
      <p:sp>
        <p:nvSpPr>
          <p:cNvPr id="140" name="Editable text: 19,033"/>
          <p:cNvSpPr txBox="1"/>
          <p:nvPr/>
        </p:nvSpPr>
        <p:spPr>
          <a:xfrm>
            <a:off x="9553900" y="4910070"/>
            <a:ext cx="310409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19,033</a:t>
            </a:r>
          </a:p>
        </p:txBody>
      </p:sp>
      <p:sp>
        <p:nvSpPr>
          <p:cNvPr id="141" name="Editable text: Unassigned"/>
          <p:cNvSpPr txBox="1"/>
          <p:nvPr/>
        </p:nvSpPr>
        <p:spPr>
          <a:xfrm>
            <a:off x="7827263" y="5127002"/>
            <a:ext cx="52889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Unassigned</a:t>
            </a:r>
          </a:p>
        </p:txBody>
      </p:sp>
      <p:sp>
        <p:nvSpPr>
          <p:cNvPr id="142" name="Editable text: 89"/>
          <p:cNvSpPr txBox="1"/>
          <p:nvPr/>
        </p:nvSpPr>
        <p:spPr>
          <a:xfrm>
            <a:off x="9725879" y="5129526"/>
            <a:ext cx="13904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89</a:t>
            </a:r>
          </a:p>
        </p:txBody>
      </p:sp>
      <p:sp>
        <p:nvSpPr>
          <p:cNvPr id="143" name="Editable text: Malignant epithelial：红圈仅作位置提示"/>
          <p:cNvSpPr txBox="1"/>
          <p:nvPr/>
        </p:nvSpPr>
        <p:spPr>
          <a:xfrm>
            <a:off x="4969443" y="5322550"/>
            <a:ext cx="1808321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DD3434"/>
                </a:solidFill>
                <a:latin typeface="Microsoft YaHei"/>
                <a:ea typeface="微软雅黑"/>
                <a:cs typeface="Microsoft YaHei"/>
              </a:defRPr>
            </a:pPr>
            <a:r>
              <a:t>Malignant epithelial：红圈仅作位置提示</a:t>
            </a:r>
          </a:p>
        </p:txBody>
      </p:sp>
      <p:sp>
        <p:nvSpPr>
          <p:cNvPr id="144" name="Editable text: 色标上限 2.12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24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色标上限 2.12 · 阳性值第99百分位</a:t>
            </a:r>
          </a:p>
        </p:txBody>
      </p:sp>
      <p:sp>
        <p:nvSpPr>
          <p:cNvPr id="145" name="Editable text: 描述性配对 · 未做显著性检验"/>
          <p:cNvSpPr txBox="1"/>
          <p:nvPr/>
        </p:nvSpPr>
        <p:spPr>
          <a:xfrm>
            <a:off x="10476098" y="2292101"/>
            <a:ext cx="1237090" cy="141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33" b="0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描述性配对 · 未做显著性检验</a:t>
            </a:r>
          </a:p>
        </p:txBody>
      </p:sp>
      <p:sp>
        <p:nvSpPr>
          <p:cNvPr id="146" name="Editable text: 10 / 10"/>
          <p:cNvSpPr txBox="1"/>
          <p:nvPr/>
        </p:nvSpPr>
        <p:spPr>
          <a:xfrm>
            <a:off x="10645755" y="4515203"/>
            <a:ext cx="1012698" cy="386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10 / 10</a:t>
            </a:r>
          </a:p>
        </p:txBody>
      </p:sp>
      <p:sp>
        <p:nvSpPr>
          <p:cNvPr id="147" name="Editable text: 患者目标组表达更高"/>
          <p:cNvSpPr txBox="1"/>
          <p:nvPr/>
        </p:nvSpPr>
        <p:spPr>
          <a:xfrm>
            <a:off x="10630376" y="4896599"/>
            <a:ext cx="980122" cy="15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患者目标组表达更高</a:t>
            </a:r>
          </a:p>
        </p:txBody>
      </p:sp>
      <p:sp>
        <p:nvSpPr>
          <p:cNvPr id="148" name="Editable text: 平均差 +0.546"/>
          <p:cNvSpPr txBox="1"/>
          <p:nvPr/>
        </p:nvSpPr>
        <p:spPr>
          <a:xfrm>
            <a:off x="10761593" y="5208622"/>
            <a:ext cx="711131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平均差 +0.546</a:t>
            </a:r>
          </a:p>
        </p:txBody>
      </p:sp>
      <p:sp>
        <p:nvSpPr>
          <p:cNvPr id="149" name="Editable text: 参照：非恶性上皮"/>
          <p:cNvSpPr txBox="1"/>
          <p:nvPr/>
        </p:nvSpPr>
        <p:spPr>
          <a:xfrm>
            <a:off x="10253471" y="5553064"/>
            <a:ext cx="760148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参照：非恶性上皮</a:t>
            </a:r>
          </a:p>
        </p:txBody>
      </p:sp>
      <p:sp>
        <p:nvSpPr>
          <p:cNvPr id="150" name="Editable text: 目标：恶性上皮"/>
          <p:cNvSpPr txBox="1"/>
          <p:nvPr/>
        </p:nvSpPr>
        <p:spPr>
          <a:xfrm>
            <a:off x="10253471" y="5745089"/>
            <a:ext cx="670190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目标：恶性上皮</a:t>
            </a:r>
          </a:p>
        </p:txBody>
      </p:sp>
      <p:sp>
        <p:nvSpPr>
          <p:cNvPr id="151" name="Editable text: 同患者描述：10/10 位目标上皮表达更高；尚未作显著性检验。"/>
          <p:cNvSpPr txBox="1"/>
          <p:nvPr/>
        </p:nvSpPr>
        <p:spPr>
          <a:xfrm>
            <a:off x="609599" y="6115405"/>
            <a:ext cx="4250753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同患者描述：10/10 位目标上皮表达更高；尚未作显著性检验。</a:t>
            </a:r>
          </a:p>
        </p:txBody>
      </p:sp>
      <p:sp>
        <p:nvSpPr>
          <p:cNvPr id="152" name="Editable text: 患者比较仅用肿瘤组织内上皮；altered benign 不纳入两组比较。描述性"/>
          <p:cNvSpPr txBox="1"/>
          <p:nvPr/>
        </p:nvSpPr>
        <p:spPr>
          <a:xfrm>
            <a:off x="609599" y="6418743"/>
            <a:ext cx="3932419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患者比较仅用肿瘤组织内上皮；altered benign 不纳入两组比较。描述性配对展示，未新增检验。</a:t>
            </a:r>
          </a:p>
        </p:txBody>
      </p:sp>
      <p:sp>
        <p:nvSpPr>
          <p:cNvPr id="153" name="Editable text: 14"/>
          <p:cNvSpPr txBox="1"/>
          <p:nvPr/>
        </p:nvSpPr>
        <p:spPr>
          <a:xfrm>
            <a:off x="11521427" y="6424015"/>
            <a:ext cx="249512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14</a:t>
            </a:r>
          </a:p>
        </p:txBody>
      </p:sp>
      <p:pic>
        <p:nvPicPr>
          <p:cNvPr id="154" name="Picture 153" descr="image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55" name="TextBox 154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156" name="Connector 155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2357970" y="2016251"/>
            <a:ext cx="1928698" cy="1961388"/>
          </a:xfrm>
          <a:custGeom>
            <a:avLst/>
            <a:gdLst/>
            <a:ahLst/>
            <a:cxnLst/>
            <a:rect l="0" t="0" r="r" b="b"/>
            <a:pathLst>
              <a:path w="182239" h="185328">
                <a:moveTo>
                  <a:pt x="0" y="0"/>
                </a:moveTo>
                <a:lnTo>
                  <a:pt x="182239" y="0"/>
                </a:lnTo>
                <a:lnTo>
                  <a:pt x="182239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7970" y="2016251"/>
            <a:ext cx="1928698" cy="1959753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5527890" y="2016251"/>
            <a:ext cx="1928698" cy="1961388"/>
          </a:xfrm>
          <a:custGeom>
            <a:avLst/>
            <a:gdLst/>
            <a:ahLst/>
            <a:cxnLst/>
            <a:rect l="0" t="0" r="r" b="b"/>
            <a:pathLst>
              <a:path w="182239" h="185328">
                <a:moveTo>
                  <a:pt x="0" y="0"/>
                </a:moveTo>
                <a:lnTo>
                  <a:pt x="182239" y="0"/>
                </a:lnTo>
                <a:lnTo>
                  <a:pt x="182239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Source image: point cloud / tissue / logo / color scal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7890" y="2016251"/>
            <a:ext cx="1928698" cy="1959753"/>
          </a:xfrm>
          <a:prstGeom prst="rect">
            <a:avLst/>
          </a:prstGeom>
        </p:spPr>
      </p:pic>
      <p:pic>
        <p:nvPicPr>
          <p:cNvPr id="8" name="Source image: point cloud / tissue / logo / color scal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6711" y="2343911"/>
            <a:ext cx="1557527" cy="1453896"/>
          </a:xfrm>
          <a:prstGeom prst="rect">
            <a:avLst/>
          </a:prstGeom>
        </p:spPr>
      </p:pic>
      <p:sp>
        <p:nvSpPr>
          <p:cNvPr id="9" name="Editable vector geometry"/>
          <p:cNvSpPr/>
          <p:nvPr/>
        </p:nvSpPr>
        <p:spPr>
          <a:xfrm>
            <a:off x="8697810" y="2016251"/>
            <a:ext cx="1928698" cy="1961388"/>
          </a:xfrm>
          <a:custGeom>
            <a:avLst/>
            <a:gdLst/>
            <a:ahLst/>
            <a:cxnLst/>
            <a:rect l="0" t="0" r="r" b="b"/>
            <a:pathLst>
              <a:path w="182239" h="185328">
                <a:moveTo>
                  <a:pt x="0" y="0"/>
                </a:moveTo>
                <a:lnTo>
                  <a:pt x="182239" y="0"/>
                </a:lnTo>
                <a:lnTo>
                  <a:pt x="182239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7810" y="2016251"/>
            <a:ext cx="1928698" cy="1959753"/>
          </a:xfrm>
          <a:prstGeom prst="rect">
            <a:avLst/>
          </a:prstGeom>
        </p:spPr>
      </p:pic>
      <p:pic>
        <p:nvPicPr>
          <p:cNvPr id="11" name="Source image: point cloud / tissue / logo / color scale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6631" y="2343911"/>
            <a:ext cx="1557527" cy="1453896"/>
          </a:xfrm>
          <a:prstGeom prst="rect">
            <a:avLst/>
          </a:prstGeom>
        </p:spPr>
      </p:pic>
      <p:sp>
        <p:nvSpPr>
          <p:cNvPr id="12" name="Editable vector geometry"/>
          <p:cNvSpPr/>
          <p:nvPr/>
        </p:nvSpPr>
        <p:spPr>
          <a:xfrm>
            <a:off x="2341625" y="4258818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ource image: point cloud / tissue / logo / color scale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41625" y="4258817"/>
            <a:ext cx="1959864" cy="1959753"/>
          </a:xfrm>
          <a:prstGeom prst="rect">
            <a:avLst/>
          </a:prstGeom>
        </p:spPr>
      </p:pic>
      <p:sp>
        <p:nvSpPr>
          <p:cNvPr id="14" name="Editable vector geometry"/>
          <p:cNvSpPr/>
          <p:nvPr/>
        </p:nvSpPr>
        <p:spPr>
          <a:xfrm>
            <a:off x="5511546" y="4258818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Source image: point cloud / tissue / logo / color scale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11546" y="4258817"/>
            <a:ext cx="1959864" cy="1959753"/>
          </a:xfrm>
          <a:prstGeom prst="rect">
            <a:avLst/>
          </a:prstGeom>
        </p:spPr>
      </p:pic>
      <p:pic>
        <p:nvPicPr>
          <p:cNvPr id="16" name="Source image: point cloud / tissue / logo / color scale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92368" y="4504943"/>
            <a:ext cx="1027176" cy="1243583"/>
          </a:xfrm>
          <a:prstGeom prst="rect">
            <a:avLst/>
          </a:prstGeom>
        </p:spPr>
      </p:pic>
      <p:sp>
        <p:nvSpPr>
          <p:cNvPr id="17" name="Editable vector geometry"/>
          <p:cNvSpPr/>
          <p:nvPr/>
        </p:nvSpPr>
        <p:spPr>
          <a:xfrm>
            <a:off x="8681466" y="4258818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Source image: point cloud / tissue / logo / color scale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1466" y="4258817"/>
            <a:ext cx="1959864" cy="1959753"/>
          </a:xfrm>
          <a:prstGeom prst="rect">
            <a:avLst/>
          </a:prstGeom>
        </p:spPr>
      </p:pic>
      <p:pic>
        <p:nvPicPr>
          <p:cNvPr id="19" name="Source image: point cloud / tissue / logo / color scale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62288" y="4504943"/>
            <a:ext cx="1027176" cy="1243583"/>
          </a:xfrm>
          <a:prstGeom prst="rect">
            <a:avLst/>
          </a:prstGeom>
        </p:spPr>
      </p:pic>
      <p:sp>
        <p:nvSpPr>
          <p:cNvPr id="20" name="Editable vector geometry"/>
          <p:cNvSpPr/>
          <p:nvPr/>
        </p:nvSpPr>
        <p:spPr>
          <a:xfrm>
            <a:off x="11277599" y="3074669"/>
            <a:ext cx="97536" cy="1828800"/>
          </a:xfrm>
          <a:custGeom>
            <a:avLst/>
            <a:gdLst/>
            <a:ahLst/>
            <a:cxnLst/>
            <a:rect l="0" t="0" r="r" b="b"/>
            <a:pathLst>
              <a:path w="9216" h="172800">
                <a:moveTo>
                  <a:pt x="0" y="0"/>
                </a:moveTo>
                <a:lnTo>
                  <a:pt x="9216" y="0"/>
                </a:lnTo>
                <a:lnTo>
                  <a:pt x="9216" y="172800"/>
                </a:lnTo>
                <a:lnTo>
                  <a:pt x="0" y="1728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11277599" y="2983230"/>
            <a:ext cx="97536" cy="91439"/>
          </a:xfrm>
          <a:custGeom>
            <a:avLst/>
            <a:gdLst/>
            <a:ahLst/>
            <a:cxnLst/>
            <a:rect l="0" t="0" r="r" b="b"/>
            <a:pathLst>
              <a:path w="9216" h="8640">
                <a:moveTo>
                  <a:pt x="0" y="8640"/>
                </a:moveTo>
                <a:lnTo>
                  <a:pt x="4608" y="0"/>
                </a:lnTo>
                <a:lnTo>
                  <a:pt x="9216" y="8640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Source image: point cloud / tissue / logo / color scale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77599" y="3075431"/>
            <a:ext cx="97535" cy="1828799"/>
          </a:xfrm>
          <a:prstGeom prst="rect">
            <a:avLst/>
          </a:prstGeom>
        </p:spPr>
      </p:pic>
      <p:sp>
        <p:nvSpPr>
          <p:cNvPr id="23" name="Editable vector geometry"/>
          <p:cNvSpPr/>
          <p:nvPr/>
        </p:nvSpPr>
        <p:spPr>
          <a:xfrm>
            <a:off x="11375136" y="490347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1375136" y="429387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1375136" y="368426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1375136" y="307466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1277599" y="2983230"/>
            <a:ext cx="97536" cy="1920240"/>
          </a:xfrm>
          <a:custGeom>
            <a:avLst/>
            <a:gdLst/>
            <a:ahLst/>
            <a:cxnLst/>
            <a:rect l="0" t="0" r="r" b="b"/>
            <a:pathLst>
              <a:path w="9216" h="181440">
                <a:moveTo>
                  <a:pt x="0" y="181440"/>
                </a:moveTo>
                <a:lnTo>
                  <a:pt x="4608" y="181440"/>
                </a:lnTo>
                <a:lnTo>
                  <a:pt x="9216" y="181440"/>
                </a:lnTo>
                <a:lnTo>
                  <a:pt x="9216" y="8640"/>
                </a:lnTo>
                <a:lnTo>
                  <a:pt x="4608" y="0"/>
                </a:lnTo>
                <a:lnTo>
                  <a:pt x="0" y="8640"/>
                </a:lnTo>
                <a:lnTo>
                  <a:pt x="0" y="18144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669543" y="2724657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C94B54">
              <a:alpha val="100000"/>
            </a:srgbClr>
          </a:solidFill>
          <a:ln w="10583">
            <a:solidFill>
              <a:srgbClr val="C94B5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669543" y="2909824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D1AE35">
              <a:alpha val="100000"/>
            </a:srgbClr>
          </a:solidFill>
          <a:ln w="10583">
            <a:solidFill>
              <a:srgbClr val="D1AE3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669543" y="3094990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836BB1">
              <a:alpha val="100000"/>
            </a:srgbClr>
          </a:solidFill>
          <a:ln w="10583">
            <a:solidFill>
              <a:srgbClr val="836B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669543" y="3280156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BFC6C9">
              <a:alpha val="100000"/>
            </a:srgbClr>
          </a:solidFill>
          <a:ln w="10583">
            <a:solidFill>
              <a:srgbClr val="BFC6C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669543" y="3465322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E4E8E8">
              <a:alpha val="100000"/>
            </a:srgbClr>
          </a:solidFill>
          <a:ln w="10583">
            <a:solidFill>
              <a:srgbClr val="E4E8E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669543" y="4967223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C94B54">
              <a:alpha val="100000"/>
            </a:srgbClr>
          </a:solidFill>
          <a:ln w="10583">
            <a:solidFill>
              <a:srgbClr val="C94B5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669543" y="5152389"/>
            <a:ext cx="50800" cy="50800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D1AE35">
              <a:alpha val="100000"/>
            </a:srgbClr>
          </a:solidFill>
          <a:ln w="10583">
            <a:solidFill>
              <a:srgbClr val="D1AE3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669543" y="5337555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836BB1">
              <a:alpha val="100000"/>
            </a:srgbClr>
          </a:solidFill>
          <a:ln w="10583">
            <a:solidFill>
              <a:srgbClr val="836B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669543" y="5522722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3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3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BFC6C9">
              <a:alpha val="100000"/>
            </a:srgbClr>
          </a:solidFill>
          <a:ln w="10583">
            <a:solidFill>
              <a:srgbClr val="BFC6C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669543" y="5707888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3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3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E4E8E8">
              <a:alpha val="100000"/>
            </a:srgbClr>
          </a:solidFill>
          <a:ln w="10583">
            <a:solidFill>
              <a:srgbClr val="E4E8E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669543" y="5893053"/>
            <a:ext cx="50800" cy="50800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258F88">
              <a:alpha val="100000"/>
            </a:srgbClr>
          </a:solidFill>
          <a:ln w="10583">
            <a:solidFill>
              <a:srgbClr val="258F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609599" y="4101083"/>
            <a:ext cx="1042416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609599" y="6336792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text: 0"/>
          <p:cNvSpPr txBox="1"/>
          <p:nvPr/>
        </p:nvSpPr>
        <p:spPr>
          <a:xfrm>
            <a:off x="11433344" y="4839110"/>
            <a:ext cx="98679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</a:t>
            </a:r>
          </a:p>
        </p:txBody>
      </p:sp>
      <p:sp>
        <p:nvSpPr>
          <p:cNvPr id="43" name="Editable text: 1"/>
          <p:cNvSpPr txBox="1"/>
          <p:nvPr/>
        </p:nvSpPr>
        <p:spPr>
          <a:xfrm>
            <a:off x="11433344" y="4229510"/>
            <a:ext cx="98679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</a:t>
            </a:r>
          </a:p>
        </p:txBody>
      </p:sp>
      <p:sp>
        <p:nvSpPr>
          <p:cNvPr id="44" name="Editable text: 2"/>
          <p:cNvSpPr txBox="1"/>
          <p:nvPr/>
        </p:nvSpPr>
        <p:spPr>
          <a:xfrm>
            <a:off x="11433344" y="3619910"/>
            <a:ext cx="98679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2</a:t>
            </a:r>
          </a:p>
        </p:txBody>
      </p:sp>
      <p:sp>
        <p:nvSpPr>
          <p:cNvPr id="45" name="Editable text: 3"/>
          <p:cNvSpPr txBox="1"/>
          <p:nvPr/>
        </p:nvSpPr>
        <p:spPr>
          <a:xfrm>
            <a:off x="11433344" y="3010309"/>
            <a:ext cx="98679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3</a:t>
            </a:r>
          </a:p>
        </p:txBody>
      </p:sp>
      <p:sp>
        <p:nvSpPr>
          <p:cNvPr id="46" name="Editable text: LYPLA1 · log1p(CP10K)"/>
          <p:cNvSpPr txBox="1"/>
          <p:nvPr/>
        </p:nvSpPr>
        <p:spPr>
          <a:xfrm rot="16200000">
            <a:off x="11054993" y="3919890"/>
            <a:ext cx="1071709" cy="138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LYPLA1 · log1p(CP10K)</a:t>
            </a:r>
          </a:p>
        </p:txBody>
      </p:sp>
      <p:sp>
        <p:nvSpPr>
          <p:cNvPr id="48" name="Editable text: BRCA：LYPLA1 在病理癌区中的空间分布"/>
          <p:cNvSpPr txBox="1"/>
          <p:nvPr/>
        </p:nvSpPr>
        <p:spPr>
          <a:xfrm>
            <a:off x="609599" y="959508"/>
            <a:ext cx="5299847" cy="4182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BRCA：LYPLA1 在病理癌区中的空间分布</a:t>
            </a:r>
          </a:p>
        </p:txBody>
      </p:sp>
      <p:sp>
        <p:nvSpPr>
          <p:cNvPr id="49" name="Editable text: CTA · 两位患者各一张代表切片 · 癌区与免疫区采用作者病理标注"/>
          <p:cNvSpPr txBox="1"/>
          <p:nvPr/>
        </p:nvSpPr>
        <p:spPr>
          <a:xfrm>
            <a:off x="609599" y="1440330"/>
            <a:ext cx="3527331" cy="1849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CTA · 两位患者各一张代表切片 · 癌区与免疫区采用作者病理标注</a:t>
            </a:r>
          </a:p>
        </p:txBody>
      </p:sp>
      <p:sp>
        <p:nvSpPr>
          <p:cNvPr id="50" name="Editable text: H&amp;E"/>
          <p:cNvSpPr txBox="1"/>
          <p:nvPr/>
        </p:nvSpPr>
        <p:spPr>
          <a:xfrm>
            <a:off x="1950720" y="1801723"/>
            <a:ext cx="408050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H&amp;E</a:t>
            </a:r>
          </a:p>
        </p:txBody>
      </p:sp>
      <p:sp>
        <p:nvSpPr>
          <p:cNvPr id="51" name="Editable text: 病理区域"/>
          <p:cNvSpPr txBox="1"/>
          <p:nvPr/>
        </p:nvSpPr>
        <p:spPr>
          <a:xfrm>
            <a:off x="5120639" y="1801723"/>
            <a:ext cx="659341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病理区域</a:t>
            </a:r>
          </a:p>
        </p:txBody>
      </p:sp>
      <p:sp>
        <p:nvSpPr>
          <p:cNvPr id="52" name="Editable text: LYPLA1 实测表达"/>
          <p:cNvSpPr txBox="1"/>
          <p:nvPr/>
        </p:nvSpPr>
        <p:spPr>
          <a:xfrm>
            <a:off x="8290559" y="1801723"/>
            <a:ext cx="1254180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LYPLA1 实测表达</a:t>
            </a:r>
          </a:p>
        </p:txBody>
      </p:sp>
      <p:sp>
        <p:nvSpPr>
          <p:cNvPr id="53" name="Editable text: 012_B1"/>
          <p:cNvSpPr txBox="1"/>
          <p:nvPr/>
        </p:nvSpPr>
        <p:spPr>
          <a:xfrm>
            <a:off x="609599" y="2098213"/>
            <a:ext cx="514349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012_B1</a:t>
            </a:r>
          </a:p>
        </p:txBody>
      </p:sp>
      <p:sp>
        <p:nvSpPr>
          <p:cNvPr id="54" name="Editable text: BCSA1"/>
          <p:cNvSpPr txBox="1"/>
          <p:nvPr/>
        </p:nvSpPr>
        <p:spPr>
          <a:xfrm>
            <a:off x="609599" y="2343147"/>
            <a:ext cx="382375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BCSA1</a:t>
            </a:r>
          </a:p>
        </p:txBody>
      </p:sp>
      <p:sp>
        <p:nvSpPr>
          <p:cNvPr id="55" name="Editable text: 癌区"/>
          <p:cNvSpPr txBox="1"/>
          <p:nvPr/>
        </p:nvSpPr>
        <p:spPr>
          <a:xfrm>
            <a:off x="829055" y="2673874"/>
            <a:ext cx="23336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癌区</a:t>
            </a:r>
          </a:p>
        </p:txBody>
      </p:sp>
      <p:sp>
        <p:nvSpPr>
          <p:cNvPr id="56" name="Editable text: 免疫区"/>
          <p:cNvSpPr txBox="1"/>
          <p:nvPr/>
        </p:nvSpPr>
        <p:spPr>
          <a:xfrm>
            <a:off x="829055" y="2859040"/>
            <a:ext cx="32861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免疫区</a:t>
            </a:r>
          </a:p>
        </p:txBody>
      </p:sp>
      <p:sp>
        <p:nvSpPr>
          <p:cNvPr id="57" name="Editable text: 原位癌"/>
          <p:cNvSpPr txBox="1"/>
          <p:nvPr/>
        </p:nvSpPr>
        <p:spPr>
          <a:xfrm>
            <a:off x="829055" y="3044206"/>
            <a:ext cx="32861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原位癌</a:t>
            </a:r>
          </a:p>
        </p:txBody>
      </p:sp>
      <p:sp>
        <p:nvSpPr>
          <p:cNvPr id="58" name="Editable text: 未标注区"/>
          <p:cNvSpPr txBox="1"/>
          <p:nvPr/>
        </p:nvSpPr>
        <p:spPr>
          <a:xfrm>
            <a:off x="829055" y="3229372"/>
            <a:ext cx="42386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未标注区</a:t>
            </a:r>
          </a:p>
        </p:txBody>
      </p:sp>
      <p:sp>
        <p:nvSpPr>
          <p:cNvPr id="59" name="Editable text: 混合区"/>
          <p:cNvSpPr txBox="1"/>
          <p:nvPr/>
        </p:nvSpPr>
        <p:spPr>
          <a:xfrm>
            <a:off x="829055" y="3414538"/>
            <a:ext cx="32861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混合区</a:t>
            </a:r>
          </a:p>
        </p:txBody>
      </p:sp>
      <p:sp>
        <p:nvSpPr>
          <p:cNvPr id="60" name="Editable text: 032_B1"/>
          <p:cNvSpPr txBox="1"/>
          <p:nvPr/>
        </p:nvSpPr>
        <p:spPr>
          <a:xfrm>
            <a:off x="609599" y="4340779"/>
            <a:ext cx="514349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032_B1</a:t>
            </a:r>
          </a:p>
        </p:txBody>
      </p:sp>
      <p:sp>
        <p:nvSpPr>
          <p:cNvPr id="61" name="Editable text: BCSA3"/>
          <p:cNvSpPr txBox="1"/>
          <p:nvPr/>
        </p:nvSpPr>
        <p:spPr>
          <a:xfrm>
            <a:off x="609599" y="4585713"/>
            <a:ext cx="382375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BCSA3</a:t>
            </a:r>
          </a:p>
        </p:txBody>
      </p:sp>
      <p:sp>
        <p:nvSpPr>
          <p:cNvPr id="62" name="Editable text: 癌区"/>
          <p:cNvSpPr txBox="1"/>
          <p:nvPr/>
        </p:nvSpPr>
        <p:spPr>
          <a:xfrm>
            <a:off x="829055" y="4916440"/>
            <a:ext cx="23336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癌区</a:t>
            </a:r>
          </a:p>
        </p:txBody>
      </p:sp>
      <p:sp>
        <p:nvSpPr>
          <p:cNvPr id="63" name="Editable text: 免疫区"/>
          <p:cNvSpPr txBox="1"/>
          <p:nvPr/>
        </p:nvSpPr>
        <p:spPr>
          <a:xfrm>
            <a:off x="829055" y="5101606"/>
            <a:ext cx="32861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免疫区</a:t>
            </a:r>
          </a:p>
        </p:txBody>
      </p:sp>
      <p:sp>
        <p:nvSpPr>
          <p:cNvPr id="64" name="Editable text: 原位癌"/>
          <p:cNvSpPr txBox="1"/>
          <p:nvPr/>
        </p:nvSpPr>
        <p:spPr>
          <a:xfrm>
            <a:off x="829055" y="5286772"/>
            <a:ext cx="32861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原位癌</a:t>
            </a:r>
          </a:p>
        </p:txBody>
      </p:sp>
      <p:sp>
        <p:nvSpPr>
          <p:cNvPr id="65" name="Editable text: 未标注区"/>
          <p:cNvSpPr txBox="1"/>
          <p:nvPr/>
        </p:nvSpPr>
        <p:spPr>
          <a:xfrm>
            <a:off x="829055" y="5471938"/>
            <a:ext cx="42386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未标注区</a:t>
            </a:r>
          </a:p>
        </p:txBody>
      </p:sp>
      <p:sp>
        <p:nvSpPr>
          <p:cNvPr id="66" name="Editable text: 混合区"/>
          <p:cNvSpPr txBox="1"/>
          <p:nvPr/>
        </p:nvSpPr>
        <p:spPr>
          <a:xfrm>
            <a:off x="829055" y="5657104"/>
            <a:ext cx="32861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混合区</a:t>
            </a:r>
          </a:p>
        </p:txBody>
      </p:sp>
      <p:sp>
        <p:nvSpPr>
          <p:cNvPr id="67" name="Editable text: 血管"/>
          <p:cNvSpPr txBox="1"/>
          <p:nvPr/>
        </p:nvSpPr>
        <p:spPr>
          <a:xfrm>
            <a:off x="829055" y="5842270"/>
            <a:ext cx="23336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血管</a:t>
            </a:r>
          </a:p>
        </p:txBody>
      </p:sp>
      <p:sp>
        <p:nvSpPr>
          <p:cNvPr id="68" name="Editable text: 未标注区不等于正常上皮；代表切片用于定位，不替代完整患者汇总。"/>
          <p:cNvSpPr txBox="1"/>
          <p:nvPr/>
        </p:nvSpPr>
        <p:spPr>
          <a:xfrm>
            <a:off x="609599" y="6430515"/>
            <a:ext cx="3328458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未标注区不等于正常上皮；代表切片用于定位，不替代完整患者汇总。</a:t>
            </a:r>
          </a:p>
        </p:txBody>
      </p:sp>
      <p:sp>
        <p:nvSpPr>
          <p:cNvPr id="69" name="Editable text: 统一色标 0–3；浅灰为零表达，超出上限按端点色显示。不同研究不直接比较绝对表达"/>
          <p:cNvSpPr txBox="1"/>
          <p:nvPr/>
        </p:nvSpPr>
        <p:spPr>
          <a:xfrm>
            <a:off x="609599" y="6622294"/>
            <a:ext cx="3466056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统一色标 0–3；浅灰为零表达，超出上限按端点色显示。不同研究不直接比较绝对表达。</a:t>
            </a:r>
          </a:p>
        </p:txBody>
      </p:sp>
      <p:sp>
        <p:nvSpPr>
          <p:cNvPr id="70" name="Editable text: 15"/>
          <p:cNvSpPr txBox="1"/>
          <p:nvPr/>
        </p:nvSpPr>
        <p:spPr>
          <a:xfrm>
            <a:off x="11534656" y="6542226"/>
            <a:ext cx="231690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15</a:t>
            </a:r>
          </a:p>
        </p:txBody>
      </p:sp>
      <p:pic>
        <p:nvPicPr>
          <p:cNvPr id="71" name="Picture 70" descr="image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2341625" y="2016251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1625" y="2016251"/>
            <a:ext cx="1961387" cy="1960897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5511546" y="2016251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Source image: point cloud / tissue / logo / color scal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1546" y="2016251"/>
            <a:ext cx="1961388" cy="1960897"/>
          </a:xfrm>
          <a:prstGeom prst="rect">
            <a:avLst/>
          </a:prstGeom>
        </p:spPr>
      </p:pic>
      <p:pic>
        <p:nvPicPr>
          <p:cNvPr id="8" name="Source image: point cloud / tissue / logo / color scal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2536" y="2526791"/>
            <a:ext cx="1267967" cy="1191768"/>
          </a:xfrm>
          <a:prstGeom prst="rect">
            <a:avLst/>
          </a:prstGeom>
        </p:spPr>
      </p:pic>
      <p:sp>
        <p:nvSpPr>
          <p:cNvPr id="9" name="Editable vector geometry"/>
          <p:cNvSpPr/>
          <p:nvPr/>
        </p:nvSpPr>
        <p:spPr>
          <a:xfrm>
            <a:off x="8681466" y="2016251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1466" y="2016251"/>
            <a:ext cx="1961388" cy="1960897"/>
          </a:xfrm>
          <a:prstGeom prst="rect">
            <a:avLst/>
          </a:prstGeom>
        </p:spPr>
      </p:pic>
      <p:pic>
        <p:nvPicPr>
          <p:cNvPr id="11" name="Source image: point cloud / tissue / logo / color scale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2456" y="2526791"/>
            <a:ext cx="1267967" cy="1191768"/>
          </a:xfrm>
          <a:prstGeom prst="rect">
            <a:avLst/>
          </a:prstGeom>
        </p:spPr>
      </p:pic>
      <p:sp>
        <p:nvSpPr>
          <p:cNvPr id="12" name="Editable vector geometry"/>
          <p:cNvSpPr/>
          <p:nvPr/>
        </p:nvSpPr>
        <p:spPr>
          <a:xfrm>
            <a:off x="2341625" y="4258818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ource image: point cloud / tissue / logo / color scale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41625" y="4258817"/>
            <a:ext cx="1961387" cy="1960898"/>
          </a:xfrm>
          <a:prstGeom prst="rect">
            <a:avLst/>
          </a:prstGeom>
        </p:spPr>
      </p:pic>
      <p:sp>
        <p:nvSpPr>
          <p:cNvPr id="14" name="Editable vector geometry"/>
          <p:cNvSpPr/>
          <p:nvPr/>
        </p:nvSpPr>
        <p:spPr>
          <a:xfrm>
            <a:off x="5511546" y="4258818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Source image: point cloud / tissue / logo / color scale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11546" y="4258817"/>
            <a:ext cx="1961388" cy="1960898"/>
          </a:xfrm>
          <a:prstGeom prst="rect">
            <a:avLst/>
          </a:prstGeom>
        </p:spPr>
      </p:pic>
      <p:pic>
        <p:nvPicPr>
          <p:cNvPr id="16" name="Source image: point cloud / tissue / logo / color scale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90615" y="4684776"/>
            <a:ext cx="1371600" cy="1036319"/>
          </a:xfrm>
          <a:prstGeom prst="rect">
            <a:avLst/>
          </a:prstGeom>
        </p:spPr>
      </p:pic>
      <p:sp>
        <p:nvSpPr>
          <p:cNvPr id="17" name="Editable vector geometry"/>
          <p:cNvSpPr/>
          <p:nvPr/>
        </p:nvSpPr>
        <p:spPr>
          <a:xfrm>
            <a:off x="8681466" y="4258818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Source image: point cloud / tissue / logo / color scale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1466" y="4258817"/>
            <a:ext cx="1961388" cy="1960898"/>
          </a:xfrm>
          <a:prstGeom prst="rect">
            <a:avLst/>
          </a:prstGeom>
        </p:spPr>
      </p:pic>
      <p:pic>
        <p:nvPicPr>
          <p:cNvPr id="19" name="Source image: point cloud / tissue / logo / color scale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7487" y="4684776"/>
            <a:ext cx="1374648" cy="1036319"/>
          </a:xfrm>
          <a:prstGeom prst="rect">
            <a:avLst/>
          </a:prstGeom>
        </p:spPr>
      </p:pic>
      <p:sp>
        <p:nvSpPr>
          <p:cNvPr id="20" name="Editable vector geometry"/>
          <p:cNvSpPr/>
          <p:nvPr/>
        </p:nvSpPr>
        <p:spPr>
          <a:xfrm>
            <a:off x="11277599" y="3074669"/>
            <a:ext cx="97536" cy="1828800"/>
          </a:xfrm>
          <a:custGeom>
            <a:avLst/>
            <a:gdLst/>
            <a:ahLst/>
            <a:cxnLst/>
            <a:rect l="0" t="0" r="r" b="b"/>
            <a:pathLst>
              <a:path w="9216" h="172800">
                <a:moveTo>
                  <a:pt x="0" y="0"/>
                </a:moveTo>
                <a:lnTo>
                  <a:pt x="9216" y="0"/>
                </a:lnTo>
                <a:lnTo>
                  <a:pt x="9216" y="172800"/>
                </a:lnTo>
                <a:lnTo>
                  <a:pt x="0" y="1728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11277599" y="2983230"/>
            <a:ext cx="97536" cy="91439"/>
          </a:xfrm>
          <a:custGeom>
            <a:avLst/>
            <a:gdLst/>
            <a:ahLst/>
            <a:cxnLst/>
            <a:rect l="0" t="0" r="r" b="b"/>
            <a:pathLst>
              <a:path w="9216" h="8640">
                <a:moveTo>
                  <a:pt x="0" y="8640"/>
                </a:moveTo>
                <a:lnTo>
                  <a:pt x="4608" y="0"/>
                </a:lnTo>
                <a:lnTo>
                  <a:pt x="9216" y="8640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Source image: point cloud / tissue / logo / color scale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77599" y="3075431"/>
            <a:ext cx="97535" cy="1828799"/>
          </a:xfrm>
          <a:prstGeom prst="rect">
            <a:avLst/>
          </a:prstGeom>
        </p:spPr>
      </p:pic>
      <p:sp>
        <p:nvSpPr>
          <p:cNvPr id="23" name="Editable vector geometry"/>
          <p:cNvSpPr/>
          <p:nvPr/>
        </p:nvSpPr>
        <p:spPr>
          <a:xfrm>
            <a:off x="11375136" y="490347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1375136" y="429387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1375136" y="368426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1375136" y="307466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1277599" y="2983230"/>
            <a:ext cx="97536" cy="1920240"/>
          </a:xfrm>
          <a:custGeom>
            <a:avLst/>
            <a:gdLst/>
            <a:ahLst/>
            <a:cxnLst/>
            <a:rect l="0" t="0" r="r" b="b"/>
            <a:pathLst>
              <a:path w="9216" h="181440">
                <a:moveTo>
                  <a:pt x="0" y="181440"/>
                </a:moveTo>
                <a:lnTo>
                  <a:pt x="4608" y="181440"/>
                </a:lnTo>
                <a:lnTo>
                  <a:pt x="9216" y="181440"/>
                </a:lnTo>
                <a:lnTo>
                  <a:pt x="9216" y="8640"/>
                </a:lnTo>
                <a:lnTo>
                  <a:pt x="4608" y="0"/>
                </a:lnTo>
                <a:lnTo>
                  <a:pt x="0" y="8640"/>
                </a:lnTo>
                <a:lnTo>
                  <a:pt x="0" y="18144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669543" y="2724657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C94B54">
              <a:alpha val="100000"/>
            </a:srgbClr>
          </a:solidFill>
          <a:ln w="10583">
            <a:solidFill>
              <a:srgbClr val="C94B5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669543" y="2909824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3276A5">
              <a:alpha val="100000"/>
            </a:srgbClr>
          </a:solidFill>
          <a:ln w="10583">
            <a:solidFill>
              <a:srgbClr val="3276A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669543" y="3094990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BFC6C9">
              <a:alpha val="100000"/>
            </a:srgbClr>
          </a:solidFill>
          <a:ln w="10583">
            <a:solidFill>
              <a:srgbClr val="BFC6C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669543" y="3280156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258F88">
              <a:alpha val="100000"/>
            </a:srgbClr>
          </a:solidFill>
          <a:ln w="10583">
            <a:solidFill>
              <a:srgbClr val="258F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669543" y="4967223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C94B54">
              <a:alpha val="100000"/>
            </a:srgbClr>
          </a:solidFill>
          <a:ln w="10583">
            <a:solidFill>
              <a:srgbClr val="C94B5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669543" y="5152389"/>
            <a:ext cx="50800" cy="50800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3276A5">
              <a:alpha val="100000"/>
            </a:srgbClr>
          </a:solidFill>
          <a:ln w="10583">
            <a:solidFill>
              <a:srgbClr val="3276A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669543" y="5337555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BFC6C9">
              <a:alpha val="100000"/>
            </a:srgbClr>
          </a:solidFill>
          <a:ln w="10583">
            <a:solidFill>
              <a:srgbClr val="BFC6C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669543" y="5522722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3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3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A98C24">
              <a:alpha val="100000"/>
            </a:srgbClr>
          </a:solidFill>
          <a:ln w="10583">
            <a:solidFill>
              <a:srgbClr val="A98C2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669543" y="5707888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3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3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C4AE94">
              <a:alpha val="100000"/>
            </a:srgbClr>
          </a:solidFill>
          <a:ln w="10583">
            <a:solidFill>
              <a:srgbClr val="C4AE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669543" y="5893053"/>
            <a:ext cx="50800" cy="50800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749487">
              <a:alpha val="100000"/>
            </a:srgbClr>
          </a:solidFill>
          <a:ln w="10583">
            <a:solidFill>
              <a:srgbClr val="74948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609599" y="4101083"/>
            <a:ext cx="1042416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609599" y="6336792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text: 0"/>
          <p:cNvSpPr txBox="1"/>
          <p:nvPr/>
        </p:nvSpPr>
        <p:spPr>
          <a:xfrm>
            <a:off x="11433344" y="4839110"/>
            <a:ext cx="98679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</a:t>
            </a:r>
          </a:p>
        </p:txBody>
      </p:sp>
      <p:sp>
        <p:nvSpPr>
          <p:cNvPr id="42" name="Editable text: 1"/>
          <p:cNvSpPr txBox="1"/>
          <p:nvPr/>
        </p:nvSpPr>
        <p:spPr>
          <a:xfrm>
            <a:off x="11433344" y="4229510"/>
            <a:ext cx="98679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</a:t>
            </a:r>
          </a:p>
        </p:txBody>
      </p:sp>
      <p:sp>
        <p:nvSpPr>
          <p:cNvPr id="43" name="Editable text: 2"/>
          <p:cNvSpPr txBox="1"/>
          <p:nvPr/>
        </p:nvSpPr>
        <p:spPr>
          <a:xfrm>
            <a:off x="11433344" y="3619910"/>
            <a:ext cx="98679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2</a:t>
            </a:r>
          </a:p>
        </p:txBody>
      </p:sp>
      <p:sp>
        <p:nvSpPr>
          <p:cNvPr id="44" name="Editable text: 3"/>
          <p:cNvSpPr txBox="1"/>
          <p:nvPr/>
        </p:nvSpPr>
        <p:spPr>
          <a:xfrm>
            <a:off x="11433344" y="3010309"/>
            <a:ext cx="98679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3</a:t>
            </a:r>
          </a:p>
        </p:txBody>
      </p:sp>
      <p:sp>
        <p:nvSpPr>
          <p:cNvPr id="45" name="Editable text: LYPLA1 · log1p(CP10K)"/>
          <p:cNvSpPr txBox="1"/>
          <p:nvPr/>
        </p:nvSpPr>
        <p:spPr>
          <a:xfrm rot="16200000">
            <a:off x="11054993" y="3919890"/>
            <a:ext cx="1071709" cy="138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LYPLA1 · log1p(CP10K)</a:t>
            </a:r>
          </a:p>
        </p:txBody>
      </p:sp>
      <p:sp>
        <p:nvSpPr>
          <p:cNvPr id="47" name="Editable text: PRAD：对照癌区与良性腺体的 LYPLA1 表达"/>
          <p:cNvSpPr txBox="1"/>
          <p:nvPr/>
        </p:nvSpPr>
        <p:spPr>
          <a:xfrm>
            <a:off x="609599" y="959508"/>
            <a:ext cx="5685471" cy="4182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PRAD：对照癌区与良性腺体的 LYPLA1 表达</a:t>
            </a:r>
          </a:p>
        </p:txBody>
      </p:sp>
      <p:sp>
        <p:nvSpPr>
          <p:cNvPr id="48" name="Editable text: Erickson 2022 · 同一患者的两张代表切片 · 作者病理共识标注"/>
          <p:cNvSpPr txBox="1"/>
          <p:nvPr/>
        </p:nvSpPr>
        <p:spPr>
          <a:xfrm>
            <a:off x="609599" y="1440330"/>
            <a:ext cx="3373024" cy="1849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Erickson 2022 · 同一患者的两张代表切片 · 作者病理共识标注</a:t>
            </a:r>
          </a:p>
        </p:txBody>
      </p:sp>
      <p:sp>
        <p:nvSpPr>
          <p:cNvPr id="49" name="Editable text: H&amp;E"/>
          <p:cNvSpPr txBox="1"/>
          <p:nvPr/>
        </p:nvSpPr>
        <p:spPr>
          <a:xfrm>
            <a:off x="1950720" y="1801723"/>
            <a:ext cx="408050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H&amp;E</a:t>
            </a:r>
          </a:p>
        </p:txBody>
      </p:sp>
      <p:sp>
        <p:nvSpPr>
          <p:cNvPr id="50" name="Editable text: 病理区域"/>
          <p:cNvSpPr txBox="1"/>
          <p:nvPr/>
        </p:nvSpPr>
        <p:spPr>
          <a:xfrm>
            <a:off x="5120639" y="1801723"/>
            <a:ext cx="659341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病理区域</a:t>
            </a:r>
          </a:p>
        </p:txBody>
      </p:sp>
      <p:sp>
        <p:nvSpPr>
          <p:cNvPr id="51" name="Editable text: LYPLA1 实测表达"/>
          <p:cNvSpPr txBox="1"/>
          <p:nvPr/>
        </p:nvSpPr>
        <p:spPr>
          <a:xfrm>
            <a:off x="8290559" y="1801723"/>
            <a:ext cx="1254180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LYPLA1 实测表达</a:t>
            </a:r>
          </a:p>
        </p:txBody>
      </p:sp>
      <p:sp>
        <p:nvSpPr>
          <p:cNvPr id="52" name="Editable text: H2_5"/>
          <p:cNvSpPr txBox="1"/>
          <p:nvPr/>
        </p:nvSpPr>
        <p:spPr>
          <a:xfrm>
            <a:off x="609599" y="2098213"/>
            <a:ext cx="37503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H2_5</a:t>
            </a:r>
          </a:p>
        </p:txBody>
      </p:sp>
      <p:sp>
        <p:nvSpPr>
          <p:cNvPr id="53" name="Editable text: Patient 1"/>
          <p:cNvSpPr txBox="1"/>
          <p:nvPr/>
        </p:nvSpPr>
        <p:spPr>
          <a:xfrm>
            <a:off x="609599" y="2343147"/>
            <a:ext cx="492932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Patient 1</a:t>
            </a:r>
          </a:p>
        </p:txBody>
      </p:sp>
      <p:sp>
        <p:nvSpPr>
          <p:cNvPr id="54" name="Editable text: 癌区"/>
          <p:cNvSpPr txBox="1"/>
          <p:nvPr/>
        </p:nvSpPr>
        <p:spPr>
          <a:xfrm>
            <a:off x="829055" y="2673874"/>
            <a:ext cx="23336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癌区</a:t>
            </a:r>
          </a:p>
        </p:txBody>
      </p:sp>
      <p:sp>
        <p:nvSpPr>
          <p:cNvPr id="55" name="Editable text: 良性腺体"/>
          <p:cNvSpPr txBox="1"/>
          <p:nvPr/>
        </p:nvSpPr>
        <p:spPr>
          <a:xfrm>
            <a:off x="829055" y="2859040"/>
            <a:ext cx="42386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良性腺体</a:t>
            </a:r>
          </a:p>
        </p:txBody>
      </p:sp>
      <p:sp>
        <p:nvSpPr>
          <p:cNvPr id="56" name="Editable text: 间质"/>
          <p:cNvSpPr txBox="1"/>
          <p:nvPr/>
        </p:nvSpPr>
        <p:spPr>
          <a:xfrm>
            <a:off x="829055" y="3044206"/>
            <a:ext cx="23336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间质</a:t>
            </a:r>
          </a:p>
        </p:txBody>
      </p:sp>
      <p:sp>
        <p:nvSpPr>
          <p:cNvPr id="57" name="Editable text: 过渡区"/>
          <p:cNvSpPr txBox="1"/>
          <p:nvPr/>
        </p:nvSpPr>
        <p:spPr>
          <a:xfrm>
            <a:off x="829055" y="3229372"/>
            <a:ext cx="32861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过渡区</a:t>
            </a:r>
          </a:p>
        </p:txBody>
      </p:sp>
      <p:sp>
        <p:nvSpPr>
          <p:cNvPr id="58" name="Editable text: H2_1"/>
          <p:cNvSpPr txBox="1"/>
          <p:nvPr/>
        </p:nvSpPr>
        <p:spPr>
          <a:xfrm>
            <a:off x="609599" y="4340779"/>
            <a:ext cx="37503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H2_1</a:t>
            </a:r>
          </a:p>
        </p:txBody>
      </p:sp>
      <p:sp>
        <p:nvSpPr>
          <p:cNvPr id="59" name="Editable text: Patient 1"/>
          <p:cNvSpPr txBox="1"/>
          <p:nvPr/>
        </p:nvSpPr>
        <p:spPr>
          <a:xfrm>
            <a:off x="609599" y="4585713"/>
            <a:ext cx="492932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Patient 1</a:t>
            </a:r>
          </a:p>
        </p:txBody>
      </p:sp>
      <p:sp>
        <p:nvSpPr>
          <p:cNvPr id="60" name="Editable text: 癌区"/>
          <p:cNvSpPr txBox="1"/>
          <p:nvPr/>
        </p:nvSpPr>
        <p:spPr>
          <a:xfrm>
            <a:off x="829055" y="4916440"/>
            <a:ext cx="23336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癌区</a:t>
            </a:r>
          </a:p>
        </p:txBody>
      </p:sp>
      <p:sp>
        <p:nvSpPr>
          <p:cNvPr id="61" name="Editable text: 良性腺体"/>
          <p:cNvSpPr txBox="1"/>
          <p:nvPr/>
        </p:nvSpPr>
        <p:spPr>
          <a:xfrm>
            <a:off x="829055" y="5101606"/>
            <a:ext cx="42386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良性腺体</a:t>
            </a:r>
          </a:p>
        </p:txBody>
      </p:sp>
      <p:sp>
        <p:nvSpPr>
          <p:cNvPr id="62" name="Editable text: 间质"/>
          <p:cNvSpPr txBox="1"/>
          <p:nvPr/>
        </p:nvSpPr>
        <p:spPr>
          <a:xfrm>
            <a:off x="829055" y="5286772"/>
            <a:ext cx="23336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间质</a:t>
            </a:r>
          </a:p>
        </p:txBody>
      </p:sp>
      <p:sp>
        <p:nvSpPr>
          <p:cNvPr id="63" name="Editable text: PIN"/>
          <p:cNvSpPr txBox="1"/>
          <p:nvPr/>
        </p:nvSpPr>
        <p:spPr>
          <a:xfrm>
            <a:off x="829055" y="5471938"/>
            <a:ext cx="206597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PIN</a:t>
            </a:r>
          </a:p>
        </p:txBody>
      </p:sp>
      <p:sp>
        <p:nvSpPr>
          <p:cNvPr id="64" name="Editable text: 脂肪区"/>
          <p:cNvSpPr txBox="1"/>
          <p:nvPr/>
        </p:nvSpPr>
        <p:spPr>
          <a:xfrm>
            <a:off x="829055" y="5657104"/>
            <a:ext cx="32861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脂肪区</a:t>
            </a:r>
          </a:p>
        </p:txBody>
      </p:sp>
      <p:sp>
        <p:nvSpPr>
          <p:cNvPr id="65" name="Editable text: 神经区"/>
          <p:cNvSpPr txBox="1"/>
          <p:nvPr/>
        </p:nvSpPr>
        <p:spPr>
          <a:xfrm>
            <a:off x="829055" y="5842270"/>
            <a:ext cx="32861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神经区</a:t>
            </a:r>
          </a:p>
        </p:txBody>
      </p:sp>
      <p:sp>
        <p:nvSpPr>
          <p:cNvPr id="66" name="Editable text: 两张切片均来自 Patient 1，不代表两位患者；多细胞 spot 不等于纯癌"/>
          <p:cNvSpPr txBox="1"/>
          <p:nvPr/>
        </p:nvSpPr>
        <p:spPr>
          <a:xfrm>
            <a:off x="609599" y="6432582"/>
            <a:ext cx="3709716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两张切片均来自 Patient 1，不代表两位患者；多细胞 spot 不等于纯癌细胞。</a:t>
            </a:r>
          </a:p>
        </p:txBody>
      </p:sp>
      <p:sp>
        <p:nvSpPr>
          <p:cNvPr id="67" name="Editable text: 统一色标 0–3；浅灰为零表达，超出上限按端点色显示。不同研究不直接比较绝对表达"/>
          <p:cNvSpPr txBox="1"/>
          <p:nvPr/>
        </p:nvSpPr>
        <p:spPr>
          <a:xfrm>
            <a:off x="609599" y="6622294"/>
            <a:ext cx="3466056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统一色标 0–3；浅灰为零表达，超出上限按端点色显示。不同研究不直接比较绝对表达。</a:t>
            </a:r>
          </a:p>
        </p:txBody>
      </p:sp>
      <p:sp>
        <p:nvSpPr>
          <p:cNvPr id="68" name="Editable text: 16"/>
          <p:cNvSpPr txBox="1"/>
          <p:nvPr/>
        </p:nvSpPr>
        <p:spPr>
          <a:xfrm>
            <a:off x="11534656" y="6542226"/>
            <a:ext cx="231690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16</a:t>
            </a:r>
          </a:p>
        </p:txBody>
      </p:sp>
      <p:pic>
        <p:nvPicPr>
          <p:cNvPr id="69" name="Picture 68" descr="image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able vector geometry"/>
          <p:cNvSpPr/>
          <p:nvPr/>
        </p:nvSpPr>
        <p:spPr>
          <a:xfrm>
            <a:off x="609599" y="3449574"/>
            <a:ext cx="3413760" cy="1193291"/>
          </a:xfrm>
          <a:custGeom>
            <a:avLst/>
            <a:gdLst/>
            <a:ahLst/>
            <a:cxnLst/>
            <a:rect l="0" t="0" r="r" b="b"/>
            <a:pathLst>
              <a:path w="322560" h="112752">
                <a:moveTo>
                  <a:pt x="0" y="0"/>
                </a:moveTo>
                <a:lnTo>
                  <a:pt x="322560" y="0"/>
                </a:lnTo>
                <a:lnTo>
                  <a:pt x="322560" y="112752"/>
                </a:lnTo>
                <a:lnTo>
                  <a:pt x="0" y="112752"/>
                </a:lnTo>
                <a:close/>
              </a:path>
            </a:pathLst>
          </a:custGeom>
          <a:solidFill>
            <a:srgbClr val="F2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4389120" y="3449574"/>
            <a:ext cx="3413760" cy="1193291"/>
          </a:xfrm>
          <a:custGeom>
            <a:avLst/>
            <a:gdLst/>
            <a:ahLst/>
            <a:cxnLst/>
            <a:rect l="0" t="0" r="r" b="b"/>
            <a:pathLst>
              <a:path w="322560" h="112752">
                <a:moveTo>
                  <a:pt x="0" y="0"/>
                </a:moveTo>
                <a:lnTo>
                  <a:pt x="322560" y="0"/>
                </a:lnTo>
                <a:lnTo>
                  <a:pt x="322560" y="112752"/>
                </a:lnTo>
                <a:lnTo>
                  <a:pt x="0" y="112752"/>
                </a:lnTo>
                <a:close/>
              </a:path>
            </a:pathLst>
          </a:custGeom>
          <a:solidFill>
            <a:srgbClr val="F2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8168640" y="3449574"/>
            <a:ext cx="3413759" cy="1193291"/>
          </a:xfrm>
          <a:custGeom>
            <a:avLst/>
            <a:gdLst/>
            <a:ahLst/>
            <a:cxnLst/>
            <a:rect l="0" t="0" r="r" b="b"/>
            <a:pathLst>
              <a:path w="322560" h="112752">
                <a:moveTo>
                  <a:pt x="0" y="0"/>
                </a:moveTo>
                <a:lnTo>
                  <a:pt x="322560" y="0"/>
                </a:lnTo>
                <a:lnTo>
                  <a:pt x="322560" y="112752"/>
                </a:lnTo>
                <a:lnTo>
                  <a:pt x="0" y="112752"/>
                </a:lnTo>
                <a:close/>
              </a:path>
            </a:pathLst>
          </a:custGeom>
          <a:solidFill>
            <a:srgbClr val="F2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609599" y="6110477"/>
            <a:ext cx="10972800" cy="425196"/>
          </a:xfrm>
          <a:custGeom>
            <a:avLst/>
            <a:gdLst/>
            <a:ahLst/>
            <a:cxnLst/>
            <a:rect l="0" t="0" r="r" b="b"/>
            <a:pathLst>
              <a:path w="1036800" h="40176">
                <a:moveTo>
                  <a:pt x="0" y="0"/>
                </a:moveTo>
                <a:lnTo>
                  <a:pt x="1036800" y="0"/>
                </a:lnTo>
                <a:lnTo>
                  <a:pt x="1036800" y="40176"/>
                </a:lnTo>
                <a:lnTo>
                  <a:pt x="0" y="40176"/>
                </a:lnTo>
                <a:close/>
              </a:path>
            </a:pathLst>
          </a:custGeom>
          <a:solidFill>
            <a:srgbClr val="EAF2EC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2316480" y="3772457"/>
            <a:ext cx="105" cy="87536"/>
          </a:xfrm>
          <a:custGeom>
            <a:avLst/>
            <a:gdLst/>
            <a:ahLst/>
            <a:cxnLst/>
            <a:rect l="0" t="0" r="r" b="b"/>
            <a:pathLst>
              <a:path w="10" h="8271">
                <a:moveTo>
                  <a:pt x="0" y="0"/>
                </a:moveTo>
                <a:cubicBezTo>
                  <a:pt x="0" y="3204"/>
                  <a:pt x="0" y="5961"/>
                  <a:pt x="0" y="8271"/>
                </a:cubicBezTo>
              </a:path>
            </a:pathLst>
          </a:custGeom>
          <a:noFill/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2293196" y="3813427"/>
            <a:ext cx="46566" cy="46566"/>
          </a:xfrm>
          <a:custGeom>
            <a:avLst/>
            <a:gdLst/>
            <a:ahLst/>
            <a:cxnLst/>
            <a:rect l="0" t="0" r="r" b="b"/>
            <a:pathLst>
              <a:path w="4400" h="4400">
                <a:moveTo>
                  <a:pt x="4400" y="0"/>
                </a:moveTo>
                <a:lnTo>
                  <a:pt x="2200" y="4400"/>
                </a:lnTo>
                <a:lnTo>
                  <a:pt x="0" y="0"/>
                </a:lnTo>
                <a:lnTo>
                  <a:pt x="4400" y="0"/>
                </a:lnTo>
              </a:path>
            </a:pathLst>
          </a:custGeom>
          <a:solidFill>
            <a:srgbClr val="83A396">
              <a:alpha val="100000"/>
            </a:srgbClr>
          </a:solidFill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vector geometry"/>
          <p:cNvSpPr/>
          <p:nvPr/>
        </p:nvSpPr>
        <p:spPr>
          <a:xfrm>
            <a:off x="2316480" y="4177079"/>
            <a:ext cx="105" cy="87536"/>
          </a:xfrm>
          <a:custGeom>
            <a:avLst/>
            <a:gdLst/>
            <a:ahLst/>
            <a:cxnLst/>
            <a:rect l="0" t="0" r="r" b="b"/>
            <a:pathLst>
              <a:path w="10" h="8271">
                <a:moveTo>
                  <a:pt x="0" y="0"/>
                </a:moveTo>
                <a:cubicBezTo>
                  <a:pt x="0" y="3204"/>
                  <a:pt x="0" y="5961"/>
                  <a:pt x="0" y="8271"/>
                </a:cubicBezTo>
              </a:path>
            </a:pathLst>
          </a:custGeom>
          <a:noFill/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2293196" y="4218049"/>
            <a:ext cx="46566" cy="46566"/>
          </a:xfrm>
          <a:custGeom>
            <a:avLst/>
            <a:gdLst/>
            <a:ahLst/>
            <a:cxnLst/>
            <a:rect l="0" t="0" r="r" b="b"/>
            <a:pathLst>
              <a:path w="4400" h="4400">
                <a:moveTo>
                  <a:pt x="4400" y="0"/>
                </a:moveTo>
                <a:lnTo>
                  <a:pt x="2200" y="4400"/>
                </a:lnTo>
                <a:lnTo>
                  <a:pt x="0" y="0"/>
                </a:lnTo>
                <a:lnTo>
                  <a:pt x="4400" y="0"/>
                </a:lnTo>
              </a:path>
            </a:pathLst>
          </a:custGeom>
          <a:solidFill>
            <a:srgbClr val="83A396">
              <a:alpha val="100000"/>
            </a:srgbClr>
          </a:solidFill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6096000" y="3772457"/>
            <a:ext cx="105" cy="87536"/>
          </a:xfrm>
          <a:custGeom>
            <a:avLst/>
            <a:gdLst/>
            <a:ahLst/>
            <a:cxnLst/>
            <a:rect l="0" t="0" r="r" b="b"/>
            <a:pathLst>
              <a:path w="10" h="8271">
                <a:moveTo>
                  <a:pt x="0" y="0"/>
                </a:moveTo>
                <a:cubicBezTo>
                  <a:pt x="0" y="3204"/>
                  <a:pt x="0" y="5961"/>
                  <a:pt x="0" y="8271"/>
                </a:cubicBezTo>
              </a:path>
            </a:pathLst>
          </a:custGeom>
          <a:noFill/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6072716" y="3813427"/>
            <a:ext cx="46566" cy="46566"/>
          </a:xfrm>
          <a:custGeom>
            <a:avLst/>
            <a:gdLst/>
            <a:ahLst/>
            <a:cxnLst/>
            <a:rect l="0" t="0" r="r" b="b"/>
            <a:pathLst>
              <a:path w="4400" h="4400">
                <a:moveTo>
                  <a:pt x="4400" y="0"/>
                </a:moveTo>
                <a:lnTo>
                  <a:pt x="2200" y="4400"/>
                </a:lnTo>
                <a:lnTo>
                  <a:pt x="0" y="0"/>
                </a:lnTo>
                <a:lnTo>
                  <a:pt x="4400" y="0"/>
                </a:lnTo>
              </a:path>
            </a:pathLst>
          </a:custGeom>
          <a:solidFill>
            <a:srgbClr val="83A396">
              <a:alpha val="100000"/>
            </a:srgbClr>
          </a:solidFill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6096000" y="4177079"/>
            <a:ext cx="105" cy="87536"/>
          </a:xfrm>
          <a:custGeom>
            <a:avLst/>
            <a:gdLst/>
            <a:ahLst/>
            <a:cxnLst/>
            <a:rect l="0" t="0" r="r" b="b"/>
            <a:pathLst>
              <a:path w="10" h="8271">
                <a:moveTo>
                  <a:pt x="0" y="0"/>
                </a:moveTo>
                <a:cubicBezTo>
                  <a:pt x="0" y="3204"/>
                  <a:pt x="0" y="5961"/>
                  <a:pt x="0" y="8271"/>
                </a:cubicBezTo>
              </a:path>
            </a:pathLst>
          </a:custGeom>
          <a:noFill/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6072716" y="4218049"/>
            <a:ext cx="46566" cy="46566"/>
          </a:xfrm>
          <a:custGeom>
            <a:avLst/>
            <a:gdLst/>
            <a:ahLst/>
            <a:cxnLst/>
            <a:rect l="0" t="0" r="r" b="b"/>
            <a:pathLst>
              <a:path w="4400" h="4400">
                <a:moveTo>
                  <a:pt x="4400" y="0"/>
                </a:moveTo>
                <a:lnTo>
                  <a:pt x="2200" y="4400"/>
                </a:lnTo>
                <a:lnTo>
                  <a:pt x="0" y="0"/>
                </a:lnTo>
                <a:lnTo>
                  <a:pt x="4400" y="0"/>
                </a:lnTo>
              </a:path>
            </a:pathLst>
          </a:custGeom>
          <a:solidFill>
            <a:srgbClr val="83A396">
              <a:alpha val="100000"/>
            </a:srgbClr>
          </a:solidFill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9875519" y="3772457"/>
            <a:ext cx="105" cy="87536"/>
          </a:xfrm>
          <a:custGeom>
            <a:avLst/>
            <a:gdLst/>
            <a:ahLst/>
            <a:cxnLst/>
            <a:rect l="0" t="0" r="r" b="b"/>
            <a:pathLst>
              <a:path w="10" h="8271">
                <a:moveTo>
                  <a:pt x="0" y="0"/>
                </a:moveTo>
                <a:cubicBezTo>
                  <a:pt x="0" y="3204"/>
                  <a:pt x="0" y="5961"/>
                  <a:pt x="0" y="8271"/>
                </a:cubicBezTo>
              </a:path>
            </a:pathLst>
          </a:custGeom>
          <a:noFill/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vector geometry"/>
          <p:cNvSpPr/>
          <p:nvPr/>
        </p:nvSpPr>
        <p:spPr>
          <a:xfrm>
            <a:off x="9852236" y="3813427"/>
            <a:ext cx="46566" cy="46566"/>
          </a:xfrm>
          <a:custGeom>
            <a:avLst/>
            <a:gdLst/>
            <a:ahLst/>
            <a:cxnLst/>
            <a:rect l="0" t="0" r="r" b="b"/>
            <a:pathLst>
              <a:path w="4400" h="4400">
                <a:moveTo>
                  <a:pt x="4400" y="0"/>
                </a:moveTo>
                <a:lnTo>
                  <a:pt x="2200" y="4400"/>
                </a:lnTo>
                <a:lnTo>
                  <a:pt x="0" y="0"/>
                </a:lnTo>
                <a:lnTo>
                  <a:pt x="4400" y="0"/>
                </a:lnTo>
              </a:path>
            </a:pathLst>
          </a:custGeom>
          <a:solidFill>
            <a:srgbClr val="83A396">
              <a:alpha val="100000"/>
            </a:srgbClr>
          </a:solidFill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9875519" y="4177079"/>
            <a:ext cx="105" cy="87536"/>
          </a:xfrm>
          <a:custGeom>
            <a:avLst/>
            <a:gdLst/>
            <a:ahLst/>
            <a:cxnLst/>
            <a:rect l="0" t="0" r="r" b="b"/>
            <a:pathLst>
              <a:path w="10" h="8271">
                <a:moveTo>
                  <a:pt x="0" y="0"/>
                </a:moveTo>
                <a:cubicBezTo>
                  <a:pt x="0" y="3204"/>
                  <a:pt x="0" y="5961"/>
                  <a:pt x="0" y="8271"/>
                </a:cubicBezTo>
              </a:path>
            </a:pathLst>
          </a:custGeom>
          <a:noFill/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9852236" y="4218049"/>
            <a:ext cx="46566" cy="46566"/>
          </a:xfrm>
          <a:custGeom>
            <a:avLst/>
            <a:gdLst/>
            <a:ahLst/>
            <a:cxnLst/>
            <a:rect l="0" t="0" r="r" b="b"/>
            <a:pathLst>
              <a:path w="4400" h="4400">
                <a:moveTo>
                  <a:pt x="4400" y="0"/>
                </a:moveTo>
                <a:lnTo>
                  <a:pt x="2200" y="4400"/>
                </a:lnTo>
                <a:lnTo>
                  <a:pt x="0" y="0"/>
                </a:lnTo>
                <a:lnTo>
                  <a:pt x="4400" y="0"/>
                </a:lnTo>
              </a:path>
            </a:pathLst>
          </a:custGeom>
          <a:solidFill>
            <a:srgbClr val="83A396">
              <a:alpha val="100000"/>
            </a:srgbClr>
          </a:solidFill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609599" y="2400299"/>
            <a:ext cx="3413760" cy="105"/>
          </a:xfrm>
          <a:custGeom>
            <a:avLst/>
            <a:gdLst/>
            <a:ahLst/>
            <a:cxnLst/>
            <a:rect l="0" t="0" r="r" b="b"/>
            <a:pathLst>
              <a:path w="322560" h="10">
                <a:moveTo>
                  <a:pt x="0" y="0"/>
                </a:moveTo>
                <a:lnTo>
                  <a:pt x="322560" y="0"/>
                </a:lnTo>
              </a:path>
            </a:pathLst>
          </a:custGeom>
          <a:noFill/>
          <a:ln w="127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4389120" y="2400299"/>
            <a:ext cx="3413760" cy="105"/>
          </a:xfrm>
          <a:custGeom>
            <a:avLst/>
            <a:gdLst/>
            <a:ahLst/>
            <a:cxnLst/>
            <a:rect l="0" t="0" r="r" b="b"/>
            <a:pathLst>
              <a:path w="322560" h="10">
                <a:moveTo>
                  <a:pt x="0" y="0"/>
                </a:moveTo>
                <a:lnTo>
                  <a:pt x="322560" y="0"/>
                </a:lnTo>
              </a:path>
            </a:pathLst>
          </a:custGeom>
          <a:noFill/>
          <a:ln w="127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8168640" y="2400299"/>
            <a:ext cx="3413759" cy="105"/>
          </a:xfrm>
          <a:custGeom>
            <a:avLst/>
            <a:gdLst/>
            <a:ahLst/>
            <a:cxnLst/>
            <a:rect l="0" t="0" r="r" b="b"/>
            <a:pathLst>
              <a:path w="322560" h="10">
                <a:moveTo>
                  <a:pt x="0" y="0"/>
                </a:moveTo>
                <a:lnTo>
                  <a:pt x="322560" y="0"/>
                </a:lnTo>
              </a:path>
            </a:pathLst>
          </a:custGeom>
          <a:noFill/>
          <a:ln w="127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text: LYPLA1：近期研究已提供肿瘤功能与机制线索"/>
          <p:cNvSpPr txBox="1"/>
          <p:nvPr/>
        </p:nvSpPr>
        <p:spPr>
          <a:xfrm>
            <a:off x="609599" y="973224"/>
            <a:ext cx="5824430" cy="4182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LYPLA1：近期研究已提供肿瘤功能与机制线索</a:t>
            </a:r>
          </a:p>
        </p:txBody>
      </p:sp>
      <p:sp>
        <p:nvSpPr>
          <p:cNvPr id="27" name="Editable text: 2025–2026 原始研究  ·  APT1 即 LYPLA1  ·  文献支"/>
          <p:cNvSpPr txBox="1"/>
          <p:nvPr/>
        </p:nvSpPr>
        <p:spPr>
          <a:xfrm>
            <a:off x="609599" y="1427783"/>
            <a:ext cx="512909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2025–2026 原始研究  ·  APT1 即 LYPLA1  ·  文献支持研究价值，跨癌共性仍需用数据检验</a:t>
            </a:r>
          </a:p>
        </p:txBody>
      </p:sp>
      <p:sp>
        <p:nvSpPr>
          <p:cNvPr id="28" name="Editable text: Journal of Lipid Research"/>
          <p:cNvSpPr txBox="1"/>
          <p:nvPr/>
        </p:nvSpPr>
        <p:spPr>
          <a:xfrm>
            <a:off x="609599" y="1886958"/>
            <a:ext cx="1674081" cy="194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8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Journal of Lipid Research</a:t>
            </a:r>
          </a:p>
        </p:txBody>
      </p:sp>
      <p:sp>
        <p:nvSpPr>
          <p:cNvPr id="29" name="Editable text: 2026"/>
          <p:cNvSpPr txBox="1"/>
          <p:nvPr/>
        </p:nvSpPr>
        <p:spPr>
          <a:xfrm>
            <a:off x="3605318" y="1846561"/>
            <a:ext cx="494114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2026</a:t>
            </a:r>
          </a:p>
        </p:txBody>
      </p:sp>
      <p:sp>
        <p:nvSpPr>
          <p:cNvPr id="30" name="Editable text: 乳腺癌 · MDA-MB-231 / MCF7"/>
          <p:cNvSpPr txBox="1"/>
          <p:nvPr/>
        </p:nvSpPr>
        <p:spPr>
          <a:xfrm>
            <a:off x="609599" y="2142640"/>
            <a:ext cx="1713531" cy="176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乳腺癌 · MDA-MB-231 / MCF7</a:t>
            </a:r>
          </a:p>
        </p:txBody>
      </p:sp>
      <p:sp>
        <p:nvSpPr>
          <p:cNvPr id="31" name="Editable text: S-palmitoylation of MTDH regulates"/>
          <p:cNvSpPr txBox="1"/>
          <p:nvPr/>
        </p:nvSpPr>
        <p:spPr>
          <a:xfrm>
            <a:off x="609599" y="2531327"/>
            <a:ext cx="1834894" cy="15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6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S-palmitoylation of MTDH regulates</a:t>
            </a:r>
          </a:p>
        </p:txBody>
      </p:sp>
      <p:sp>
        <p:nvSpPr>
          <p:cNvPr id="32" name="Editable text: ferroptosis resistance in breast cancer "/>
          <p:cNvSpPr txBox="1"/>
          <p:nvPr/>
        </p:nvSpPr>
        <p:spPr>
          <a:xfrm>
            <a:off x="609599" y="2695600"/>
            <a:ext cx="2112476" cy="15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6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ferroptosis resistance in breast cancer cell</a:t>
            </a:r>
          </a:p>
        </p:txBody>
      </p:sp>
      <p:sp>
        <p:nvSpPr>
          <p:cNvPr id="33" name="Editable text: 连接脂质代谢与铁死亡"/>
          <p:cNvSpPr txBox="1"/>
          <p:nvPr/>
        </p:nvSpPr>
        <p:spPr>
          <a:xfrm>
            <a:off x="609599" y="3045169"/>
            <a:ext cx="1880129" cy="2734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1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连接脂质代谢与铁死亡</a:t>
            </a:r>
          </a:p>
        </p:txBody>
      </p:sp>
      <p:sp>
        <p:nvSpPr>
          <p:cNvPr id="34" name="Editable text: APT1 / LYPLA1"/>
          <p:cNvSpPr txBox="1"/>
          <p:nvPr/>
        </p:nvSpPr>
        <p:spPr>
          <a:xfrm>
            <a:off x="1844116" y="3526331"/>
            <a:ext cx="1001676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APT1 / LYPLA1</a:t>
            </a:r>
          </a:p>
        </p:txBody>
      </p:sp>
      <p:sp>
        <p:nvSpPr>
          <p:cNvPr id="35" name="Editable text: MTDH 去棕榈酰化"/>
          <p:cNvSpPr txBox="1"/>
          <p:nvPr/>
        </p:nvSpPr>
        <p:spPr>
          <a:xfrm>
            <a:off x="1784336" y="3930953"/>
            <a:ext cx="1121537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MTDH 去棕榈酰化</a:t>
            </a:r>
          </a:p>
        </p:txBody>
      </p:sp>
      <p:sp>
        <p:nvSpPr>
          <p:cNvPr id="36" name="Editable text: ACSL4 互作 / 铁死亡敏感性"/>
          <p:cNvSpPr txBox="1"/>
          <p:nvPr/>
        </p:nvSpPr>
        <p:spPr>
          <a:xfrm>
            <a:off x="1532155" y="4335575"/>
            <a:ext cx="1625724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ACSL4 互作 / 铁死亡敏感性</a:t>
            </a:r>
          </a:p>
        </p:txBody>
      </p:sp>
      <p:sp>
        <p:nvSpPr>
          <p:cNvPr id="37" name="Editable text: 鉴定 APT1 为 MTDH 去棕榈酰化酶；"/>
          <p:cNvSpPr txBox="1"/>
          <p:nvPr/>
        </p:nvSpPr>
        <p:spPr>
          <a:xfrm>
            <a:off x="609599" y="4775179"/>
            <a:ext cx="2019865" cy="178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25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鉴定 APT1 为 MTDH 去棕榈酰化酶；</a:t>
            </a:r>
          </a:p>
        </p:txBody>
      </p:sp>
      <p:sp>
        <p:nvSpPr>
          <p:cNvPr id="38" name="Editable text: MTDH 修饰状态关联脂质组成与铁死亡。"/>
          <p:cNvSpPr txBox="1"/>
          <p:nvPr/>
        </p:nvSpPr>
        <p:spPr>
          <a:xfrm>
            <a:off x="609599" y="4953078"/>
            <a:ext cx="2212171" cy="178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25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MTDH 修饰状态关联脂质组成与铁死亡。</a:t>
            </a:r>
          </a:p>
        </p:txBody>
      </p:sp>
      <p:sp>
        <p:nvSpPr>
          <p:cNvPr id="39" name="Editable text: 研究中心为 MTDH；不能将全部表型"/>
          <p:cNvSpPr txBox="1"/>
          <p:nvPr/>
        </p:nvSpPr>
        <p:spPr>
          <a:xfrm>
            <a:off x="609599" y="5264902"/>
            <a:ext cx="1692216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研究中心为 MTDH；不能将全部表型</a:t>
            </a:r>
          </a:p>
        </p:txBody>
      </p:sp>
      <p:sp>
        <p:nvSpPr>
          <p:cNvPr id="40" name="Editable text: 归因于 LYPLA1。"/>
          <p:cNvSpPr txBox="1"/>
          <p:nvPr/>
        </p:nvSpPr>
        <p:spPr>
          <a:xfrm>
            <a:off x="609599" y="5426662"/>
            <a:ext cx="828645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归因于 LYPLA1。</a:t>
            </a:r>
          </a:p>
        </p:txBody>
      </p:sp>
      <p:sp>
        <p:nvSpPr>
          <p:cNvPr id="41" name="Editable text: 2026 年卷期 · 2025 年底在线"/>
          <p:cNvSpPr txBox="1"/>
          <p:nvPr/>
        </p:nvSpPr>
        <p:spPr>
          <a:xfrm>
            <a:off x="609599" y="5703940"/>
            <a:ext cx="1220104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2026 年卷期 · 2025 年底在线</a:t>
            </a:r>
          </a:p>
        </p:txBody>
      </p:sp>
      <p:sp>
        <p:nvSpPr>
          <p:cNvPr id="42" name="Editable text: [1] doi: 10.1016/j.jlr.2025.100953"/>
          <p:cNvSpPr txBox="1"/>
          <p:nvPr/>
        </p:nvSpPr>
        <p:spPr>
          <a:xfrm>
            <a:off x="609599" y="5897374"/>
            <a:ext cx="1366393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[1] doi: 10.1016/j.jlr.2025.100953</a:t>
            </a:r>
          </a:p>
        </p:txBody>
      </p:sp>
      <p:sp>
        <p:nvSpPr>
          <p:cNvPr id="43" name="Editable text: Biochemistry and Cell Biology"/>
          <p:cNvSpPr txBox="1"/>
          <p:nvPr/>
        </p:nvSpPr>
        <p:spPr>
          <a:xfrm>
            <a:off x="4389120" y="1885801"/>
            <a:ext cx="1987415" cy="194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8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Biochemistry and Cell Biology</a:t>
            </a:r>
          </a:p>
        </p:txBody>
      </p:sp>
      <p:sp>
        <p:nvSpPr>
          <p:cNvPr id="44" name="Editable text: 2026"/>
          <p:cNvSpPr txBox="1"/>
          <p:nvPr/>
        </p:nvSpPr>
        <p:spPr>
          <a:xfrm>
            <a:off x="7384838" y="1846561"/>
            <a:ext cx="494115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2026</a:t>
            </a:r>
          </a:p>
        </p:txBody>
      </p:sp>
      <p:sp>
        <p:nvSpPr>
          <p:cNvPr id="45" name="Editable text: 乳腺癌 · MDA-MB-468"/>
          <p:cNvSpPr txBox="1"/>
          <p:nvPr/>
        </p:nvSpPr>
        <p:spPr>
          <a:xfrm>
            <a:off x="4389120" y="2142640"/>
            <a:ext cx="1273243" cy="176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乳腺癌 · MDA-MB-468</a:t>
            </a:r>
          </a:p>
        </p:txBody>
      </p:sp>
      <p:sp>
        <p:nvSpPr>
          <p:cNvPr id="46" name="Editable text: Acyl-protein thioesterase 1 (LYPLA1)"/>
          <p:cNvSpPr txBox="1"/>
          <p:nvPr/>
        </p:nvSpPr>
        <p:spPr>
          <a:xfrm>
            <a:off x="4389120" y="2449207"/>
            <a:ext cx="1845807" cy="15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6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Acyl-protein thioesterase 1 (LYPLA1)</a:t>
            </a:r>
          </a:p>
        </p:txBody>
      </p:sp>
      <p:sp>
        <p:nvSpPr>
          <p:cNvPr id="47" name="Editable text: activity promotes the growth of MDA-MB-4"/>
          <p:cNvSpPr txBox="1"/>
          <p:nvPr/>
        </p:nvSpPr>
        <p:spPr>
          <a:xfrm>
            <a:off x="4389120" y="2613480"/>
            <a:ext cx="2336306" cy="15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6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activity promotes the growth of MDA-MB-468</a:t>
            </a:r>
          </a:p>
        </p:txBody>
      </p:sp>
      <p:sp>
        <p:nvSpPr>
          <p:cNvPr id="48" name="Editable text: triple-negative breast cancer cells"/>
          <p:cNvSpPr txBox="1"/>
          <p:nvPr/>
        </p:nvSpPr>
        <p:spPr>
          <a:xfrm>
            <a:off x="4389120" y="2775901"/>
            <a:ext cx="1712556" cy="15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6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triple-negative breast cancer cells</a:t>
            </a:r>
          </a:p>
        </p:txBody>
      </p:sp>
      <p:sp>
        <p:nvSpPr>
          <p:cNvPr id="49" name="Editable text: 直接研究 LYPLA1 的功能"/>
          <p:cNvSpPr txBox="1"/>
          <p:nvPr/>
        </p:nvSpPr>
        <p:spPr>
          <a:xfrm>
            <a:off x="4389120" y="3045169"/>
            <a:ext cx="2116440" cy="2734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1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直接研究 LYPLA1 的功能</a:t>
            </a:r>
          </a:p>
        </p:txBody>
      </p:sp>
      <p:sp>
        <p:nvSpPr>
          <p:cNvPr id="50" name="Editable text: 抑制 APT1（ML348）"/>
          <p:cNvSpPr txBox="1"/>
          <p:nvPr/>
        </p:nvSpPr>
        <p:spPr>
          <a:xfrm>
            <a:off x="5437022" y="3526331"/>
            <a:ext cx="1374775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抑制 APT1（ML348）</a:t>
            </a:r>
          </a:p>
        </p:txBody>
      </p:sp>
      <p:sp>
        <p:nvSpPr>
          <p:cNvPr id="51" name="Editable text: 蛋白 S-酰化状态改变"/>
          <p:cNvSpPr txBox="1"/>
          <p:nvPr/>
        </p:nvSpPr>
        <p:spPr>
          <a:xfrm>
            <a:off x="5505152" y="3930953"/>
            <a:ext cx="1239011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蛋白 S-酰化状态改变</a:t>
            </a:r>
          </a:p>
        </p:txBody>
      </p:sp>
      <p:sp>
        <p:nvSpPr>
          <p:cNvPr id="52" name="Editable text: 增殖降低 / G1 期积累"/>
          <p:cNvSpPr txBox="1"/>
          <p:nvPr/>
        </p:nvSpPr>
        <p:spPr>
          <a:xfrm>
            <a:off x="5483654" y="4335575"/>
            <a:ext cx="1282064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增殖降低 / G1 期积累</a:t>
            </a:r>
          </a:p>
        </p:txBody>
      </p:sp>
      <p:sp>
        <p:nvSpPr>
          <p:cNvPr id="53" name="Editable text: 整合患者数据、CRISPR 依赖性与体外实验；"/>
          <p:cNvSpPr txBox="1"/>
          <p:nvPr/>
        </p:nvSpPr>
        <p:spPr>
          <a:xfrm>
            <a:off x="4389120" y="4775179"/>
            <a:ext cx="2373464" cy="178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25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整合患者数据、CRISPR 依赖性与体外实验；</a:t>
            </a:r>
          </a:p>
        </p:txBody>
      </p:sp>
      <p:sp>
        <p:nvSpPr>
          <p:cNvPr id="54" name="Editable text: 摘要报告 APT1 抑制使细胞生长受限。"/>
          <p:cNvSpPr txBox="1"/>
          <p:nvPr/>
        </p:nvSpPr>
        <p:spPr>
          <a:xfrm>
            <a:off x="4389120" y="4953078"/>
            <a:ext cx="2057809" cy="178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25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摘要报告 APT1 抑制使细胞生长受限。</a:t>
            </a:r>
          </a:p>
        </p:txBody>
      </p:sp>
      <p:sp>
        <p:nvSpPr>
          <p:cNvPr id="55" name="Editable text: 目前依据摘要；效应具有模型依赖性，"/>
          <p:cNvSpPr txBox="1"/>
          <p:nvPr/>
        </p:nvSpPr>
        <p:spPr>
          <a:xfrm>
            <a:off x="4389120" y="5264902"/>
            <a:ext cx="1754451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目前依据摘要；效应具有模型依赖性，</a:t>
            </a:r>
          </a:p>
        </p:txBody>
      </p:sp>
      <p:sp>
        <p:nvSpPr>
          <p:cNvPr id="56" name="Editable text: 表达丰度不等于酶活性。"/>
          <p:cNvSpPr txBox="1"/>
          <p:nvPr/>
        </p:nvSpPr>
        <p:spPr>
          <a:xfrm>
            <a:off x="4389120" y="5426662"/>
            <a:ext cx="1151201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表达丰度不等于酶活性。</a:t>
            </a:r>
          </a:p>
        </p:txBody>
      </p:sp>
      <p:sp>
        <p:nvSpPr>
          <p:cNvPr id="57" name="Editable text: 摘要核对"/>
          <p:cNvSpPr txBox="1"/>
          <p:nvPr/>
        </p:nvSpPr>
        <p:spPr>
          <a:xfrm>
            <a:off x="4389120" y="5703940"/>
            <a:ext cx="400314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摘要核对</a:t>
            </a:r>
          </a:p>
        </p:txBody>
      </p:sp>
      <p:sp>
        <p:nvSpPr>
          <p:cNvPr id="58" name="Editable text: [2] doi: 10.1139/bcb-2025-0446"/>
          <p:cNvSpPr txBox="1"/>
          <p:nvPr/>
        </p:nvSpPr>
        <p:spPr>
          <a:xfrm>
            <a:off x="4389120" y="5897622"/>
            <a:ext cx="1336966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[2] doi: 10.1139/bcb-2025-0446</a:t>
            </a:r>
          </a:p>
        </p:txBody>
      </p:sp>
      <p:sp>
        <p:nvSpPr>
          <p:cNvPr id="59" name="Editable text: npj Precision Oncology"/>
          <p:cNvSpPr txBox="1"/>
          <p:nvPr/>
        </p:nvSpPr>
        <p:spPr>
          <a:xfrm>
            <a:off x="8168640" y="1885801"/>
            <a:ext cx="1544527" cy="194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8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npj Precision Oncology</a:t>
            </a:r>
          </a:p>
        </p:txBody>
      </p:sp>
      <p:sp>
        <p:nvSpPr>
          <p:cNvPr id="60" name="Editable text: 2025"/>
          <p:cNvSpPr txBox="1"/>
          <p:nvPr/>
        </p:nvSpPr>
        <p:spPr>
          <a:xfrm>
            <a:off x="11164358" y="1846561"/>
            <a:ext cx="494113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2025</a:t>
            </a:r>
          </a:p>
        </p:txBody>
      </p:sp>
      <p:sp>
        <p:nvSpPr>
          <p:cNvPr id="61" name="Editable text: 肺癌 · 奥希替尼耐药模型"/>
          <p:cNvSpPr txBox="1"/>
          <p:nvPr/>
        </p:nvSpPr>
        <p:spPr>
          <a:xfrm>
            <a:off x="8168640" y="2142640"/>
            <a:ext cx="1313529" cy="176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肺癌 · 奥希替尼耐药模型</a:t>
            </a:r>
          </a:p>
        </p:txBody>
      </p:sp>
      <p:sp>
        <p:nvSpPr>
          <p:cNvPr id="62" name="Editable text: Restoration of Osimertinib sensitivity i"/>
          <p:cNvSpPr txBox="1"/>
          <p:nvPr/>
        </p:nvSpPr>
        <p:spPr>
          <a:xfrm>
            <a:off x="8168640" y="2449786"/>
            <a:ext cx="2252984" cy="15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6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Restoration of Osimertinib sensitivity in lung</a:t>
            </a:r>
          </a:p>
        </p:txBody>
      </p:sp>
      <p:sp>
        <p:nvSpPr>
          <p:cNvPr id="63" name="Editable text: cancer through BRD4 inhibitor-mediated"/>
          <p:cNvSpPr txBox="1"/>
          <p:nvPr/>
        </p:nvSpPr>
        <p:spPr>
          <a:xfrm>
            <a:off x="8168640" y="2612207"/>
            <a:ext cx="2064515" cy="15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6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cancer through BRD4 inhibitor-mediated</a:t>
            </a:r>
          </a:p>
        </p:txBody>
      </p:sp>
      <p:sp>
        <p:nvSpPr>
          <p:cNvPr id="64" name="Editable text: depalmitoylation of mutant EGFR via APT1"/>
          <p:cNvSpPr txBox="1"/>
          <p:nvPr/>
        </p:nvSpPr>
        <p:spPr>
          <a:xfrm>
            <a:off x="8168640" y="2776480"/>
            <a:ext cx="2152551" cy="15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6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depalmitoylation of mutant EGFR via APT1</a:t>
            </a:r>
          </a:p>
        </p:txBody>
      </p:sp>
      <p:sp>
        <p:nvSpPr>
          <p:cNvPr id="65" name="Editable text: 参与治疗耐药机制"/>
          <p:cNvSpPr txBox="1"/>
          <p:nvPr/>
        </p:nvSpPr>
        <p:spPr>
          <a:xfrm>
            <a:off x="8168640" y="3045169"/>
            <a:ext cx="1520295" cy="2734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1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参与治疗耐药机制</a:t>
            </a:r>
          </a:p>
        </p:txBody>
      </p:sp>
      <p:sp>
        <p:nvSpPr>
          <p:cNvPr id="66" name="Editable text: APT1 / LYPLA1"/>
          <p:cNvSpPr txBox="1"/>
          <p:nvPr/>
        </p:nvSpPr>
        <p:spPr>
          <a:xfrm>
            <a:off x="9403156" y="3526331"/>
            <a:ext cx="1001676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APT1 / LYPLA1</a:t>
            </a:r>
          </a:p>
        </p:txBody>
      </p:sp>
      <p:sp>
        <p:nvSpPr>
          <p:cNvPr id="67" name="Editable text: EGFR 去棕榈酰化 / 核转位"/>
          <p:cNvSpPr txBox="1"/>
          <p:nvPr/>
        </p:nvSpPr>
        <p:spPr>
          <a:xfrm>
            <a:off x="9126831" y="3930953"/>
            <a:ext cx="155486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EGFR 去棕榈酰化 / 核转位</a:t>
            </a:r>
          </a:p>
        </p:txBody>
      </p:sp>
      <p:sp>
        <p:nvSpPr>
          <p:cNvPr id="68" name="Editable text: CMPK2 / 奥希替尼耐药"/>
          <p:cNvSpPr txBox="1"/>
          <p:nvPr/>
        </p:nvSpPr>
        <p:spPr>
          <a:xfrm>
            <a:off x="9208935" y="4335575"/>
            <a:ext cx="1390396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CMPK2 / 奥希替尼耐药</a:t>
            </a:r>
          </a:p>
        </p:txBody>
      </p:sp>
      <p:sp>
        <p:nvSpPr>
          <p:cNvPr id="69" name="Editable text: 敲低 APT1 降低耐药细胞 EGFR 核转位，"/>
          <p:cNvSpPr txBox="1"/>
          <p:nvPr/>
        </p:nvSpPr>
        <p:spPr>
          <a:xfrm>
            <a:off x="8168640" y="4775179"/>
            <a:ext cx="2183508" cy="178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25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敲低 APT1 降低耐药细胞 EGFR 核转位，</a:t>
            </a:r>
          </a:p>
        </p:txBody>
      </p:sp>
      <p:sp>
        <p:nvSpPr>
          <p:cNvPr id="70" name="Editable text: 并部分恢复对奥希替尼的敏感性。"/>
          <p:cNvSpPr txBox="1"/>
          <p:nvPr/>
        </p:nvSpPr>
        <p:spPr>
          <a:xfrm>
            <a:off x="8168640" y="4953078"/>
            <a:ext cx="1814988" cy="178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25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并部分恢复对奥希替尼的敏感性。</a:t>
            </a:r>
          </a:p>
        </p:txBody>
      </p:sp>
      <p:sp>
        <p:nvSpPr>
          <p:cNvPr id="71" name="Editable text: 来自肺癌耐药情境，不能直接外推至"/>
          <p:cNvSpPr txBox="1"/>
          <p:nvPr/>
        </p:nvSpPr>
        <p:spPr>
          <a:xfrm>
            <a:off x="8168640" y="5264902"/>
            <a:ext cx="1653910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来自肺癌耐药情境，不能直接外推至</a:t>
            </a:r>
          </a:p>
        </p:txBody>
      </p:sp>
      <p:sp>
        <p:nvSpPr>
          <p:cNvPr id="72" name="Editable text: 本项目四癌或未经治疗的肿瘤。"/>
          <p:cNvSpPr txBox="1"/>
          <p:nvPr/>
        </p:nvSpPr>
        <p:spPr>
          <a:xfrm>
            <a:off x="8168640" y="5426662"/>
            <a:ext cx="1452827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本项目四癌或未经治疗的肿瘤。</a:t>
            </a:r>
          </a:p>
        </p:txBody>
      </p:sp>
      <p:sp>
        <p:nvSpPr>
          <p:cNvPr id="73" name="Editable text: 全文核对"/>
          <p:cNvSpPr txBox="1"/>
          <p:nvPr/>
        </p:nvSpPr>
        <p:spPr>
          <a:xfrm>
            <a:off x="8168640" y="5703940"/>
            <a:ext cx="400314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全文核对</a:t>
            </a:r>
          </a:p>
        </p:txBody>
      </p:sp>
      <p:sp>
        <p:nvSpPr>
          <p:cNvPr id="74" name="Editable text: [3] doi: 10.1038/s41698-025-01048-8"/>
          <p:cNvSpPr txBox="1"/>
          <p:nvPr/>
        </p:nvSpPr>
        <p:spPr>
          <a:xfrm>
            <a:off x="8168640" y="5897622"/>
            <a:ext cx="1562680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[3] doi: 10.1038/s41698-025-01048-8</a:t>
            </a:r>
          </a:p>
        </p:txBody>
      </p:sp>
      <p:sp>
        <p:nvSpPr>
          <p:cNvPr id="75" name="Editable text: 本项目切入点"/>
          <p:cNvSpPr txBox="1"/>
          <p:nvPr/>
        </p:nvSpPr>
        <p:spPr>
          <a:xfrm>
            <a:off x="780287" y="6213042"/>
            <a:ext cx="887412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本项目切入点</a:t>
            </a:r>
          </a:p>
        </p:txBody>
      </p:sp>
      <p:sp>
        <p:nvSpPr>
          <p:cNvPr id="76" name="Editable text: 从 CAMP 代谢关联出发，检验四癌中患者方向、恶性上皮表达与空间定位是否一致。"/>
          <p:cNvSpPr txBox="1"/>
          <p:nvPr/>
        </p:nvSpPr>
        <p:spPr>
          <a:xfrm>
            <a:off x="2365248" y="6221525"/>
            <a:ext cx="4826507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从 CAMP 代谢关联出发，检验四癌中患者方向、恶性上皮表达与空间定位是否一致。</a:t>
            </a:r>
          </a:p>
        </p:txBody>
      </p:sp>
      <p:sp>
        <p:nvSpPr>
          <p:cNvPr id="77" name="Editable text: 机制链为原文结果概括；本项目尚未验证上述底物、酶活或因果机制。"/>
          <p:cNvSpPr txBox="1"/>
          <p:nvPr/>
        </p:nvSpPr>
        <p:spPr>
          <a:xfrm>
            <a:off x="609599" y="6614298"/>
            <a:ext cx="2795904" cy="1351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9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机制链为原文结果概括；本项目尚未验证上述底物、酶活或因果机制。</a:t>
            </a:r>
          </a:p>
        </p:txBody>
      </p:sp>
      <p:sp>
        <p:nvSpPr>
          <p:cNvPr id="78" name="Editable text: 17"/>
          <p:cNvSpPr txBox="1"/>
          <p:nvPr/>
        </p:nvSpPr>
        <p:spPr>
          <a:xfrm>
            <a:off x="11201400" y="6610366"/>
            <a:ext cx="42386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17</a:t>
            </a:r>
          </a:p>
        </p:txBody>
      </p:sp>
      <p:pic>
        <p:nvPicPr>
          <p:cNvPr id="79" name="Picture 78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able vector geometry"/>
          <p:cNvSpPr/>
          <p:nvPr/>
        </p:nvSpPr>
        <p:spPr>
          <a:xfrm>
            <a:off x="9204960" y="2194559"/>
            <a:ext cx="2377440" cy="2948940"/>
          </a:xfrm>
          <a:custGeom>
            <a:avLst/>
            <a:gdLst/>
            <a:ahLst/>
            <a:cxnLst/>
            <a:rect l="0" t="0" r="r" b="b"/>
            <a:pathLst>
              <a:path w="224640" h="278640">
                <a:moveTo>
                  <a:pt x="0" y="0"/>
                </a:moveTo>
                <a:lnTo>
                  <a:pt x="224640" y="0"/>
                </a:lnTo>
                <a:lnTo>
                  <a:pt x="224640" y="278640"/>
                </a:lnTo>
                <a:lnTo>
                  <a:pt x="0" y="278640"/>
                </a:lnTo>
                <a:close/>
              </a:path>
            </a:pathLst>
          </a:custGeom>
          <a:solidFill>
            <a:srgbClr val="00553B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8640917" y="3669029"/>
            <a:ext cx="391032" cy="105"/>
          </a:xfrm>
          <a:custGeom>
            <a:avLst/>
            <a:gdLst/>
            <a:ahLst/>
            <a:cxnLst/>
            <a:rect l="0" t="0" r="r" b="b"/>
            <a:pathLst>
              <a:path w="36948" h="10">
                <a:moveTo>
                  <a:pt x="0" y="0"/>
                </a:moveTo>
                <a:cubicBezTo>
                  <a:pt x="12875" y="0"/>
                  <a:pt x="25191" y="0"/>
                  <a:pt x="36948" y="0"/>
                </a:cubicBezTo>
              </a:path>
            </a:pathLst>
          </a:custGeom>
          <a:noFill/>
          <a:ln w="15875">
            <a:solidFill>
              <a:srgbClr val="91AD9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8955749" y="3630929"/>
            <a:ext cx="76200" cy="76200"/>
          </a:xfrm>
          <a:custGeom>
            <a:avLst/>
            <a:gdLst/>
            <a:ahLst/>
            <a:cxnLst/>
            <a:rect l="0" t="0" r="r" b="b"/>
            <a:pathLst>
              <a:path w="7200" h="7200">
                <a:moveTo>
                  <a:pt x="0" y="0"/>
                </a:moveTo>
                <a:lnTo>
                  <a:pt x="7200" y="3600"/>
                </a:lnTo>
                <a:lnTo>
                  <a:pt x="0" y="7200"/>
                </a:lnTo>
                <a:lnTo>
                  <a:pt x="0" y="0"/>
                </a:lnTo>
              </a:path>
            </a:pathLst>
          </a:custGeom>
          <a:solidFill>
            <a:srgbClr val="91AD9C">
              <a:alpha val="100000"/>
            </a:srgbClr>
          </a:solidFill>
          <a:ln w="15875">
            <a:solidFill>
              <a:srgbClr val="91AD9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1304543" y="2873501"/>
            <a:ext cx="6620255" cy="105"/>
          </a:xfrm>
          <a:custGeom>
            <a:avLst/>
            <a:gdLst/>
            <a:ahLst/>
            <a:cxnLst/>
            <a:rect l="0" t="0" r="r" b="b"/>
            <a:pathLst>
              <a:path w="625536" h="10">
                <a:moveTo>
                  <a:pt x="0" y="0"/>
                </a:moveTo>
                <a:lnTo>
                  <a:pt x="62553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vector geometry"/>
          <p:cNvSpPr/>
          <p:nvPr/>
        </p:nvSpPr>
        <p:spPr>
          <a:xfrm>
            <a:off x="1304543" y="3854195"/>
            <a:ext cx="6620255" cy="105"/>
          </a:xfrm>
          <a:custGeom>
            <a:avLst/>
            <a:gdLst/>
            <a:ahLst/>
            <a:cxnLst/>
            <a:rect l="0" t="0" r="r" b="b"/>
            <a:pathLst>
              <a:path w="625536" h="10">
                <a:moveTo>
                  <a:pt x="0" y="0"/>
                </a:moveTo>
                <a:lnTo>
                  <a:pt x="62553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1304543" y="4834889"/>
            <a:ext cx="6620255" cy="105"/>
          </a:xfrm>
          <a:custGeom>
            <a:avLst/>
            <a:gdLst/>
            <a:ahLst/>
            <a:cxnLst/>
            <a:rect l="0" t="0" r="r" b="b"/>
            <a:pathLst>
              <a:path w="625536" h="10">
                <a:moveTo>
                  <a:pt x="0" y="0"/>
                </a:moveTo>
                <a:lnTo>
                  <a:pt x="62553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8375904" y="2064258"/>
            <a:ext cx="243839" cy="3216402"/>
          </a:xfrm>
          <a:custGeom>
            <a:avLst/>
            <a:gdLst/>
            <a:ahLst/>
            <a:cxnLst/>
            <a:rect l="0" t="0" r="r" b="b"/>
            <a:pathLst>
              <a:path w="23040" h="303912">
                <a:moveTo>
                  <a:pt x="0" y="0"/>
                </a:moveTo>
                <a:lnTo>
                  <a:pt x="23040" y="0"/>
                </a:lnTo>
                <a:lnTo>
                  <a:pt x="23040" y="303912"/>
                </a:lnTo>
                <a:lnTo>
                  <a:pt x="0" y="303912"/>
                </a:lnTo>
              </a:path>
            </a:pathLst>
          </a:custGeom>
          <a:noFill/>
          <a:ln w="15875">
            <a:solidFill>
              <a:srgbClr val="91AD9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9570720" y="3134105"/>
            <a:ext cx="1645919" cy="105"/>
          </a:xfrm>
          <a:custGeom>
            <a:avLst/>
            <a:gdLst/>
            <a:ahLst/>
            <a:cxnLst/>
            <a:rect l="0" t="0" r="r" b="b"/>
            <a:pathLst>
              <a:path w="155520" h="10">
                <a:moveTo>
                  <a:pt x="0" y="0"/>
                </a:moveTo>
                <a:lnTo>
                  <a:pt x="155520" y="0"/>
                </a:lnTo>
              </a:path>
            </a:pathLst>
          </a:custGeom>
          <a:noFill/>
          <a:ln w="10583">
            <a:solidFill>
              <a:srgbClr val="679A8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609599" y="5945885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text: LYPLA1：从代谢候选到多层表达证据"/>
          <p:cNvSpPr txBox="1"/>
          <p:nvPr/>
        </p:nvSpPr>
        <p:spPr>
          <a:xfrm>
            <a:off x="609599" y="999114"/>
            <a:ext cx="4905491" cy="434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LYPLA1：从代谢候选到多层表达证据</a:t>
            </a:r>
          </a:p>
        </p:txBody>
      </p:sp>
      <p:sp>
        <p:nvSpPr>
          <p:cNvPr id="17" name="Editable text: 01"/>
          <p:cNvSpPr txBox="1"/>
          <p:nvPr/>
        </p:nvSpPr>
        <p:spPr>
          <a:xfrm>
            <a:off x="731520" y="1972510"/>
            <a:ext cx="409913" cy="3699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916" b="1" lang="zh-CN">
                <a:solidFill>
                  <a:srgbClr val="A5BDAF"/>
                </a:solidFill>
                <a:latin typeface="Microsoft YaHei"/>
                <a:ea typeface="微软雅黑"/>
                <a:cs typeface="Microsoft YaHei"/>
              </a:defRPr>
            </a:pPr>
            <a:r>
              <a:t>01</a:t>
            </a:r>
          </a:p>
        </p:txBody>
      </p:sp>
      <p:sp>
        <p:nvSpPr>
          <p:cNvPr id="18" name="Editable text: 代谢发现"/>
          <p:cNvSpPr txBox="1"/>
          <p:nvPr/>
        </p:nvSpPr>
        <p:spPr>
          <a:xfrm>
            <a:off x="1304543" y="1997877"/>
            <a:ext cx="941916" cy="3217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代谢发现</a:t>
            </a:r>
          </a:p>
        </p:txBody>
      </p:sp>
      <p:sp>
        <p:nvSpPr>
          <p:cNvPr id="19" name="Editable text: 四癌异常代谢物经关系映射，均指向 LYPLA1"/>
          <p:cNvSpPr txBox="1"/>
          <p:nvPr/>
        </p:nvSpPr>
        <p:spPr>
          <a:xfrm>
            <a:off x="1304543" y="2416667"/>
            <a:ext cx="3041988" cy="2284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83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四癌异常代谢物经关系映射，均指向 LYPLA1</a:t>
            </a:r>
          </a:p>
        </p:txBody>
      </p:sp>
      <p:sp>
        <p:nvSpPr>
          <p:cNvPr id="20" name="Editable text: 02"/>
          <p:cNvSpPr txBox="1"/>
          <p:nvPr/>
        </p:nvSpPr>
        <p:spPr>
          <a:xfrm>
            <a:off x="731520" y="2953204"/>
            <a:ext cx="409913" cy="3699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916" b="1" lang="zh-CN">
                <a:solidFill>
                  <a:srgbClr val="A5BDAF"/>
                </a:solidFill>
                <a:latin typeface="Microsoft YaHei"/>
                <a:ea typeface="微软雅黑"/>
                <a:cs typeface="Microsoft YaHei"/>
              </a:defRPr>
            </a:pPr>
            <a:r>
              <a:t>02</a:t>
            </a:r>
          </a:p>
        </p:txBody>
      </p:sp>
      <p:sp>
        <p:nvSpPr>
          <p:cNvPr id="21" name="Editable text: 组织表达"/>
          <p:cNvSpPr txBox="1"/>
          <p:nvPr/>
        </p:nvSpPr>
        <p:spPr>
          <a:xfrm>
            <a:off x="1304543" y="2978571"/>
            <a:ext cx="941916" cy="3217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组织表达</a:t>
            </a:r>
          </a:p>
        </p:txBody>
      </p:sp>
      <p:sp>
        <p:nvSpPr>
          <p:cNvPr id="22" name="Editable text: 四癌平均上调，其中 BRCA、COAD、PRAD 显著"/>
          <p:cNvSpPr txBox="1"/>
          <p:nvPr/>
        </p:nvSpPr>
        <p:spPr>
          <a:xfrm>
            <a:off x="1304543" y="3397361"/>
            <a:ext cx="3356621" cy="2284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83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四癌平均上调，其中 BRCA、COAD、PRAD 显著</a:t>
            </a:r>
          </a:p>
        </p:txBody>
      </p:sp>
      <p:sp>
        <p:nvSpPr>
          <p:cNvPr id="23" name="Editable text: 03"/>
          <p:cNvSpPr txBox="1"/>
          <p:nvPr/>
        </p:nvSpPr>
        <p:spPr>
          <a:xfrm>
            <a:off x="731520" y="3933898"/>
            <a:ext cx="409913" cy="3699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916" b="1" lang="zh-CN">
                <a:solidFill>
                  <a:srgbClr val="A5BDAF"/>
                </a:solidFill>
                <a:latin typeface="Microsoft YaHei"/>
                <a:ea typeface="微软雅黑"/>
                <a:cs typeface="Microsoft YaHei"/>
              </a:defRPr>
            </a:pPr>
            <a:r>
              <a:t>03</a:t>
            </a:r>
          </a:p>
        </p:txBody>
      </p:sp>
      <p:sp>
        <p:nvSpPr>
          <p:cNvPr id="24" name="Editable text: 患者重复"/>
          <p:cNvSpPr txBox="1"/>
          <p:nvPr/>
        </p:nvSpPr>
        <p:spPr>
          <a:xfrm>
            <a:off x="1304543" y="3959265"/>
            <a:ext cx="941916" cy="3217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患者重复</a:t>
            </a:r>
          </a:p>
        </p:txBody>
      </p:sp>
      <p:sp>
        <p:nvSpPr>
          <p:cNvPr id="25" name="Editable text: 四癌上皮比较中，多数患者呈同向升高"/>
          <p:cNvSpPr txBox="1"/>
          <p:nvPr/>
        </p:nvSpPr>
        <p:spPr>
          <a:xfrm>
            <a:off x="1304543" y="4378055"/>
            <a:ext cx="2622443" cy="2284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83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四癌上皮比较中，多数患者呈同向升高</a:t>
            </a:r>
          </a:p>
        </p:txBody>
      </p:sp>
      <p:sp>
        <p:nvSpPr>
          <p:cNvPr id="26" name="Editable text: 04"/>
          <p:cNvSpPr txBox="1"/>
          <p:nvPr/>
        </p:nvSpPr>
        <p:spPr>
          <a:xfrm>
            <a:off x="731520" y="4914592"/>
            <a:ext cx="409913" cy="3699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916" b="1" lang="zh-CN">
                <a:solidFill>
                  <a:srgbClr val="A5BDAF"/>
                </a:solidFill>
                <a:latin typeface="Microsoft YaHei"/>
                <a:ea typeface="微软雅黑"/>
                <a:cs typeface="Microsoft YaHei"/>
              </a:defRPr>
            </a:pPr>
            <a:r>
              <a:t>04</a:t>
            </a:r>
          </a:p>
        </p:txBody>
      </p:sp>
      <p:sp>
        <p:nvSpPr>
          <p:cNvPr id="27" name="Editable text: 空间定位"/>
          <p:cNvSpPr txBox="1"/>
          <p:nvPr/>
        </p:nvSpPr>
        <p:spPr>
          <a:xfrm>
            <a:off x="1304543" y="4939959"/>
            <a:ext cx="941916" cy="3217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空间定位</a:t>
            </a:r>
          </a:p>
        </p:txBody>
      </p:sp>
      <p:sp>
        <p:nvSpPr>
          <p:cNvPr id="28" name="Editable text: BRCA、PRAD 代表切片提供癌区定位补充"/>
          <p:cNvSpPr txBox="1"/>
          <p:nvPr/>
        </p:nvSpPr>
        <p:spPr>
          <a:xfrm>
            <a:off x="1304543" y="5358749"/>
            <a:ext cx="2872770" cy="2284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83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BRCA、PRAD 代表切片提供癌区定位补充</a:t>
            </a:r>
          </a:p>
        </p:txBody>
      </p:sp>
      <p:sp>
        <p:nvSpPr>
          <p:cNvPr id="29" name="Editable text: LYPLA1"/>
          <p:cNvSpPr txBox="1"/>
          <p:nvPr/>
        </p:nvSpPr>
        <p:spPr>
          <a:xfrm>
            <a:off x="9803411" y="2509939"/>
            <a:ext cx="1322843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500" b="1" lang="zh-CN">
                <a:solidFill>
                  <a:srgbClr val="FFFFFF"/>
                </a:solidFill>
                <a:latin typeface="Microsoft YaHei"/>
                <a:ea typeface="微软雅黑"/>
                <a:cs typeface="Microsoft YaHei"/>
              </a:defRPr>
            </a:pPr>
            <a:r>
              <a:t>LYPLA1</a:t>
            </a:r>
          </a:p>
        </p:txBody>
      </p:sp>
      <p:sp>
        <p:nvSpPr>
          <p:cNvPr id="30" name="Editable text: 跨癌反复出现"/>
          <p:cNvSpPr txBox="1"/>
          <p:nvPr/>
        </p:nvSpPr>
        <p:spPr>
          <a:xfrm>
            <a:off x="9885680" y="3376852"/>
            <a:ext cx="1092200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FFFFFF"/>
                </a:solidFill>
                <a:latin typeface="Microsoft YaHei"/>
                <a:ea typeface="微软雅黑"/>
                <a:cs typeface="Microsoft YaHei"/>
              </a:defRPr>
            </a:pPr>
            <a:r>
              <a:t>跨癌反复出现</a:t>
            </a:r>
          </a:p>
        </p:txBody>
      </p:sp>
      <p:sp>
        <p:nvSpPr>
          <p:cNvPr id="31" name="Editable text: 具有上皮表达支持"/>
          <p:cNvSpPr txBox="1"/>
          <p:nvPr/>
        </p:nvSpPr>
        <p:spPr>
          <a:xfrm>
            <a:off x="9716346" y="3649258"/>
            <a:ext cx="1430867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FFFFFF"/>
                </a:solidFill>
                <a:latin typeface="Microsoft YaHei"/>
                <a:ea typeface="微软雅黑"/>
                <a:cs typeface="Microsoft YaHei"/>
              </a:defRPr>
            </a:pPr>
            <a:r>
              <a:t>具有上皮表达支持</a:t>
            </a:r>
          </a:p>
        </p:txBody>
      </p:sp>
      <p:sp>
        <p:nvSpPr>
          <p:cNvPr id="32" name="Editable text: 值得继续关注的候选"/>
          <p:cNvSpPr txBox="1"/>
          <p:nvPr/>
        </p:nvSpPr>
        <p:spPr>
          <a:xfrm>
            <a:off x="9726930" y="4448911"/>
            <a:ext cx="1400175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E0EEE5"/>
                </a:solidFill>
                <a:latin typeface="Microsoft YaHei"/>
                <a:ea typeface="微软雅黑"/>
                <a:cs typeface="Microsoft YaHei"/>
              </a:defRPr>
            </a:pPr>
            <a:r>
              <a:t>值得继续关注的候选</a:t>
            </a:r>
          </a:p>
        </p:txBody>
      </p:sp>
      <p:sp>
        <p:nvSpPr>
          <p:cNvPr id="33" name="Editable text: 现阶段：多层证据支持候选价值，共同代谢机制尚未建立。"/>
          <p:cNvSpPr txBox="1"/>
          <p:nvPr/>
        </p:nvSpPr>
        <p:spPr>
          <a:xfrm>
            <a:off x="609599" y="6132811"/>
            <a:ext cx="4478866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现阶段：多层证据支持候选价值，共同代谢机制尚未建立。</a:t>
            </a:r>
          </a:p>
        </p:txBody>
      </p:sp>
      <p:sp>
        <p:nvSpPr>
          <p:cNvPr id="34" name="Editable text: 18"/>
          <p:cNvSpPr txBox="1"/>
          <p:nvPr/>
        </p:nvSpPr>
        <p:spPr>
          <a:xfrm>
            <a:off x="11159066" y="6512811"/>
            <a:ext cx="470958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18</a:t>
            </a:r>
          </a:p>
        </p:txBody>
      </p:sp>
      <p:pic>
        <p:nvPicPr>
          <p:cNvPr id="35" name="Picture 34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609599" y="5822441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text: ASNS：利用谷氨酰胺的氮，合成天冬酰胺"/>
          <p:cNvSpPr txBox="1"/>
          <p:nvPr/>
        </p:nvSpPr>
        <p:spPr>
          <a:xfrm>
            <a:off x="609599" y="974850"/>
            <a:ext cx="5094287" cy="4021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ASNS：利用谷氨酰胺的氮，合成天冬酰胺</a:t>
            </a:r>
          </a:p>
        </p:txBody>
      </p:sp>
      <p:sp>
        <p:nvSpPr>
          <p:cNvPr id="11" name="Editable text: 01  已知生化作用"/>
          <p:cNvSpPr txBox="1"/>
          <p:nvPr/>
        </p:nvSpPr>
        <p:spPr>
          <a:xfrm>
            <a:off x="609599" y="1554835"/>
            <a:ext cx="1226820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01  已知生化作用</a:t>
            </a:r>
          </a:p>
        </p:txBody>
      </p:sp>
      <p:sp>
        <p:nvSpPr>
          <p:cNvPr id="17" name="Editable text: 02  CAMP 中实际观察到的结果"/>
          <p:cNvSpPr txBox="1"/>
          <p:nvPr/>
        </p:nvSpPr>
        <p:spPr>
          <a:xfrm>
            <a:off x="609599" y="3488791"/>
            <a:ext cx="2176272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02  CAMP 中实际观察到的结果</a:t>
            </a:r>
          </a:p>
        </p:txBody>
      </p:sp>
      <p:sp>
        <p:nvSpPr>
          <p:cNvPr id="18" name="Editable text: 代谢物变化"/>
          <p:cNvSpPr txBox="1"/>
          <p:nvPr/>
        </p:nvSpPr>
        <p:spPr>
          <a:xfrm>
            <a:off x="2582121" y="3847032"/>
            <a:ext cx="74982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代谢物变化</a:t>
            </a:r>
          </a:p>
        </p:txBody>
      </p:sp>
      <p:sp>
        <p:nvSpPr>
          <p:cNvPr id="19" name="Editable text: 基因 RNA 变化"/>
          <p:cNvSpPr txBox="1"/>
          <p:nvPr/>
        </p:nvSpPr>
        <p:spPr>
          <a:xfrm>
            <a:off x="5499731" y="3847032"/>
            <a:ext cx="1010412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基因 RNA 变化</a:t>
            </a:r>
          </a:p>
        </p:txBody>
      </p:sp>
      <p:sp>
        <p:nvSpPr>
          <p:cNvPr id="20" name="Editable text: 肿瘤样本内关联"/>
          <p:cNvSpPr txBox="1"/>
          <p:nvPr/>
        </p:nvSpPr>
        <p:spPr>
          <a:xfrm>
            <a:off x="9028218" y="3847032"/>
            <a:ext cx="1024995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肿瘤样本内关联</a:t>
            </a:r>
          </a:p>
        </p:txBody>
      </p:sp>
      <p:sp>
        <p:nvSpPr>
          <p:cNvPr id="21" name="Editable text: BRCA"/>
          <p:cNvSpPr txBox="1"/>
          <p:nvPr/>
        </p:nvSpPr>
        <p:spPr>
          <a:xfrm>
            <a:off x="853439" y="4557013"/>
            <a:ext cx="515229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BRCA</a:t>
            </a:r>
          </a:p>
        </p:txBody>
      </p:sp>
      <p:sp>
        <p:nvSpPr>
          <p:cNvPr id="22" name="Editable text: 谷氨酰胺 ↓"/>
          <p:cNvSpPr txBox="1"/>
          <p:nvPr/>
        </p:nvSpPr>
        <p:spPr>
          <a:xfrm>
            <a:off x="2443711" y="4454666"/>
            <a:ext cx="1055285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谷氨酰胺 ↓</a:t>
            </a:r>
          </a:p>
        </p:txBody>
      </p:sp>
      <p:sp>
        <p:nvSpPr>
          <p:cNvPr id="23" name="Editable text: 配对 P = 6.03e-08"/>
          <p:cNvSpPr txBox="1"/>
          <p:nvPr/>
        </p:nvSpPr>
        <p:spPr>
          <a:xfrm>
            <a:off x="2458594" y="4816091"/>
            <a:ext cx="984901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配对 P = 6.03e-08</a:t>
            </a:r>
          </a:p>
        </p:txBody>
      </p:sp>
      <p:sp>
        <p:nvSpPr>
          <p:cNvPr id="24" name="Editable text: ASNS ↑"/>
          <p:cNvSpPr txBox="1"/>
          <p:nvPr/>
        </p:nvSpPr>
        <p:spPr>
          <a:xfrm>
            <a:off x="5612014" y="4454666"/>
            <a:ext cx="814789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ASNS ↑</a:t>
            </a:r>
          </a:p>
        </p:txBody>
      </p:sp>
      <p:sp>
        <p:nvSpPr>
          <p:cNvPr id="25" name="Editable text: 配对 P = 6e-07"/>
          <p:cNvSpPr txBox="1"/>
          <p:nvPr/>
        </p:nvSpPr>
        <p:spPr>
          <a:xfrm>
            <a:off x="5585142" y="4816091"/>
            <a:ext cx="827881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配对 P = 6e-07</a:t>
            </a:r>
          </a:p>
        </p:txBody>
      </p:sp>
      <p:sp>
        <p:nvSpPr>
          <p:cNvPr id="26" name="Editable text: ρ = -0.440   P = 0.0005"/>
          <p:cNvSpPr txBox="1"/>
          <p:nvPr/>
        </p:nvSpPr>
        <p:spPr>
          <a:xfrm>
            <a:off x="8598022" y="4488434"/>
            <a:ext cx="1895634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ρ = -0.440   P = 0.0005</a:t>
            </a:r>
          </a:p>
        </p:txBody>
      </p:sp>
      <p:sp>
        <p:nvSpPr>
          <p:cNvPr id="27" name="Editable text: 60 个肿瘤样本 · Spearman 相关"/>
          <p:cNvSpPr txBox="1"/>
          <p:nvPr/>
        </p:nvSpPr>
        <p:spPr>
          <a:xfrm>
            <a:off x="8708320" y="4818075"/>
            <a:ext cx="1652374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60 个肿瘤样本 · Spearman 相关</a:t>
            </a:r>
          </a:p>
        </p:txBody>
      </p:sp>
      <p:sp>
        <p:nvSpPr>
          <p:cNvPr id="28" name="Editable text: 对应线索：谷氨酰胺降低、ASNS 升高且负相关；尚不能断定是 ASNS 消耗所致"/>
          <p:cNvSpPr txBox="1"/>
          <p:nvPr/>
        </p:nvSpPr>
        <p:spPr>
          <a:xfrm>
            <a:off x="609599" y="5970217"/>
            <a:ext cx="5279517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5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对应线索：谷氨酰胺降低、ASNS 升高且负相关；尚不能断定是 ASNS 消耗所致。</a:t>
            </a:r>
          </a:p>
        </p:txBody>
      </p:sp>
      <p:sp>
        <p:nvSpPr>
          <p:cNvPr id="29" name="Editable text: 生化注释提供映射依据；RNA 水平与相关性不等于酶活、转运量或因果。"/>
          <p:cNvSpPr txBox="1"/>
          <p:nvPr/>
        </p:nvSpPr>
        <p:spPr>
          <a:xfrm>
            <a:off x="609599" y="6293356"/>
            <a:ext cx="3483610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生化注释提供映射依据；RNA 水平与相关性不等于酶活、转运量或因果。</a:t>
            </a:r>
          </a:p>
        </p:txBody>
      </p:sp>
      <p:sp>
        <p:nvSpPr>
          <p:cNvPr id="30" name="Editable text: 来源：UniProt P08243 · RHEA:12228（人类，已审阅）；反"/>
          <p:cNvSpPr txBox="1"/>
          <p:nvPr/>
        </p:nvSpPr>
        <p:spPr>
          <a:xfrm>
            <a:off x="609599" y="6554333"/>
            <a:ext cx="3112091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来源：UniProt P08243 · RHEA:12228（人类，已审阅）；反应为简化示意。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1082528" y="6446520"/>
            <a:ext cx="47548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" y="1847088"/>
            <a:ext cx="10972800" cy="1517904"/>
          </a:xfrm>
          <a:prstGeom prst="rect">
            <a:avLst/>
          </a:prstGeom>
          <a:solidFill>
            <a:srgbClr val="F3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Imagegen conceptual cutout: metabolites" descr="scientific_cutouts.png"/>
          <p:cNvPicPr>
            <a:picLocks noChangeAspect="1"/>
          </p:cNvPicPr>
          <p:nvPr/>
        </p:nvPicPr>
        <p:blipFill>
          <a:blip r:embed="rId5"/>
          <a:srcRect l="781" r="66797" t="53711" b="5762"/>
          <a:stretch>
            <a:fillRect/>
          </a:stretch>
        </p:blipFill>
        <p:spPr>
          <a:xfrm>
            <a:off x="982065" y="1947672"/>
            <a:ext cx="1163116" cy="969264"/>
          </a:xfrm>
          <a:prstGeom prst="rect">
            <a:avLst/>
          </a:prstGeom>
        </p:spPr>
      </p:pic>
      <p:pic>
        <p:nvPicPr>
          <p:cNvPr id="38" name="Imagegen conceptual cutout: enzyme" descr="scientific_cutouts.png"/>
          <p:cNvPicPr>
            <a:picLocks noChangeAspect="1"/>
          </p:cNvPicPr>
          <p:nvPr/>
        </p:nvPicPr>
        <p:blipFill>
          <a:blip r:embed="rId5"/>
          <a:srcRect l="68034" r="716" t="1953" b="52148"/>
          <a:stretch>
            <a:fillRect/>
          </a:stretch>
        </p:blipFill>
        <p:spPr>
          <a:xfrm>
            <a:off x="5685525" y="1901952"/>
            <a:ext cx="635021" cy="621792"/>
          </a:xfrm>
          <a:prstGeom prst="rect">
            <a:avLst/>
          </a:prstGeom>
        </p:spPr>
      </p:pic>
      <p:pic>
        <p:nvPicPr>
          <p:cNvPr id="39" name="Imagegen conceptual cutout: metabolites" descr="scientific_cutouts.png"/>
          <p:cNvPicPr>
            <a:picLocks noChangeAspect="1"/>
          </p:cNvPicPr>
          <p:nvPr/>
        </p:nvPicPr>
        <p:blipFill>
          <a:blip r:embed="rId5"/>
          <a:srcRect l="781" r="66797" t="53711" b="5762"/>
          <a:stretch>
            <a:fillRect/>
          </a:stretch>
        </p:blipFill>
        <p:spPr>
          <a:xfrm>
            <a:off x="9870033" y="1947672"/>
            <a:ext cx="1163116" cy="96926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231136" y="2249424"/>
            <a:ext cx="247802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6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谷氨酰胺 + 天冬氨酸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43216" y="2249424"/>
            <a:ext cx="24048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6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谷氨酸 + 天冬酰胺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901184" y="2802636"/>
            <a:ext cx="2395728" cy="0"/>
          </a:xfrm>
          <a:prstGeom prst="line">
            <a:avLst/>
          </a:prstGeom>
          <a:ln w="22860">
            <a:solidFill>
              <a:srgbClr val="0055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400800" y="2121408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4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ASNS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63440" y="2898648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2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ATP → AMP + PPi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07008" y="2916936"/>
            <a:ext cx="346557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2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谷氨酰胺提供酰胺氮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43216" y="2916936"/>
            <a:ext cx="352958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2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产物为天冬酰胺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" y="3136392"/>
            <a:ext cx="10012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04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利用谷氨酰胺的氮合成天冬酰胺；分子与蛋白均为概念示意。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641596" y="2215133"/>
            <a:ext cx="2837702" cy="2804922"/>
          </a:xfrm>
          <a:custGeom>
            <a:avLst/>
            <a:gdLst/>
            <a:ahLst/>
            <a:cxnLst/>
            <a:rect l="0" t="0" r="r" b="b"/>
            <a:pathLst>
              <a:path w="268129" h="265032">
                <a:moveTo>
                  <a:pt x="0" y="0"/>
                </a:moveTo>
                <a:lnTo>
                  <a:pt x="268129" y="0"/>
                </a:lnTo>
                <a:lnTo>
                  <a:pt x="26812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827" y="2303318"/>
            <a:ext cx="2663536" cy="2632363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641596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641596" y="5020055"/>
            <a:ext cx="2837702" cy="105"/>
          </a:xfrm>
          <a:custGeom>
            <a:avLst/>
            <a:gdLst/>
            <a:ahLst/>
            <a:cxnLst/>
            <a:rect l="0" t="0" r="r" b="b"/>
            <a:pathLst>
              <a:path w="268129" h="10">
                <a:moveTo>
                  <a:pt x="0" y="0"/>
                </a:moveTo>
                <a:lnTo>
                  <a:pt x="26812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1480032" y="3135329"/>
            <a:ext cx="1182807" cy="803987"/>
          </a:xfrm>
          <a:custGeom>
            <a:avLst/>
            <a:gdLst/>
            <a:ahLst/>
            <a:cxnLst/>
            <a:rect l="0" t="0" r="r" b="b"/>
            <a:pathLst>
              <a:path w="111761" h="75967">
                <a:moveTo>
                  <a:pt x="55881" y="75967"/>
                </a:moveTo>
                <a:cubicBezTo>
                  <a:pt x="70700" y="75967"/>
                  <a:pt x="84915" y="71965"/>
                  <a:pt x="95394" y="64842"/>
                </a:cubicBezTo>
                <a:cubicBezTo>
                  <a:pt x="105873" y="57719"/>
                  <a:pt x="111761" y="48057"/>
                  <a:pt x="111761" y="37984"/>
                </a:cubicBezTo>
                <a:cubicBezTo>
                  <a:pt x="111761" y="27910"/>
                  <a:pt x="105873" y="18248"/>
                  <a:pt x="95394" y="11125"/>
                </a:cubicBezTo>
                <a:cubicBezTo>
                  <a:pt x="84915" y="4002"/>
                  <a:pt x="70700" y="0"/>
                  <a:pt x="55881" y="0"/>
                </a:cubicBezTo>
                <a:cubicBezTo>
                  <a:pt x="41061" y="0"/>
                  <a:pt x="26846" y="4002"/>
                  <a:pt x="16367" y="11125"/>
                </a:cubicBezTo>
                <a:cubicBezTo>
                  <a:pt x="5888" y="18248"/>
                  <a:pt x="0" y="27910"/>
                  <a:pt x="0" y="37984"/>
                </a:cubicBezTo>
                <a:cubicBezTo>
                  <a:pt x="0" y="48057"/>
                  <a:pt x="5888" y="57719"/>
                  <a:pt x="16367" y="64842"/>
                </a:cubicBezTo>
                <a:cubicBezTo>
                  <a:pt x="26846" y="71965"/>
                  <a:pt x="41061" y="75967"/>
                  <a:pt x="55881" y="75967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469884" y="2215133"/>
            <a:ext cx="2837702" cy="2804922"/>
          </a:xfrm>
          <a:custGeom>
            <a:avLst/>
            <a:gdLst/>
            <a:ahLst/>
            <a:cxnLst/>
            <a:rect l="0" t="0" r="r" b="b"/>
            <a:pathLst>
              <a:path w="268129" h="265032">
                <a:moveTo>
                  <a:pt x="0" y="0"/>
                </a:moveTo>
                <a:lnTo>
                  <a:pt x="268129" y="0"/>
                </a:lnTo>
                <a:lnTo>
                  <a:pt x="26812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8145" y="2299854"/>
            <a:ext cx="2663536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469884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469884" y="5020055"/>
            <a:ext cx="2837702" cy="105"/>
          </a:xfrm>
          <a:custGeom>
            <a:avLst/>
            <a:gdLst/>
            <a:ahLst/>
            <a:cxnLst/>
            <a:rect l="0" t="0" r="r" b="b"/>
            <a:pathLst>
              <a:path w="268129" h="10">
                <a:moveTo>
                  <a:pt x="0" y="0"/>
                </a:moveTo>
                <a:lnTo>
                  <a:pt x="26812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5308321" y="3135329"/>
            <a:ext cx="1182807" cy="803987"/>
          </a:xfrm>
          <a:custGeom>
            <a:avLst/>
            <a:gdLst/>
            <a:ahLst/>
            <a:cxnLst/>
            <a:rect l="0" t="0" r="r" b="b"/>
            <a:pathLst>
              <a:path w="111761" h="75967">
                <a:moveTo>
                  <a:pt x="55881" y="75967"/>
                </a:moveTo>
                <a:cubicBezTo>
                  <a:pt x="70700" y="75967"/>
                  <a:pt x="84915" y="71965"/>
                  <a:pt x="95394" y="64842"/>
                </a:cubicBezTo>
                <a:cubicBezTo>
                  <a:pt x="105873" y="57719"/>
                  <a:pt x="111761" y="48057"/>
                  <a:pt x="111761" y="37984"/>
                </a:cubicBezTo>
                <a:cubicBezTo>
                  <a:pt x="111761" y="27910"/>
                  <a:pt x="105873" y="18248"/>
                  <a:pt x="95394" y="11125"/>
                </a:cubicBezTo>
                <a:cubicBezTo>
                  <a:pt x="84915" y="4002"/>
                  <a:pt x="70700" y="0"/>
                  <a:pt x="55881" y="0"/>
                </a:cubicBezTo>
                <a:cubicBezTo>
                  <a:pt x="41061" y="0"/>
                  <a:pt x="26846" y="4002"/>
                  <a:pt x="16367" y="11125"/>
                </a:cubicBezTo>
                <a:cubicBezTo>
                  <a:pt x="5888" y="18248"/>
                  <a:pt x="0" y="27910"/>
                  <a:pt x="0" y="37984"/>
                </a:cubicBezTo>
                <a:cubicBezTo>
                  <a:pt x="0" y="48057"/>
                  <a:pt x="5888" y="57719"/>
                  <a:pt x="16367" y="64842"/>
                </a:cubicBezTo>
                <a:cubicBezTo>
                  <a:pt x="26846" y="71965"/>
                  <a:pt x="41061" y="75967"/>
                  <a:pt x="55881" y="75967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Source image: point cloud / tissue / logo / color scal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7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3767327" y="428086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3864006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344714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03028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427377" y="402015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0427377" y="3747196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0427377" y="347424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320128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427377" y="292832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697717" y="4046116"/>
            <a:ext cx="830579" cy="28076"/>
          </a:xfrm>
          <a:custGeom>
            <a:avLst/>
            <a:gdLst/>
            <a:ahLst/>
            <a:cxnLst/>
            <a:rect l="0" t="0" r="r" b="b"/>
            <a:pathLst>
              <a:path w="78480" h="2653">
                <a:moveTo>
                  <a:pt x="0" y="265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697717" y="4029954"/>
            <a:ext cx="830579" cy="22152"/>
          </a:xfrm>
          <a:custGeom>
            <a:avLst/>
            <a:gdLst/>
            <a:ahLst/>
            <a:cxnLst/>
            <a:rect l="0" t="0" r="r" b="b"/>
            <a:pathLst>
              <a:path w="78480" h="2093">
                <a:moveTo>
                  <a:pt x="0" y="0"/>
                </a:moveTo>
                <a:lnTo>
                  <a:pt x="78480" y="2093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697717" y="3883484"/>
            <a:ext cx="830579" cy="89509"/>
          </a:xfrm>
          <a:custGeom>
            <a:avLst/>
            <a:gdLst/>
            <a:ahLst/>
            <a:cxnLst/>
            <a:rect l="0" t="0" r="r" b="b"/>
            <a:pathLst>
              <a:path w="78480" h="8458">
                <a:moveTo>
                  <a:pt x="0" y="0"/>
                </a:moveTo>
                <a:lnTo>
                  <a:pt x="78480" y="8458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697717" y="3015292"/>
            <a:ext cx="830579" cy="918371"/>
          </a:xfrm>
          <a:custGeom>
            <a:avLst/>
            <a:gdLst/>
            <a:ahLst/>
            <a:cxnLst/>
            <a:rect l="0" t="0" r="r" b="b"/>
            <a:pathLst>
              <a:path w="78480" h="86775">
                <a:moveTo>
                  <a:pt x="0" y="86775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697717" y="3814527"/>
            <a:ext cx="830579" cy="285032"/>
          </a:xfrm>
          <a:custGeom>
            <a:avLst/>
            <a:gdLst/>
            <a:ahLst/>
            <a:cxnLst/>
            <a:rect l="0" t="0" r="r" b="b"/>
            <a:pathLst>
              <a:path w="78480" h="26932">
                <a:moveTo>
                  <a:pt x="0" y="26932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530884"/>
            <a:ext cx="830579" cy="167488"/>
          </a:xfrm>
          <a:custGeom>
            <a:avLst/>
            <a:gdLst/>
            <a:ahLst/>
            <a:cxnLst/>
            <a:rect l="0" t="0" r="r" b="b"/>
            <a:pathLst>
              <a:path w="78480" h="15826">
                <a:moveTo>
                  <a:pt x="0" y="15826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3885365"/>
            <a:ext cx="830579" cy="60110"/>
          </a:xfrm>
          <a:custGeom>
            <a:avLst/>
            <a:gdLst/>
            <a:ahLst/>
            <a:cxnLst/>
            <a:rect l="0" t="0" r="r" b="b"/>
            <a:pathLst>
              <a:path w="78480" h="5680">
                <a:moveTo>
                  <a:pt x="0" y="5680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4126552"/>
            <a:ext cx="830579" cy="91837"/>
          </a:xfrm>
          <a:custGeom>
            <a:avLst/>
            <a:gdLst/>
            <a:ahLst/>
            <a:cxnLst/>
            <a:rect l="0" t="0" r="r" b="b"/>
            <a:pathLst>
              <a:path w="78480" h="8678">
                <a:moveTo>
                  <a:pt x="0" y="0"/>
                </a:moveTo>
                <a:lnTo>
                  <a:pt x="78480" y="8678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674652" y="40511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674652" y="400688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674652" y="386041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74652" y="391059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674652" y="407649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674652" y="367530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74652" y="392240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74652" y="410348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1505231" y="402305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1505231" y="402904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1505231" y="394992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1505231" y="379146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1505231" y="350781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1505231" y="386229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1505231" y="419532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0598048" y="3973907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1428627" y="3816959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7684177" y="276318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73027">
              <a:alpha val="100000"/>
            </a:srgbClr>
          </a:solidFill>
          <a:ln w="10583">
            <a:solidFill>
              <a:srgbClr val="D7302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vector geometry"/>
          <p:cNvSpPr/>
          <p:nvPr/>
        </p:nvSpPr>
        <p:spPr>
          <a:xfrm>
            <a:off x="7684177" y="298263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vector geometry"/>
          <p:cNvSpPr/>
          <p:nvPr/>
        </p:nvSpPr>
        <p:spPr>
          <a:xfrm>
            <a:off x="7684177" y="320209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7684177" y="342154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7684177" y="36410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7684177" y="386046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7684177" y="407991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95F9F">
              <a:alpha val="100000"/>
            </a:srgbClr>
          </a:solidFill>
          <a:ln w="10583">
            <a:solidFill>
              <a:srgbClr val="D95F9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7684177" y="429937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66A98C">
              <a:alpha val="100000"/>
            </a:srgbClr>
          </a:solidFill>
          <a:ln w="10583">
            <a:solidFill>
              <a:srgbClr val="66A98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text: UMAP 1"/>
          <p:cNvSpPr txBox="1"/>
          <p:nvPr/>
        </p:nvSpPr>
        <p:spPr>
          <a:xfrm>
            <a:off x="1852998" y="5033285"/>
            <a:ext cx="46270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1</a:t>
            </a:r>
          </a:p>
        </p:txBody>
      </p:sp>
      <p:sp>
        <p:nvSpPr>
          <p:cNvPr id="74" name="Editable text: UMAP 2"/>
          <p:cNvSpPr txBox="1"/>
          <p:nvPr/>
        </p:nvSpPr>
        <p:spPr>
          <a:xfrm rot="16200000">
            <a:off x="302090" y="3540776"/>
            <a:ext cx="457411" cy="1534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2</a:t>
            </a:r>
          </a:p>
        </p:txBody>
      </p:sp>
      <p:sp>
        <p:nvSpPr>
          <p:cNvPr id="75" name="Editable text: UMAP 1"/>
          <p:cNvSpPr txBox="1"/>
          <p:nvPr/>
        </p:nvSpPr>
        <p:spPr>
          <a:xfrm>
            <a:off x="5681286" y="5033285"/>
            <a:ext cx="46270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1</a:t>
            </a:r>
          </a:p>
        </p:txBody>
      </p:sp>
      <p:sp>
        <p:nvSpPr>
          <p:cNvPr id="76" name="Editable text: UMAP 2"/>
          <p:cNvSpPr txBox="1"/>
          <p:nvPr/>
        </p:nvSpPr>
        <p:spPr>
          <a:xfrm rot="16200000">
            <a:off x="4130378" y="3540776"/>
            <a:ext cx="457411" cy="1534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2</a:t>
            </a:r>
          </a:p>
        </p:txBody>
      </p:sp>
      <p:sp>
        <p:nvSpPr>
          <p:cNvPr id="77" name="Editable text: 0.0"/>
          <p:cNvSpPr txBox="1"/>
          <p:nvPr/>
        </p:nvSpPr>
        <p:spPr>
          <a:xfrm>
            <a:off x="3825536" y="4640530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0.0</a:t>
            </a:r>
          </a:p>
        </p:txBody>
      </p:sp>
      <p:sp>
        <p:nvSpPr>
          <p:cNvPr id="78" name="Editable text: 0.5"/>
          <p:cNvSpPr txBox="1"/>
          <p:nvPr/>
        </p:nvSpPr>
        <p:spPr>
          <a:xfrm>
            <a:off x="3825536" y="4223668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0.5</a:t>
            </a:r>
          </a:p>
        </p:txBody>
      </p:sp>
      <p:sp>
        <p:nvSpPr>
          <p:cNvPr id="79" name="Editable text: 1.0"/>
          <p:cNvSpPr txBox="1"/>
          <p:nvPr/>
        </p:nvSpPr>
        <p:spPr>
          <a:xfrm>
            <a:off x="3825536" y="3806806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1.0</a:t>
            </a:r>
          </a:p>
        </p:txBody>
      </p:sp>
      <p:sp>
        <p:nvSpPr>
          <p:cNvPr id="80" name="Editable text: 1.5"/>
          <p:cNvSpPr txBox="1"/>
          <p:nvPr/>
        </p:nvSpPr>
        <p:spPr>
          <a:xfrm>
            <a:off x="3825536" y="3389945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1.5</a:t>
            </a:r>
          </a:p>
        </p:txBody>
      </p:sp>
      <p:sp>
        <p:nvSpPr>
          <p:cNvPr id="81" name="Editable text: 2.0"/>
          <p:cNvSpPr txBox="1"/>
          <p:nvPr/>
        </p:nvSpPr>
        <p:spPr>
          <a:xfrm>
            <a:off x="3825536" y="2973083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2.0</a:t>
            </a:r>
          </a:p>
        </p:txBody>
      </p:sp>
      <p:sp>
        <p:nvSpPr>
          <p:cNvPr id="82" name="Editable text: ASNS · log1p(CP10K)"/>
          <p:cNvSpPr txBox="1"/>
          <p:nvPr/>
        </p:nvSpPr>
        <p:spPr>
          <a:xfrm rot="16200000">
            <a:off x="3569233" y="3652904"/>
            <a:ext cx="937995" cy="1304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ASNS · log1p(CP10K)</a:t>
            </a:r>
          </a:p>
        </p:txBody>
      </p:sp>
      <p:sp>
        <p:nvSpPr>
          <p:cNvPr id="83" name="Editable text: 参照"/>
          <p:cNvSpPr txBox="1"/>
          <p:nvPr/>
        </p:nvSpPr>
        <p:spPr>
          <a:xfrm>
            <a:off x="10613051" y="4327933"/>
            <a:ext cx="2074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参照</a:t>
            </a:r>
          </a:p>
        </p:txBody>
      </p:sp>
      <p:sp>
        <p:nvSpPr>
          <p:cNvPr id="84" name="Editable text: 目标"/>
          <p:cNvSpPr txBox="1"/>
          <p:nvPr/>
        </p:nvSpPr>
        <p:spPr>
          <a:xfrm>
            <a:off x="11443630" y="4327933"/>
            <a:ext cx="2074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目标</a:t>
            </a:r>
          </a:p>
        </p:txBody>
      </p:sp>
      <p:sp>
        <p:nvSpPr>
          <p:cNvPr id="85" name="Editable text: 0.00"/>
          <p:cNvSpPr txBox="1"/>
          <p:nvPr/>
        </p:nvSpPr>
        <p:spPr>
          <a:xfrm>
            <a:off x="10221167" y="4235908"/>
            <a:ext cx="207348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0.00</a:t>
            </a:r>
          </a:p>
        </p:txBody>
      </p:sp>
      <p:sp>
        <p:nvSpPr>
          <p:cNvPr id="86" name="Editable text: 0.05"/>
          <p:cNvSpPr txBox="1"/>
          <p:nvPr/>
        </p:nvSpPr>
        <p:spPr>
          <a:xfrm>
            <a:off x="10221167" y="3962952"/>
            <a:ext cx="207348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0.05</a:t>
            </a:r>
          </a:p>
        </p:txBody>
      </p:sp>
      <p:sp>
        <p:nvSpPr>
          <p:cNvPr id="87" name="Editable text: 0.10"/>
          <p:cNvSpPr txBox="1"/>
          <p:nvPr/>
        </p:nvSpPr>
        <p:spPr>
          <a:xfrm>
            <a:off x="10221167" y="3689996"/>
            <a:ext cx="207348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0.10</a:t>
            </a:r>
          </a:p>
        </p:txBody>
      </p:sp>
      <p:sp>
        <p:nvSpPr>
          <p:cNvPr id="88" name="Editable text: 0.15"/>
          <p:cNvSpPr txBox="1"/>
          <p:nvPr/>
        </p:nvSpPr>
        <p:spPr>
          <a:xfrm>
            <a:off x="10221167" y="3417040"/>
            <a:ext cx="207348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0.15</a:t>
            </a:r>
          </a:p>
        </p:txBody>
      </p:sp>
      <p:sp>
        <p:nvSpPr>
          <p:cNvPr id="89" name="Editable text: 0.20"/>
          <p:cNvSpPr txBox="1"/>
          <p:nvPr/>
        </p:nvSpPr>
        <p:spPr>
          <a:xfrm>
            <a:off x="10221167" y="3144084"/>
            <a:ext cx="207348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0.20</a:t>
            </a:r>
          </a:p>
        </p:txBody>
      </p:sp>
      <p:sp>
        <p:nvSpPr>
          <p:cNvPr id="90" name="Editable text: 0.25"/>
          <p:cNvSpPr txBox="1"/>
          <p:nvPr/>
        </p:nvSpPr>
        <p:spPr>
          <a:xfrm>
            <a:off x="10221167" y="2871129"/>
            <a:ext cx="207348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0.25</a:t>
            </a:r>
          </a:p>
        </p:txBody>
      </p:sp>
      <p:sp>
        <p:nvSpPr>
          <p:cNvPr id="91" name="Editable text: 患者平均表达"/>
          <p:cNvSpPr txBox="1"/>
          <p:nvPr/>
        </p:nvSpPr>
        <p:spPr>
          <a:xfrm rot="16200000">
            <a:off x="9831471" y="3480366"/>
            <a:ext cx="575733" cy="1304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患者平均表达</a:t>
            </a:r>
          </a:p>
        </p:txBody>
      </p:sp>
      <p:sp>
        <p:nvSpPr>
          <p:cNvPr id="93" name="Editable text: BRCA：ASNS 的全细胞定位与同患者证据"/>
          <p:cNvSpPr txBox="1"/>
          <p:nvPr/>
        </p:nvSpPr>
        <p:spPr>
          <a:xfrm>
            <a:off x="609599" y="951108"/>
            <a:ext cx="5528527" cy="434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BRCA：ASNS 的全细胞定位与同患者证据</a:t>
            </a:r>
          </a:p>
        </p:txBody>
      </p:sp>
      <p:sp>
        <p:nvSpPr>
          <p:cNvPr id="94" name="Editable text: Wu 2021 · GSE176078 · 全部细胞 · 100,064 个细胞"/>
          <p:cNvSpPr txBox="1"/>
          <p:nvPr/>
        </p:nvSpPr>
        <p:spPr>
          <a:xfrm>
            <a:off x="609599" y="1427783"/>
            <a:ext cx="300520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Wu 2021 · GSE176078 · 全部细胞 · 100,064 个细胞</a:t>
            </a:r>
          </a:p>
        </p:txBody>
      </p:sp>
      <p:sp>
        <p:nvSpPr>
          <p:cNvPr id="95" name="Editable text: ASNS expression"/>
          <p:cNvSpPr txBox="1"/>
          <p:nvPr/>
        </p:nvSpPr>
        <p:spPr>
          <a:xfrm>
            <a:off x="585216" y="1882394"/>
            <a:ext cx="1424913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ASNS expression</a:t>
            </a:r>
          </a:p>
        </p:txBody>
      </p:sp>
      <p:sp>
        <p:nvSpPr>
          <p:cNvPr id="96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Cell types</a:t>
            </a:r>
          </a:p>
        </p:txBody>
      </p:sp>
      <p:sp>
        <p:nvSpPr>
          <p:cNvPr id="97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同患者证据</a:t>
            </a:r>
          </a:p>
        </p:txBody>
      </p:sp>
      <p:sp>
        <p:nvSpPr>
          <p:cNvPr id="98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Cell type (n cells)</a:t>
            </a:r>
          </a:p>
        </p:txBody>
      </p:sp>
      <p:sp>
        <p:nvSpPr>
          <p:cNvPr id="99" name="Editable text: Cancer epithelial"/>
          <p:cNvSpPr txBox="1"/>
          <p:nvPr/>
        </p:nvSpPr>
        <p:spPr>
          <a:xfrm>
            <a:off x="7827263" y="2493778"/>
            <a:ext cx="774939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1" lang="zh-CN">
                <a:solidFill>
                  <a:srgbClr val="78B436"/>
                </a:solidFill>
                <a:latin typeface="Microsoft YaHei"/>
                <a:ea typeface="微软雅黑"/>
                <a:cs typeface="Microsoft YaHei"/>
              </a:defRPr>
            </a:pPr>
            <a:r>
              <a:t>Cancer epithelial</a:t>
            </a:r>
          </a:p>
        </p:txBody>
      </p:sp>
      <p:sp>
        <p:nvSpPr>
          <p:cNvPr id="100" name="Editable text: 24,489"/>
          <p:cNvSpPr txBox="1"/>
          <p:nvPr/>
        </p:nvSpPr>
        <p:spPr>
          <a:xfrm>
            <a:off x="9553900" y="2496053"/>
            <a:ext cx="310409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24,489</a:t>
            </a:r>
          </a:p>
        </p:txBody>
      </p:sp>
      <p:sp>
        <p:nvSpPr>
          <p:cNvPr id="101" name="Editable text: B cells"/>
          <p:cNvSpPr txBox="1"/>
          <p:nvPr/>
        </p:nvSpPr>
        <p:spPr>
          <a:xfrm>
            <a:off x="7827263" y="2713234"/>
            <a:ext cx="30182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B cells</a:t>
            </a:r>
          </a:p>
        </p:txBody>
      </p:sp>
      <p:sp>
        <p:nvSpPr>
          <p:cNvPr id="102" name="Editable text: 3,206"/>
          <p:cNvSpPr txBox="1"/>
          <p:nvPr/>
        </p:nvSpPr>
        <p:spPr>
          <a:xfrm>
            <a:off x="9604336" y="2715510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3,206</a:t>
            </a:r>
          </a:p>
        </p:txBody>
      </p:sp>
      <p:sp>
        <p:nvSpPr>
          <p:cNvPr id="103" name="Editable text: CAFs"/>
          <p:cNvSpPr txBox="1"/>
          <p:nvPr/>
        </p:nvSpPr>
        <p:spPr>
          <a:xfrm>
            <a:off x="7827263" y="2932690"/>
            <a:ext cx="247450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CAFs</a:t>
            </a:r>
          </a:p>
        </p:txBody>
      </p:sp>
      <p:sp>
        <p:nvSpPr>
          <p:cNvPr id="104" name="Editable text: 6,573"/>
          <p:cNvSpPr txBox="1"/>
          <p:nvPr/>
        </p:nvSpPr>
        <p:spPr>
          <a:xfrm>
            <a:off x="9604336" y="2934966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6,573</a:t>
            </a:r>
          </a:p>
        </p:txBody>
      </p:sp>
      <p:sp>
        <p:nvSpPr>
          <p:cNvPr id="105" name="Editable text: Endothelial"/>
          <p:cNvSpPr txBox="1"/>
          <p:nvPr/>
        </p:nvSpPr>
        <p:spPr>
          <a:xfrm>
            <a:off x="7827263" y="3152146"/>
            <a:ext cx="50939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Endothelial</a:t>
            </a:r>
          </a:p>
        </p:txBody>
      </p:sp>
      <p:sp>
        <p:nvSpPr>
          <p:cNvPr id="106" name="Editable text: 7,605"/>
          <p:cNvSpPr txBox="1"/>
          <p:nvPr/>
        </p:nvSpPr>
        <p:spPr>
          <a:xfrm>
            <a:off x="9604336" y="3154422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7,605</a:t>
            </a:r>
          </a:p>
        </p:txBody>
      </p:sp>
      <p:sp>
        <p:nvSpPr>
          <p:cNvPr id="107" name="Editable text: Myeloid"/>
          <p:cNvSpPr txBox="1"/>
          <p:nvPr/>
        </p:nvSpPr>
        <p:spPr>
          <a:xfrm>
            <a:off x="7827263" y="3371354"/>
            <a:ext cx="380111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Myeloid</a:t>
            </a:r>
          </a:p>
        </p:txBody>
      </p:sp>
      <p:sp>
        <p:nvSpPr>
          <p:cNvPr id="108" name="Editable text: 9,675"/>
          <p:cNvSpPr txBox="1"/>
          <p:nvPr/>
        </p:nvSpPr>
        <p:spPr>
          <a:xfrm>
            <a:off x="9604336" y="3373877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9,675</a:t>
            </a:r>
          </a:p>
        </p:txBody>
      </p:sp>
      <p:sp>
        <p:nvSpPr>
          <p:cNvPr id="109" name="Editable text: Normal epithelial"/>
          <p:cNvSpPr txBox="1"/>
          <p:nvPr/>
        </p:nvSpPr>
        <p:spPr>
          <a:xfrm>
            <a:off x="7827263" y="3591058"/>
            <a:ext cx="765111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Normal epithelial</a:t>
            </a:r>
          </a:p>
        </p:txBody>
      </p:sp>
      <p:sp>
        <p:nvSpPr>
          <p:cNvPr id="110" name="Editable text: 4,355"/>
          <p:cNvSpPr txBox="1"/>
          <p:nvPr/>
        </p:nvSpPr>
        <p:spPr>
          <a:xfrm>
            <a:off x="9604336" y="359333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4,355</a:t>
            </a:r>
          </a:p>
        </p:txBody>
      </p:sp>
      <p:sp>
        <p:nvSpPr>
          <p:cNvPr id="111" name="Editable text: PVL"/>
          <p:cNvSpPr txBox="1"/>
          <p:nvPr/>
        </p:nvSpPr>
        <p:spPr>
          <a:xfrm>
            <a:off x="7827263" y="3810514"/>
            <a:ext cx="197731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PVL</a:t>
            </a:r>
          </a:p>
        </p:txBody>
      </p:sp>
      <p:sp>
        <p:nvSpPr>
          <p:cNvPr id="112" name="Editable text: 5,423"/>
          <p:cNvSpPr txBox="1"/>
          <p:nvPr/>
        </p:nvSpPr>
        <p:spPr>
          <a:xfrm>
            <a:off x="9604336" y="3812790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5,423</a:t>
            </a:r>
          </a:p>
        </p:txBody>
      </p:sp>
      <p:sp>
        <p:nvSpPr>
          <p:cNvPr id="113" name="Editable text: Plasmablasts"/>
          <p:cNvSpPr txBox="1"/>
          <p:nvPr/>
        </p:nvSpPr>
        <p:spPr>
          <a:xfrm>
            <a:off x="7827263" y="4029970"/>
            <a:ext cx="57896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Plasmablasts</a:t>
            </a:r>
          </a:p>
        </p:txBody>
      </p:sp>
      <p:sp>
        <p:nvSpPr>
          <p:cNvPr id="114" name="Editable text: 3,524"/>
          <p:cNvSpPr txBox="1"/>
          <p:nvPr/>
        </p:nvSpPr>
        <p:spPr>
          <a:xfrm>
            <a:off x="9604336" y="4032246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3,524</a:t>
            </a:r>
          </a:p>
        </p:txBody>
      </p:sp>
      <p:sp>
        <p:nvSpPr>
          <p:cNvPr id="115" name="Editable text: T cells"/>
          <p:cNvSpPr txBox="1"/>
          <p:nvPr/>
        </p:nvSpPr>
        <p:spPr>
          <a:xfrm>
            <a:off x="7827263" y="4249426"/>
            <a:ext cx="297080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T cells</a:t>
            </a:r>
          </a:p>
        </p:txBody>
      </p:sp>
      <p:sp>
        <p:nvSpPr>
          <p:cNvPr id="116" name="Editable text: 35,214"/>
          <p:cNvSpPr txBox="1"/>
          <p:nvPr/>
        </p:nvSpPr>
        <p:spPr>
          <a:xfrm>
            <a:off x="9553900" y="4251701"/>
            <a:ext cx="310409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35,214</a:t>
            </a:r>
          </a:p>
        </p:txBody>
      </p:sp>
      <p:sp>
        <p:nvSpPr>
          <p:cNvPr id="117" name="Editable text: Cancer epithelial：红圈仅作位置提示"/>
          <p:cNvSpPr txBox="1"/>
          <p:nvPr/>
        </p:nvSpPr>
        <p:spPr>
          <a:xfrm>
            <a:off x="5044271" y="5322881"/>
            <a:ext cx="1658587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DD3434"/>
                </a:solidFill>
                <a:latin typeface="Microsoft YaHei"/>
                <a:ea typeface="微软雅黑"/>
                <a:cs typeface="Microsoft YaHei"/>
              </a:defRPr>
            </a:pPr>
            <a:r>
              <a:t>Cancer epithelial：红圈仅作位置提示</a:t>
            </a:r>
          </a:p>
        </p:txBody>
      </p:sp>
      <p:sp>
        <p:nvSpPr>
          <p:cNvPr id="118" name="Editable text: 色标上限 2.35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24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色标上限 2.35 · 阳性值第99百分位</a:t>
            </a:r>
          </a:p>
        </p:txBody>
      </p:sp>
      <p:sp>
        <p:nvSpPr>
          <p:cNvPr id="119" name="Editable text: 描述性配对 · 未做显著性检验"/>
          <p:cNvSpPr txBox="1"/>
          <p:nvPr/>
        </p:nvSpPr>
        <p:spPr>
          <a:xfrm>
            <a:off x="10476098" y="2292101"/>
            <a:ext cx="1237090" cy="141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33" b="0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描述性配对 · 未做显著性检验</a:t>
            </a:r>
          </a:p>
        </p:txBody>
      </p:sp>
      <p:sp>
        <p:nvSpPr>
          <p:cNvPr id="120" name="Editable text: 5 / 8"/>
          <p:cNvSpPr txBox="1"/>
          <p:nvPr/>
        </p:nvSpPr>
        <p:spPr>
          <a:xfrm>
            <a:off x="10802355" y="4515203"/>
            <a:ext cx="699262" cy="386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5 / 8</a:t>
            </a:r>
          </a:p>
        </p:txBody>
      </p:sp>
      <p:sp>
        <p:nvSpPr>
          <p:cNvPr id="121" name="Editable text: 患者目标组表达更高"/>
          <p:cNvSpPr txBox="1"/>
          <p:nvPr/>
        </p:nvSpPr>
        <p:spPr>
          <a:xfrm>
            <a:off x="10630376" y="4896599"/>
            <a:ext cx="980122" cy="15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患者目标组表达更高</a:t>
            </a:r>
          </a:p>
        </p:txBody>
      </p:sp>
      <p:sp>
        <p:nvSpPr>
          <p:cNvPr id="122" name="Editable text: 平均差 +0.029"/>
          <p:cNvSpPr txBox="1"/>
          <p:nvPr/>
        </p:nvSpPr>
        <p:spPr>
          <a:xfrm>
            <a:off x="10761593" y="5208622"/>
            <a:ext cx="711131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平均差 +0.029</a:t>
            </a:r>
          </a:p>
        </p:txBody>
      </p:sp>
      <p:sp>
        <p:nvSpPr>
          <p:cNvPr id="123" name="Editable text: 参照：非恶性上皮"/>
          <p:cNvSpPr txBox="1"/>
          <p:nvPr/>
        </p:nvSpPr>
        <p:spPr>
          <a:xfrm>
            <a:off x="10253471" y="5553064"/>
            <a:ext cx="760148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参照：非恶性上皮</a:t>
            </a:r>
          </a:p>
        </p:txBody>
      </p:sp>
      <p:sp>
        <p:nvSpPr>
          <p:cNvPr id="124" name="Editable text: 目标：恶性上皮"/>
          <p:cNvSpPr txBox="1"/>
          <p:nvPr/>
        </p:nvSpPr>
        <p:spPr>
          <a:xfrm>
            <a:off x="10253471" y="5745089"/>
            <a:ext cx="670190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目标：恶性上皮</a:t>
            </a:r>
          </a:p>
        </p:txBody>
      </p:sp>
      <p:sp>
        <p:nvSpPr>
          <p:cNvPr id="125" name="Editable text: 同患者描述：5/8 位目标上皮表达更高；尚未作显著性检验。"/>
          <p:cNvSpPr txBox="1"/>
          <p:nvPr/>
        </p:nvSpPr>
        <p:spPr>
          <a:xfrm>
            <a:off x="609599" y="6115405"/>
            <a:ext cx="4067915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同患者描述：5/8 位目标上皮表达更高；尚未作显著性检验。</a:t>
            </a:r>
          </a:p>
        </p:txBody>
      </p:sp>
      <p:sp>
        <p:nvSpPr>
          <p:cNvPr id="126" name="Editable text: 同患者两类上皮均至少 20 个细胞；患者平均表达配对，未新增显著性检验。"/>
          <p:cNvSpPr txBox="1"/>
          <p:nvPr/>
        </p:nvSpPr>
        <p:spPr>
          <a:xfrm>
            <a:off x="609599" y="6417173"/>
            <a:ext cx="3077834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同患者两类上皮均至少 20 个细胞；患者平均表达配对，未新增显著性检验。</a:t>
            </a:r>
          </a:p>
        </p:txBody>
      </p:sp>
      <p:pic>
        <p:nvPicPr>
          <p:cNvPr id="127" name="Picture 12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28" name="TextBox 127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Box 130"/>
          <p:cNvSpPr txBox="1"/>
          <p:nvPr/>
        </p:nvSpPr>
        <p:spPr>
          <a:xfrm>
            <a:off x="11082528" y="6446520"/>
            <a:ext cx="47548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609599" y="4951476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609599" y="5822441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text: SLC6A6：将细胞外牛磺酸转运入细胞"/>
          <p:cNvSpPr txBox="1"/>
          <p:nvPr/>
        </p:nvSpPr>
        <p:spPr>
          <a:xfrm>
            <a:off x="609599" y="974850"/>
            <a:ext cx="4558903" cy="4021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SLC6A6：将细胞外牛磺酸转运入细胞</a:t>
            </a:r>
          </a:p>
        </p:txBody>
      </p:sp>
      <p:sp>
        <p:nvSpPr>
          <p:cNvPr id="15" name="Editable text: 01  已知生化作用"/>
          <p:cNvSpPr txBox="1"/>
          <p:nvPr/>
        </p:nvSpPr>
        <p:spPr>
          <a:xfrm>
            <a:off x="609599" y="1554835"/>
            <a:ext cx="1226820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01  已知生化作用</a:t>
            </a:r>
          </a:p>
        </p:txBody>
      </p:sp>
      <p:sp>
        <p:nvSpPr>
          <p:cNvPr id="22" name="Editable text: 02  CAMP 中实际观察到的结果"/>
          <p:cNvSpPr txBox="1"/>
          <p:nvPr/>
        </p:nvSpPr>
        <p:spPr>
          <a:xfrm>
            <a:off x="609599" y="3488791"/>
            <a:ext cx="2176272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02  CAMP 中实际观察到的结果</a:t>
            </a:r>
          </a:p>
        </p:txBody>
      </p:sp>
      <p:sp>
        <p:nvSpPr>
          <p:cNvPr id="23" name="Editable text: 代谢物变化"/>
          <p:cNvSpPr txBox="1"/>
          <p:nvPr/>
        </p:nvSpPr>
        <p:spPr>
          <a:xfrm>
            <a:off x="2582121" y="3847032"/>
            <a:ext cx="74982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代谢物变化</a:t>
            </a:r>
          </a:p>
        </p:txBody>
      </p:sp>
      <p:sp>
        <p:nvSpPr>
          <p:cNvPr id="24" name="Editable text: 基因 RNA 变化"/>
          <p:cNvSpPr txBox="1"/>
          <p:nvPr/>
        </p:nvSpPr>
        <p:spPr>
          <a:xfrm>
            <a:off x="5499731" y="3847032"/>
            <a:ext cx="1010412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基因 RNA 变化</a:t>
            </a:r>
          </a:p>
        </p:txBody>
      </p:sp>
      <p:sp>
        <p:nvSpPr>
          <p:cNvPr id="25" name="Editable text: 肿瘤样本内关联"/>
          <p:cNvSpPr txBox="1"/>
          <p:nvPr/>
        </p:nvSpPr>
        <p:spPr>
          <a:xfrm>
            <a:off x="9028218" y="3847032"/>
            <a:ext cx="1024995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肿瘤样本内关联</a:t>
            </a:r>
          </a:p>
        </p:txBody>
      </p:sp>
      <p:sp>
        <p:nvSpPr>
          <p:cNvPr id="26" name="Editable text: PDAC"/>
          <p:cNvSpPr txBox="1"/>
          <p:nvPr/>
        </p:nvSpPr>
        <p:spPr>
          <a:xfrm>
            <a:off x="853439" y="4440427"/>
            <a:ext cx="522724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PDAC</a:t>
            </a:r>
          </a:p>
        </p:txBody>
      </p:sp>
      <p:sp>
        <p:nvSpPr>
          <p:cNvPr id="27" name="Editable text: 牛磺酸 ↑"/>
          <p:cNvSpPr txBox="1"/>
          <p:nvPr/>
        </p:nvSpPr>
        <p:spPr>
          <a:xfrm>
            <a:off x="2544253" y="4338080"/>
            <a:ext cx="854202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牛磺酸 ↑</a:t>
            </a:r>
          </a:p>
        </p:txBody>
      </p:sp>
      <p:sp>
        <p:nvSpPr>
          <p:cNvPr id="28" name="Editable text: 配对 P = 0.00195"/>
          <p:cNvSpPr txBox="1"/>
          <p:nvPr/>
        </p:nvSpPr>
        <p:spPr>
          <a:xfrm>
            <a:off x="2481579" y="4699505"/>
            <a:ext cx="938895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配对 P = 0.00195</a:t>
            </a:r>
          </a:p>
        </p:txBody>
      </p:sp>
      <p:sp>
        <p:nvSpPr>
          <p:cNvPr id="29" name="Editable text: SLC6A6 ↑"/>
          <p:cNvSpPr txBox="1"/>
          <p:nvPr/>
        </p:nvSpPr>
        <p:spPr>
          <a:xfrm>
            <a:off x="5513704" y="4338080"/>
            <a:ext cx="1011220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SLC6A6 ↑</a:t>
            </a:r>
          </a:p>
        </p:txBody>
      </p:sp>
      <p:sp>
        <p:nvSpPr>
          <p:cNvPr id="30" name="Editable text: 配对 P = 0.00355"/>
          <p:cNvSpPr txBox="1"/>
          <p:nvPr/>
        </p:nvSpPr>
        <p:spPr>
          <a:xfrm>
            <a:off x="5529579" y="4699505"/>
            <a:ext cx="938895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配对 P = 0.00355</a:t>
            </a:r>
          </a:p>
        </p:txBody>
      </p:sp>
      <p:sp>
        <p:nvSpPr>
          <p:cNvPr id="31" name="Editable text: ρ = +0.494   P = 0.0275"/>
          <p:cNvSpPr txBox="1"/>
          <p:nvPr/>
        </p:nvSpPr>
        <p:spPr>
          <a:xfrm>
            <a:off x="8572225" y="4371848"/>
            <a:ext cx="1947069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ρ = +0.494   P = 0.0275</a:t>
            </a:r>
          </a:p>
        </p:txBody>
      </p:sp>
      <p:sp>
        <p:nvSpPr>
          <p:cNvPr id="32" name="Editable text: 21 个肿瘤样本 · Spearman 相关"/>
          <p:cNvSpPr txBox="1"/>
          <p:nvPr/>
        </p:nvSpPr>
        <p:spPr>
          <a:xfrm>
            <a:off x="8708320" y="4701489"/>
            <a:ext cx="1652374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21 个肿瘤样本 · Spearman 相关</a:t>
            </a:r>
          </a:p>
        </p:txBody>
      </p:sp>
      <p:sp>
        <p:nvSpPr>
          <p:cNvPr id="33" name="Editable text: PRAD"/>
          <p:cNvSpPr txBox="1"/>
          <p:nvPr/>
        </p:nvSpPr>
        <p:spPr>
          <a:xfrm>
            <a:off x="853439" y="5270246"/>
            <a:ext cx="531653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PRAD</a:t>
            </a:r>
          </a:p>
        </p:txBody>
      </p:sp>
      <p:sp>
        <p:nvSpPr>
          <p:cNvPr id="34" name="Editable text: 牛磺酸 ↓"/>
          <p:cNvSpPr txBox="1"/>
          <p:nvPr/>
        </p:nvSpPr>
        <p:spPr>
          <a:xfrm>
            <a:off x="2544253" y="5167898"/>
            <a:ext cx="854202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牛磺酸 ↓</a:t>
            </a:r>
          </a:p>
        </p:txBody>
      </p:sp>
      <p:sp>
        <p:nvSpPr>
          <p:cNvPr id="35" name="Editable text: 配对 P = 1.69e-06"/>
          <p:cNvSpPr txBox="1"/>
          <p:nvPr/>
        </p:nvSpPr>
        <p:spPr>
          <a:xfrm>
            <a:off x="2458594" y="5529323"/>
            <a:ext cx="984901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配对 P = 1.69e-06</a:t>
            </a:r>
          </a:p>
        </p:txBody>
      </p:sp>
      <p:sp>
        <p:nvSpPr>
          <p:cNvPr id="36" name="Editable text: SLC6A6 ↓"/>
          <p:cNvSpPr txBox="1"/>
          <p:nvPr/>
        </p:nvSpPr>
        <p:spPr>
          <a:xfrm>
            <a:off x="5513704" y="5167898"/>
            <a:ext cx="1011220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SLC6A6 ↓</a:t>
            </a:r>
          </a:p>
        </p:txBody>
      </p:sp>
      <p:sp>
        <p:nvSpPr>
          <p:cNvPr id="37" name="Editable text: 配对 P = 0.00108"/>
          <p:cNvSpPr txBox="1"/>
          <p:nvPr/>
        </p:nvSpPr>
        <p:spPr>
          <a:xfrm>
            <a:off x="5529579" y="5529323"/>
            <a:ext cx="938895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配对 P = 0.00108</a:t>
            </a:r>
          </a:p>
        </p:txBody>
      </p:sp>
      <p:sp>
        <p:nvSpPr>
          <p:cNvPr id="38" name="Editable text: ρ = +0.141   P = 0.1777"/>
          <p:cNvSpPr txBox="1"/>
          <p:nvPr/>
        </p:nvSpPr>
        <p:spPr>
          <a:xfrm>
            <a:off x="8572225" y="5201666"/>
            <a:ext cx="1947069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ρ = +0.141   P = 0.1777</a:t>
            </a:r>
          </a:p>
        </p:txBody>
      </p:sp>
      <p:sp>
        <p:nvSpPr>
          <p:cNvPr id="39" name="Editable text: 91 个肿瘤样本 · Spearman 相关"/>
          <p:cNvSpPr txBox="1"/>
          <p:nvPr/>
        </p:nvSpPr>
        <p:spPr>
          <a:xfrm>
            <a:off x="8708320" y="5531307"/>
            <a:ext cx="1652374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91 个肿瘤样本 · Spearman 相关</a:t>
            </a:r>
          </a:p>
        </p:txBody>
      </p:sp>
      <p:sp>
        <p:nvSpPr>
          <p:cNvPr id="40" name="Editable text: PDAC 单核定位指向 CAF；组织牛磺酸变化尚不能归因为 CAF 的转运作用。"/>
          <p:cNvSpPr txBox="1"/>
          <p:nvPr/>
        </p:nvSpPr>
        <p:spPr>
          <a:xfrm>
            <a:off x="609599" y="5970217"/>
            <a:ext cx="4922317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5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PDAC 单核定位指向 CAF；组织牛磺酸变化尚不能归因为 CAF 的转运作用。</a:t>
            </a:r>
          </a:p>
        </p:txBody>
      </p:sp>
      <p:sp>
        <p:nvSpPr>
          <p:cNvPr id="41" name="Editable text: 生化注释提供映射依据；RNA 水平与相关性不等于酶活、转运量或因果。"/>
          <p:cNvSpPr txBox="1"/>
          <p:nvPr/>
        </p:nvSpPr>
        <p:spPr>
          <a:xfrm>
            <a:off x="609599" y="6293356"/>
            <a:ext cx="3483610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生化注释提供映射依据；RNA 水平与相关性不等于酶活、转运量或因果。</a:t>
            </a:r>
          </a:p>
        </p:txBody>
      </p:sp>
      <p:sp>
        <p:nvSpPr>
          <p:cNvPr id="42" name="Editable text: 来源：UniProt P31641 · RHEA:71223（人类，已审阅）；反"/>
          <p:cNvSpPr txBox="1"/>
          <p:nvPr/>
        </p:nvSpPr>
        <p:spPr>
          <a:xfrm>
            <a:off x="609599" y="6554333"/>
            <a:ext cx="3112091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来源：UniProt P31641 · RHEA:71223（人类，已审阅）；反应为简化示意。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1082528" y="6446520"/>
            <a:ext cx="47548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21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3504" y="1847088"/>
            <a:ext cx="10972800" cy="1517904"/>
          </a:xfrm>
          <a:prstGeom prst="rect">
            <a:avLst/>
          </a:prstGeom>
          <a:solidFill>
            <a:srgbClr val="F3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Imagegen conceptual cutout: transporter" descr="scientific_cutouts.png"/>
          <p:cNvPicPr>
            <a:picLocks noChangeAspect="1"/>
          </p:cNvPicPr>
          <p:nvPr/>
        </p:nvPicPr>
        <p:blipFill>
          <a:blip r:embed="rId5"/>
          <a:srcRect l="34505" r="33594" t="51758" b="4297"/>
          <a:stretch>
            <a:fillRect/>
          </a:stretch>
        </p:blipFill>
        <p:spPr>
          <a:xfrm>
            <a:off x="5382768" y="1865376"/>
            <a:ext cx="1194816" cy="109728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389888" y="1938528"/>
            <a:ext cx="2514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2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细胞外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85048" y="1938528"/>
            <a:ext cx="2514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2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细胞内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89888" y="2313432"/>
            <a:ext cx="2514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22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牛磺酸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85048" y="2313432"/>
            <a:ext cx="2514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22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牛磺酸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3675887" y="2546604"/>
            <a:ext cx="1069849" cy="0"/>
          </a:xfrm>
          <a:prstGeom prst="line">
            <a:avLst/>
          </a:prstGeom>
          <a:ln w="22860">
            <a:solidFill>
              <a:srgbClr val="0055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287768" y="2546604"/>
            <a:ext cx="1060703" cy="0"/>
          </a:xfrm>
          <a:prstGeom prst="line">
            <a:avLst/>
          </a:prstGeom>
          <a:ln w="22860">
            <a:solidFill>
              <a:srgbClr val="0055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590288" y="2971800"/>
            <a:ext cx="294436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4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SLC6A6 / TauT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25880" y="3136392"/>
            <a:ext cx="95920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04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Na+ / Cl− 依赖性摄取；将细胞外牛磺酸转运入细胞，不改变化学结构。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890148" y="2215133"/>
            <a:ext cx="2340598" cy="2804922"/>
          </a:xfrm>
          <a:custGeom>
            <a:avLst/>
            <a:gdLst/>
            <a:ahLst/>
            <a:cxnLst/>
            <a:rect l="0" t="0" r="r" b="b"/>
            <a:pathLst>
              <a:path w="221159" h="265032">
                <a:moveTo>
                  <a:pt x="0" y="0"/>
                </a:moveTo>
                <a:lnTo>
                  <a:pt x="221159" y="0"/>
                </a:lnTo>
                <a:lnTo>
                  <a:pt x="22115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890" y="2303318"/>
            <a:ext cx="2199408" cy="2632363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890148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890148" y="5020055"/>
            <a:ext cx="2340598" cy="105"/>
          </a:xfrm>
          <a:custGeom>
            <a:avLst/>
            <a:gdLst/>
            <a:ahLst/>
            <a:cxnLst/>
            <a:rect l="0" t="0" r="r" b="b"/>
            <a:pathLst>
              <a:path w="221159" h="10">
                <a:moveTo>
                  <a:pt x="0" y="0"/>
                </a:moveTo>
                <a:lnTo>
                  <a:pt x="22115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2473080" y="3933175"/>
            <a:ext cx="633877" cy="557166"/>
          </a:xfrm>
          <a:custGeom>
            <a:avLst/>
            <a:gdLst/>
            <a:ahLst/>
            <a:cxnLst/>
            <a:rect l="0" t="0" r="r" b="b"/>
            <a:pathLst>
              <a:path w="59894" h="52646">
                <a:moveTo>
                  <a:pt x="29947" y="52646"/>
                </a:moveTo>
                <a:cubicBezTo>
                  <a:pt x="37889" y="52646"/>
                  <a:pt x="45507" y="49872"/>
                  <a:pt x="51123" y="44936"/>
                </a:cubicBezTo>
                <a:cubicBezTo>
                  <a:pt x="56739" y="40000"/>
                  <a:pt x="59894" y="33304"/>
                  <a:pt x="59894" y="26323"/>
                </a:cubicBezTo>
                <a:cubicBezTo>
                  <a:pt x="59894" y="19342"/>
                  <a:pt x="56739" y="12646"/>
                  <a:pt x="51123" y="7710"/>
                </a:cubicBezTo>
                <a:cubicBezTo>
                  <a:pt x="45507" y="2774"/>
                  <a:pt x="37889" y="0"/>
                  <a:pt x="29947" y="0"/>
                </a:cubicBezTo>
                <a:cubicBezTo>
                  <a:pt x="22005" y="0"/>
                  <a:pt x="14387" y="2774"/>
                  <a:pt x="8771" y="7710"/>
                </a:cubicBezTo>
                <a:cubicBezTo>
                  <a:pt x="3155" y="12646"/>
                  <a:pt x="0" y="19342"/>
                  <a:pt x="0" y="26323"/>
                </a:cubicBezTo>
                <a:cubicBezTo>
                  <a:pt x="0" y="33304"/>
                  <a:pt x="3155" y="40000"/>
                  <a:pt x="8771" y="44936"/>
                </a:cubicBezTo>
                <a:cubicBezTo>
                  <a:pt x="14387" y="49872"/>
                  <a:pt x="22005" y="52646"/>
                  <a:pt x="29947" y="52646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718436" y="2215133"/>
            <a:ext cx="2340598" cy="2804922"/>
          </a:xfrm>
          <a:custGeom>
            <a:avLst/>
            <a:gdLst/>
            <a:ahLst/>
            <a:cxnLst/>
            <a:rect l="0" t="0" r="r" b="b"/>
            <a:pathLst>
              <a:path w="221159" h="265032">
                <a:moveTo>
                  <a:pt x="0" y="0"/>
                </a:moveTo>
                <a:lnTo>
                  <a:pt x="221159" y="0"/>
                </a:lnTo>
                <a:lnTo>
                  <a:pt x="22115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0209" y="2299854"/>
            <a:ext cx="2199409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718436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718436" y="5020055"/>
            <a:ext cx="2340598" cy="105"/>
          </a:xfrm>
          <a:custGeom>
            <a:avLst/>
            <a:gdLst/>
            <a:ahLst/>
            <a:cxnLst/>
            <a:rect l="0" t="0" r="r" b="b"/>
            <a:pathLst>
              <a:path w="221159" h="10">
                <a:moveTo>
                  <a:pt x="0" y="0"/>
                </a:moveTo>
                <a:lnTo>
                  <a:pt x="22115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6301367" y="3933175"/>
            <a:ext cx="633878" cy="557166"/>
          </a:xfrm>
          <a:custGeom>
            <a:avLst/>
            <a:gdLst/>
            <a:ahLst/>
            <a:cxnLst/>
            <a:rect l="0" t="0" r="r" b="b"/>
            <a:pathLst>
              <a:path w="59894" h="52646">
                <a:moveTo>
                  <a:pt x="29947" y="52646"/>
                </a:moveTo>
                <a:cubicBezTo>
                  <a:pt x="37889" y="52646"/>
                  <a:pt x="45507" y="49872"/>
                  <a:pt x="51123" y="44936"/>
                </a:cubicBezTo>
                <a:cubicBezTo>
                  <a:pt x="56739" y="40000"/>
                  <a:pt x="59894" y="33304"/>
                  <a:pt x="59894" y="26323"/>
                </a:cubicBezTo>
                <a:cubicBezTo>
                  <a:pt x="59894" y="19342"/>
                  <a:pt x="56739" y="12646"/>
                  <a:pt x="51123" y="7710"/>
                </a:cubicBezTo>
                <a:cubicBezTo>
                  <a:pt x="45507" y="2774"/>
                  <a:pt x="37889" y="0"/>
                  <a:pt x="29947" y="0"/>
                </a:cubicBezTo>
                <a:cubicBezTo>
                  <a:pt x="22005" y="0"/>
                  <a:pt x="14387" y="2774"/>
                  <a:pt x="8771" y="7710"/>
                </a:cubicBezTo>
                <a:cubicBezTo>
                  <a:pt x="3155" y="12646"/>
                  <a:pt x="0" y="19342"/>
                  <a:pt x="0" y="26323"/>
                </a:cubicBezTo>
                <a:cubicBezTo>
                  <a:pt x="0" y="33304"/>
                  <a:pt x="3155" y="40000"/>
                  <a:pt x="8771" y="44936"/>
                </a:cubicBezTo>
                <a:cubicBezTo>
                  <a:pt x="14387" y="49872"/>
                  <a:pt x="22005" y="52646"/>
                  <a:pt x="29947" y="52646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Source image: point cloud / tissue / logo / color scal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7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3767327" y="444946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4201207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3952946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70468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767327" y="345642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3767327" y="320816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3767327" y="295990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409514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427377" y="389717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427377" y="369920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427377" y="350123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427377" y="330327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427377" y="310530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427377" y="290733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543679"/>
            <a:ext cx="830579" cy="710943"/>
          </a:xfrm>
          <a:custGeom>
            <a:avLst/>
            <a:gdLst/>
            <a:ahLst/>
            <a:cxnLst/>
            <a:rect l="0" t="0" r="r" b="b"/>
            <a:pathLst>
              <a:path w="78480" h="67176">
                <a:moveTo>
                  <a:pt x="0" y="67176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3140863"/>
            <a:ext cx="830579" cy="788799"/>
          </a:xfrm>
          <a:custGeom>
            <a:avLst/>
            <a:gdLst/>
            <a:ahLst/>
            <a:cxnLst/>
            <a:rect l="0" t="0" r="r" b="b"/>
            <a:pathLst>
              <a:path w="78480" h="74532">
                <a:moveTo>
                  <a:pt x="0" y="74532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3502324"/>
            <a:ext cx="830579" cy="717739"/>
          </a:xfrm>
          <a:custGeom>
            <a:avLst/>
            <a:gdLst/>
            <a:ahLst/>
            <a:cxnLst/>
            <a:rect l="0" t="0" r="r" b="b"/>
            <a:pathLst>
              <a:path w="78480" h="67818">
                <a:moveTo>
                  <a:pt x="0" y="67818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697717" y="3015292"/>
            <a:ext cx="830579" cy="1219118"/>
          </a:xfrm>
          <a:custGeom>
            <a:avLst/>
            <a:gdLst/>
            <a:ahLst/>
            <a:cxnLst/>
            <a:rect l="0" t="0" r="r" b="b"/>
            <a:pathLst>
              <a:path w="78480" h="115192">
                <a:moveTo>
                  <a:pt x="0" y="115192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697717" y="3685798"/>
            <a:ext cx="830579" cy="542189"/>
          </a:xfrm>
          <a:custGeom>
            <a:avLst/>
            <a:gdLst/>
            <a:ahLst/>
            <a:cxnLst/>
            <a:rect l="0" t="0" r="r" b="b"/>
            <a:pathLst>
              <a:path w="78480" h="51230">
                <a:moveTo>
                  <a:pt x="0" y="51230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697717" y="3641190"/>
            <a:ext cx="830579" cy="511156"/>
          </a:xfrm>
          <a:custGeom>
            <a:avLst/>
            <a:gdLst/>
            <a:ahLst/>
            <a:cxnLst/>
            <a:rect l="0" t="0" r="r" b="b"/>
            <a:pathLst>
              <a:path w="78480" h="48298">
                <a:moveTo>
                  <a:pt x="0" y="48298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697717" y="3842994"/>
            <a:ext cx="830579" cy="380510"/>
          </a:xfrm>
          <a:custGeom>
            <a:avLst/>
            <a:gdLst/>
            <a:ahLst/>
            <a:cxnLst/>
            <a:rect l="0" t="0" r="r" b="b"/>
            <a:pathLst>
              <a:path w="78480" h="35954">
                <a:moveTo>
                  <a:pt x="0" y="35954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697717" y="3386060"/>
            <a:ext cx="830579" cy="640788"/>
          </a:xfrm>
          <a:custGeom>
            <a:avLst/>
            <a:gdLst/>
            <a:ahLst/>
            <a:cxnLst/>
            <a:rect l="0" t="0" r="r" b="b"/>
            <a:pathLst>
              <a:path w="78480" h="60547">
                <a:moveTo>
                  <a:pt x="0" y="6054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97717" y="3445034"/>
            <a:ext cx="830579" cy="706762"/>
          </a:xfrm>
          <a:custGeom>
            <a:avLst/>
            <a:gdLst/>
            <a:ahLst/>
            <a:cxnLst/>
            <a:rect l="0" t="0" r="r" b="b"/>
            <a:pathLst>
              <a:path w="78480" h="66781">
                <a:moveTo>
                  <a:pt x="0" y="66781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697717" y="3505509"/>
            <a:ext cx="830579" cy="626006"/>
          </a:xfrm>
          <a:custGeom>
            <a:avLst/>
            <a:gdLst/>
            <a:ahLst/>
            <a:cxnLst/>
            <a:rect l="0" t="0" r="r" b="b"/>
            <a:pathLst>
              <a:path w="78480" h="59150">
                <a:moveTo>
                  <a:pt x="0" y="59150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697717" y="3261122"/>
            <a:ext cx="830579" cy="799505"/>
          </a:xfrm>
          <a:custGeom>
            <a:avLst/>
            <a:gdLst/>
            <a:ahLst/>
            <a:cxnLst/>
            <a:rect l="0" t="0" r="r" b="b"/>
            <a:pathLst>
              <a:path w="78480" h="75544">
                <a:moveTo>
                  <a:pt x="0" y="75544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97717" y="3719110"/>
            <a:ext cx="830579" cy="517828"/>
          </a:xfrm>
          <a:custGeom>
            <a:avLst/>
            <a:gdLst/>
            <a:ahLst/>
            <a:cxnLst/>
            <a:rect l="0" t="0" r="r" b="b"/>
            <a:pathLst>
              <a:path w="78480" h="48929">
                <a:moveTo>
                  <a:pt x="0" y="48929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97717" y="3735606"/>
            <a:ext cx="830579" cy="123496"/>
          </a:xfrm>
          <a:custGeom>
            <a:avLst/>
            <a:gdLst/>
            <a:ahLst/>
            <a:cxnLst/>
            <a:rect l="0" t="0" r="r" b="b"/>
            <a:pathLst>
              <a:path w="78480" h="11669">
                <a:moveTo>
                  <a:pt x="0" y="11669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0697717" y="3881413"/>
            <a:ext cx="830579" cy="203366"/>
          </a:xfrm>
          <a:custGeom>
            <a:avLst/>
            <a:gdLst/>
            <a:ahLst/>
            <a:cxnLst/>
            <a:rect l="0" t="0" r="r" b="b"/>
            <a:pathLst>
              <a:path w="78480" h="19216">
                <a:moveTo>
                  <a:pt x="0" y="19216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0697717" y="3574431"/>
            <a:ext cx="830579" cy="558612"/>
          </a:xfrm>
          <a:custGeom>
            <a:avLst/>
            <a:gdLst/>
            <a:ahLst/>
            <a:cxnLst/>
            <a:rect l="0" t="0" r="r" b="b"/>
            <a:pathLst>
              <a:path w="78480" h="52782">
                <a:moveTo>
                  <a:pt x="0" y="52782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0697717" y="3948978"/>
            <a:ext cx="830579" cy="183235"/>
          </a:xfrm>
          <a:custGeom>
            <a:avLst/>
            <a:gdLst/>
            <a:ahLst/>
            <a:cxnLst/>
            <a:rect l="0" t="0" r="r" b="b"/>
            <a:pathLst>
              <a:path w="78480" h="17314">
                <a:moveTo>
                  <a:pt x="0" y="0"/>
                </a:moveTo>
                <a:lnTo>
                  <a:pt x="78480" y="17314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0697717" y="3114697"/>
            <a:ext cx="830579" cy="1172174"/>
          </a:xfrm>
          <a:custGeom>
            <a:avLst/>
            <a:gdLst/>
            <a:ahLst/>
            <a:cxnLst/>
            <a:rect l="0" t="0" r="r" b="b"/>
            <a:pathLst>
              <a:path w="78480" h="110757">
                <a:moveTo>
                  <a:pt x="0" y="11075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0674652" y="423155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0674652" y="390659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0674652" y="419699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0674652" y="421134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0674652" y="420492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0674652" y="412928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10674652" y="420043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10674652" y="400378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vector geometry"/>
          <p:cNvSpPr/>
          <p:nvPr/>
        </p:nvSpPr>
        <p:spPr>
          <a:xfrm>
            <a:off x="10674652" y="412873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vector geometry"/>
          <p:cNvSpPr/>
          <p:nvPr/>
        </p:nvSpPr>
        <p:spPr>
          <a:xfrm>
            <a:off x="10674652" y="410844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10674652" y="403756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10674652" y="421387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10674652" y="383603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10674652" y="406171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10674652" y="410997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10674652" y="392591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10674652" y="426380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11505231" y="352061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11505231" y="311779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vector geometry"/>
          <p:cNvSpPr/>
          <p:nvPr/>
        </p:nvSpPr>
        <p:spPr>
          <a:xfrm>
            <a:off x="11505231" y="347925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vector geometry"/>
          <p:cNvSpPr/>
          <p:nvPr/>
        </p:nvSpPr>
        <p:spPr>
          <a:xfrm>
            <a:off x="11505231" y="366273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vector geometry"/>
          <p:cNvSpPr/>
          <p:nvPr/>
        </p:nvSpPr>
        <p:spPr>
          <a:xfrm>
            <a:off x="11505231" y="361812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vector geometry"/>
          <p:cNvSpPr/>
          <p:nvPr/>
        </p:nvSpPr>
        <p:spPr>
          <a:xfrm>
            <a:off x="11505231" y="381992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vector geometry"/>
          <p:cNvSpPr/>
          <p:nvPr/>
        </p:nvSpPr>
        <p:spPr>
          <a:xfrm>
            <a:off x="11505231" y="336299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vector geometry"/>
          <p:cNvSpPr/>
          <p:nvPr/>
        </p:nvSpPr>
        <p:spPr>
          <a:xfrm>
            <a:off x="11505231" y="342196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ditable vector geometry"/>
          <p:cNvSpPr/>
          <p:nvPr/>
        </p:nvSpPr>
        <p:spPr>
          <a:xfrm>
            <a:off x="11505231" y="348244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vector geometry"/>
          <p:cNvSpPr/>
          <p:nvPr/>
        </p:nvSpPr>
        <p:spPr>
          <a:xfrm>
            <a:off x="11505231" y="323805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Editable vector geometry"/>
          <p:cNvSpPr/>
          <p:nvPr/>
        </p:nvSpPr>
        <p:spPr>
          <a:xfrm>
            <a:off x="11505231" y="369604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Editable vector geometry"/>
          <p:cNvSpPr/>
          <p:nvPr/>
        </p:nvSpPr>
        <p:spPr>
          <a:xfrm>
            <a:off x="11505231" y="371254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Editable vector geometry"/>
          <p:cNvSpPr/>
          <p:nvPr/>
        </p:nvSpPr>
        <p:spPr>
          <a:xfrm>
            <a:off x="11505231" y="385834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Editable vector geometry"/>
          <p:cNvSpPr/>
          <p:nvPr/>
        </p:nvSpPr>
        <p:spPr>
          <a:xfrm>
            <a:off x="11505231" y="355136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Editable vector geometry"/>
          <p:cNvSpPr/>
          <p:nvPr/>
        </p:nvSpPr>
        <p:spPr>
          <a:xfrm>
            <a:off x="11505231" y="410914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Editable vector geometry"/>
          <p:cNvSpPr/>
          <p:nvPr/>
        </p:nvSpPr>
        <p:spPr>
          <a:xfrm>
            <a:off x="11505231" y="309163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Editable vector geometry"/>
          <p:cNvSpPr/>
          <p:nvPr/>
        </p:nvSpPr>
        <p:spPr>
          <a:xfrm>
            <a:off x="10598048" y="4127241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Editable vector geometry"/>
          <p:cNvSpPr/>
          <p:nvPr/>
        </p:nvSpPr>
        <p:spPr>
          <a:xfrm>
            <a:off x="11428627" y="3536902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Editable vector geometry"/>
          <p:cNvSpPr/>
          <p:nvPr/>
        </p:nvSpPr>
        <p:spPr>
          <a:xfrm>
            <a:off x="7684177" y="274946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Editable vector geometry"/>
          <p:cNvSpPr/>
          <p:nvPr/>
        </p:nvSpPr>
        <p:spPr>
          <a:xfrm>
            <a:off x="7684177" y="29552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8AF45">
              <a:alpha val="100000"/>
            </a:srgbClr>
          </a:solidFill>
          <a:ln w="10583">
            <a:solidFill>
              <a:srgbClr val="C8AF4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Editable vector geometry"/>
          <p:cNvSpPr/>
          <p:nvPr/>
        </p:nvSpPr>
        <p:spPr>
          <a:xfrm>
            <a:off x="7684177" y="31609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Editable vector geometry"/>
          <p:cNvSpPr/>
          <p:nvPr/>
        </p:nvSpPr>
        <p:spPr>
          <a:xfrm>
            <a:off x="7684177" y="336668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DA87D">
              <a:alpha val="100000"/>
            </a:srgbClr>
          </a:solidFill>
          <a:ln w="10583">
            <a:solidFill>
              <a:srgbClr val="DDA87D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Editable vector geometry"/>
          <p:cNvSpPr/>
          <p:nvPr/>
        </p:nvSpPr>
        <p:spPr>
          <a:xfrm>
            <a:off x="7684177" y="35724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Editable vector geometry"/>
          <p:cNvSpPr/>
          <p:nvPr/>
        </p:nvSpPr>
        <p:spPr>
          <a:xfrm>
            <a:off x="7684177" y="377816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Editable vector geometry"/>
          <p:cNvSpPr/>
          <p:nvPr/>
        </p:nvSpPr>
        <p:spPr>
          <a:xfrm>
            <a:off x="7684177" y="39839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Editable vector geometry"/>
          <p:cNvSpPr/>
          <p:nvPr/>
        </p:nvSpPr>
        <p:spPr>
          <a:xfrm>
            <a:off x="7684177" y="41896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Editable vector geometry"/>
          <p:cNvSpPr/>
          <p:nvPr/>
        </p:nvSpPr>
        <p:spPr>
          <a:xfrm>
            <a:off x="7684177" y="439538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Editable vector geometry"/>
          <p:cNvSpPr/>
          <p:nvPr/>
        </p:nvSpPr>
        <p:spPr>
          <a:xfrm>
            <a:off x="7684177" y="46011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Editable vector geometry"/>
          <p:cNvSpPr/>
          <p:nvPr/>
        </p:nvSpPr>
        <p:spPr>
          <a:xfrm>
            <a:off x="7684177" y="480686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Editable vector geometry"/>
          <p:cNvSpPr/>
          <p:nvPr/>
        </p:nvSpPr>
        <p:spPr>
          <a:xfrm>
            <a:off x="7684177" y="50126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48869">
              <a:alpha val="100000"/>
            </a:srgbClr>
          </a:solidFill>
          <a:ln w="10583">
            <a:solidFill>
              <a:srgbClr val="A4886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Editable vector geometry"/>
          <p:cNvSpPr/>
          <p:nvPr/>
        </p:nvSpPr>
        <p:spPr>
          <a:xfrm>
            <a:off x="7684177" y="52183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Editable text: UMAP 1"/>
          <p:cNvSpPr txBox="1"/>
          <p:nvPr/>
        </p:nvSpPr>
        <p:spPr>
          <a:xfrm>
            <a:off x="1852998" y="5033285"/>
            <a:ext cx="46270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1</a:t>
            </a:r>
          </a:p>
        </p:txBody>
      </p:sp>
      <p:sp>
        <p:nvSpPr>
          <p:cNvPr id="111" name="Editable text: UMAP 2"/>
          <p:cNvSpPr txBox="1"/>
          <p:nvPr/>
        </p:nvSpPr>
        <p:spPr>
          <a:xfrm rot="16200000">
            <a:off x="550642" y="3540776"/>
            <a:ext cx="457411" cy="1534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2</a:t>
            </a:r>
          </a:p>
        </p:txBody>
      </p:sp>
      <p:sp>
        <p:nvSpPr>
          <p:cNvPr id="112" name="Editable text: UMAP 1"/>
          <p:cNvSpPr txBox="1"/>
          <p:nvPr/>
        </p:nvSpPr>
        <p:spPr>
          <a:xfrm>
            <a:off x="5681286" y="5033285"/>
            <a:ext cx="46270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1</a:t>
            </a:r>
          </a:p>
        </p:txBody>
      </p:sp>
      <p:sp>
        <p:nvSpPr>
          <p:cNvPr id="113" name="Editable text: UMAP 2"/>
          <p:cNvSpPr txBox="1"/>
          <p:nvPr/>
        </p:nvSpPr>
        <p:spPr>
          <a:xfrm rot="16200000">
            <a:off x="4378930" y="3540776"/>
            <a:ext cx="457411" cy="1534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2</a:t>
            </a:r>
          </a:p>
        </p:txBody>
      </p:sp>
      <p:sp>
        <p:nvSpPr>
          <p:cNvPr id="114" name="Editable text: 0.0"/>
          <p:cNvSpPr txBox="1"/>
          <p:nvPr/>
        </p:nvSpPr>
        <p:spPr>
          <a:xfrm>
            <a:off x="3825536" y="4640530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0.0</a:t>
            </a:r>
          </a:p>
        </p:txBody>
      </p:sp>
      <p:sp>
        <p:nvSpPr>
          <p:cNvPr id="115" name="Editable text: 0.5"/>
          <p:cNvSpPr txBox="1"/>
          <p:nvPr/>
        </p:nvSpPr>
        <p:spPr>
          <a:xfrm>
            <a:off x="3825536" y="4392269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0.5</a:t>
            </a:r>
          </a:p>
        </p:txBody>
      </p:sp>
      <p:sp>
        <p:nvSpPr>
          <p:cNvPr id="116" name="Editable text: 1.0"/>
          <p:cNvSpPr txBox="1"/>
          <p:nvPr/>
        </p:nvSpPr>
        <p:spPr>
          <a:xfrm>
            <a:off x="3825536" y="4144008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1.0</a:t>
            </a:r>
          </a:p>
        </p:txBody>
      </p:sp>
      <p:sp>
        <p:nvSpPr>
          <p:cNvPr id="117" name="Editable text: 1.5"/>
          <p:cNvSpPr txBox="1"/>
          <p:nvPr/>
        </p:nvSpPr>
        <p:spPr>
          <a:xfrm>
            <a:off x="3825536" y="3895747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1.5</a:t>
            </a:r>
          </a:p>
        </p:txBody>
      </p:sp>
      <p:sp>
        <p:nvSpPr>
          <p:cNvPr id="118" name="Editable text: 2.0"/>
          <p:cNvSpPr txBox="1"/>
          <p:nvPr/>
        </p:nvSpPr>
        <p:spPr>
          <a:xfrm>
            <a:off x="3825536" y="3647485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2.0</a:t>
            </a:r>
          </a:p>
        </p:txBody>
      </p:sp>
      <p:sp>
        <p:nvSpPr>
          <p:cNvPr id="119" name="Editable text: 2.5"/>
          <p:cNvSpPr txBox="1"/>
          <p:nvPr/>
        </p:nvSpPr>
        <p:spPr>
          <a:xfrm>
            <a:off x="3825536" y="3399224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2.5</a:t>
            </a:r>
          </a:p>
        </p:txBody>
      </p:sp>
      <p:sp>
        <p:nvSpPr>
          <p:cNvPr id="120" name="Editable text: 3.0"/>
          <p:cNvSpPr txBox="1"/>
          <p:nvPr/>
        </p:nvSpPr>
        <p:spPr>
          <a:xfrm>
            <a:off x="3825536" y="3150963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3.0</a:t>
            </a:r>
          </a:p>
        </p:txBody>
      </p:sp>
      <p:sp>
        <p:nvSpPr>
          <p:cNvPr id="121" name="Editable text: 3.5"/>
          <p:cNvSpPr txBox="1"/>
          <p:nvPr/>
        </p:nvSpPr>
        <p:spPr>
          <a:xfrm>
            <a:off x="3825536" y="2902702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3.5</a:t>
            </a:r>
          </a:p>
        </p:txBody>
      </p:sp>
      <p:sp>
        <p:nvSpPr>
          <p:cNvPr id="122" name="Editable text: SLC6A6 · log1p(CP10K)"/>
          <p:cNvSpPr txBox="1"/>
          <p:nvPr/>
        </p:nvSpPr>
        <p:spPr>
          <a:xfrm rot="16200000">
            <a:off x="3527361" y="3653118"/>
            <a:ext cx="1021738" cy="1304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SLC6A6 · log1p(CP10K)</a:t>
            </a:r>
          </a:p>
        </p:txBody>
      </p:sp>
      <p:sp>
        <p:nvSpPr>
          <p:cNvPr id="123" name="Editable text: 恶性上皮"/>
          <p:cNvSpPr txBox="1"/>
          <p:nvPr/>
        </p:nvSpPr>
        <p:spPr>
          <a:xfrm>
            <a:off x="10528384" y="4327933"/>
            <a:ext cx="376766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恶性上皮</a:t>
            </a:r>
          </a:p>
        </p:txBody>
      </p:sp>
      <p:sp>
        <p:nvSpPr>
          <p:cNvPr id="124" name="Editable text: CAF"/>
          <p:cNvSpPr txBox="1"/>
          <p:nvPr/>
        </p:nvSpPr>
        <p:spPr>
          <a:xfrm>
            <a:off x="11447682" y="4327933"/>
            <a:ext cx="199305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CAF</a:t>
            </a:r>
          </a:p>
        </p:txBody>
      </p:sp>
      <p:sp>
        <p:nvSpPr>
          <p:cNvPr id="125" name="Editable text: 0.0"/>
          <p:cNvSpPr txBox="1"/>
          <p:nvPr/>
        </p:nvSpPr>
        <p:spPr>
          <a:xfrm>
            <a:off x="10270776" y="4235908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0.0</a:t>
            </a:r>
          </a:p>
        </p:txBody>
      </p:sp>
      <p:sp>
        <p:nvSpPr>
          <p:cNvPr id="126" name="Editable text: 0.2"/>
          <p:cNvSpPr txBox="1"/>
          <p:nvPr/>
        </p:nvSpPr>
        <p:spPr>
          <a:xfrm>
            <a:off x="10270776" y="4037940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0.2</a:t>
            </a:r>
          </a:p>
        </p:txBody>
      </p:sp>
      <p:sp>
        <p:nvSpPr>
          <p:cNvPr id="127" name="Editable text: 0.4"/>
          <p:cNvSpPr txBox="1"/>
          <p:nvPr/>
        </p:nvSpPr>
        <p:spPr>
          <a:xfrm>
            <a:off x="10270776" y="3839973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0.4</a:t>
            </a:r>
          </a:p>
        </p:txBody>
      </p:sp>
      <p:sp>
        <p:nvSpPr>
          <p:cNvPr id="128" name="Editable text: 0.6"/>
          <p:cNvSpPr txBox="1"/>
          <p:nvPr/>
        </p:nvSpPr>
        <p:spPr>
          <a:xfrm>
            <a:off x="10270776" y="3642005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0.6</a:t>
            </a:r>
          </a:p>
        </p:txBody>
      </p:sp>
      <p:sp>
        <p:nvSpPr>
          <p:cNvPr id="129" name="Editable text: 0.8"/>
          <p:cNvSpPr txBox="1"/>
          <p:nvPr/>
        </p:nvSpPr>
        <p:spPr>
          <a:xfrm>
            <a:off x="10270776" y="3444038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0.8</a:t>
            </a:r>
          </a:p>
        </p:txBody>
      </p:sp>
      <p:sp>
        <p:nvSpPr>
          <p:cNvPr id="130" name="Editable text: 1.0"/>
          <p:cNvSpPr txBox="1"/>
          <p:nvPr/>
        </p:nvSpPr>
        <p:spPr>
          <a:xfrm>
            <a:off x="10270776" y="3246070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1.0</a:t>
            </a:r>
          </a:p>
        </p:txBody>
      </p:sp>
      <p:sp>
        <p:nvSpPr>
          <p:cNvPr id="131" name="Editable text: 1.2"/>
          <p:cNvSpPr txBox="1"/>
          <p:nvPr/>
        </p:nvSpPr>
        <p:spPr>
          <a:xfrm>
            <a:off x="10270776" y="3048103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1.2</a:t>
            </a:r>
          </a:p>
        </p:txBody>
      </p:sp>
      <p:sp>
        <p:nvSpPr>
          <p:cNvPr id="132" name="Editable text: 1.4"/>
          <p:cNvSpPr txBox="1"/>
          <p:nvPr/>
        </p:nvSpPr>
        <p:spPr>
          <a:xfrm>
            <a:off x="10270776" y="2850135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1.4</a:t>
            </a:r>
          </a:p>
        </p:txBody>
      </p:sp>
      <p:sp>
        <p:nvSpPr>
          <p:cNvPr id="133" name="Editable text: 患者平均表达"/>
          <p:cNvSpPr txBox="1"/>
          <p:nvPr/>
        </p:nvSpPr>
        <p:spPr>
          <a:xfrm rot="16200000">
            <a:off x="9881081" y="3480366"/>
            <a:ext cx="575733" cy="1304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患者平均表达</a:t>
            </a:r>
          </a:p>
        </p:txBody>
      </p:sp>
      <p:sp>
        <p:nvSpPr>
          <p:cNvPr id="135" name="Editable text: PDAC：SLC6A6 在 CAF 中表达更突出"/>
          <p:cNvSpPr txBox="1"/>
          <p:nvPr/>
        </p:nvSpPr>
        <p:spPr>
          <a:xfrm>
            <a:off x="609599" y="951108"/>
            <a:ext cx="5129204" cy="434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PDAC：SLC6A6 在 CAF 中表达更突出</a:t>
            </a:r>
          </a:p>
        </p:txBody>
      </p:sp>
      <p:sp>
        <p:nvSpPr>
          <p:cNvPr id="136" name="Editable text: Hwang · GSE202051 · 未治疗标本 · 全部细胞类型（单核） ·"/>
          <p:cNvSpPr txBox="1"/>
          <p:nvPr/>
        </p:nvSpPr>
        <p:spPr>
          <a:xfrm>
            <a:off x="609599" y="1429933"/>
            <a:ext cx="4520439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Hwang · GSE202051 · 未治疗标本 · 全部细胞类型（单核） · 108,964 个细胞核</a:t>
            </a:r>
          </a:p>
        </p:txBody>
      </p:sp>
      <p:sp>
        <p:nvSpPr>
          <p:cNvPr id="137" name="Editable text: SLC6A6 expression"/>
          <p:cNvSpPr txBox="1"/>
          <p:nvPr/>
        </p:nvSpPr>
        <p:spPr>
          <a:xfrm>
            <a:off x="585216" y="1882394"/>
            <a:ext cx="1579999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SLC6A6 expression</a:t>
            </a:r>
          </a:p>
        </p:txBody>
      </p:sp>
      <p:sp>
        <p:nvSpPr>
          <p:cNvPr id="138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Cell types</a:t>
            </a:r>
          </a:p>
        </p:txBody>
      </p:sp>
      <p:sp>
        <p:nvSpPr>
          <p:cNvPr id="139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同患者证据</a:t>
            </a:r>
          </a:p>
        </p:txBody>
      </p:sp>
      <p:sp>
        <p:nvSpPr>
          <p:cNvPr id="140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Cell type (n cells)</a:t>
            </a:r>
          </a:p>
        </p:txBody>
      </p:sp>
      <p:sp>
        <p:nvSpPr>
          <p:cNvPr id="141" name="Editable text: CAFs"/>
          <p:cNvSpPr txBox="1"/>
          <p:nvPr/>
        </p:nvSpPr>
        <p:spPr>
          <a:xfrm>
            <a:off x="7827263" y="2493778"/>
            <a:ext cx="257113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1" lang="zh-CN">
                <a:solidFill>
                  <a:srgbClr val="4575B4"/>
                </a:solidFill>
                <a:latin typeface="Microsoft YaHei"/>
                <a:ea typeface="微软雅黑"/>
                <a:cs typeface="Microsoft YaHei"/>
              </a:defRPr>
            </a:pPr>
            <a:r>
              <a:t>CAFs</a:t>
            </a:r>
          </a:p>
        </p:txBody>
      </p:sp>
      <p:sp>
        <p:nvSpPr>
          <p:cNvPr id="142" name="Editable text: 20,801"/>
          <p:cNvSpPr txBox="1"/>
          <p:nvPr/>
        </p:nvSpPr>
        <p:spPr>
          <a:xfrm>
            <a:off x="9553900" y="2496053"/>
            <a:ext cx="310409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20,801</a:t>
            </a:r>
          </a:p>
        </p:txBody>
      </p:sp>
      <p:sp>
        <p:nvSpPr>
          <p:cNvPr id="143" name="Editable text: Adipocyte"/>
          <p:cNvSpPr txBox="1"/>
          <p:nvPr/>
        </p:nvSpPr>
        <p:spPr>
          <a:xfrm>
            <a:off x="7827263" y="2699270"/>
            <a:ext cx="46550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Adipocyte</a:t>
            </a:r>
          </a:p>
        </p:txBody>
      </p:sp>
      <p:sp>
        <p:nvSpPr>
          <p:cNvPr id="144" name="Editable text: 45"/>
          <p:cNvSpPr txBox="1"/>
          <p:nvPr/>
        </p:nvSpPr>
        <p:spPr>
          <a:xfrm>
            <a:off x="9725879" y="2701793"/>
            <a:ext cx="13904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45</a:t>
            </a:r>
          </a:p>
        </p:txBody>
      </p:sp>
      <p:sp>
        <p:nvSpPr>
          <p:cNvPr id="145" name="Editable text: Atypical ductal"/>
          <p:cNvSpPr txBox="1"/>
          <p:nvPr/>
        </p:nvSpPr>
        <p:spPr>
          <a:xfrm>
            <a:off x="7827263" y="2905010"/>
            <a:ext cx="659939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Atypical ductal</a:t>
            </a:r>
          </a:p>
        </p:txBody>
      </p:sp>
      <p:sp>
        <p:nvSpPr>
          <p:cNvPr id="146" name="Editable text: 1,518"/>
          <p:cNvSpPr txBox="1"/>
          <p:nvPr/>
        </p:nvSpPr>
        <p:spPr>
          <a:xfrm>
            <a:off x="9604336" y="2907533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1,518</a:t>
            </a:r>
          </a:p>
        </p:txBody>
      </p:sp>
      <p:sp>
        <p:nvSpPr>
          <p:cNvPr id="147" name="Editable text: Ductal"/>
          <p:cNvSpPr txBox="1"/>
          <p:nvPr/>
        </p:nvSpPr>
        <p:spPr>
          <a:xfrm>
            <a:off x="7827263" y="3110998"/>
            <a:ext cx="309290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Ductal</a:t>
            </a:r>
          </a:p>
        </p:txBody>
      </p:sp>
      <p:sp>
        <p:nvSpPr>
          <p:cNvPr id="148" name="Editable text: 6,755"/>
          <p:cNvSpPr txBox="1"/>
          <p:nvPr/>
        </p:nvSpPr>
        <p:spPr>
          <a:xfrm>
            <a:off x="9604336" y="3113273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6,755</a:t>
            </a:r>
          </a:p>
        </p:txBody>
      </p:sp>
      <p:sp>
        <p:nvSpPr>
          <p:cNvPr id="149" name="Editable text: Endocrine"/>
          <p:cNvSpPr txBox="1"/>
          <p:nvPr/>
        </p:nvSpPr>
        <p:spPr>
          <a:xfrm>
            <a:off x="7827263" y="3316738"/>
            <a:ext cx="45888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Endocrine</a:t>
            </a:r>
          </a:p>
        </p:txBody>
      </p:sp>
      <p:sp>
        <p:nvSpPr>
          <p:cNvPr id="150" name="Editable text: 1,865"/>
          <p:cNvSpPr txBox="1"/>
          <p:nvPr/>
        </p:nvSpPr>
        <p:spPr>
          <a:xfrm>
            <a:off x="9604336" y="331901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1,865</a:t>
            </a:r>
          </a:p>
        </p:txBody>
      </p:sp>
      <p:sp>
        <p:nvSpPr>
          <p:cNvPr id="151" name="Editable text: Endothelial"/>
          <p:cNvSpPr txBox="1"/>
          <p:nvPr/>
        </p:nvSpPr>
        <p:spPr>
          <a:xfrm>
            <a:off x="7827263" y="3522478"/>
            <a:ext cx="50939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Endothelial</a:t>
            </a:r>
          </a:p>
        </p:txBody>
      </p:sp>
      <p:sp>
        <p:nvSpPr>
          <p:cNvPr id="152" name="Editable text: 6,668"/>
          <p:cNvSpPr txBox="1"/>
          <p:nvPr/>
        </p:nvSpPr>
        <p:spPr>
          <a:xfrm>
            <a:off x="9604336" y="352475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6,668</a:t>
            </a:r>
          </a:p>
        </p:txBody>
      </p:sp>
      <p:sp>
        <p:nvSpPr>
          <p:cNvPr id="153" name="Editable text: Lymphoid"/>
          <p:cNvSpPr txBox="1"/>
          <p:nvPr/>
        </p:nvSpPr>
        <p:spPr>
          <a:xfrm>
            <a:off x="7827263" y="3727970"/>
            <a:ext cx="455587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Lymphoid</a:t>
            </a:r>
          </a:p>
        </p:txBody>
      </p:sp>
      <p:sp>
        <p:nvSpPr>
          <p:cNvPr id="154" name="Editable text: 4,631"/>
          <p:cNvSpPr txBox="1"/>
          <p:nvPr/>
        </p:nvSpPr>
        <p:spPr>
          <a:xfrm>
            <a:off x="9604336" y="373049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4,631</a:t>
            </a:r>
          </a:p>
        </p:txBody>
      </p:sp>
      <p:sp>
        <p:nvSpPr>
          <p:cNvPr id="155" name="Editable text: Malignant epithelial"/>
          <p:cNvSpPr txBox="1"/>
          <p:nvPr/>
        </p:nvSpPr>
        <p:spPr>
          <a:xfrm>
            <a:off x="7827263" y="3933710"/>
            <a:ext cx="877099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Malignant epithelial</a:t>
            </a:r>
          </a:p>
        </p:txBody>
      </p:sp>
      <p:sp>
        <p:nvSpPr>
          <p:cNvPr id="156" name="Editable text: 52,999"/>
          <p:cNvSpPr txBox="1"/>
          <p:nvPr/>
        </p:nvSpPr>
        <p:spPr>
          <a:xfrm>
            <a:off x="9553900" y="3936234"/>
            <a:ext cx="310409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52,999</a:t>
            </a:r>
          </a:p>
        </p:txBody>
      </p:sp>
      <p:sp>
        <p:nvSpPr>
          <p:cNvPr id="157" name="Editable text: Myeloid"/>
          <p:cNvSpPr txBox="1"/>
          <p:nvPr/>
        </p:nvSpPr>
        <p:spPr>
          <a:xfrm>
            <a:off x="7827263" y="4139450"/>
            <a:ext cx="380111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Myeloid</a:t>
            </a:r>
          </a:p>
        </p:txBody>
      </p:sp>
      <p:sp>
        <p:nvSpPr>
          <p:cNvPr id="158" name="Editable text: 4,999"/>
          <p:cNvSpPr txBox="1"/>
          <p:nvPr/>
        </p:nvSpPr>
        <p:spPr>
          <a:xfrm>
            <a:off x="9604336" y="414197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4,999</a:t>
            </a:r>
          </a:p>
        </p:txBody>
      </p:sp>
      <p:sp>
        <p:nvSpPr>
          <p:cNvPr id="159" name="Editable text: Other nonmalignant epi."/>
          <p:cNvSpPr txBox="1"/>
          <p:nvPr/>
        </p:nvSpPr>
        <p:spPr>
          <a:xfrm>
            <a:off x="7827263" y="4345190"/>
            <a:ext cx="1071317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Other nonmalignant epi.</a:t>
            </a:r>
          </a:p>
        </p:txBody>
      </p:sp>
      <p:sp>
        <p:nvSpPr>
          <p:cNvPr id="160" name="Editable text: 2,369"/>
          <p:cNvSpPr txBox="1"/>
          <p:nvPr/>
        </p:nvSpPr>
        <p:spPr>
          <a:xfrm>
            <a:off x="9604336" y="434771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2,369</a:t>
            </a:r>
          </a:p>
        </p:txBody>
      </p:sp>
      <p:sp>
        <p:nvSpPr>
          <p:cNvPr id="161" name="Editable text: Pancreatic neurons"/>
          <p:cNvSpPr txBox="1"/>
          <p:nvPr/>
        </p:nvSpPr>
        <p:spPr>
          <a:xfrm>
            <a:off x="7827263" y="4551178"/>
            <a:ext cx="835001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Pancreatic neurons</a:t>
            </a:r>
          </a:p>
        </p:txBody>
      </p:sp>
      <p:sp>
        <p:nvSpPr>
          <p:cNvPr id="162" name="Editable text: 8"/>
          <p:cNvSpPr txBox="1"/>
          <p:nvPr/>
        </p:nvSpPr>
        <p:spPr>
          <a:xfrm>
            <a:off x="9776316" y="4553454"/>
            <a:ext cx="88810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8</a:t>
            </a:r>
          </a:p>
        </p:txBody>
      </p:sp>
      <p:sp>
        <p:nvSpPr>
          <p:cNvPr id="163" name="Editable text: Pericyte"/>
          <p:cNvSpPr txBox="1"/>
          <p:nvPr/>
        </p:nvSpPr>
        <p:spPr>
          <a:xfrm>
            <a:off x="7827263" y="4756422"/>
            <a:ext cx="369095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Pericyte</a:t>
            </a:r>
          </a:p>
        </p:txBody>
      </p:sp>
      <p:sp>
        <p:nvSpPr>
          <p:cNvPr id="164" name="Editable text: 3,043"/>
          <p:cNvSpPr txBox="1"/>
          <p:nvPr/>
        </p:nvSpPr>
        <p:spPr>
          <a:xfrm>
            <a:off x="9604336" y="475919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3,043</a:t>
            </a:r>
          </a:p>
        </p:txBody>
      </p:sp>
      <p:sp>
        <p:nvSpPr>
          <p:cNvPr id="165" name="Editable text: Schwann"/>
          <p:cNvSpPr txBox="1"/>
          <p:nvPr/>
        </p:nvSpPr>
        <p:spPr>
          <a:xfrm>
            <a:off x="7827263" y="4962658"/>
            <a:ext cx="41452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Schwann</a:t>
            </a:r>
          </a:p>
        </p:txBody>
      </p:sp>
      <p:sp>
        <p:nvSpPr>
          <p:cNvPr id="166" name="Editable text: 807"/>
          <p:cNvSpPr txBox="1"/>
          <p:nvPr/>
        </p:nvSpPr>
        <p:spPr>
          <a:xfrm>
            <a:off x="9675443" y="4964934"/>
            <a:ext cx="189280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807</a:t>
            </a:r>
          </a:p>
        </p:txBody>
      </p:sp>
      <p:sp>
        <p:nvSpPr>
          <p:cNvPr id="167" name="Editable text: Vascular smooth muscle"/>
          <p:cNvSpPr txBox="1"/>
          <p:nvPr/>
        </p:nvSpPr>
        <p:spPr>
          <a:xfrm>
            <a:off x="7827263" y="5168398"/>
            <a:ext cx="105285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Vascular smooth muscle</a:t>
            </a:r>
          </a:p>
        </p:txBody>
      </p:sp>
      <p:sp>
        <p:nvSpPr>
          <p:cNvPr id="168" name="Editable text: 2,456"/>
          <p:cNvSpPr txBox="1"/>
          <p:nvPr/>
        </p:nvSpPr>
        <p:spPr>
          <a:xfrm>
            <a:off x="9604336" y="517067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2,456</a:t>
            </a:r>
          </a:p>
        </p:txBody>
      </p:sp>
      <p:sp>
        <p:nvSpPr>
          <p:cNvPr id="169" name="Editable text: CAFs：红圈仅作位置提示"/>
          <p:cNvSpPr txBox="1"/>
          <p:nvPr/>
        </p:nvSpPr>
        <p:spPr>
          <a:xfrm>
            <a:off x="5310838" y="5321062"/>
            <a:ext cx="1125569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DD3434"/>
                </a:solidFill>
                <a:latin typeface="Microsoft YaHei"/>
                <a:ea typeface="微软雅黑"/>
                <a:cs typeface="Microsoft YaHei"/>
              </a:defRPr>
            </a:pPr>
            <a:r>
              <a:t>CAFs：红圈仅作位置提示</a:t>
            </a:r>
          </a:p>
        </p:txBody>
      </p:sp>
      <p:sp>
        <p:nvSpPr>
          <p:cNvPr id="170" name="Editable text: 色标上限 3.95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24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色标上限 3.95 · 阳性值第99百分位</a:t>
            </a:r>
          </a:p>
        </p:txBody>
      </p:sp>
      <p:sp>
        <p:nvSpPr>
          <p:cNvPr id="171" name="Editable text: 描述性配对 · 未做显著性检验"/>
          <p:cNvSpPr txBox="1"/>
          <p:nvPr/>
        </p:nvSpPr>
        <p:spPr>
          <a:xfrm>
            <a:off x="10476098" y="2292101"/>
            <a:ext cx="1237090" cy="141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33" b="0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描述性配对 · 未做显著性检验</a:t>
            </a:r>
          </a:p>
        </p:txBody>
      </p:sp>
      <p:sp>
        <p:nvSpPr>
          <p:cNvPr id="172" name="Editable text: 16 / 17"/>
          <p:cNvSpPr txBox="1"/>
          <p:nvPr/>
        </p:nvSpPr>
        <p:spPr>
          <a:xfrm>
            <a:off x="10645755" y="4515203"/>
            <a:ext cx="1012698" cy="386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16 / 17</a:t>
            </a:r>
          </a:p>
        </p:txBody>
      </p:sp>
      <p:sp>
        <p:nvSpPr>
          <p:cNvPr id="173" name="Editable text: 患者 CAF 表达更高"/>
          <p:cNvSpPr txBox="1"/>
          <p:nvPr/>
        </p:nvSpPr>
        <p:spPr>
          <a:xfrm>
            <a:off x="10652121" y="4896599"/>
            <a:ext cx="936458" cy="15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患者 CAF 表达更高</a:t>
            </a:r>
          </a:p>
        </p:txBody>
      </p:sp>
      <p:sp>
        <p:nvSpPr>
          <p:cNvPr id="174" name="Editable text: 平均差 +0.596"/>
          <p:cNvSpPr txBox="1"/>
          <p:nvPr/>
        </p:nvSpPr>
        <p:spPr>
          <a:xfrm>
            <a:off x="10761593" y="5208622"/>
            <a:ext cx="711131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平均差 +0.596</a:t>
            </a:r>
          </a:p>
        </p:txBody>
      </p:sp>
      <p:sp>
        <p:nvSpPr>
          <p:cNvPr id="175" name="Editable text: 参照：恶性上皮"/>
          <p:cNvSpPr txBox="1"/>
          <p:nvPr/>
        </p:nvSpPr>
        <p:spPr>
          <a:xfrm>
            <a:off x="10253471" y="5553064"/>
            <a:ext cx="670190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参照：恶性上皮</a:t>
            </a:r>
          </a:p>
        </p:txBody>
      </p:sp>
      <p:sp>
        <p:nvSpPr>
          <p:cNvPr id="176" name="Editable text: 目标：CAF"/>
          <p:cNvSpPr txBox="1"/>
          <p:nvPr/>
        </p:nvSpPr>
        <p:spPr>
          <a:xfrm>
            <a:off x="10253471" y="5745089"/>
            <a:ext cx="481636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目标：CAF</a:t>
            </a:r>
          </a:p>
        </p:txBody>
      </p:sp>
      <p:sp>
        <p:nvSpPr>
          <p:cNvPr id="177" name="Editable text: SLC6A6 表达以 CAF 更突出；16/17 位患者 CAF 高于恶性上皮。"/>
          <p:cNvSpPr txBox="1"/>
          <p:nvPr/>
        </p:nvSpPr>
        <p:spPr>
          <a:xfrm>
            <a:off x="609599" y="6115405"/>
            <a:ext cx="4433902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SLC6A6 表达以 CAF 更突出；16/17 位患者 CAF 高于恶性上皮。</a:t>
            </a:r>
          </a:p>
        </p:txBody>
      </p:sp>
      <p:sp>
        <p:nvSpPr>
          <p:cNvPr id="178" name="Editable text: 同患者 CAF 与恶性上皮各 ≥20 个细胞核；比较细胞类型，不是 CAF 肿瘤"/>
          <p:cNvSpPr txBox="1"/>
          <p:nvPr/>
        </p:nvSpPr>
        <p:spPr>
          <a:xfrm>
            <a:off x="609599" y="6417173"/>
            <a:ext cx="3510893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同患者 CAF 与恶性上皮各 ≥20 个细胞核；比较细胞类型，不是 CAF 肿瘤—正常变化。</a:t>
            </a:r>
          </a:p>
        </p:txBody>
      </p:sp>
      <p:pic>
        <p:nvPicPr>
          <p:cNvPr id="179" name="Picture 17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80" name="TextBox 179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181" name="Connector 180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TextBox 182"/>
          <p:cNvSpPr txBox="1"/>
          <p:nvPr/>
        </p:nvSpPr>
        <p:spPr>
          <a:xfrm>
            <a:off x="11082528" y="6446520"/>
            <a:ext cx="47548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690368" y="2215133"/>
            <a:ext cx="2740158" cy="2804922"/>
          </a:xfrm>
          <a:custGeom>
            <a:avLst/>
            <a:gdLst/>
            <a:ahLst/>
            <a:cxnLst/>
            <a:rect l="0" t="0" r="r" b="b"/>
            <a:pathLst>
              <a:path w="258913" h="265032">
                <a:moveTo>
                  <a:pt x="0" y="0"/>
                </a:moveTo>
                <a:lnTo>
                  <a:pt x="258913" y="0"/>
                </a:lnTo>
                <a:lnTo>
                  <a:pt x="25891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854" y="2299854"/>
            <a:ext cx="2573481" cy="2635827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690368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690368" y="5020055"/>
            <a:ext cx="2740158" cy="105"/>
          </a:xfrm>
          <a:custGeom>
            <a:avLst/>
            <a:gdLst/>
            <a:ahLst/>
            <a:cxnLst/>
            <a:rect l="0" t="0" r="r" b="b"/>
            <a:pathLst>
              <a:path w="258913" h="10">
                <a:moveTo>
                  <a:pt x="0" y="0"/>
                </a:moveTo>
                <a:lnTo>
                  <a:pt x="25891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766298" y="3252243"/>
            <a:ext cx="423080" cy="477258"/>
          </a:xfrm>
          <a:custGeom>
            <a:avLst/>
            <a:gdLst/>
            <a:ahLst/>
            <a:cxnLst/>
            <a:rect l="0" t="0" r="r" b="b"/>
            <a:pathLst>
              <a:path w="39976" h="45095">
                <a:moveTo>
                  <a:pt x="19988" y="45095"/>
                </a:moveTo>
                <a:cubicBezTo>
                  <a:pt x="25289" y="45095"/>
                  <a:pt x="30373" y="42719"/>
                  <a:pt x="34122" y="38491"/>
                </a:cubicBezTo>
                <a:cubicBezTo>
                  <a:pt x="37870" y="34263"/>
                  <a:pt x="39976" y="28527"/>
                  <a:pt x="39976" y="22548"/>
                </a:cubicBezTo>
                <a:cubicBezTo>
                  <a:pt x="39976" y="16568"/>
                  <a:pt x="37870" y="10832"/>
                  <a:pt x="34122" y="6604"/>
                </a:cubicBezTo>
                <a:cubicBezTo>
                  <a:pt x="30373" y="2376"/>
                  <a:pt x="25289" y="0"/>
                  <a:pt x="19988" y="0"/>
                </a:cubicBezTo>
                <a:cubicBezTo>
                  <a:pt x="14687" y="0"/>
                  <a:pt x="9603" y="2376"/>
                  <a:pt x="5854" y="6604"/>
                </a:cubicBezTo>
                <a:cubicBezTo>
                  <a:pt x="2106" y="10832"/>
                  <a:pt x="0" y="16568"/>
                  <a:pt x="0" y="22548"/>
                </a:cubicBezTo>
                <a:cubicBezTo>
                  <a:pt x="0" y="28527"/>
                  <a:pt x="2106" y="34263"/>
                  <a:pt x="5854" y="38491"/>
                </a:cubicBezTo>
                <a:cubicBezTo>
                  <a:pt x="9603" y="42719"/>
                  <a:pt x="14687" y="45095"/>
                  <a:pt x="19988" y="45095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518657" y="2215133"/>
            <a:ext cx="2740158" cy="2804922"/>
          </a:xfrm>
          <a:custGeom>
            <a:avLst/>
            <a:gdLst/>
            <a:ahLst/>
            <a:cxnLst/>
            <a:rect l="0" t="0" r="r" b="b"/>
            <a:pathLst>
              <a:path w="258913" h="265032">
                <a:moveTo>
                  <a:pt x="0" y="0"/>
                </a:moveTo>
                <a:lnTo>
                  <a:pt x="258913" y="0"/>
                </a:lnTo>
                <a:lnTo>
                  <a:pt x="25891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3172" y="2299854"/>
            <a:ext cx="2573482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518657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518657" y="5020055"/>
            <a:ext cx="2740158" cy="105"/>
          </a:xfrm>
          <a:custGeom>
            <a:avLst/>
            <a:gdLst/>
            <a:ahLst/>
            <a:cxnLst/>
            <a:rect l="0" t="0" r="r" b="b"/>
            <a:pathLst>
              <a:path w="258913" h="10">
                <a:moveTo>
                  <a:pt x="0" y="0"/>
                </a:moveTo>
                <a:lnTo>
                  <a:pt x="25891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4594586" y="3252243"/>
            <a:ext cx="423080" cy="477258"/>
          </a:xfrm>
          <a:custGeom>
            <a:avLst/>
            <a:gdLst/>
            <a:ahLst/>
            <a:cxnLst/>
            <a:rect l="0" t="0" r="r" b="b"/>
            <a:pathLst>
              <a:path w="39976" h="45095">
                <a:moveTo>
                  <a:pt x="19988" y="45095"/>
                </a:moveTo>
                <a:cubicBezTo>
                  <a:pt x="25289" y="45095"/>
                  <a:pt x="30373" y="42719"/>
                  <a:pt x="34122" y="38491"/>
                </a:cubicBezTo>
                <a:cubicBezTo>
                  <a:pt x="37870" y="34263"/>
                  <a:pt x="39976" y="28527"/>
                  <a:pt x="39976" y="22548"/>
                </a:cubicBezTo>
                <a:cubicBezTo>
                  <a:pt x="39976" y="16568"/>
                  <a:pt x="37870" y="10832"/>
                  <a:pt x="34122" y="6604"/>
                </a:cubicBezTo>
                <a:cubicBezTo>
                  <a:pt x="30373" y="2376"/>
                  <a:pt x="25289" y="0"/>
                  <a:pt x="19988" y="0"/>
                </a:cubicBezTo>
                <a:cubicBezTo>
                  <a:pt x="14687" y="0"/>
                  <a:pt x="9603" y="2376"/>
                  <a:pt x="5854" y="6604"/>
                </a:cubicBezTo>
                <a:cubicBezTo>
                  <a:pt x="2106" y="10832"/>
                  <a:pt x="0" y="16568"/>
                  <a:pt x="0" y="22548"/>
                </a:cubicBezTo>
                <a:cubicBezTo>
                  <a:pt x="0" y="28527"/>
                  <a:pt x="2106" y="34263"/>
                  <a:pt x="5854" y="38491"/>
                </a:cubicBezTo>
                <a:cubicBezTo>
                  <a:pt x="9603" y="42719"/>
                  <a:pt x="14687" y="45095"/>
                  <a:pt x="19988" y="45095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Source image: point cloud / tissue / logo / color scal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7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3767327" y="428926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388079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347233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063866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427377" y="3953977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0427377" y="3614847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0427377" y="3275716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293658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697717" y="3392422"/>
            <a:ext cx="830579" cy="335855"/>
          </a:xfrm>
          <a:custGeom>
            <a:avLst/>
            <a:gdLst/>
            <a:ahLst/>
            <a:cxnLst/>
            <a:rect l="0" t="0" r="r" b="b"/>
            <a:pathLst>
              <a:path w="78480" h="31734">
                <a:moveTo>
                  <a:pt x="0" y="31734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697717" y="3348466"/>
            <a:ext cx="830579" cy="155249"/>
          </a:xfrm>
          <a:custGeom>
            <a:avLst/>
            <a:gdLst/>
            <a:ahLst/>
            <a:cxnLst/>
            <a:rect l="0" t="0" r="r" b="b"/>
            <a:pathLst>
              <a:path w="78480" h="14669">
                <a:moveTo>
                  <a:pt x="0" y="0"/>
                </a:moveTo>
                <a:lnTo>
                  <a:pt x="78480" y="14669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697717" y="3091621"/>
            <a:ext cx="830579" cy="548897"/>
          </a:xfrm>
          <a:custGeom>
            <a:avLst/>
            <a:gdLst/>
            <a:ahLst/>
            <a:cxnLst/>
            <a:rect l="0" t="0" r="r" b="b"/>
            <a:pathLst>
              <a:path w="78480" h="51864">
                <a:moveTo>
                  <a:pt x="0" y="0"/>
                </a:moveTo>
                <a:lnTo>
                  <a:pt x="78480" y="51864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697717" y="3120029"/>
            <a:ext cx="830579" cy="383167"/>
          </a:xfrm>
          <a:custGeom>
            <a:avLst/>
            <a:gdLst/>
            <a:ahLst/>
            <a:cxnLst/>
            <a:rect l="0" t="0" r="r" b="b"/>
            <a:pathLst>
              <a:path w="78480" h="36205">
                <a:moveTo>
                  <a:pt x="0" y="0"/>
                </a:moveTo>
                <a:lnTo>
                  <a:pt x="78480" y="36205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697717" y="3282257"/>
            <a:ext cx="830579" cy="15382"/>
          </a:xfrm>
          <a:custGeom>
            <a:avLst/>
            <a:gdLst/>
            <a:ahLst/>
            <a:cxnLst/>
            <a:rect l="0" t="0" r="r" b="b"/>
            <a:pathLst>
              <a:path w="78480" h="1453">
                <a:moveTo>
                  <a:pt x="0" y="145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697717" y="3043098"/>
            <a:ext cx="830579" cy="271366"/>
          </a:xfrm>
          <a:custGeom>
            <a:avLst/>
            <a:gdLst/>
            <a:ahLst/>
            <a:cxnLst/>
            <a:rect l="0" t="0" r="r" b="b"/>
            <a:pathLst>
              <a:path w="78480" h="25641">
                <a:moveTo>
                  <a:pt x="0" y="0"/>
                </a:moveTo>
                <a:lnTo>
                  <a:pt x="78480" y="25641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293748"/>
            <a:ext cx="830579" cy="142176"/>
          </a:xfrm>
          <a:custGeom>
            <a:avLst/>
            <a:gdLst/>
            <a:ahLst/>
            <a:cxnLst/>
            <a:rect l="0" t="0" r="r" b="b"/>
            <a:pathLst>
              <a:path w="78480" h="13434">
                <a:moveTo>
                  <a:pt x="0" y="0"/>
                </a:moveTo>
                <a:lnTo>
                  <a:pt x="78480" y="13434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3015292"/>
            <a:ext cx="830579" cy="539615"/>
          </a:xfrm>
          <a:custGeom>
            <a:avLst/>
            <a:gdLst/>
            <a:ahLst/>
            <a:cxnLst/>
            <a:rect l="0" t="0" r="r" b="b"/>
            <a:pathLst>
              <a:path w="78480" h="50987">
                <a:moveTo>
                  <a:pt x="0" y="5098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3648290"/>
            <a:ext cx="830579" cy="50226"/>
          </a:xfrm>
          <a:custGeom>
            <a:avLst/>
            <a:gdLst/>
            <a:ahLst/>
            <a:cxnLst/>
            <a:rect l="0" t="0" r="r" b="b"/>
            <a:pathLst>
              <a:path w="78480" h="4746">
                <a:moveTo>
                  <a:pt x="0" y="0"/>
                </a:moveTo>
                <a:lnTo>
                  <a:pt x="78480" y="4746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697717" y="3273681"/>
            <a:ext cx="830579" cy="388587"/>
          </a:xfrm>
          <a:custGeom>
            <a:avLst/>
            <a:gdLst/>
            <a:ahLst/>
            <a:cxnLst/>
            <a:rect l="0" t="0" r="r" b="b"/>
            <a:pathLst>
              <a:path w="78480" h="36717">
                <a:moveTo>
                  <a:pt x="0" y="3671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697717" y="3523135"/>
            <a:ext cx="830579" cy="47374"/>
          </a:xfrm>
          <a:custGeom>
            <a:avLst/>
            <a:gdLst/>
            <a:ahLst/>
            <a:cxnLst/>
            <a:rect l="0" t="0" r="r" b="b"/>
            <a:pathLst>
              <a:path w="78480" h="4476">
                <a:moveTo>
                  <a:pt x="0" y="0"/>
                </a:moveTo>
                <a:lnTo>
                  <a:pt x="78480" y="4476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674652" y="370521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74652" y="332540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674652" y="306855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674652" y="309696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74652" y="327457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74652" y="302003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0674652" y="327068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0674652" y="353184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0674652" y="362522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0674652" y="363920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0674652" y="350006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1505231" y="336935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1505231" y="348065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1505231" y="361745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1505231" y="348013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1505231" y="325919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1505231" y="329139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1505231" y="341285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11505231" y="367545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vector geometry"/>
          <p:cNvSpPr/>
          <p:nvPr/>
        </p:nvSpPr>
        <p:spPr>
          <a:xfrm>
            <a:off x="11505231" y="325061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vector geometry"/>
          <p:cNvSpPr/>
          <p:nvPr/>
        </p:nvSpPr>
        <p:spPr>
          <a:xfrm>
            <a:off x="11505231" y="354744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10598048" y="3391953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11428627" y="3420954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7684177" y="276318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8AF45">
              <a:alpha val="100000"/>
            </a:srgbClr>
          </a:solidFill>
          <a:ln w="10583">
            <a:solidFill>
              <a:srgbClr val="C8AF4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7684177" y="298263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73027">
              <a:alpha val="100000"/>
            </a:srgbClr>
          </a:solidFill>
          <a:ln w="10583">
            <a:solidFill>
              <a:srgbClr val="D7302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7684177" y="320209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7684177" y="342154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vector geometry"/>
          <p:cNvSpPr/>
          <p:nvPr/>
        </p:nvSpPr>
        <p:spPr>
          <a:xfrm>
            <a:off x="7684177" y="36410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vector geometry"/>
          <p:cNvSpPr/>
          <p:nvPr/>
        </p:nvSpPr>
        <p:spPr>
          <a:xfrm>
            <a:off x="7684177" y="386046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vector geometry"/>
          <p:cNvSpPr/>
          <p:nvPr/>
        </p:nvSpPr>
        <p:spPr>
          <a:xfrm>
            <a:off x="7684177" y="407991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vector geometry"/>
          <p:cNvSpPr/>
          <p:nvPr/>
        </p:nvSpPr>
        <p:spPr>
          <a:xfrm>
            <a:off x="7684177" y="429937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48869">
              <a:alpha val="100000"/>
            </a:srgbClr>
          </a:solidFill>
          <a:ln w="10583">
            <a:solidFill>
              <a:srgbClr val="A4886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vector geometry"/>
          <p:cNvSpPr/>
          <p:nvPr/>
        </p:nvSpPr>
        <p:spPr>
          <a:xfrm>
            <a:off x="7684177" y="451882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95F9F">
              <a:alpha val="100000"/>
            </a:srgbClr>
          </a:solidFill>
          <a:ln w="10583">
            <a:solidFill>
              <a:srgbClr val="D95F9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vector geometry"/>
          <p:cNvSpPr/>
          <p:nvPr/>
        </p:nvSpPr>
        <p:spPr>
          <a:xfrm>
            <a:off x="7684177" y="473828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vector geometry"/>
          <p:cNvSpPr/>
          <p:nvPr/>
        </p:nvSpPr>
        <p:spPr>
          <a:xfrm>
            <a:off x="7684177" y="495774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66A98C">
              <a:alpha val="100000"/>
            </a:srgbClr>
          </a:solidFill>
          <a:ln w="10583">
            <a:solidFill>
              <a:srgbClr val="66A98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ditable vector geometry"/>
          <p:cNvSpPr/>
          <p:nvPr/>
        </p:nvSpPr>
        <p:spPr>
          <a:xfrm>
            <a:off x="7684177" y="517719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Editable text: UMAP 1"/>
          <p:cNvSpPr txBox="1"/>
          <p:nvPr/>
        </p:nvSpPr>
        <p:spPr>
          <a:xfrm>
            <a:off x="1852998" y="5033285"/>
            <a:ext cx="46270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1</a:t>
            </a:r>
          </a:p>
        </p:txBody>
      </p:sp>
      <p:sp>
        <p:nvSpPr>
          <p:cNvPr id="86" name="Editable text: UMAP 2"/>
          <p:cNvSpPr txBox="1"/>
          <p:nvPr/>
        </p:nvSpPr>
        <p:spPr>
          <a:xfrm rot="16200000">
            <a:off x="350862" y="3540776"/>
            <a:ext cx="457411" cy="1534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2</a:t>
            </a:r>
          </a:p>
        </p:txBody>
      </p:sp>
      <p:sp>
        <p:nvSpPr>
          <p:cNvPr id="87" name="Editable text: UMAP 1"/>
          <p:cNvSpPr txBox="1"/>
          <p:nvPr/>
        </p:nvSpPr>
        <p:spPr>
          <a:xfrm>
            <a:off x="5681286" y="5033285"/>
            <a:ext cx="46270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1</a:t>
            </a:r>
          </a:p>
        </p:txBody>
      </p:sp>
      <p:sp>
        <p:nvSpPr>
          <p:cNvPr id="88" name="Editable text: UMAP 2"/>
          <p:cNvSpPr txBox="1"/>
          <p:nvPr/>
        </p:nvSpPr>
        <p:spPr>
          <a:xfrm rot="16200000">
            <a:off x="4179150" y="3540776"/>
            <a:ext cx="457411" cy="1534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2</a:t>
            </a:r>
          </a:p>
        </p:txBody>
      </p:sp>
      <p:sp>
        <p:nvSpPr>
          <p:cNvPr id="89" name="Editable text: 0.0"/>
          <p:cNvSpPr txBox="1"/>
          <p:nvPr/>
        </p:nvSpPr>
        <p:spPr>
          <a:xfrm>
            <a:off x="3825536" y="4640530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0.0</a:t>
            </a:r>
          </a:p>
        </p:txBody>
      </p:sp>
      <p:sp>
        <p:nvSpPr>
          <p:cNvPr id="90" name="Editable text: 0.5"/>
          <p:cNvSpPr txBox="1"/>
          <p:nvPr/>
        </p:nvSpPr>
        <p:spPr>
          <a:xfrm>
            <a:off x="3825536" y="4232064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0.5</a:t>
            </a:r>
          </a:p>
        </p:txBody>
      </p:sp>
      <p:sp>
        <p:nvSpPr>
          <p:cNvPr id="91" name="Editable text: 1.0"/>
          <p:cNvSpPr txBox="1"/>
          <p:nvPr/>
        </p:nvSpPr>
        <p:spPr>
          <a:xfrm>
            <a:off x="3825536" y="3823598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1.0</a:t>
            </a:r>
          </a:p>
        </p:txBody>
      </p:sp>
      <p:sp>
        <p:nvSpPr>
          <p:cNvPr id="92" name="Editable text: 1.5"/>
          <p:cNvSpPr txBox="1"/>
          <p:nvPr/>
        </p:nvSpPr>
        <p:spPr>
          <a:xfrm>
            <a:off x="3825536" y="3415132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1.5</a:t>
            </a:r>
          </a:p>
        </p:txBody>
      </p:sp>
      <p:sp>
        <p:nvSpPr>
          <p:cNvPr id="93" name="Editable text: 2.0"/>
          <p:cNvSpPr txBox="1"/>
          <p:nvPr/>
        </p:nvSpPr>
        <p:spPr>
          <a:xfrm>
            <a:off x="3825536" y="3006666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2.0</a:t>
            </a:r>
          </a:p>
        </p:txBody>
      </p:sp>
      <p:sp>
        <p:nvSpPr>
          <p:cNvPr id="94" name="Editable text: SLC6A6 · log1p(CP10K)"/>
          <p:cNvSpPr txBox="1"/>
          <p:nvPr/>
        </p:nvSpPr>
        <p:spPr>
          <a:xfrm rot="16200000">
            <a:off x="3527361" y="3653118"/>
            <a:ext cx="1021738" cy="1304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SLC6A6 · log1p(CP10K)</a:t>
            </a:r>
          </a:p>
        </p:txBody>
      </p:sp>
      <p:sp>
        <p:nvSpPr>
          <p:cNvPr id="95" name="Editable text: 参照"/>
          <p:cNvSpPr txBox="1"/>
          <p:nvPr/>
        </p:nvSpPr>
        <p:spPr>
          <a:xfrm>
            <a:off x="10613051" y="4327933"/>
            <a:ext cx="2074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参照</a:t>
            </a:r>
          </a:p>
        </p:txBody>
      </p:sp>
      <p:sp>
        <p:nvSpPr>
          <p:cNvPr id="96" name="Editable text: 目标"/>
          <p:cNvSpPr txBox="1"/>
          <p:nvPr/>
        </p:nvSpPr>
        <p:spPr>
          <a:xfrm>
            <a:off x="11443630" y="4327933"/>
            <a:ext cx="2074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目标</a:t>
            </a:r>
          </a:p>
        </p:txBody>
      </p:sp>
      <p:sp>
        <p:nvSpPr>
          <p:cNvPr id="97" name="Editable text: 0.0"/>
          <p:cNvSpPr txBox="1"/>
          <p:nvPr/>
        </p:nvSpPr>
        <p:spPr>
          <a:xfrm>
            <a:off x="10270776" y="4235908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0.0</a:t>
            </a:r>
          </a:p>
        </p:txBody>
      </p:sp>
      <p:sp>
        <p:nvSpPr>
          <p:cNvPr id="98" name="Editable text: 0.1"/>
          <p:cNvSpPr txBox="1"/>
          <p:nvPr/>
        </p:nvSpPr>
        <p:spPr>
          <a:xfrm>
            <a:off x="10270776" y="3896778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0.1</a:t>
            </a:r>
          </a:p>
        </p:txBody>
      </p:sp>
      <p:sp>
        <p:nvSpPr>
          <p:cNvPr id="99" name="Editable text: 0.2"/>
          <p:cNvSpPr txBox="1"/>
          <p:nvPr/>
        </p:nvSpPr>
        <p:spPr>
          <a:xfrm>
            <a:off x="10270776" y="3557647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0.2</a:t>
            </a:r>
          </a:p>
        </p:txBody>
      </p:sp>
      <p:sp>
        <p:nvSpPr>
          <p:cNvPr id="100" name="Editable text: 0.3"/>
          <p:cNvSpPr txBox="1"/>
          <p:nvPr/>
        </p:nvSpPr>
        <p:spPr>
          <a:xfrm>
            <a:off x="10270776" y="3218516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0.3</a:t>
            </a:r>
          </a:p>
        </p:txBody>
      </p:sp>
      <p:sp>
        <p:nvSpPr>
          <p:cNvPr id="101" name="Editable text: 0.4"/>
          <p:cNvSpPr txBox="1"/>
          <p:nvPr/>
        </p:nvSpPr>
        <p:spPr>
          <a:xfrm>
            <a:off x="10270776" y="2879386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0.4</a:t>
            </a:r>
          </a:p>
        </p:txBody>
      </p:sp>
      <p:sp>
        <p:nvSpPr>
          <p:cNvPr id="102" name="Editable text: 患者平均表达"/>
          <p:cNvSpPr txBox="1"/>
          <p:nvPr/>
        </p:nvSpPr>
        <p:spPr>
          <a:xfrm rot="16200000">
            <a:off x="9881081" y="3480366"/>
            <a:ext cx="575733" cy="1304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患者平均表达</a:t>
            </a:r>
          </a:p>
        </p:txBody>
      </p:sp>
      <p:sp>
        <p:nvSpPr>
          <p:cNvPr id="104" name="Editable text: PRAD：SLC6A6 的全细胞定位与同患者证据"/>
          <p:cNvSpPr txBox="1"/>
          <p:nvPr/>
        </p:nvSpPr>
        <p:spPr>
          <a:xfrm>
            <a:off x="609599" y="951108"/>
            <a:ext cx="5837078" cy="434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PRAD：SLC6A6 的全细胞定位与同患者证据</a:t>
            </a:r>
          </a:p>
        </p:txBody>
      </p:sp>
      <p:sp>
        <p:nvSpPr>
          <p:cNvPr id="105" name="Editable text: PRAD24 · cellxgene · 全部细胞 · 肿瘤及邻近组织 · 68"/>
          <p:cNvSpPr txBox="1"/>
          <p:nvPr/>
        </p:nvSpPr>
        <p:spPr>
          <a:xfrm>
            <a:off x="609599" y="1429933"/>
            <a:ext cx="3764431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PRAD24 · cellxgene · 全部细胞 · 肿瘤及邻近组织 · 68,322 个细胞</a:t>
            </a:r>
          </a:p>
        </p:txBody>
      </p:sp>
      <p:sp>
        <p:nvSpPr>
          <p:cNvPr id="106" name="Editable text: SLC6A6 expression"/>
          <p:cNvSpPr txBox="1"/>
          <p:nvPr/>
        </p:nvSpPr>
        <p:spPr>
          <a:xfrm>
            <a:off x="585216" y="1882394"/>
            <a:ext cx="1579999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SLC6A6 expression</a:t>
            </a:r>
          </a:p>
        </p:txBody>
      </p:sp>
      <p:sp>
        <p:nvSpPr>
          <p:cNvPr id="107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Cell types</a:t>
            </a:r>
          </a:p>
        </p:txBody>
      </p:sp>
      <p:sp>
        <p:nvSpPr>
          <p:cNvPr id="108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同患者证据</a:t>
            </a:r>
          </a:p>
        </p:txBody>
      </p:sp>
      <p:sp>
        <p:nvSpPr>
          <p:cNvPr id="109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Cell type (n cells)</a:t>
            </a:r>
          </a:p>
        </p:txBody>
      </p:sp>
      <p:sp>
        <p:nvSpPr>
          <p:cNvPr id="110" name="Editable text: Myeloid"/>
          <p:cNvSpPr txBox="1"/>
          <p:nvPr/>
        </p:nvSpPr>
        <p:spPr>
          <a:xfrm>
            <a:off x="7827263" y="2493530"/>
            <a:ext cx="398676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1" lang="zh-CN">
                <a:solidFill>
                  <a:srgbClr val="EF8A0C"/>
                </a:solidFill>
                <a:latin typeface="Microsoft YaHei"/>
                <a:ea typeface="微软雅黑"/>
                <a:cs typeface="Microsoft YaHei"/>
              </a:defRPr>
            </a:pPr>
            <a:r>
              <a:t>Myeloid</a:t>
            </a:r>
          </a:p>
        </p:txBody>
      </p:sp>
      <p:sp>
        <p:nvSpPr>
          <p:cNvPr id="111" name="Editable text: 2,743"/>
          <p:cNvSpPr txBox="1"/>
          <p:nvPr/>
        </p:nvSpPr>
        <p:spPr>
          <a:xfrm>
            <a:off x="9604336" y="2496053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2,743</a:t>
            </a:r>
          </a:p>
        </p:txBody>
      </p:sp>
      <p:sp>
        <p:nvSpPr>
          <p:cNvPr id="112" name="Editable text: Altered benign epi."/>
          <p:cNvSpPr txBox="1"/>
          <p:nvPr/>
        </p:nvSpPr>
        <p:spPr>
          <a:xfrm>
            <a:off x="7827263" y="2712986"/>
            <a:ext cx="841285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Altered benign epi.</a:t>
            </a:r>
          </a:p>
        </p:txBody>
      </p:sp>
      <p:sp>
        <p:nvSpPr>
          <p:cNvPr id="113" name="Editable text: 10,920"/>
          <p:cNvSpPr txBox="1"/>
          <p:nvPr/>
        </p:nvSpPr>
        <p:spPr>
          <a:xfrm>
            <a:off x="9553900" y="2715510"/>
            <a:ext cx="310409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10,920</a:t>
            </a:r>
          </a:p>
        </p:txBody>
      </p:sp>
      <p:sp>
        <p:nvSpPr>
          <p:cNvPr id="114" name="Editable text: B cells"/>
          <p:cNvSpPr txBox="1"/>
          <p:nvPr/>
        </p:nvSpPr>
        <p:spPr>
          <a:xfrm>
            <a:off x="7827263" y="2932690"/>
            <a:ext cx="30182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B cells</a:t>
            </a:r>
          </a:p>
        </p:txBody>
      </p:sp>
      <p:sp>
        <p:nvSpPr>
          <p:cNvPr id="115" name="Editable text: 706"/>
          <p:cNvSpPr txBox="1"/>
          <p:nvPr/>
        </p:nvSpPr>
        <p:spPr>
          <a:xfrm>
            <a:off x="9675443" y="2934966"/>
            <a:ext cx="189280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706</a:t>
            </a:r>
          </a:p>
        </p:txBody>
      </p:sp>
      <p:sp>
        <p:nvSpPr>
          <p:cNvPr id="116" name="Editable text: CAFs"/>
          <p:cNvSpPr txBox="1"/>
          <p:nvPr/>
        </p:nvSpPr>
        <p:spPr>
          <a:xfrm>
            <a:off x="7827263" y="3152146"/>
            <a:ext cx="247450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CAFs</a:t>
            </a:r>
          </a:p>
        </p:txBody>
      </p:sp>
      <p:sp>
        <p:nvSpPr>
          <p:cNvPr id="117" name="Editable text: 2,552"/>
          <p:cNvSpPr txBox="1"/>
          <p:nvPr/>
        </p:nvSpPr>
        <p:spPr>
          <a:xfrm>
            <a:off x="9604336" y="3154422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2,552</a:t>
            </a:r>
          </a:p>
        </p:txBody>
      </p:sp>
      <p:sp>
        <p:nvSpPr>
          <p:cNvPr id="118" name="Editable text: Cycling"/>
          <p:cNvSpPr txBox="1"/>
          <p:nvPr/>
        </p:nvSpPr>
        <p:spPr>
          <a:xfrm>
            <a:off x="7827263" y="3371354"/>
            <a:ext cx="345502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Cycling</a:t>
            </a:r>
          </a:p>
        </p:txBody>
      </p:sp>
      <p:sp>
        <p:nvSpPr>
          <p:cNvPr id="119" name="Editable text: 268"/>
          <p:cNvSpPr txBox="1"/>
          <p:nvPr/>
        </p:nvSpPr>
        <p:spPr>
          <a:xfrm>
            <a:off x="9675443" y="3373877"/>
            <a:ext cx="189280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268</a:t>
            </a:r>
          </a:p>
        </p:txBody>
      </p:sp>
      <p:sp>
        <p:nvSpPr>
          <p:cNvPr id="120" name="Editable text: Endothelial"/>
          <p:cNvSpPr txBox="1"/>
          <p:nvPr/>
        </p:nvSpPr>
        <p:spPr>
          <a:xfrm>
            <a:off x="7827263" y="3591058"/>
            <a:ext cx="50939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Endothelial</a:t>
            </a:r>
          </a:p>
        </p:txBody>
      </p:sp>
      <p:sp>
        <p:nvSpPr>
          <p:cNvPr id="121" name="Editable text: 14,177"/>
          <p:cNvSpPr txBox="1"/>
          <p:nvPr/>
        </p:nvSpPr>
        <p:spPr>
          <a:xfrm>
            <a:off x="9553900" y="3593334"/>
            <a:ext cx="310409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14,177</a:t>
            </a:r>
          </a:p>
        </p:txBody>
      </p:sp>
      <p:sp>
        <p:nvSpPr>
          <p:cNvPr id="122" name="Editable text: Malignant epithelial"/>
          <p:cNvSpPr txBox="1"/>
          <p:nvPr/>
        </p:nvSpPr>
        <p:spPr>
          <a:xfrm>
            <a:off x="7827263" y="3810266"/>
            <a:ext cx="877099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Malignant epithelial</a:t>
            </a:r>
          </a:p>
        </p:txBody>
      </p:sp>
      <p:sp>
        <p:nvSpPr>
          <p:cNvPr id="123" name="Editable text: 3,802"/>
          <p:cNvSpPr txBox="1"/>
          <p:nvPr/>
        </p:nvSpPr>
        <p:spPr>
          <a:xfrm>
            <a:off x="9604336" y="3812790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3,802</a:t>
            </a:r>
          </a:p>
        </p:txBody>
      </p:sp>
      <p:sp>
        <p:nvSpPr>
          <p:cNvPr id="124" name="Editable text: Normal epithelial"/>
          <p:cNvSpPr txBox="1"/>
          <p:nvPr/>
        </p:nvSpPr>
        <p:spPr>
          <a:xfrm>
            <a:off x="7827263" y="4029970"/>
            <a:ext cx="765111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Normal epithelial</a:t>
            </a:r>
          </a:p>
        </p:txBody>
      </p:sp>
      <p:sp>
        <p:nvSpPr>
          <p:cNvPr id="125" name="Editable text: 6,136"/>
          <p:cNvSpPr txBox="1"/>
          <p:nvPr/>
        </p:nvSpPr>
        <p:spPr>
          <a:xfrm>
            <a:off x="9604336" y="4032246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6,136</a:t>
            </a:r>
          </a:p>
        </p:txBody>
      </p:sp>
      <p:sp>
        <p:nvSpPr>
          <p:cNvPr id="126" name="Editable text: PNS glial"/>
          <p:cNvSpPr txBox="1"/>
          <p:nvPr/>
        </p:nvSpPr>
        <p:spPr>
          <a:xfrm>
            <a:off x="7827263" y="4249178"/>
            <a:ext cx="416282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PNS glial</a:t>
            </a:r>
          </a:p>
        </p:txBody>
      </p:sp>
      <p:sp>
        <p:nvSpPr>
          <p:cNvPr id="127" name="Editable text: 1,096"/>
          <p:cNvSpPr txBox="1"/>
          <p:nvPr/>
        </p:nvSpPr>
        <p:spPr>
          <a:xfrm>
            <a:off x="9604336" y="4251701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1,096</a:t>
            </a:r>
          </a:p>
        </p:txBody>
      </p:sp>
      <p:sp>
        <p:nvSpPr>
          <p:cNvPr id="128" name="Editable text: Plasma cells"/>
          <p:cNvSpPr txBox="1"/>
          <p:nvPr/>
        </p:nvSpPr>
        <p:spPr>
          <a:xfrm>
            <a:off x="7827263" y="4468882"/>
            <a:ext cx="544003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Plasma cells</a:t>
            </a:r>
          </a:p>
        </p:txBody>
      </p:sp>
      <p:sp>
        <p:nvSpPr>
          <p:cNvPr id="129" name="Editable text: 91"/>
          <p:cNvSpPr txBox="1"/>
          <p:nvPr/>
        </p:nvSpPr>
        <p:spPr>
          <a:xfrm>
            <a:off x="9725879" y="4471158"/>
            <a:ext cx="13904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91</a:t>
            </a:r>
          </a:p>
        </p:txBody>
      </p:sp>
      <p:sp>
        <p:nvSpPr>
          <p:cNvPr id="130" name="Editable text: SMCs"/>
          <p:cNvSpPr txBox="1"/>
          <p:nvPr/>
        </p:nvSpPr>
        <p:spPr>
          <a:xfrm>
            <a:off x="7827263" y="4688338"/>
            <a:ext cx="275471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SMCs</a:t>
            </a:r>
          </a:p>
        </p:txBody>
      </p:sp>
      <p:sp>
        <p:nvSpPr>
          <p:cNvPr id="131" name="Editable text: 6,709"/>
          <p:cNvSpPr txBox="1"/>
          <p:nvPr/>
        </p:nvSpPr>
        <p:spPr>
          <a:xfrm>
            <a:off x="9604336" y="469061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6,709</a:t>
            </a:r>
          </a:p>
        </p:txBody>
      </p:sp>
      <p:sp>
        <p:nvSpPr>
          <p:cNvPr id="132" name="Editable text: T cells"/>
          <p:cNvSpPr txBox="1"/>
          <p:nvPr/>
        </p:nvSpPr>
        <p:spPr>
          <a:xfrm>
            <a:off x="7827263" y="4907794"/>
            <a:ext cx="297080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T cells</a:t>
            </a:r>
          </a:p>
        </p:txBody>
      </p:sp>
      <p:sp>
        <p:nvSpPr>
          <p:cNvPr id="133" name="Editable text: 19,033"/>
          <p:cNvSpPr txBox="1"/>
          <p:nvPr/>
        </p:nvSpPr>
        <p:spPr>
          <a:xfrm>
            <a:off x="9553900" y="4910070"/>
            <a:ext cx="310409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19,033</a:t>
            </a:r>
          </a:p>
        </p:txBody>
      </p:sp>
      <p:sp>
        <p:nvSpPr>
          <p:cNvPr id="134" name="Editable text: Unassigned"/>
          <p:cNvSpPr txBox="1"/>
          <p:nvPr/>
        </p:nvSpPr>
        <p:spPr>
          <a:xfrm>
            <a:off x="7827263" y="5127002"/>
            <a:ext cx="52889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Unassigned</a:t>
            </a:r>
          </a:p>
        </p:txBody>
      </p:sp>
      <p:sp>
        <p:nvSpPr>
          <p:cNvPr id="135" name="Editable text: 89"/>
          <p:cNvSpPr txBox="1"/>
          <p:nvPr/>
        </p:nvSpPr>
        <p:spPr>
          <a:xfrm>
            <a:off x="9725879" y="5129526"/>
            <a:ext cx="13904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89</a:t>
            </a:r>
          </a:p>
        </p:txBody>
      </p:sp>
      <p:sp>
        <p:nvSpPr>
          <p:cNvPr id="136" name="Editable text: Myeloid：红圈仅作位置提示"/>
          <p:cNvSpPr txBox="1"/>
          <p:nvPr/>
        </p:nvSpPr>
        <p:spPr>
          <a:xfrm>
            <a:off x="5238657" y="5322550"/>
            <a:ext cx="1269281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DD3434"/>
                </a:solidFill>
                <a:latin typeface="Microsoft YaHei"/>
                <a:ea typeface="微软雅黑"/>
                <a:cs typeface="Microsoft YaHei"/>
              </a:defRPr>
            </a:pPr>
            <a:r>
              <a:t>Myeloid：红圈仅作位置提示</a:t>
            </a:r>
          </a:p>
        </p:txBody>
      </p:sp>
      <p:sp>
        <p:nvSpPr>
          <p:cNvPr id="137" name="Editable text: 色标上限 2.40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24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色标上限 2.40 · 阳性值第99百分位</a:t>
            </a:r>
          </a:p>
        </p:txBody>
      </p:sp>
      <p:sp>
        <p:nvSpPr>
          <p:cNvPr id="138" name="Editable text: 配对 P = 0.6377"/>
          <p:cNvSpPr txBox="1"/>
          <p:nvPr/>
        </p:nvSpPr>
        <p:spPr>
          <a:xfrm>
            <a:off x="10663621" y="2281425"/>
            <a:ext cx="86074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配对 P = 0.6377</a:t>
            </a:r>
          </a:p>
        </p:txBody>
      </p:sp>
      <p:sp>
        <p:nvSpPr>
          <p:cNvPr id="139" name="Editable text: 4 / 11"/>
          <p:cNvSpPr txBox="1"/>
          <p:nvPr/>
        </p:nvSpPr>
        <p:spPr>
          <a:xfrm>
            <a:off x="10724055" y="4515203"/>
            <a:ext cx="855980" cy="386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4 / 11</a:t>
            </a:r>
          </a:p>
        </p:txBody>
      </p:sp>
      <p:sp>
        <p:nvSpPr>
          <p:cNvPr id="140" name="Editable text: 患者目标组表达更高"/>
          <p:cNvSpPr txBox="1"/>
          <p:nvPr/>
        </p:nvSpPr>
        <p:spPr>
          <a:xfrm>
            <a:off x="10630376" y="4896599"/>
            <a:ext cx="980122" cy="15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患者目标组表达更高</a:t>
            </a:r>
          </a:p>
        </p:txBody>
      </p:sp>
      <p:sp>
        <p:nvSpPr>
          <p:cNvPr id="141" name="Editable text: 平均差 -0.009"/>
          <p:cNvSpPr txBox="1"/>
          <p:nvPr/>
        </p:nvSpPr>
        <p:spPr>
          <a:xfrm>
            <a:off x="10777137" y="5208622"/>
            <a:ext cx="680063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平均差 -0.009</a:t>
            </a:r>
          </a:p>
        </p:txBody>
      </p:sp>
      <p:sp>
        <p:nvSpPr>
          <p:cNvPr id="142" name="Editable text: 参照：癌旁组织髓系"/>
          <p:cNvSpPr txBox="1"/>
          <p:nvPr/>
        </p:nvSpPr>
        <p:spPr>
          <a:xfrm>
            <a:off x="10253471" y="5553064"/>
            <a:ext cx="850106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参照：癌旁组织髓系</a:t>
            </a:r>
          </a:p>
        </p:txBody>
      </p:sp>
      <p:sp>
        <p:nvSpPr>
          <p:cNvPr id="143" name="Editable text: 目标：肿瘤组织髓系"/>
          <p:cNvSpPr txBox="1"/>
          <p:nvPr/>
        </p:nvSpPr>
        <p:spPr>
          <a:xfrm>
            <a:off x="10253471" y="5745089"/>
            <a:ext cx="850106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目标：肿瘤组织髓系</a:t>
            </a:r>
          </a:p>
        </p:txBody>
      </p:sp>
      <p:sp>
        <p:nvSpPr>
          <p:cNvPr id="144" name="Editable text: 髓系肿瘤—癌旁配对未显著；组织 RNA 下降不能直接归于髓系。"/>
          <p:cNvSpPr txBox="1"/>
          <p:nvPr/>
        </p:nvSpPr>
        <p:spPr>
          <a:xfrm>
            <a:off x="609599" y="6115405"/>
            <a:ext cx="4359655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髓系肿瘤—癌旁配对未显著；组织 RNA 下降不能直接归于髓系。</a:t>
            </a:r>
          </a:p>
        </p:txBody>
      </p:sp>
      <p:sp>
        <p:nvSpPr>
          <p:cNvPr id="145" name="Editable text: 同类髓系按作者供者配对；不进行恶性髓系推断。"/>
          <p:cNvSpPr txBox="1"/>
          <p:nvPr/>
        </p:nvSpPr>
        <p:spPr>
          <a:xfrm>
            <a:off x="609599" y="6417173"/>
            <a:ext cx="2019564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同类髓系按作者供者配对；不进行恶性髓系推断。</a:t>
            </a:r>
          </a:p>
        </p:txBody>
      </p:sp>
      <p:pic>
        <p:nvPicPr>
          <p:cNvPr id="146" name="Picture 14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47" name="TextBox 146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148" name="Connector 147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/>
          <p:cNvSpPr txBox="1"/>
          <p:nvPr/>
        </p:nvSpPr>
        <p:spPr>
          <a:xfrm>
            <a:off x="11082528" y="6446520"/>
            <a:ext cx="47548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609599" y="5822441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text: UCKL1：将尿苷转为 UMP，参与补救合成"/>
          <p:cNvSpPr txBox="1"/>
          <p:nvPr/>
        </p:nvSpPr>
        <p:spPr>
          <a:xfrm>
            <a:off x="609599" y="974850"/>
            <a:ext cx="5163343" cy="4021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UCKL1：将尿苷转为 UMP，参与补救合成</a:t>
            </a:r>
          </a:p>
        </p:txBody>
      </p:sp>
      <p:sp>
        <p:nvSpPr>
          <p:cNvPr id="11" name="Editable text: 01  已知生化作用"/>
          <p:cNvSpPr txBox="1"/>
          <p:nvPr/>
        </p:nvSpPr>
        <p:spPr>
          <a:xfrm>
            <a:off x="609599" y="1554835"/>
            <a:ext cx="1226820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01  已知生化作用</a:t>
            </a:r>
          </a:p>
        </p:txBody>
      </p:sp>
      <p:sp>
        <p:nvSpPr>
          <p:cNvPr id="17" name="Editable text: 02  CAMP 中实际观察到的结果"/>
          <p:cNvSpPr txBox="1"/>
          <p:nvPr/>
        </p:nvSpPr>
        <p:spPr>
          <a:xfrm>
            <a:off x="609599" y="3488791"/>
            <a:ext cx="2176272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02  CAMP 中实际观察到的结果</a:t>
            </a:r>
          </a:p>
        </p:txBody>
      </p:sp>
      <p:sp>
        <p:nvSpPr>
          <p:cNvPr id="18" name="Editable text: 代谢物变化"/>
          <p:cNvSpPr txBox="1"/>
          <p:nvPr/>
        </p:nvSpPr>
        <p:spPr>
          <a:xfrm>
            <a:off x="2582121" y="3847032"/>
            <a:ext cx="74982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代谢物变化</a:t>
            </a:r>
          </a:p>
        </p:txBody>
      </p:sp>
      <p:sp>
        <p:nvSpPr>
          <p:cNvPr id="19" name="Editable text: 基因 RNA 变化"/>
          <p:cNvSpPr txBox="1"/>
          <p:nvPr/>
        </p:nvSpPr>
        <p:spPr>
          <a:xfrm>
            <a:off x="5499731" y="3847032"/>
            <a:ext cx="1010412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基因 RNA 变化</a:t>
            </a:r>
          </a:p>
        </p:txBody>
      </p:sp>
      <p:sp>
        <p:nvSpPr>
          <p:cNvPr id="20" name="Editable text: 肿瘤样本内关联"/>
          <p:cNvSpPr txBox="1"/>
          <p:nvPr/>
        </p:nvSpPr>
        <p:spPr>
          <a:xfrm>
            <a:off x="9028218" y="3847032"/>
            <a:ext cx="1024995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肿瘤样本内关联</a:t>
            </a:r>
          </a:p>
        </p:txBody>
      </p:sp>
      <p:sp>
        <p:nvSpPr>
          <p:cNvPr id="21" name="Editable text: COAD"/>
          <p:cNvSpPr txBox="1"/>
          <p:nvPr/>
        </p:nvSpPr>
        <p:spPr>
          <a:xfrm>
            <a:off x="853439" y="4557013"/>
            <a:ext cx="548779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COAD</a:t>
            </a:r>
          </a:p>
        </p:txBody>
      </p:sp>
      <p:sp>
        <p:nvSpPr>
          <p:cNvPr id="22" name="Editable text: 尿苷 ↓"/>
          <p:cNvSpPr txBox="1"/>
          <p:nvPr/>
        </p:nvSpPr>
        <p:spPr>
          <a:xfrm>
            <a:off x="2644794" y="4454666"/>
            <a:ext cx="653118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尿苷 ↓</a:t>
            </a:r>
          </a:p>
        </p:txBody>
      </p:sp>
      <p:sp>
        <p:nvSpPr>
          <p:cNvPr id="23" name="Editable text: 配对 P = 0.000446"/>
          <p:cNvSpPr txBox="1"/>
          <p:nvPr/>
        </p:nvSpPr>
        <p:spPr>
          <a:xfrm>
            <a:off x="2449003" y="4816091"/>
            <a:ext cx="1004014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配对 P = 0.000446</a:t>
            </a:r>
          </a:p>
        </p:txBody>
      </p:sp>
      <p:sp>
        <p:nvSpPr>
          <p:cNvPr id="24" name="Editable text: UCKL1 ↑"/>
          <p:cNvSpPr txBox="1"/>
          <p:nvPr/>
        </p:nvSpPr>
        <p:spPr>
          <a:xfrm>
            <a:off x="5561412" y="4454666"/>
            <a:ext cx="915733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UCKL1 ↑</a:t>
            </a:r>
          </a:p>
        </p:txBody>
      </p:sp>
      <p:sp>
        <p:nvSpPr>
          <p:cNvPr id="25" name="Editable text: 配对 P = 2.96e-05"/>
          <p:cNvSpPr txBox="1"/>
          <p:nvPr/>
        </p:nvSpPr>
        <p:spPr>
          <a:xfrm>
            <a:off x="5506594" y="4816091"/>
            <a:ext cx="984900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配对 P = 2.96e-05</a:t>
            </a:r>
          </a:p>
        </p:txBody>
      </p:sp>
      <p:sp>
        <p:nvSpPr>
          <p:cNvPr id="26" name="Editable text: ρ = -0.491   P = 0.0041"/>
          <p:cNvSpPr txBox="1"/>
          <p:nvPr/>
        </p:nvSpPr>
        <p:spPr>
          <a:xfrm>
            <a:off x="8598022" y="4488434"/>
            <a:ext cx="1895634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ρ = -0.491   P = 0.0041</a:t>
            </a:r>
          </a:p>
        </p:txBody>
      </p:sp>
      <p:sp>
        <p:nvSpPr>
          <p:cNvPr id="27" name="Editable text: 33 个肿瘤样本 · Spearman 相关"/>
          <p:cNvSpPr txBox="1"/>
          <p:nvPr/>
        </p:nvSpPr>
        <p:spPr>
          <a:xfrm>
            <a:off x="8708320" y="4818075"/>
            <a:ext cx="1652374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33 个肿瘤样本 · Spearman 相关</a:t>
            </a:r>
          </a:p>
        </p:txBody>
      </p:sp>
      <p:sp>
        <p:nvSpPr>
          <p:cNvPr id="28" name="Editable text: 对应线索：尿苷降低、UCKL1 升高且负相关；尚未直接测量尿苷补救通量。"/>
          <p:cNvSpPr txBox="1"/>
          <p:nvPr/>
        </p:nvSpPr>
        <p:spPr>
          <a:xfrm>
            <a:off x="609599" y="5970217"/>
            <a:ext cx="4865465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5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对应线索：尿苷降低、UCKL1 升高且负相关；尚未直接测量尿苷补救通量。</a:t>
            </a:r>
          </a:p>
        </p:txBody>
      </p:sp>
      <p:sp>
        <p:nvSpPr>
          <p:cNvPr id="29" name="Editable text: 生化注释提供映射依据；RNA 水平与相关性不等于酶活、转运量或因果。"/>
          <p:cNvSpPr txBox="1"/>
          <p:nvPr/>
        </p:nvSpPr>
        <p:spPr>
          <a:xfrm>
            <a:off x="609599" y="6293356"/>
            <a:ext cx="3483610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生化注释提供映射依据；RNA 水平与相关性不等于酶活、转运量或因果。</a:t>
            </a:r>
          </a:p>
        </p:txBody>
      </p:sp>
      <p:sp>
        <p:nvSpPr>
          <p:cNvPr id="30" name="Editable text: 来源：UniProt Q9NWZ5 · RHEA:16825（人类，已审阅）；反"/>
          <p:cNvSpPr txBox="1"/>
          <p:nvPr/>
        </p:nvSpPr>
        <p:spPr>
          <a:xfrm>
            <a:off x="609599" y="6554333"/>
            <a:ext cx="3192694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来源：UniProt Q9NWZ5 · RHEA:16825（人类，已审阅）；反应为简化示意。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1082528" y="6446520"/>
            <a:ext cx="47548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24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" y="1847088"/>
            <a:ext cx="10972800" cy="1517904"/>
          </a:xfrm>
          <a:prstGeom prst="rect">
            <a:avLst/>
          </a:prstGeom>
          <a:solidFill>
            <a:srgbClr val="F3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Imagegen conceptual cutout: nucleoside" descr="scientific_cutouts.png"/>
          <p:cNvPicPr>
            <a:picLocks noChangeAspect="1"/>
          </p:cNvPicPr>
          <p:nvPr/>
        </p:nvPicPr>
        <p:blipFill>
          <a:blip r:embed="rId5"/>
          <a:srcRect l="4232" r="70703" t="3906" b="54102"/>
          <a:stretch>
            <a:fillRect/>
          </a:stretch>
        </p:blipFill>
        <p:spPr>
          <a:xfrm>
            <a:off x="1631672" y="1929384"/>
            <a:ext cx="851455" cy="950976"/>
          </a:xfrm>
          <a:prstGeom prst="rect">
            <a:avLst/>
          </a:prstGeom>
        </p:spPr>
      </p:pic>
      <p:pic>
        <p:nvPicPr>
          <p:cNvPr id="38" name="Imagegen conceptual cutout: nucleotide" descr="scientific_cutouts.png"/>
          <p:cNvPicPr>
            <a:picLocks noChangeAspect="1"/>
          </p:cNvPicPr>
          <p:nvPr/>
        </p:nvPicPr>
        <p:blipFill>
          <a:blip r:embed="rId5"/>
          <a:srcRect l="33854" r="35221" t="4395" b="54102"/>
          <a:stretch>
            <a:fillRect/>
          </a:stretch>
        </p:blipFill>
        <p:spPr>
          <a:xfrm>
            <a:off x="8321040" y="1934437"/>
            <a:ext cx="1051560" cy="940869"/>
          </a:xfrm>
          <a:prstGeom prst="rect">
            <a:avLst/>
          </a:prstGeom>
        </p:spPr>
      </p:pic>
      <p:pic>
        <p:nvPicPr>
          <p:cNvPr id="39" name="Imagegen conceptual cutout: enzyme" descr="scientific_cutouts.png"/>
          <p:cNvPicPr>
            <a:picLocks noChangeAspect="1"/>
          </p:cNvPicPr>
          <p:nvPr/>
        </p:nvPicPr>
        <p:blipFill>
          <a:blip r:embed="rId5"/>
          <a:srcRect l="68034" r="716" t="1953" b="52148"/>
          <a:stretch>
            <a:fillRect/>
          </a:stretch>
        </p:blipFill>
        <p:spPr>
          <a:xfrm>
            <a:off x="5685525" y="1901952"/>
            <a:ext cx="635021" cy="62179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688336" y="2231136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22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尿苷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2231136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22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UMP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599432" y="2802636"/>
            <a:ext cx="2944368" cy="0"/>
          </a:xfrm>
          <a:prstGeom prst="line">
            <a:avLst/>
          </a:prstGeom>
          <a:ln w="22860">
            <a:solidFill>
              <a:srgbClr val="0055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400800" y="2121408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4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UCKL1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27448" y="2898648"/>
            <a:ext cx="2697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ATP → ADP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63040" y="2916936"/>
            <a:ext cx="3182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2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核苷底物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48472" y="2916936"/>
            <a:ext cx="258775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2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增加一个磷酸基团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88720" y="3136392"/>
            <a:ext cx="9921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04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尿苷 → UMP：进入嘧啶核苷补救合成；也可催化胞苷 → CMP。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826466" y="2215133"/>
            <a:ext cx="2467963" cy="2804922"/>
          </a:xfrm>
          <a:custGeom>
            <a:avLst/>
            <a:gdLst/>
            <a:ahLst/>
            <a:cxnLst/>
            <a:rect l="0" t="0" r="r" b="b"/>
            <a:pathLst>
              <a:path w="233193" h="265032">
                <a:moveTo>
                  <a:pt x="0" y="0"/>
                </a:moveTo>
                <a:lnTo>
                  <a:pt x="233193" y="0"/>
                </a:lnTo>
                <a:lnTo>
                  <a:pt x="23319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009" y="2303318"/>
            <a:ext cx="2317172" cy="2632363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826466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826466" y="5020055"/>
            <a:ext cx="2467963" cy="105"/>
          </a:xfrm>
          <a:custGeom>
            <a:avLst/>
            <a:gdLst/>
            <a:ahLst/>
            <a:cxnLst/>
            <a:rect l="0" t="0" r="r" b="b"/>
            <a:pathLst>
              <a:path w="233193" h="10">
                <a:moveTo>
                  <a:pt x="0" y="0"/>
                </a:moveTo>
                <a:lnTo>
                  <a:pt x="23319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1495082" y="2287314"/>
            <a:ext cx="473040" cy="1455554"/>
          </a:xfrm>
          <a:custGeom>
            <a:avLst/>
            <a:gdLst/>
            <a:ahLst/>
            <a:cxnLst/>
            <a:rect l="0" t="0" r="r" b="b"/>
            <a:pathLst>
              <a:path w="44697" h="137533">
                <a:moveTo>
                  <a:pt x="22348" y="137533"/>
                </a:moveTo>
                <a:cubicBezTo>
                  <a:pt x="28275" y="137533"/>
                  <a:pt x="33960" y="130287"/>
                  <a:pt x="38151" y="117392"/>
                </a:cubicBezTo>
                <a:cubicBezTo>
                  <a:pt x="42342" y="104496"/>
                  <a:pt x="44697" y="87003"/>
                  <a:pt x="44697" y="68766"/>
                </a:cubicBezTo>
                <a:cubicBezTo>
                  <a:pt x="44697" y="50529"/>
                  <a:pt x="42342" y="33037"/>
                  <a:pt x="38151" y="20141"/>
                </a:cubicBezTo>
                <a:cubicBezTo>
                  <a:pt x="33960" y="7246"/>
                  <a:pt x="28275" y="0"/>
                  <a:pt x="22348" y="0"/>
                </a:cubicBezTo>
                <a:cubicBezTo>
                  <a:pt x="16422" y="0"/>
                  <a:pt x="10737" y="7246"/>
                  <a:pt x="6546" y="20141"/>
                </a:cubicBezTo>
                <a:cubicBezTo>
                  <a:pt x="2355" y="33037"/>
                  <a:pt x="0" y="50529"/>
                  <a:pt x="0" y="68766"/>
                </a:cubicBezTo>
                <a:cubicBezTo>
                  <a:pt x="0" y="87003"/>
                  <a:pt x="2355" y="104496"/>
                  <a:pt x="6546" y="117392"/>
                </a:cubicBezTo>
                <a:cubicBezTo>
                  <a:pt x="10737" y="130287"/>
                  <a:pt x="16422" y="137533"/>
                  <a:pt x="22348" y="137533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654753" y="2215133"/>
            <a:ext cx="2467963" cy="2804922"/>
          </a:xfrm>
          <a:custGeom>
            <a:avLst/>
            <a:gdLst/>
            <a:ahLst/>
            <a:cxnLst/>
            <a:rect l="0" t="0" r="r" b="b"/>
            <a:pathLst>
              <a:path w="233193" h="265032">
                <a:moveTo>
                  <a:pt x="0" y="0"/>
                </a:moveTo>
                <a:lnTo>
                  <a:pt x="233193" y="0"/>
                </a:lnTo>
                <a:lnTo>
                  <a:pt x="23319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1327" y="2299854"/>
            <a:ext cx="2317172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654753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654753" y="5020055"/>
            <a:ext cx="2467963" cy="105"/>
          </a:xfrm>
          <a:custGeom>
            <a:avLst/>
            <a:gdLst/>
            <a:ahLst/>
            <a:cxnLst/>
            <a:rect l="0" t="0" r="r" b="b"/>
            <a:pathLst>
              <a:path w="233193" h="10">
                <a:moveTo>
                  <a:pt x="0" y="0"/>
                </a:moveTo>
                <a:lnTo>
                  <a:pt x="23319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5323370" y="2287314"/>
            <a:ext cx="473040" cy="1455554"/>
          </a:xfrm>
          <a:custGeom>
            <a:avLst/>
            <a:gdLst/>
            <a:ahLst/>
            <a:cxnLst/>
            <a:rect l="0" t="0" r="r" b="b"/>
            <a:pathLst>
              <a:path w="44697" h="137533">
                <a:moveTo>
                  <a:pt x="22348" y="137533"/>
                </a:moveTo>
                <a:cubicBezTo>
                  <a:pt x="28275" y="137533"/>
                  <a:pt x="33960" y="130287"/>
                  <a:pt x="38151" y="117392"/>
                </a:cubicBezTo>
                <a:cubicBezTo>
                  <a:pt x="42342" y="104496"/>
                  <a:pt x="44697" y="87003"/>
                  <a:pt x="44697" y="68766"/>
                </a:cubicBezTo>
                <a:cubicBezTo>
                  <a:pt x="44697" y="50529"/>
                  <a:pt x="42342" y="33037"/>
                  <a:pt x="38151" y="20141"/>
                </a:cubicBezTo>
                <a:cubicBezTo>
                  <a:pt x="33960" y="7246"/>
                  <a:pt x="28275" y="0"/>
                  <a:pt x="22348" y="0"/>
                </a:cubicBezTo>
                <a:cubicBezTo>
                  <a:pt x="16422" y="0"/>
                  <a:pt x="10737" y="7246"/>
                  <a:pt x="6546" y="20141"/>
                </a:cubicBezTo>
                <a:cubicBezTo>
                  <a:pt x="2355" y="33037"/>
                  <a:pt x="0" y="50529"/>
                  <a:pt x="0" y="68766"/>
                </a:cubicBezTo>
                <a:cubicBezTo>
                  <a:pt x="0" y="87003"/>
                  <a:pt x="2355" y="104496"/>
                  <a:pt x="6546" y="117392"/>
                </a:cubicBezTo>
                <a:cubicBezTo>
                  <a:pt x="10737" y="130287"/>
                  <a:pt x="16422" y="137533"/>
                  <a:pt x="22348" y="137533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Source image: point cloud / tissue / logo / color scal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7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3767327" y="431945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394117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356289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18462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767327" y="280634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0427377" y="406583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0427377" y="3838556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361127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427377" y="338400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427377" y="3156727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427377" y="292945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697717" y="3430620"/>
            <a:ext cx="830579" cy="287389"/>
          </a:xfrm>
          <a:custGeom>
            <a:avLst/>
            <a:gdLst/>
            <a:ahLst/>
            <a:cxnLst/>
            <a:rect l="0" t="0" r="r" b="b"/>
            <a:pathLst>
              <a:path w="78480" h="27155">
                <a:moveTo>
                  <a:pt x="0" y="0"/>
                </a:moveTo>
                <a:lnTo>
                  <a:pt x="78480" y="27155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697717" y="3568515"/>
            <a:ext cx="830579" cy="106552"/>
          </a:xfrm>
          <a:custGeom>
            <a:avLst/>
            <a:gdLst/>
            <a:ahLst/>
            <a:cxnLst/>
            <a:rect l="0" t="0" r="r" b="b"/>
            <a:pathLst>
              <a:path w="78480" h="10068">
                <a:moveTo>
                  <a:pt x="0" y="10068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697717" y="3334241"/>
            <a:ext cx="830579" cy="655412"/>
          </a:xfrm>
          <a:custGeom>
            <a:avLst/>
            <a:gdLst/>
            <a:ahLst/>
            <a:cxnLst/>
            <a:rect l="0" t="0" r="r" b="b"/>
            <a:pathLst>
              <a:path w="78480" h="61929">
                <a:moveTo>
                  <a:pt x="0" y="61929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015292"/>
            <a:ext cx="830579" cy="905722"/>
          </a:xfrm>
          <a:custGeom>
            <a:avLst/>
            <a:gdLst/>
            <a:ahLst/>
            <a:cxnLst/>
            <a:rect l="0" t="0" r="r" b="b"/>
            <a:pathLst>
              <a:path w="78480" h="85580">
                <a:moveTo>
                  <a:pt x="0" y="85580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3259348"/>
            <a:ext cx="830579" cy="437471"/>
          </a:xfrm>
          <a:custGeom>
            <a:avLst/>
            <a:gdLst/>
            <a:ahLst/>
            <a:cxnLst/>
            <a:rect l="0" t="0" r="r" b="b"/>
            <a:pathLst>
              <a:path w="78480" h="41336">
                <a:moveTo>
                  <a:pt x="0" y="41336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3879196"/>
            <a:ext cx="830579" cy="57392"/>
          </a:xfrm>
          <a:custGeom>
            <a:avLst/>
            <a:gdLst/>
            <a:ahLst/>
            <a:cxnLst/>
            <a:rect l="0" t="0" r="r" b="b"/>
            <a:pathLst>
              <a:path w="78480" h="5423">
                <a:moveTo>
                  <a:pt x="0" y="0"/>
                </a:moveTo>
                <a:lnTo>
                  <a:pt x="78480" y="5423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697717" y="3531088"/>
            <a:ext cx="830579" cy="232846"/>
          </a:xfrm>
          <a:custGeom>
            <a:avLst/>
            <a:gdLst/>
            <a:ahLst/>
            <a:cxnLst/>
            <a:rect l="0" t="0" r="r" b="b"/>
            <a:pathLst>
              <a:path w="78480" h="22001">
                <a:moveTo>
                  <a:pt x="0" y="22001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697717" y="3783273"/>
            <a:ext cx="830579" cy="3307"/>
          </a:xfrm>
          <a:custGeom>
            <a:avLst/>
            <a:gdLst/>
            <a:ahLst/>
            <a:cxnLst/>
            <a:rect l="0" t="0" r="r" b="b"/>
            <a:pathLst>
              <a:path w="78480" h="313">
                <a:moveTo>
                  <a:pt x="0" y="31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697717" y="3420212"/>
            <a:ext cx="830579" cy="116785"/>
          </a:xfrm>
          <a:custGeom>
            <a:avLst/>
            <a:gdLst/>
            <a:ahLst/>
            <a:cxnLst/>
            <a:rect l="0" t="0" r="r" b="b"/>
            <a:pathLst>
              <a:path w="78480" h="11035">
                <a:moveTo>
                  <a:pt x="0" y="11035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74652" y="340755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674652" y="365200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674652" y="396658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74652" y="389794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74652" y="367375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0674652" y="385613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0674652" y="374086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0674652" y="376351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0674652" y="351393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1505231" y="369494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1505231" y="354544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1505231" y="331117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1505231" y="323628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1505231" y="391352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1505231" y="350802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1505231" y="376020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11505231" y="339714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10598048" y="3742209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vector geometry"/>
          <p:cNvSpPr/>
          <p:nvPr/>
        </p:nvSpPr>
        <p:spPr>
          <a:xfrm>
            <a:off x="11428627" y="3507396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7684177" y="273476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73027">
              <a:alpha val="100000"/>
            </a:srgbClr>
          </a:solidFill>
          <a:ln w="10583">
            <a:solidFill>
              <a:srgbClr val="D7302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7684177" y="292581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8C71">
              <a:alpha val="100000"/>
            </a:srgbClr>
          </a:solidFill>
          <a:ln w="10583">
            <a:solidFill>
              <a:srgbClr val="438C7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7684177" y="3116858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8AF45">
              <a:alpha val="100000"/>
            </a:srgbClr>
          </a:solidFill>
          <a:ln w="10583">
            <a:solidFill>
              <a:srgbClr val="C8AF4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7684177" y="3307902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66A98C">
              <a:alpha val="100000"/>
            </a:srgbClr>
          </a:solidFill>
          <a:ln w="10583">
            <a:solidFill>
              <a:srgbClr val="66A98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7684177" y="3498946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7684177" y="368999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5CAC7">
              <a:alpha val="100000"/>
            </a:srgbClr>
          </a:solidFill>
          <a:ln w="10583">
            <a:solidFill>
              <a:srgbClr val="C5CAC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7684177" y="388103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vector geometry"/>
          <p:cNvSpPr/>
          <p:nvPr/>
        </p:nvSpPr>
        <p:spPr>
          <a:xfrm>
            <a:off x="7684177" y="407207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48869">
              <a:alpha val="100000"/>
            </a:srgbClr>
          </a:solidFill>
          <a:ln w="10583">
            <a:solidFill>
              <a:srgbClr val="A4886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vector geometry"/>
          <p:cNvSpPr/>
          <p:nvPr/>
        </p:nvSpPr>
        <p:spPr>
          <a:xfrm>
            <a:off x="7684177" y="426312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D7E8E">
              <a:alpha val="100000"/>
            </a:srgbClr>
          </a:solidFill>
          <a:ln w="10583">
            <a:solidFill>
              <a:srgbClr val="AD7E8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vector geometry"/>
          <p:cNvSpPr/>
          <p:nvPr/>
        </p:nvSpPr>
        <p:spPr>
          <a:xfrm>
            <a:off x="7684177" y="4454168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vector geometry"/>
          <p:cNvSpPr/>
          <p:nvPr/>
        </p:nvSpPr>
        <p:spPr>
          <a:xfrm>
            <a:off x="7684177" y="4645212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vector geometry"/>
          <p:cNvSpPr/>
          <p:nvPr/>
        </p:nvSpPr>
        <p:spPr>
          <a:xfrm>
            <a:off x="7684177" y="4836256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vector geometry"/>
          <p:cNvSpPr/>
          <p:nvPr/>
        </p:nvSpPr>
        <p:spPr>
          <a:xfrm>
            <a:off x="7684177" y="502730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95F9F">
              <a:alpha val="100000"/>
            </a:srgbClr>
          </a:solidFill>
          <a:ln w="10583">
            <a:solidFill>
              <a:srgbClr val="D95F9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vector geometry"/>
          <p:cNvSpPr/>
          <p:nvPr/>
        </p:nvSpPr>
        <p:spPr>
          <a:xfrm>
            <a:off x="7684177" y="52183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237052">
              <a:alpha val="100000"/>
            </a:srgbClr>
          </a:solidFill>
          <a:ln w="10583">
            <a:solidFill>
              <a:srgbClr val="23705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Editable text: UMAP 1"/>
          <p:cNvSpPr txBox="1"/>
          <p:nvPr/>
        </p:nvSpPr>
        <p:spPr>
          <a:xfrm>
            <a:off x="1852998" y="5033285"/>
            <a:ext cx="46270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1</a:t>
            </a:r>
          </a:p>
        </p:txBody>
      </p:sp>
      <p:sp>
        <p:nvSpPr>
          <p:cNvPr id="85" name="Editable text: UMAP 2"/>
          <p:cNvSpPr txBox="1"/>
          <p:nvPr/>
        </p:nvSpPr>
        <p:spPr>
          <a:xfrm rot="16200000">
            <a:off x="486959" y="3540776"/>
            <a:ext cx="457411" cy="1534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2</a:t>
            </a:r>
          </a:p>
        </p:txBody>
      </p:sp>
      <p:sp>
        <p:nvSpPr>
          <p:cNvPr id="86" name="Editable text: UMAP 1"/>
          <p:cNvSpPr txBox="1"/>
          <p:nvPr/>
        </p:nvSpPr>
        <p:spPr>
          <a:xfrm>
            <a:off x="5681286" y="5033285"/>
            <a:ext cx="46270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1</a:t>
            </a:r>
          </a:p>
        </p:txBody>
      </p:sp>
      <p:sp>
        <p:nvSpPr>
          <p:cNvPr id="87" name="Editable text: UMAP 2"/>
          <p:cNvSpPr txBox="1"/>
          <p:nvPr/>
        </p:nvSpPr>
        <p:spPr>
          <a:xfrm rot="16200000">
            <a:off x="4315247" y="3540776"/>
            <a:ext cx="457411" cy="1534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2</a:t>
            </a:r>
          </a:p>
        </p:txBody>
      </p:sp>
      <p:sp>
        <p:nvSpPr>
          <p:cNvPr id="88" name="Editable text: 0.0"/>
          <p:cNvSpPr txBox="1"/>
          <p:nvPr/>
        </p:nvSpPr>
        <p:spPr>
          <a:xfrm>
            <a:off x="3825536" y="4640530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0.0</a:t>
            </a:r>
          </a:p>
        </p:txBody>
      </p:sp>
      <p:sp>
        <p:nvSpPr>
          <p:cNvPr id="89" name="Editable text: 0.5"/>
          <p:cNvSpPr txBox="1"/>
          <p:nvPr/>
        </p:nvSpPr>
        <p:spPr>
          <a:xfrm>
            <a:off x="3825536" y="4262253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0.5</a:t>
            </a:r>
          </a:p>
        </p:txBody>
      </p:sp>
      <p:sp>
        <p:nvSpPr>
          <p:cNvPr id="90" name="Editable text: 1.0"/>
          <p:cNvSpPr txBox="1"/>
          <p:nvPr/>
        </p:nvSpPr>
        <p:spPr>
          <a:xfrm>
            <a:off x="3825536" y="3883975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1.0</a:t>
            </a:r>
          </a:p>
        </p:txBody>
      </p:sp>
      <p:sp>
        <p:nvSpPr>
          <p:cNvPr id="91" name="Editable text: 1.5"/>
          <p:cNvSpPr txBox="1"/>
          <p:nvPr/>
        </p:nvSpPr>
        <p:spPr>
          <a:xfrm>
            <a:off x="3825536" y="3505698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1.5</a:t>
            </a:r>
          </a:p>
        </p:txBody>
      </p:sp>
      <p:sp>
        <p:nvSpPr>
          <p:cNvPr id="92" name="Editable text: 2.0"/>
          <p:cNvSpPr txBox="1"/>
          <p:nvPr/>
        </p:nvSpPr>
        <p:spPr>
          <a:xfrm>
            <a:off x="3825536" y="3127421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2.0</a:t>
            </a:r>
          </a:p>
        </p:txBody>
      </p:sp>
      <p:sp>
        <p:nvSpPr>
          <p:cNvPr id="93" name="Editable text: 2.5"/>
          <p:cNvSpPr txBox="1"/>
          <p:nvPr/>
        </p:nvSpPr>
        <p:spPr>
          <a:xfrm>
            <a:off x="3825536" y="2749144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2.5</a:t>
            </a:r>
          </a:p>
        </p:txBody>
      </p:sp>
      <p:sp>
        <p:nvSpPr>
          <p:cNvPr id="94" name="Editable text: UCKL1 · log1p(CP10K)"/>
          <p:cNvSpPr txBox="1"/>
          <p:nvPr/>
        </p:nvSpPr>
        <p:spPr>
          <a:xfrm rot="16200000">
            <a:off x="3547687" y="3652857"/>
            <a:ext cx="981085" cy="1304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UCKL1 · log1p(CP10K)</a:t>
            </a:r>
          </a:p>
        </p:txBody>
      </p:sp>
      <p:sp>
        <p:nvSpPr>
          <p:cNvPr id="95" name="Editable text: 参照"/>
          <p:cNvSpPr txBox="1"/>
          <p:nvPr/>
        </p:nvSpPr>
        <p:spPr>
          <a:xfrm>
            <a:off x="10613051" y="4327933"/>
            <a:ext cx="2074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参照</a:t>
            </a:r>
          </a:p>
        </p:txBody>
      </p:sp>
      <p:sp>
        <p:nvSpPr>
          <p:cNvPr id="96" name="Editable text: 目标"/>
          <p:cNvSpPr txBox="1"/>
          <p:nvPr/>
        </p:nvSpPr>
        <p:spPr>
          <a:xfrm>
            <a:off x="11443630" y="4327933"/>
            <a:ext cx="2074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目标</a:t>
            </a:r>
          </a:p>
        </p:txBody>
      </p:sp>
      <p:sp>
        <p:nvSpPr>
          <p:cNvPr id="97" name="Editable text: 0.0"/>
          <p:cNvSpPr txBox="1"/>
          <p:nvPr/>
        </p:nvSpPr>
        <p:spPr>
          <a:xfrm>
            <a:off x="10270776" y="4235908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0.0</a:t>
            </a:r>
          </a:p>
        </p:txBody>
      </p:sp>
      <p:sp>
        <p:nvSpPr>
          <p:cNvPr id="98" name="Editable text: 0.1"/>
          <p:cNvSpPr txBox="1"/>
          <p:nvPr/>
        </p:nvSpPr>
        <p:spPr>
          <a:xfrm>
            <a:off x="10270776" y="4008632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0.1</a:t>
            </a:r>
          </a:p>
        </p:txBody>
      </p:sp>
      <p:sp>
        <p:nvSpPr>
          <p:cNvPr id="99" name="Editable text: 0.2"/>
          <p:cNvSpPr txBox="1"/>
          <p:nvPr/>
        </p:nvSpPr>
        <p:spPr>
          <a:xfrm>
            <a:off x="10270776" y="3781356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0.2</a:t>
            </a:r>
          </a:p>
        </p:txBody>
      </p:sp>
      <p:sp>
        <p:nvSpPr>
          <p:cNvPr id="100" name="Editable text: 0.3"/>
          <p:cNvSpPr txBox="1"/>
          <p:nvPr/>
        </p:nvSpPr>
        <p:spPr>
          <a:xfrm>
            <a:off x="10270776" y="3554080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0.3</a:t>
            </a:r>
          </a:p>
        </p:txBody>
      </p:sp>
      <p:sp>
        <p:nvSpPr>
          <p:cNvPr id="101" name="Editable text: 0.4"/>
          <p:cNvSpPr txBox="1"/>
          <p:nvPr/>
        </p:nvSpPr>
        <p:spPr>
          <a:xfrm>
            <a:off x="10270776" y="3326804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0.4</a:t>
            </a:r>
          </a:p>
        </p:txBody>
      </p:sp>
      <p:sp>
        <p:nvSpPr>
          <p:cNvPr id="102" name="Editable text: 0.5"/>
          <p:cNvSpPr txBox="1"/>
          <p:nvPr/>
        </p:nvSpPr>
        <p:spPr>
          <a:xfrm>
            <a:off x="10270776" y="3099528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0.5</a:t>
            </a:r>
          </a:p>
        </p:txBody>
      </p:sp>
      <p:sp>
        <p:nvSpPr>
          <p:cNvPr id="103" name="Editable text: 0.6"/>
          <p:cNvSpPr txBox="1"/>
          <p:nvPr/>
        </p:nvSpPr>
        <p:spPr>
          <a:xfrm>
            <a:off x="10270776" y="2872252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0.6</a:t>
            </a:r>
          </a:p>
        </p:txBody>
      </p:sp>
      <p:sp>
        <p:nvSpPr>
          <p:cNvPr id="104" name="Editable text: 患者平均表达"/>
          <p:cNvSpPr txBox="1"/>
          <p:nvPr/>
        </p:nvSpPr>
        <p:spPr>
          <a:xfrm rot="16200000">
            <a:off x="9881081" y="3480366"/>
            <a:ext cx="575733" cy="1304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患者平均表达</a:t>
            </a:r>
          </a:p>
        </p:txBody>
      </p:sp>
      <p:sp>
        <p:nvSpPr>
          <p:cNvPr id="106" name="Editable text: COAD：UCKL1 的全细胞定位与同患者证据"/>
          <p:cNvSpPr txBox="1"/>
          <p:nvPr/>
        </p:nvSpPr>
        <p:spPr>
          <a:xfrm>
            <a:off x="609599" y="951108"/>
            <a:ext cx="5732328" cy="434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COAD：UCKL1 的全细胞定位与同患者证据</a:t>
            </a:r>
          </a:p>
        </p:txBody>
      </p:sp>
      <p:sp>
        <p:nvSpPr>
          <p:cNvPr id="107" name="Editable text: Uhlitz · GSE166555 · 全部细胞 · 肿瘤及正常组织 · 68"/>
          <p:cNvSpPr txBox="1"/>
          <p:nvPr/>
        </p:nvSpPr>
        <p:spPr>
          <a:xfrm>
            <a:off x="609599" y="1427783"/>
            <a:ext cx="3733292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Uhlitz · GSE166555 · 全部细胞 · 肿瘤及正常组织 · 68,702 个细胞</a:t>
            </a:r>
          </a:p>
        </p:txBody>
      </p:sp>
      <p:sp>
        <p:nvSpPr>
          <p:cNvPr id="108" name="Editable text: UCKL1 expression"/>
          <p:cNvSpPr txBox="1"/>
          <p:nvPr/>
        </p:nvSpPr>
        <p:spPr>
          <a:xfrm>
            <a:off x="585216" y="1882394"/>
            <a:ext cx="1504606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UCKL1 expression</a:t>
            </a:r>
          </a:p>
        </p:txBody>
      </p:sp>
      <p:sp>
        <p:nvSpPr>
          <p:cNvPr id="109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Cell types</a:t>
            </a:r>
          </a:p>
        </p:txBody>
      </p:sp>
      <p:sp>
        <p:nvSpPr>
          <p:cNvPr id="110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同患者证据</a:t>
            </a:r>
          </a:p>
        </p:txBody>
      </p:sp>
      <p:sp>
        <p:nvSpPr>
          <p:cNvPr id="111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Cell type (n cells)</a:t>
            </a:r>
          </a:p>
        </p:txBody>
      </p:sp>
      <p:sp>
        <p:nvSpPr>
          <p:cNvPr id="112" name="Editable text: CNA epithelial"/>
          <p:cNvSpPr txBox="1"/>
          <p:nvPr/>
        </p:nvSpPr>
        <p:spPr>
          <a:xfrm>
            <a:off x="7827263" y="2493778"/>
            <a:ext cx="674008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1" lang="zh-CN">
                <a:solidFill>
                  <a:srgbClr val="78B436"/>
                </a:solidFill>
                <a:latin typeface="Microsoft YaHei"/>
                <a:ea typeface="微软雅黑"/>
                <a:cs typeface="Microsoft YaHei"/>
              </a:defRPr>
            </a:pPr>
            <a:r>
              <a:t>CNA epithelial</a:t>
            </a:r>
          </a:p>
        </p:txBody>
      </p:sp>
      <p:sp>
        <p:nvSpPr>
          <p:cNvPr id="113" name="Editable text: 4,477"/>
          <p:cNvSpPr txBox="1"/>
          <p:nvPr/>
        </p:nvSpPr>
        <p:spPr>
          <a:xfrm>
            <a:off x="9604336" y="2496053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4,477</a:t>
            </a:r>
          </a:p>
        </p:txBody>
      </p:sp>
      <p:sp>
        <p:nvSpPr>
          <p:cNvPr id="114" name="Editable text: B cells"/>
          <p:cNvSpPr txBox="1"/>
          <p:nvPr/>
        </p:nvSpPr>
        <p:spPr>
          <a:xfrm>
            <a:off x="7827263" y="2684823"/>
            <a:ext cx="30182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B cells</a:t>
            </a:r>
          </a:p>
        </p:txBody>
      </p:sp>
      <p:sp>
        <p:nvSpPr>
          <p:cNvPr id="115" name="Editable text: 3,553"/>
          <p:cNvSpPr txBox="1"/>
          <p:nvPr/>
        </p:nvSpPr>
        <p:spPr>
          <a:xfrm>
            <a:off x="9604336" y="2687098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3,553</a:t>
            </a:r>
          </a:p>
        </p:txBody>
      </p:sp>
      <p:sp>
        <p:nvSpPr>
          <p:cNvPr id="116" name="Editable text: CD8+ T cells"/>
          <p:cNvSpPr txBox="1"/>
          <p:nvPr/>
        </p:nvSpPr>
        <p:spPr>
          <a:xfrm>
            <a:off x="7827263" y="2875867"/>
            <a:ext cx="565436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CD8+ T cells</a:t>
            </a:r>
          </a:p>
        </p:txBody>
      </p:sp>
      <p:sp>
        <p:nvSpPr>
          <p:cNvPr id="117" name="Editable text: 5,904"/>
          <p:cNvSpPr txBox="1"/>
          <p:nvPr/>
        </p:nvSpPr>
        <p:spPr>
          <a:xfrm>
            <a:off x="9604336" y="2878142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5,904</a:t>
            </a:r>
          </a:p>
        </p:txBody>
      </p:sp>
      <p:sp>
        <p:nvSpPr>
          <p:cNvPr id="118" name="Editable text: CNN epithelial"/>
          <p:cNvSpPr txBox="1"/>
          <p:nvPr/>
        </p:nvSpPr>
        <p:spPr>
          <a:xfrm>
            <a:off x="7827263" y="3066911"/>
            <a:ext cx="651785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CNN epithelial</a:t>
            </a:r>
          </a:p>
        </p:txBody>
      </p:sp>
      <p:sp>
        <p:nvSpPr>
          <p:cNvPr id="119" name="Editable text: 7,885"/>
          <p:cNvSpPr txBox="1"/>
          <p:nvPr/>
        </p:nvSpPr>
        <p:spPr>
          <a:xfrm>
            <a:off x="9604336" y="3069186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7,885</a:t>
            </a:r>
          </a:p>
        </p:txBody>
      </p:sp>
      <p:sp>
        <p:nvSpPr>
          <p:cNvPr id="120" name="Editable text: Conventional T"/>
          <p:cNvSpPr txBox="1"/>
          <p:nvPr/>
        </p:nvSpPr>
        <p:spPr>
          <a:xfrm>
            <a:off x="7827263" y="3257955"/>
            <a:ext cx="672195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Conventional T</a:t>
            </a:r>
          </a:p>
        </p:txBody>
      </p:sp>
      <p:sp>
        <p:nvSpPr>
          <p:cNvPr id="121" name="Editable text: 6,806"/>
          <p:cNvSpPr txBox="1"/>
          <p:nvPr/>
        </p:nvSpPr>
        <p:spPr>
          <a:xfrm>
            <a:off x="9604336" y="3260231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6,806</a:t>
            </a:r>
          </a:p>
        </p:txBody>
      </p:sp>
      <p:sp>
        <p:nvSpPr>
          <p:cNvPr id="122" name="Editable text: Endothelial cells"/>
          <p:cNvSpPr txBox="1"/>
          <p:nvPr/>
        </p:nvSpPr>
        <p:spPr>
          <a:xfrm>
            <a:off x="7827263" y="3448999"/>
            <a:ext cx="716612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Endothelial cells</a:t>
            </a:r>
          </a:p>
        </p:txBody>
      </p:sp>
      <p:sp>
        <p:nvSpPr>
          <p:cNvPr id="123" name="Editable text: 636"/>
          <p:cNvSpPr txBox="1"/>
          <p:nvPr/>
        </p:nvSpPr>
        <p:spPr>
          <a:xfrm>
            <a:off x="9675443" y="3451275"/>
            <a:ext cx="189280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636</a:t>
            </a:r>
          </a:p>
        </p:txBody>
      </p:sp>
      <p:sp>
        <p:nvSpPr>
          <p:cNvPr id="124" name="Editable text: Epithelial (unclassified)"/>
          <p:cNvSpPr txBox="1"/>
          <p:nvPr/>
        </p:nvSpPr>
        <p:spPr>
          <a:xfrm>
            <a:off x="7827263" y="3640540"/>
            <a:ext cx="99612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Epithelial (unclassified)</a:t>
            </a:r>
          </a:p>
        </p:txBody>
      </p:sp>
      <p:sp>
        <p:nvSpPr>
          <p:cNvPr id="125" name="Editable text: 2,747"/>
          <p:cNvSpPr txBox="1"/>
          <p:nvPr/>
        </p:nvSpPr>
        <p:spPr>
          <a:xfrm>
            <a:off x="9604336" y="3642319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2,747</a:t>
            </a:r>
          </a:p>
        </p:txBody>
      </p:sp>
      <p:sp>
        <p:nvSpPr>
          <p:cNvPr id="126" name="Editable text: Fibroblasts"/>
          <p:cNvSpPr txBox="1"/>
          <p:nvPr/>
        </p:nvSpPr>
        <p:spPr>
          <a:xfrm>
            <a:off x="7827263" y="3831088"/>
            <a:ext cx="496113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Fibroblasts</a:t>
            </a:r>
          </a:p>
        </p:txBody>
      </p:sp>
      <p:sp>
        <p:nvSpPr>
          <p:cNvPr id="127" name="Editable text: 1,986"/>
          <p:cNvSpPr txBox="1"/>
          <p:nvPr/>
        </p:nvSpPr>
        <p:spPr>
          <a:xfrm>
            <a:off x="9604336" y="383336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1,986</a:t>
            </a:r>
          </a:p>
        </p:txBody>
      </p:sp>
      <p:sp>
        <p:nvSpPr>
          <p:cNvPr id="128" name="Editable text: Glial cells"/>
          <p:cNvSpPr txBox="1"/>
          <p:nvPr/>
        </p:nvSpPr>
        <p:spPr>
          <a:xfrm>
            <a:off x="7827263" y="4022132"/>
            <a:ext cx="430775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Glial cells</a:t>
            </a:r>
          </a:p>
        </p:txBody>
      </p:sp>
      <p:sp>
        <p:nvSpPr>
          <p:cNvPr id="129" name="Editable text: 115"/>
          <p:cNvSpPr txBox="1"/>
          <p:nvPr/>
        </p:nvSpPr>
        <p:spPr>
          <a:xfrm>
            <a:off x="9675443" y="4024408"/>
            <a:ext cx="189280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115</a:t>
            </a:r>
          </a:p>
        </p:txBody>
      </p:sp>
      <p:sp>
        <p:nvSpPr>
          <p:cNvPr id="130" name="Editable text: Mast cells"/>
          <p:cNvSpPr txBox="1"/>
          <p:nvPr/>
        </p:nvSpPr>
        <p:spPr>
          <a:xfrm>
            <a:off x="7827263" y="4213177"/>
            <a:ext cx="454580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Mast cells</a:t>
            </a:r>
          </a:p>
        </p:txBody>
      </p:sp>
      <p:sp>
        <p:nvSpPr>
          <p:cNvPr id="131" name="Editable text: 513"/>
          <p:cNvSpPr txBox="1"/>
          <p:nvPr/>
        </p:nvSpPr>
        <p:spPr>
          <a:xfrm>
            <a:off x="9675443" y="4215452"/>
            <a:ext cx="189280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513</a:t>
            </a:r>
          </a:p>
        </p:txBody>
      </p:sp>
      <p:sp>
        <p:nvSpPr>
          <p:cNvPr id="132" name="Editable text: Monocytes"/>
          <p:cNvSpPr txBox="1"/>
          <p:nvPr/>
        </p:nvSpPr>
        <p:spPr>
          <a:xfrm>
            <a:off x="7827263" y="4403725"/>
            <a:ext cx="504417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Monocytes</a:t>
            </a:r>
          </a:p>
        </p:txBody>
      </p:sp>
      <p:sp>
        <p:nvSpPr>
          <p:cNvPr id="133" name="Editable text: 3,291"/>
          <p:cNvSpPr txBox="1"/>
          <p:nvPr/>
        </p:nvSpPr>
        <p:spPr>
          <a:xfrm>
            <a:off x="9604336" y="4406496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3,291</a:t>
            </a:r>
          </a:p>
        </p:txBody>
      </p:sp>
      <p:sp>
        <p:nvSpPr>
          <p:cNvPr id="134" name="Editable text: Normal epithelial"/>
          <p:cNvSpPr txBox="1"/>
          <p:nvPr/>
        </p:nvSpPr>
        <p:spPr>
          <a:xfrm>
            <a:off x="7827263" y="4595265"/>
            <a:ext cx="765111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Normal epithelial</a:t>
            </a:r>
          </a:p>
        </p:txBody>
      </p:sp>
      <p:sp>
        <p:nvSpPr>
          <p:cNvPr id="135" name="Editable text: 16,138"/>
          <p:cNvSpPr txBox="1"/>
          <p:nvPr/>
        </p:nvSpPr>
        <p:spPr>
          <a:xfrm>
            <a:off x="9553900" y="4597541"/>
            <a:ext cx="310409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16,138</a:t>
            </a:r>
          </a:p>
        </p:txBody>
      </p:sp>
      <p:sp>
        <p:nvSpPr>
          <p:cNvPr id="136" name="Editable text: Pericytes"/>
          <p:cNvSpPr txBox="1"/>
          <p:nvPr/>
        </p:nvSpPr>
        <p:spPr>
          <a:xfrm>
            <a:off x="7827263" y="4785813"/>
            <a:ext cx="409765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Pericytes</a:t>
            </a:r>
          </a:p>
        </p:txBody>
      </p:sp>
      <p:sp>
        <p:nvSpPr>
          <p:cNvPr id="137" name="Editable text: 266"/>
          <p:cNvSpPr txBox="1"/>
          <p:nvPr/>
        </p:nvSpPr>
        <p:spPr>
          <a:xfrm>
            <a:off x="9675443" y="4788585"/>
            <a:ext cx="189280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266</a:t>
            </a:r>
          </a:p>
        </p:txBody>
      </p:sp>
      <p:sp>
        <p:nvSpPr>
          <p:cNvPr id="138" name="Editable text: Plasma cells"/>
          <p:cNvSpPr txBox="1"/>
          <p:nvPr/>
        </p:nvSpPr>
        <p:spPr>
          <a:xfrm>
            <a:off x="7827263" y="4977354"/>
            <a:ext cx="544003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Plasma cells</a:t>
            </a:r>
          </a:p>
        </p:txBody>
      </p:sp>
      <p:sp>
        <p:nvSpPr>
          <p:cNvPr id="139" name="Editable text: 12,161"/>
          <p:cNvSpPr txBox="1"/>
          <p:nvPr/>
        </p:nvSpPr>
        <p:spPr>
          <a:xfrm>
            <a:off x="9553900" y="4979629"/>
            <a:ext cx="310409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12,161</a:t>
            </a:r>
          </a:p>
        </p:txBody>
      </p:sp>
      <p:sp>
        <p:nvSpPr>
          <p:cNvPr id="140" name="Editable text: Regulatory T"/>
          <p:cNvSpPr txBox="1"/>
          <p:nvPr/>
        </p:nvSpPr>
        <p:spPr>
          <a:xfrm>
            <a:off x="7827263" y="5168150"/>
            <a:ext cx="57445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Regulatory T</a:t>
            </a:r>
          </a:p>
        </p:txBody>
      </p:sp>
      <p:sp>
        <p:nvSpPr>
          <p:cNvPr id="141" name="Editable text: 2,224"/>
          <p:cNvSpPr txBox="1"/>
          <p:nvPr/>
        </p:nvSpPr>
        <p:spPr>
          <a:xfrm>
            <a:off x="9604336" y="517067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2,224</a:t>
            </a:r>
          </a:p>
        </p:txBody>
      </p:sp>
      <p:sp>
        <p:nvSpPr>
          <p:cNvPr id="142" name="Editable text: CNA epithelial：红圈仅作位置提示"/>
          <p:cNvSpPr txBox="1"/>
          <p:nvPr/>
        </p:nvSpPr>
        <p:spPr>
          <a:xfrm>
            <a:off x="5096857" y="5322881"/>
            <a:ext cx="155362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DD3434"/>
                </a:solidFill>
                <a:latin typeface="Microsoft YaHei"/>
                <a:ea typeface="微软雅黑"/>
                <a:cs typeface="Microsoft YaHei"/>
              </a:defRPr>
            </a:pPr>
            <a:r>
              <a:t>CNA epithelial：红圈仅作位置提示</a:t>
            </a:r>
          </a:p>
        </p:txBody>
      </p:sp>
      <p:sp>
        <p:nvSpPr>
          <p:cNvPr id="143" name="Editable text: 色标上限 2.59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24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色标上限 2.59 · 阳性值第99百分位</a:t>
            </a:r>
          </a:p>
        </p:txBody>
      </p:sp>
      <p:sp>
        <p:nvSpPr>
          <p:cNvPr id="144" name="Editable text: 配对 P = 0.1797"/>
          <p:cNvSpPr txBox="1"/>
          <p:nvPr/>
        </p:nvSpPr>
        <p:spPr>
          <a:xfrm>
            <a:off x="10663621" y="2281425"/>
            <a:ext cx="86074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配对 P = 0.1797</a:t>
            </a:r>
          </a:p>
        </p:txBody>
      </p:sp>
      <p:sp>
        <p:nvSpPr>
          <p:cNvPr id="145" name="Editable text: 7 / 9"/>
          <p:cNvSpPr txBox="1"/>
          <p:nvPr/>
        </p:nvSpPr>
        <p:spPr>
          <a:xfrm>
            <a:off x="10802355" y="4515203"/>
            <a:ext cx="699262" cy="386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7 / 9</a:t>
            </a:r>
          </a:p>
        </p:txBody>
      </p:sp>
      <p:sp>
        <p:nvSpPr>
          <p:cNvPr id="146" name="Editable text: 患者目标组表达更高"/>
          <p:cNvSpPr txBox="1"/>
          <p:nvPr/>
        </p:nvSpPr>
        <p:spPr>
          <a:xfrm>
            <a:off x="10630376" y="4896599"/>
            <a:ext cx="980122" cy="15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患者目标组表达更高</a:t>
            </a:r>
          </a:p>
        </p:txBody>
      </p:sp>
      <p:sp>
        <p:nvSpPr>
          <p:cNvPr id="147" name="Editable text: 平均差 +0.103"/>
          <p:cNvSpPr txBox="1"/>
          <p:nvPr/>
        </p:nvSpPr>
        <p:spPr>
          <a:xfrm>
            <a:off x="10761593" y="5208622"/>
            <a:ext cx="711131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平均差 +0.103</a:t>
            </a:r>
          </a:p>
        </p:txBody>
      </p:sp>
      <p:sp>
        <p:nvSpPr>
          <p:cNvPr id="148" name="Editable text: 参照：正常组织上皮"/>
          <p:cNvSpPr txBox="1"/>
          <p:nvPr/>
        </p:nvSpPr>
        <p:spPr>
          <a:xfrm>
            <a:off x="10253471" y="5553064"/>
            <a:ext cx="850106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参照：正常组织上皮</a:t>
            </a:r>
          </a:p>
        </p:txBody>
      </p:sp>
      <p:sp>
        <p:nvSpPr>
          <p:cNvPr id="149" name="Editable text: 目标：肿瘤 CNA 上皮"/>
          <p:cNvSpPr txBox="1"/>
          <p:nvPr/>
        </p:nvSpPr>
        <p:spPr>
          <a:xfrm>
            <a:off x="10253471" y="5745089"/>
            <a:ext cx="920093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目标：肿瘤 CNA 上皮</a:t>
            </a:r>
          </a:p>
        </p:txBody>
      </p:sp>
      <p:sp>
        <p:nvSpPr>
          <p:cNvPr id="150" name="Editable text: 多数患者 CNA 上皮更高，但配对检验未显著。"/>
          <p:cNvSpPr txBox="1"/>
          <p:nvPr/>
        </p:nvSpPr>
        <p:spPr>
          <a:xfrm>
            <a:off x="609599" y="6115405"/>
            <a:ext cx="3158765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多数患者 CNA 上皮更高，但配对检验未显著。</a:t>
            </a:r>
          </a:p>
        </p:txBody>
      </p:sp>
      <p:sp>
        <p:nvSpPr>
          <p:cNvPr id="151" name="Editable text: CNA 标签沿用作者；正常组织上皮参照；P 复用既有精确符号检验。"/>
          <p:cNvSpPr txBox="1"/>
          <p:nvPr/>
        </p:nvSpPr>
        <p:spPr>
          <a:xfrm>
            <a:off x="609599" y="6417173"/>
            <a:ext cx="2774315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CNA 标签沿用作者；正常组织上皮参照；P 复用既有精确符号检验。</a:t>
            </a:r>
          </a:p>
        </p:txBody>
      </p:sp>
      <p:pic>
        <p:nvPicPr>
          <p:cNvPr id="152" name="Picture 15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53" name="TextBox 152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154" name="Connector 15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TextBox 155"/>
          <p:cNvSpPr txBox="1"/>
          <p:nvPr/>
        </p:nvSpPr>
        <p:spPr>
          <a:xfrm>
            <a:off x="11082528" y="6446520"/>
            <a:ext cx="47548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